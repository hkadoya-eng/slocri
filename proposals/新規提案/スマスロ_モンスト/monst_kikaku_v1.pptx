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vie2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57200"/>
            <a:ext cx="10566400" cy="594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2743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600"/>
                </a:solidFill>
              </a:rPr>
              <a:t>スマスロ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144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モンスターストライク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48840"/>
            <a:ext cx="6400800" cy="50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B800"/>
                </a:solidFill>
              </a:rPr>
              <a:t>「超絶攻略世代」が、帰ってくる。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元モン廃 × スマスロ × 感情ストーリー
覇者の塔を頂点とする3層射幸性で、
「懐かしさ」と「熱さ」を同時に届ける。</a:t>
            </a:r>
          </a:p>
        </p:txBody>
      </p:sp>
      <p:pic>
        <p:nvPicPr>
          <p:cNvPr id="12" name="Picture 11" descr="r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65760"/>
            <a:ext cx="6776551" cy="5943600"/>
          </a:xfrm>
          <a:prstGeom prst="rect">
            <a:avLst/>
          </a:prstGeom>
        </p:spPr>
      </p:pic>
      <p:pic>
        <p:nvPicPr>
          <p:cNvPr id="13" name="Picture 12" descr="orag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931920"/>
            <a:ext cx="2670879" cy="24688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KEY-CRE  /  企画提案資料  /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モンストとは？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Monster Strike — IPの概要（パチスロ担当向け早わかりガイド）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4297680" cy="1234440"/>
          </a:xfrm>
          <a:prstGeom prst="rect">
            <a:avLst/>
          </a:prstGeom>
          <a:solidFill>
            <a:srgbClr val="00558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97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🎮 オーブ（ガチャ通貨）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52704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ゲーム内通貨「オーブ」を消費してモンスターガチャ。
5個で単発・50個で10連。レア度はN〜SS。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43000"/>
            <a:ext cx="4297680" cy="1234440"/>
          </a:xfrm>
          <a:prstGeom prst="rect">
            <a:avLst/>
          </a:prstGeom>
          <a:solidFill>
            <a:srgbClr val="0C2A4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197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👥 4人マルチプレイ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52704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友人とリアルタイム協力プレイ。
全員でモンスターを弾いてボスを倒す。
"仲間と攻略する体験"が核心。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50592"/>
            <a:ext cx="4297680" cy="1234440"/>
          </a:xfrm>
          <a:prstGeom prst="rect">
            <a:avLst/>
          </a:prstGeom>
          <a:solidFill>
            <a:srgbClr val="00558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5054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⚡ 超絶 / 爆絶 / 轟絶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8346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難関クエストの格付け。超絶＜爆絶＜轟絶の順で難易度UP。
クリアに強力な4人パーティが必要で、
廃人プレイヤーの腕の見せ所だった。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450592"/>
            <a:ext cx="4297680" cy="1234440"/>
          </a:xfrm>
          <a:prstGeom prst="rect">
            <a:avLst/>
          </a:prstGeom>
          <a:solidFill>
            <a:srgbClr val="0C2A4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5054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🏯 覇者の塔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8346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毎月更新の難関タワー型コンテンツ。
全48フロアを踏破する達成感・繰り返し性が高い。
スロットの継続AT設計と相性◎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57600"/>
            <a:ext cx="8869680" cy="320040"/>
          </a:xfrm>
          <a:prstGeom prst="rect">
            <a:avLst/>
          </a:prstGeom>
          <a:solidFill>
            <a:srgbClr val="0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🎬 映画展開（2作品）</a:t>
            </a:r>
          </a:p>
        </p:txBody>
      </p:sp>
      <p:pic>
        <p:nvPicPr>
          <p:cNvPr id="21" name="Picture 20" descr="movie1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023360"/>
            <a:ext cx="4206240" cy="2366010"/>
          </a:xfrm>
          <a:prstGeom prst="rect">
            <a:avLst/>
          </a:prstGeom>
        </p:spPr>
      </p:pic>
      <p:pic>
        <p:nvPicPr>
          <p:cNvPr id="22" name="Picture 21" descr="movie2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023360"/>
            <a:ext cx="4251960" cy="23917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0040" y="5806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①はじまりの場所へ（2016）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80644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②ソラノカナタ（2018）</a:t>
            </a:r>
          </a:p>
        </p:txBody>
      </p:sp>
      <p:pic>
        <p:nvPicPr>
          <p:cNvPr id="25" name="Picture 24" descr="el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11680"/>
            <a:ext cx="2560320" cy="2560320"/>
          </a:xfrm>
          <a:prstGeom prst="rect">
            <a:avLst/>
          </a:prstGeom>
        </p:spPr>
      </p:pic>
      <p:pic>
        <p:nvPicPr>
          <p:cNvPr id="26" name="Picture 25" descr="mir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1920240"/>
            <a:ext cx="2651760" cy="2651760"/>
          </a:xfrm>
          <a:prstGeom prst="rect">
            <a:avLst/>
          </a:prstGeom>
        </p:spPr>
      </p:pic>
      <p:pic>
        <p:nvPicPr>
          <p:cNvPr id="27" name="Picture 26" descr="orag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4389120"/>
            <a:ext cx="2503714" cy="2103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2688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キャラクター
多数登場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ターゲット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超絶攻略世代 — パチスロに最もハマりやすいモンスト経験者層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69280" cy="5303520"/>
          </a:xfrm>
          <a:prstGeom prst="rect">
            <a:avLst/>
          </a:prstGeom>
          <a:solidFill>
            <a:srgbClr val="0C223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</a:rPr>
              <a:t>メインターゲット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B800"/>
                </a:solidFill>
              </a:rPr>
              <a:t>超絶攻略世代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男性 30〜35歳  /  パチスロ経験者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303520" cy="25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▶ 元モン廃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43200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超絶/爆絶を毎日攻略。仲間とマルチで深夜まで遊んでいた。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20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▶ スマホゲー離脱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20440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2019年頃に引退。
"あの頃は楽しかった"という強い郷愁を持つ。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▶ パチスロ現役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297680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週2〜3回来店。AT機・スマスロに移行済み。
好きなIPが台になると打ちたくなる。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▶ 再点火のトリガー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074920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オーブ図柄、オラゴン、ガチャ演出などで
"懐かしさ×射幸性"の同時体験ができる。</a:t>
            </a:r>
          </a:p>
        </p:txBody>
      </p:sp>
      <p:pic>
        <p:nvPicPr>
          <p:cNvPr id="20" name="Picture 19" descr="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6046769" cy="5303520"/>
          </a:xfrm>
          <a:prstGeom prst="rect">
            <a:avLst/>
          </a:prstGeom>
        </p:spPr>
      </p:pic>
      <p:pic>
        <p:nvPicPr>
          <p:cNvPr id="21" name="Picture 20" descr="char_1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5316986" cy="4663440"/>
          </a:xfrm>
          <a:prstGeom prst="rect">
            <a:avLst/>
          </a:prstGeom>
        </p:spPr>
      </p:pic>
      <p:pic>
        <p:nvPicPr>
          <p:cNvPr id="22" name="Picture 21" descr="char_1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645920"/>
            <a:ext cx="5004222" cy="4389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6126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モンスト経験者ならこの顔を覚えている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ゲームコンセプト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"通常時をすべてCZ化" × 3層射幸性で最後まで飽きさせない設計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48872" cy="548640"/>
          </a:xfrm>
          <a:prstGeom prst="rect">
            <a:avLst/>
          </a:prstGeom>
          <a:solidFill>
            <a:srgbClr val="20100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600"/>
                </a:solidFill>
              </a:rPr>
              <a:t>コア設計思想：通常時のすべてがCZへの道筋になる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1554480" cy="1463040"/>
          </a:xfrm>
          <a:prstGeom prst="rect">
            <a:avLst/>
          </a:prstGeom>
          <a:solidFill>
            <a:srgbClr val="00558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通常時
クエスト進行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毎ゲーム
ダメージ蓄積</a:t>
            </a:r>
          </a:p>
        </p:txBody>
      </p:sp>
      <p:sp>
        <p:nvSpPr>
          <p:cNvPr id="12" name="Can 11"/>
          <p:cNvSpPr/>
          <p:nvPr/>
        </p:nvSpPr>
        <p:spPr>
          <a:xfrm>
            <a:off x="1837944" y="2487168"/>
            <a:ext cx="91440" cy="329184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8528" y="1920240"/>
            <a:ext cx="1554480" cy="1463040"/>
          </a:xfrm>
          <a:prstGeom prst="rect">
            <a:avLst/>
          </a:prstGeom>
          <a:solidFill>
            <a:srgbClr val="33220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オーブ獲得
ガチャ演出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5個→単発
50個→10連</a:t>
            </a:r>
          </a:p>
        </p:txBody>
      </p:sp>
      <p:sp>
        <p:nvSpPr>
          <p:cNvPr id="16" name="Can 15"/>
          <p:cNvSpPr/>
          <p:nvPr/>
        </p:nvSpPr>
        <p:spPr>
          <a:xfrm>
            <a:off x="3502152" y="2487168"/>
            <a:ext cx="91440" cy="329184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2736" y="1920240"/>
            <a:ext cx="1554480" cy="1463040"/>
          </a:xfrm>
          <a:prstGeom prst="rect">
            <a:avLst/>
          </a:prstGeom>
          <a:solidFill>
            <a:srgbClr val="002211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仲間集め
4キャラ揃う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ランク
A〜S設定</a:t>
            </a:r>
          </a:p>
        </p:txBody>
      </p:sp>
      <p:sp>
        <p:nvSpPr>
          <p:cNvPr id="20" name="Can 19"/>
          <p:cNvSpPr/>
          <p:nvPr/>
        </p:nvSpPr>
        <p:spPr>
          <a:xfrm>
            <a:off x="5166360" y="2487168"/>
            <a:ext cx="91440" cy="329184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66944" y="1920240"/>
            <a:ext cx="1554480" cy="1463040"/>
          </a:xfrm>
          <a:prstGeom prst="rect">
            <a:avLst/>
          </a:prstGeom>
          <a:solidFill>
            <a:srgbClr val="220022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CZ突入
マルチ体験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突破で
AT確定</a:t>
            </a:r>
          </a:p>
        </p:txBody>
      </p:sp>
      <p:sp>
        <p:nvSpPr>
          <p:cNvPr id="24" name="Can 23"/>
          <p:cNvSpPr/>
          <p:nvPr/>
        </p:nvSpPr>
        <p:spPr>
          <a:xfrm>
            <a:off x="6830568" y="2487168"/>
            <a:ext cx="91440" cy="329184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31152" y="1920240"/>
            <a:ext cx="1554480" cy="1463040"/>
          </a:xfrm>
          <a:prstGeom prst="rect">
            <a:avLst/>
          </a:prstGeom>
          <a:solidFill>
            <a:srgbClr val="33110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AT
超絶ステージ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映画1
ストーリー</a:t>
            </a:r>
          </a:p>
        </p:txBody>
      </p:sp>
      <p:sp>
        <p:nvSpPr>
          <p:cNvPr id="28" name="Can 27"/>
          <p:cNvSpPr/>
          <p:nvPr/>
        </p:nvSpPr>
        <p:spPr>
          <a:xfrm>
            <a:off x="8494776" y="2487168"/>
            <a:ext cx="91440" cy="329184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1920240"/>
            <a:ext cx="1554480" cy="1463040"/>
          </a:xfrm>
          <a:prstGeom prst="rect">
            <a:avLst/>
          </a:prstGeom>
          <a:solidFill>
            <a:srgbClr val="001133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AT+
爆絶ステージ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映画2
解禁</a:t>
            </a:r>
          </a:p>
        </p:txBody>
      </p:sp>
      <p:sp>
        <p:nvSpPr>
          <p:cNvPr id="32" name="Can 31"/>
          <p:cNvSpPr/>
          <p:nvPr/>
        </p:nvSpPr>
        <p:spPr>
          <a:xfrm>
            <a:off x="10158984" y="2487168"/>
            <a:ext cx="91440" cy="329184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8" y="1920240"/>
            <a:ext cx="1554480" cy="1463040"/>
          </a:xfrm>
          <a:prstGeom prst="rect">
            <a:avLst/>
          </a:prstGeom>
          <a:solidFill>
            <a:srgbClr val="33220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8" y="19933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頂点
轟絶/覇者の塔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8" y="2670048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最高射幸
体験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438144"/>
            <a:ext cx="4882896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438144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NORMAL ZONE（通常時）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66944" y="3438144"/>
            <a:ext cx="1554480" cy="27432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66944" y="34381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BONUS ZONE（CZ）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3438144"/>
            <a:ext cx="4882896" cy="2743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3438144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AT ZONE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86200"/>
            <a:ext cx="11521440" cy="2560320"/>
          </a:xfrm>
          <a:prstGeom prst="rect">
            <a:avLst/>
          </a:prstGeom>
          <a:solidFill>
            <a:srgbClr val="081624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3層射幸性の設計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① 短期射幸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600"/>
                </a:solidFill>
              </a:rPr>
              <a:t>ガチャ・仲間集め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194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1〜50G単位の小さな期待感
オーブ揃いで毎ゲーム緊張感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② 中期射幸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600"/>
                </a:solidFill>
              </a:rPr>
              <a:t>CZ→AT突入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49194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仲間4人集め→CZ→AT
中程度の達成感の山を作る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③ 長期射幸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600"/>
                </a:solidFill>
              </a:rPr>
              <a:t>覇者の塔・轟絶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9194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AT中の高純増区間
最終到達でフィーバー感</a:t>
            </a:r>
          </a:p>
        </p:txBody>
      </p:sp>
      <p:pic>
        <p:nvPicPr>
          <p:cNvPr id="53" name="Picture 52" descr="orag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200400"/>
            <a:ext cx="3680203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通常時 〜 ガチャ演出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オーブ図柄でゲームループを作る / 毎ゲームがガチャへの積み上げ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00"/>
                </a:solidFill>
              </a:rPr>
              <a:t>通常時の仕組み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760720" cy="1170432"/>
          </a:xfrm>
          <a:prstGeom prst="rect">
            <a:avLst/>
          </a:prstGeom>
          <a:solidFill>
            <a:srgbClr val="0C223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オーブ図柄が揃う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青・赤・虹の3種類。揃うたびにオーブ+1〜3。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34640"/>
            <a:ext cx="5760720" cy="1170432"/>
          </a:xfrm>
          <a:prstGeom prst="rect">
            <a:avLst/>
          </a:prstGeom>
          <a:solidFill>
            <a:srgbClr val="0C223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077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オーブ数が蓄積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ボーナスゲームのオーブは
5個、10個、50個の節目で演出変化。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69080"/>
            <a:ext cx="5760720" cy="1170432"/>
          </a:xfrm>
          <a:prstGeom prst="rect">
            <a:avLst/>
          </a:prstGeom>
          <a:solidFill>
            <a:srgbClr val="0C223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422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14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ガチャ発動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8056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5個 → 単発ガチャ（レア演出）
50個 → 10連ガチャ（強演出）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03520"/>
            <a:ext cx="5760720" cy="1170432"/>
          </a:xfrm>
          <a:prstGeom prst="rect">
            <a:avLst/>
          </a:prstGeom>
          <a:solidFill>
            <a:srgbClr val="0C223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376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49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モンスター排出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71500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キャラのランク（C〜S）が
仲間の強さに直結。
Sランク4体で最強パーティ。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43000"/>
            <a:ext cx="5623560" cy="2011680"/>
          </a:xfrm>
          <a:prstGeom prst="rect">
            <a:avLst/>
          </a:prstGeom>
          <a:solidFill>
            <a:srgbClr val="081A2C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00"/>
                </a:solidFill>
              </a:rPr>
              <a:t>オーブ図柄 — 種別と価値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600200"/>
            <a:ext cx="1005840" cy="3840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6002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青オーブ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6002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+1個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002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通常オーブ。毎ゲーム狙える普通の当たり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103120"/>
            <a:ext cx="1005840" cy="384048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1031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属性オーブ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1031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C66"/>
                </a:solidFill>
              </a:rPr>
              <a:t>+2個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103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属性一致時に光る。パーティ強化のヒント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06040"/>
            <a:ext cx="1005840" cy="38404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6060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虹オーブ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60604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</a:rPr>
              <a:t>+3個 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060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最上位。10連ガチャに一気に近づく大チャンス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46120"/>
            <a:ext cx="5623560" cy="3200400"/>
          </a:xfrm>
          <a:prstGeom prst="rect">
            <a:avLst/>
          </a:prstGeom>
          <a:solidFill>
            <a:srgbClr val="12080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ガチャ演出の2ルート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単発ガチャ（5個）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05079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→ オーブ5個到達で発動
→ 1体排出・演出短め
→ ハズレC/Dランクでも積み重ね確認できる
→ 期待感は小〜中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10連ガチャ（50個）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37667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→ 50個一気に溜まると自動発動
→ 10体一覧演出（大型演出）
→ 上位4体がパーティ候補としてハイライト
→ 映像・BGMで大盛り上がり</a:t>
            </a:r>
          </a:p>
        </p:txBody>
      </p:sp>
      <p:pic>
        <p:nvPicPr>
          <p:cNvPr id="44" name="Picture 43" descr="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01752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仲間集め → CZ突入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ガチャで4キャラが揃ったとき、ストーリーが動き出す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B800"/>
                </a:solidFill>
              </a:rPr>
              <a:t>パーティ4人 揃え完了！</a:t>
            </a:r>
          </a:p>
        </p:txBody>
      </p:sp>
      <p:pic>
        <p:nvPicPr>
          <p:cNvPr id="8" name="Picture 7" descr="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3648912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800600"/>
            <a:ext cx="201168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焔 レン
リーダー</a:t>
            </a:r>
          </a:p>
        </p:txBody>
      </p:sp>
      <p:pic>
        <p:nvPicPr>
          <p:cNvPr id="11" name="Picture 10" descr="char_1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600200"/>
            <a:ext cx="3648912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60320" y="4800600"/>
            <a:ext cx="2011680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アオイ
スピード型</a:t>
            </a:r>
          </a:p>
        </p:txBody>
      </p:sp>
      <p:pic>
        <p:nvPicPr>
          <p:cNvPr id="14" name="Picture 13" descr="char_1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00200"/>
            <a:ext cx="3648912" cy="3200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54880" y="4800600"/>
            <a:ext cx="2011680" cy="4572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ミナミ
サポート型</a:t>
            </a:r>
          </a:p>
        </p:txBody>
      </p:sp>
      <p:pic>
        <p:nvPicPr>
          <p:cNvPr id="17" name="Picture 16" descr="char_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3648912" cy="3200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949440" y="4800600"/>
            <a:ext cx="2011680" cy="4572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マナ
パワー型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2560320"/>
            <a:ext cx="38100" cy="10972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9326880" y="2377440"/>
            <a:ext cx="822960" cy="411480"/>
          </a:xfrm>
          <a:prstGeom prst="can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41280" y="1645920"/>
            <a:ext cx="1645920" cy="4114800"/>
          </a:xfrm>
          <a:prstGeom prst="rect">
            <a:avLst/>
          </a:prstGeom>
          <a:solidFill>
            <a:srgbClr val="330044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600"/>
                </a:solidFill>
              </a:rPr>
              <a:t>CZ
突入！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65176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▶ マルチクエスト体験
▶ 4人でボス撃破
▶ AT確定ルート
▶ 突破率：30〜70%
　（パーティランクで変動）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77840"/>
            <a:ext cx="9509760" cy="1005840"/>
          </a:xfrm>
          <a:prstGeom prst="rect">
            <a:avLst/>
          </a:prstGeom>
          <a:solidFill>
            <a:srgbClr val="08182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CZパターン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■ 通常CZ（単発ガチャ4回分）：ランクCDEF4体。突破率低め。強化感薄い。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362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■ 強CZ（10連ガチャ経由）　：ランク上位4体。突破率高い。フルムービー演出。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AT設計 — 映画 × 覇者の塔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2本の映画ストーリーを駆け上がり、最頂点「轟絶」で覇者の塔へ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303520" cy="5303520"/>
          </a:xfrm>
          <a:prstGeom prst="rect">
            <a:avLst/>
          </a:prstGeom>
          <a:solidFill>
            <a:srgbClr val="081810"/>
          </a:solidFill>
          <a:ln w="1524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C66"/>
                </a:solidFill>
              </a:rPr>
              <a:t>AT前半 — 映画①「はじまりの場所へ」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120640" cy="576072"/>
          </a:xfrm>
          <a:prstGeom prst="rect">
            <a:avLst/>
          </a:prstGeom>
          <a:solidFill>
            <a:srgbClr val="0C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C66"/>
                </a:solidFill>
              </a:rPr>
              <a:t>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691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レンとオラゴンの出会い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21992"/>
            <a:ext cx="5120640" cy="576072"/>
          </a:xfrm>
          <a:prstGeom prst="rect">
            <a:avLst/>
          </a:prstGeom>
          <a:solidFill>
            <a:srgbClr val="0C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951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951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C66"/>
                </a:solidFill>
              </a:rPr>
              <a:t>試練1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134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初めてのモンスト対戦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3784"/>
            <a:ext cx="5120640" cy="576072"/>
          </a:xfrm>
          <a:prstGeom prst="rect">
            <a:avLst/>
          </a:prstGeom>
          <a:solidFill>
            <a:srgbClr val="0C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9169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3F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169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C66"/>
                </a:solidFill>
              </a:rPr>
              <a:t>試練2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352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仲間との絆・作戦会議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65576"/>
            <a:ext cx="5120640" cy="576072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538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4F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38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00"/>
                </a:solidFill>
              </a:rPr>
              <a:t>ピンチ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55701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ゲノム軍の侵攻・窮地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87368"/>
            <a:ext cx="5120640" cy="576072"/>
          </a:xfrm>
          <a:prstGeom prst="rect">
            <a:avLst/>
          </a:prstGeom>
          <a:solidFill>
            <a:srgbClr val="0C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5F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C66"/>
                </a:solidFill>
              </a:rPr>
              <a:t>逆転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4人の力を合わせて反撃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5120640" cy="576072"/>
          </a:xfrm>
          <a:prstGeom prst="rect">
            <a:avLst/>
          </a:prstGeom>
          <a:solidFill>
            <a:srgbClr val="0C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782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6F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823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C66"/>
                </a:solidFill>
              </a:rPr>
              <a:t>クライマックス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800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ゲノムとの最終決戦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30952"/>
            <a:ext cx="5120640" cy="576072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404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7F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041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00"/>
                </a:solidFill>
              </a:rPr>
              <a:t>エンディング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422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オラゴンとの別れ・感動ED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1143000"/>
            <a:ext cx="5303520" cy="5303520"/>
          </a:xfrm>
          <a:prstGeom prst="rect">
            <a:avLst/>
          </a:prstGeom>
          <a:solidFill>
            <a:srgbClr val="08102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11704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AT後半 — 映画②「ソラノカナタ」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1600200"/>
            <a:ext cx="5120640" cy="576072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3872" y="1673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8F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67335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カナタと謎の少女ソラの出会い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2221992"/>
            <a:ext cx="5120640" cy="576072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2" y="22951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9F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2951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29514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センジュの力・世界の異変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2843784"/>
            <a:ext cx="5120640" cy="576072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3872" y="29169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10F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29169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仲間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91693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マナたちと合流・再結成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3465576"/>
            <a:ext cx="5120640" cy="576072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33872" y="35387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11F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538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激闘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5387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爆絶クラスのモンスター登場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087368"/>
            <a:ext cx="5120640" cy="576072"/>
          </a:xfrm>
          <a:prstGeom prst="rect">
            <a:avLst/>
          </a:prstGeom>
          <a:solidFill>
            <a:srgbClr val="0C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33872" y="4160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12F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ピンチ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センジュ覚醒・全滅寸前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4709160"/>
            <a:ext cx="5120640" cy="576072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3872" y="4782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13F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47823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</a:rPr>
              <a:t>逆転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78231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オーブの力で仲間を取り戻す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6440" y="5330952"/>
            <a:ext cx="5120640" cy="576072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33872" y="54041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14F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54041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</a:rPr>
              <a:t>轟絶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540410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覇者の塔 最終決戦
★最高射幸体験★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77840" y="1143000"/>
            <a:ext cx="38100" cy="5303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492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6446520"/>
            <a:ext cx="10744200" cy="320040"/>
          </a:xfrm>
          <a:prstGeom prst="rect">
            <a:avLst/>
          </a:prstGeom>
          <a:solidFill>
            <a:srgbClr val="180A00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64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00"/>
                </a:solidFill>
              </a:rPr>
              <a:t>感情設計：1F〜7F（希望→絶望→逆転）→ 8F〜14F（謎→恐怖→覚醒→感動クライマックス）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スペック概要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数値イメージ / ベンチマーク機種との比較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</a:rPr>
              <a:t>想定スペック（イメージ）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743200" cy="36576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554480"/>
            <a:ext cx="4114800" cy="36576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スペック値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65960"/>
            <a:ext cx="27432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965960"/>
            <a:ext cx="41148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機種タイプ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00253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スマスロ（5.9号機相当）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27432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0" y="2468880"/>
            <a:ext cx="41148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514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純増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25054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約3.0〜4.5枚/G（通常AT）
　8〜12枚/G（覇者の塔区間）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71800"/>
            <a:ext cx="27432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2971800"/>
            <a:ext cx="41148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AT初当たり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300837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1/250〜1/350（設定1〜6）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27432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0" y="3474720"/>
            <a:ext cx="41148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520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AT期待枚数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35112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700〜1,200枚（超絶AT基本）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77640"/>
            <a:ext cx="27432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3977640"/>
            <a:ext cx="41148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4023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CZ突破率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2112" y="401421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30%〜70%（パーティランクに連動）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80560"/>
            <a:ext cx="27432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08960" y="4480560"/>
            <a:ext cx="41148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天井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451713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999G（AT非当選時）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983480"/>
            <a:ext cx="27432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4983480"/>
            <a:ext cx="4114800" cy="475488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29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設定差ポイント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2112" y="50200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CZ突破率・オーブ図柄当選率・
覇者の塔突入率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486400"/>
            <a:ext cx="27432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08960" y="5486400"/>
            <a:ext cx="4114800" cy="475488"/>
          </a:xfrm>
          <a:prstGeom prst="rect">
            <a:avLst/>
          </a:prstGeom>
          <a:solidFill>
            <a:srgbClr val="0E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5532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コイン持ち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552297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50〜60G/50枚（通常時）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1143000"/>
            <a:ext cx="4480560" cy="5303520"/>
          </a:xfrm>
          <a:prstGeom prst="rect">
            <a:avLst/>
          </a:prstGeom>
          <a:solidFill>
            <a:srgbClr val="08182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ベンチマーク機種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1645920"/>
            <a:ext cx="4297680" cy="1463040"/>
          </a:xfrm>
          <a:prstGeom prst="rect">
            <a:avLst/>
          </a:prstGeom>
          <a:solidFill>
            <a:srgbClr val="0C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17190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</a:rPr>
              <a:t>【1】スマスロ からくりサーカス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2084832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純増3.8枚・AT出玉の山谷設計
IP×感動ストーリーの成功例
→ 感情設計の参考にする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3200400"/>
            <a:ext cx="4297680" cy="1463040"/>
          </a:xfrm>
          <a:prstGeom prst="rect">
            <a:avLst/>
          </a:prstGeom>
          <a:solidFill>
            <a:srgbClr val="0C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32735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</a:rPr>
              <a:t>【2】スマスロ 北斗の拳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639312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タワー型AT×高純増区間
長尺ATの緊張感構造
→ 覇者の塔AT設計の参考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4754880"/>
            <a:ext cx="4297680" cy="1463040"/>
          </a:xfrm>
          <a:prstGeom prst="rect">
            <a:avLst/>
          </a:prstGeom>
          <a:solidFill>
            <a:srgbClr val="0C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4828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</a:rPr>
              <a:t>【3】スマスロ モンスターハンターライズ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5193792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仲間集め→大型クエスト型
アクションゲームIP × マルチ感
→ CZ設計・通常時演出の参考</a:t>
            </a:r>
          </a:p>
        </p:txBody>
      </p:sp>
      <p:pic>
        <p:nvPicPr>
          <p:cNvPr id="55" name="Picture 54" descr="char_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0"/>
            <a:ext cx="291913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まとめ — 3つの強み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スマスロ モンスターストライク が成立する理由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7589520" cy="1627632"/>
          </a:xfrm>
          <a:prstGeom prst="rect">
            <a:avLst/>
          </a:prstGeom>
          <a:solidFill>
            <a:srgbClr val="0A1A2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09728" cy="16276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</a:rPr>
              <a:t>① IPの記憶力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モンストは2013〜2018年に最大ユーザー数5,000万人を記録。
今の30代男性の多くが強烈な遊び体験を持つ。
「懐かしさ」は最強の導線。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26080"/>
            <a:ext cx="7589520" cy="1627632"/>
          </a:xfrm>
          <a:prstGeom prst="rect">
            <a:avLst/>
          </a:prstGeom>
          <a:solidFill>
            <a:srgbClr val="0A1A28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926080"/>
            <a:ext cx="109728" cy="16276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② 設計の親和性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オーブ（ガチャ通貨）＝コインという概念の置き換えが自然。
マルチ体験→CZ突入・覇者の塔→タワーATと
ゲームIPの構造がスロットと素直に対応する。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17720"/>
            <a:ext cx="7589520" cy="1627632"/>
          </a:xfrm>
          <a:prstGeom prst="rect">
            <a:avLst/>
          </a:prstGeom>
          <a:solidFill>
            <a:srgbClr val="0A1A28"/>
          </a:solidFill>
          <a:ln w="1524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617720"/>
            <a:ext cx="109728" cy="1627632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C66"/>
                </a:solidFill>
              </a:rPr>
              <a:t>③ 感情の山・谷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4807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映画2作品にはドラマ的な起承転結がある。
AT前半（映画1）→後半（映画2）→覇者の塔（頂点）で
"絶望→逆転→達成感"の感情曲線を描ける。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263640"/>
            <a:ext cx="7589520" cy="365760"/>
          </a:xfrm>
          <a:prstGeom prst="rect">
            <a:avLst/>
          </a:prstGeom>
          <a:solidFill>
            <a:srgbClr val="221100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27278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800"/>
                </a:solidFill>
              </a:rPr>
              <a:t>"懐かしさ" × "射幸性" × "感情ストーリー" の三位一体が、スマスロ モンスターストライクの核心</a:t>
            </a:r>
          </a:p>
        </p:txBody>
      </p:sp>
      <p:pic>
        <p:nvPicPr>
          <p:cNvPr id="21" name="Picture 20" descr="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48640"/>
            <a:ext cx="5734005" cy="5029200"/>
          </a:xfrm>
          <a:prstGeom prst="rect">
            <a:avLst/>
          </a:prstGeom>
        </p:spPr>
      </p:pic>
      <p:pic>
        <p:nvPicPr>
          <p:cNvPr id="22" name="Picture 21" descr="char_1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005840"/>
            <a:ext cx="5004222" cy="4389120"/>
          </a:xfrm>
          <a:prstGeom prst="rect">
            <a:avLst/>
          </a:prstGeom>
        </p:spPr>
      </p:pic>
      <p:pic>
        <p:nvPicPr>
          <p:cNvPr id="23" name="Picture 22" descr="char_1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1280160"/>
            <a:ext cx="4691458" cy="4114800"/>
          </a:xfrm>
          <a:prstGeom prst="rect">
            <a:avLst/>
          </a:prstGeom>
        </p:spPr>
      </p:pic>
      <p:pic>
        <p:nvPicPr>
          <p:cNvPr id="24" name="Picture 23" descr="orag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389120"/>
            <a:ext cx="2374115" cy="2194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0" y="6309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提案：スマスロ モンスターストライク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