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64208"/>
            <a:ext cx="9144000" cy="7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9144000" cy="7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AA44"/>
                </a:solidFill>
                <a:latin typeface="游明朝"/>
              </a:rPr>
              <a:t>新機種企画提案 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859536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>
                <a:solidFill>
                  <a:srgbClr val="FFD700"/>
                </a:solidFill>
                <a:latin typeface="游明朝"/>
              </a:rPr>
              <a:t>世 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8595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8800"/>
                </a:solidFill>
                <a:latin typeface="游明朝"/>
              </a:rPr>
              <a:t>―  継 承 の 炎  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10512"/>
            <a:ext cx="6949440" cy="550000"/>
          </a:xfrm>
          <a:prstGeom prst="rect">
            <a:avLst/>
          </a:prstGeom>
          <a:solidFill>
            <a:srgbClr val="140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65376"/>
            <a:ext cx="676656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E4CC"/>
                </a:solidFill>
                <a:latin typeface="游明朝"/>
              </a:rPr>
              <a:t>「 1人では届かない。でも、意志を継ぐことで、必ず倒せる。 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429000"/>
            <a:ext cx="2651760" cy="950000"/>
          </a:xfrm>
          <a:prstGeom prst="rect">
            <a:avLst/>
          </a:prstGeom>
          <a:solidFill>
            <a:srgbClr val="120822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880" y="3483864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① 感情設計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880" y="3858768"/>
            <a:ext cx="23774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「負けても前進感がある」
唯一の設計（積み上げ型）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429000"/>
            <a:ext cx="2651760" cy="950000"/>
          </a:xfrm>
          <a:prstGeom prst="rect">
            <a:avLst/>
          </a:prstGeom>
          <a:solidFill>
            <a:srgbClr val="120822"/>
          </a:solidFill>
          <a:ln w="22860">
            <a:solidFill>
              <a:srgbClr val="88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6120" y="3483864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33CC"/>
                </a:solidFill>
                <a:latin typeface="游明朝"/>
              </a:rPr>
              <a:t>② 世界観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6120" y="3858768"/>
            <a:ext cx="23774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不死の魔王×英雄の系譜
1セッションが1つの戦争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29000"/>
            <a:ext cx="2651760" cy="950000"/>
          </a:xfrm>
          <a:prstGeom prst="rect">
            <a:avLst/>
          </a:prstGeom>
          <a:solidFill>
            <a:srgbClr val="12082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9360" y="3483864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③ 業界初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60" y="3858768"/>
            <a:ext cx="23774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継承の儀（AT中3択）×
宿敵弱体化×世代ループ複合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754880"/>
            <a:ext cx="19202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2026.05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コアコンセプト  ──  世代交代ループとは何か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200400"/>
          </a:xfrm>
          <a:prstGeom prst="rect">
            <a:avLst/>
          </a:prstGeom>
          <a:solidFill>
            <a:srgbClr val="100A22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77AA"/>
                </a:solidFill>
                <a:latin typeface="游明朝"/>
              </a:rPr>
              <a:t>Re:ゼロ vs 世代  ――  設計思想の違い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4078224" cy="280000"/>
          </a:xfrm>
          <a:prstGeom prst="rect">
            <a:avLst/>
          </a:prstGeom>
          <a:solidFill>
            <a:srgbClr val="1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14173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234440"/>
            <a:ext cx="14173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Re:ゼロ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234440"/>
            <a:ext cx="14173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世代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508760"/>
            <a:ext cx="4078224" cy="290000"/>
          </a:xfrm>
          <a:prstGeom prst="rect">
            <a:avLst/>
          </a:prstGeom>
          <a:solidFill>
            <a:srgbClr val="10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536760"/>
            <a:ext cx="9601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失敗の意味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1536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タイムリープ（リセット）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536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継承（積み上げ）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803760"/>
            <a:ext cx="4078224" cy="290000"/>
          </a:xfrm>
          <a:prstGeom prst="rect">
            <a:avLst/>
          </a:prstGeom>
          <a:solidFill>
            <a:srgbClr val="1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831760"/>
            <a:ext cx="9601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感情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1831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また失敗した…次へ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1831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意志を次世代に渡した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2098760"/>
            <a:ext cx="4078224" cy="290000"/>
          </a:xfrm>
          <a:prstGeom prst="rect">
            <a:avLst/>
          </a:prstGeom>
          <a:solidFill>
            <a:srgbClr val="10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2126760"/>
            <a:ext cx="9601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設計思想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2126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失敗前提ループ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126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AA44"/>
                </a:solidFill>
                <a:latin typeface="メイリオ"/>
              </a:rPr>
              <a:t>積み上げ前提ループ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393760"/>
            <a:ext cx="4078224" cy="290000"/>
          </a:xfrm>
          <a:prstGeom prst="rect">
            <a:avLst/>
          </a:prstGeom>
          <a:solidFill>
            <a:srgbClr val="1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2421760"/>
            <a:ext cx="9601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終了感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2421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あり（リセット感）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421760"/>
            <a:ext cx="1444752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AA66FF"/>
                </a:solidFill>
                <a:latin typeface="メイリオ"/>
              </a:rPr>
              <a:t>なし（継続感）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788920"/>
            <a:ext cx="4078224" cy="250000"/>
          </a:xfrm>
          <a:prstGeom prst="rect">
            <a:avLst/>
          </a:prstGeom>
          <a:solidFill>
            <a:srgbClr val="22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825496"/>
            <a:ext cx="39319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游明朝"/>
              </a:rPr>
              <a:t>「負けても前進感がある設計」は業界に存在しない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777240"/>
            <a:ext cx="4526280" cy="3200400"/>
          </a:xfrm>
          <a:prstGeom prst="rect">
            <a:avLst/>
          </a:prstGeom>
          <a:solidFill>
            <a:srgbClr val="100A22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841248"/>
            <a:ext cx="42976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感情の山場設計（6段階）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1207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1229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77AA"/>
                </a:solidFill>
                <a:latin typeface="游明朝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1229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4477AA"/>
                </a:solidFill>
                <a:latin typeface="メイリオ"/>
              </a:rPr>
              <a:t>通常時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1229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継承ポイントが貯まってきた…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1229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4477AA"/>
                </a:solidFill>
                <a:latin typeface="メイリオ"/>
              </a:rPr>
              <a:t>[積み上げ感]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1485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1507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1507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CZ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1507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今世代で英雄になれるか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1507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8A840"/>
                </a:solidFill>
                <a:latin typeface="メイリオ"/>
              </a:rPr>
              <a:t>[緊張]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3128" y="1763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1785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800"/>
                </a:solidFill>
                <a:latin typeface="游明朝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1785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メイリオ"/>
              </a:rPr>
              <a:t>継承の儀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1785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何を次の世代に残すか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4112" y="1785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8800"/>
                </a:solidFill>
                <a:latin typeface="メイリオ"/>
              </a:rPr>
              <a:t>[能動的選択]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2041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2063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0AA40"/>
                </a:solidFill>
                <a:latin typeface="游明朝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9472" y="2063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40AA40"/>
                </a:solidFill>
                <a:latin typeface="メイリオ"/>
              </a:rPr>
              <a:t>英雄連合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2063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3世代繋いだ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4112" y="2063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40AA40"/>
                </a:solidFill>
                <a:latin typeface="メイリオ"/>
              </a:rPr>
              <a:t>[達成感]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53128" y="2319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2341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22"/>
                </a:solidFill>
                <a:latin typeface="游明朝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9472" y="2341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C2222"/>
                </a:solidFill>
                <a:latin typeface="メイリオ"/>
              </a:rPr>
              <a:t>決戦AT発動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2341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ついにこの日が来た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4112" y="2341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C2222"/>
                </a:solidFill>
                <a:latin typeface="メイリオ"/>
              </a:rPr>
              <a:t>[最大の興奮]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3128" y="2597008"/>
            <a:ext cx="340000" cy="270000"/>
          </a:xfrm>
          <a:prstGeom prst="rect">
            <a:avLst/>
          </a:prstGeom>
          <a:solidFill>
            <a:srgbClr val="1A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2619008"/>
            <a:ext cx="3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700"/>
                </a:solidFill>
                <a:latin typeface="游明朝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19472" y="2619008"/>
            <a:ext cx="12344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宿敵討伐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9632" y="2619008"/>
            <a:ext cx="150876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積み上げた意志が実った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4112" y="2619008"/>
            <a:ext cx="1143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D700"/>
                </a:solidFill>
                <a:latin typeface="メイリオ"/>
              </a:rPr>
              <a:t>[感動]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069080"/>
            <a:ext cx="8778240" cy="58000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4069080"/>
            <a:ext cx="60000" cy="580000"/>
          </a:xfrm>
          <a:prstGeom prst="rect">
            <a:avLst/>
          </a:prstGeom>
          <a:solidFill>
            <a:srgbClr val="88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11480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66FF"/>
                </a:solidFill>
                <a:latin typeface="游明朝"/>
              </a:rPr>
              <a:t>設計思想：「積み上げ型ループ」はRPGの「プレイするほど世界が豊かになる」感覚のパチスロ版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4389120"/>
            <a:ext cx="84124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タイムリープ（Re:ゼロ・まどマギ）が「失敗前提ループ」なら、世代は「積み上げ前提ループ」。この感情設計が業界初。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世界観  ──  不死の魔王と英雄の系譜（オリジナルIP）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2148840"/>
          </a:xfrm>
          <a:prstGeom prst="rect">
            <a:avLst/>
          </a:prstGeom>
          <a:solidFill>
            <a:srgbClr val="1C14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880" y="822960"/>
            <a:ext cx="2560320" cy="30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841248"/>
            <a:ext cx="2560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游明朝"/>
              </a:rPr>
              <a:t>主人公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143000"/>
            <a:ext cx="25603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游明朝"/>
              </a:rPr>
              <a:t>最後の英雄の末裔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148132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代々受け継がれる「英雄の末裔」
1人では魔王に届かない
プレイヤーは英雄の系譜を
繋ぐ者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777240"/>
            <a:ext cx="2743200" cy="2148840"/>
          </a:xfrm>
          <a:prstGeom prst="rect">
            <a:avLst/>
          </a:prstGeom>
          <a:solidFill>
            <a:srgbClr val="220404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6120" y="822960"/>
            <a:ext cx="2560320" cy="30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6120" y="841248"/>
            <a:ext cx="2560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游明朝"/>
              </a:rPr>
              <a:t>宿敵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6120" y="1143000"/>
            <a:ext cx="25603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游明朝"/>
              </a:rPr>
              <a:t>不死の魔王「イグナール」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6120" y="148132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1000年間世界を支配する不死の魔王
倒されるたびに蘇る
「1世代では倒せない」
という絶望的な存在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777240"/>
            <a:ext cx="2743200" cy="2148840"/>
          </a:xfrm>
          <a:prstGeom prst="rect">
            <a:avLst/>
          </a:prstGeom>
          <a:solidFill>
            <a:srgbClr val="180628"/>
          </a:solidFill>
          <a:ln w="25400">
            <a:solidFill>
              <a:srgbClr val="88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9360" y="822960"/>
            <a:ext cx="2560320" cy="30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9360" y="841248"/>
            <a:ext cx="2560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33CC"/>
                </a:solidFill>
                <a:latin typeface="游明朝"/>
              </a:rPr>
              <a:t>プレイヤー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9360" y="1143000"/>
            <a:ext cx="25603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游明朝"/>
              </a:rPr>
              <a:t>英雄の系譜を繋ぐ者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9360" y="148132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世代から世代へ意志を繋ぐ
継承の儀で何を渡すかを決める
「自分が選んだ継承が
物語を変える」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17520"/>
            <a:ext cx="8778240" cy="1115568"/>
          </a:xfrm>
          <a:prstGeom prst="rect">
            <a:avLst/>
          </a:prstGeom>
          <a:solidFill>
            <a:srgbClr val="100820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072384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物語の骨格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320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BBBBB"/>
                </a:solidFill>
                <a:latin typeface="游明朝"/>
              </a:rPr>
              <a:t>第1世代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0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魔王に挑む → 力尽きる</a:t>
            </a:r>
          </a:p>
        </p:txBody>
      </p:sp>
      <p:sp>
        <p:nvSpPr>
          <p:cNvPr id="26" name="Can 25"/>
          <p:cNvSpPr/>
          <p:nvPr/>
        </p:nvSpPr>
        <p:spPr>
          <a:xfrm>
            <a:off x="1729928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9928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9928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8800"/>
                </a:solidFill>
                <a:latin typeface="游明朝"/>
              </a:rPr>
              <a:t>継承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9928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「継承の炎」を次の英雄へ</a:t>
            </a:r>
          </a:p>
        </p:txBody>
      </p:sp>
      <p:sp>
        <p:nvSpPr>
          <p:cNvPr id="30" name="Can 29"/>
          <p:cNvSpPr/>
          <p:nvPr/>
        </p:nvSpPr>
        <p:spPr>
          <a:xfrm>
            <a:off x="3265536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5536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5536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BBBBB"/>
                </a:solidFill>
                <a:latin typeface="游明朝"/>
              </a:rPr>
              <a:t>第2世代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5536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弱点を突く → また力尽きる</a:t>
            </a:r>
          </a:p>
        </p:txBody>
      </p:sp>
      <p:sp>
        <p:nvSpPr>
          <p:cNvPr id="34" name="Can 33"/>
          <p:cNvSpPr/>
          <p:nvPr/>
        </p:nvSpPr>
        <p:spPr>
          <a:xfrm>
            <a:off x="4801144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81144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1144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8800"/>
                </a:solidFill>
                <a:latin typeface="游明朝"/>
              </a:rPr>
              <a:t>継承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44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「速さ」と「絆」を次へ</a:t>
            </a:r>
          </a:p>
        </p:txBody>
      </p:sp>
      <p:sp>
        <p:nvSpPr>
          <p:cNvPr id="38" name="Can 37"/>
          <p:cNvSpPr/>
          <p:nvPr/>
        </p:nvSpPr>
        <p:spPr>
          <a:xfrm>
            <a:off x="6336752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16752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6752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8A840"/>
                </a:solidFill>
                <a:latin typeface="游明朝"/>
              </a:rPr>
              <a:t>英雄連合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6752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かつての英雄たちが集う！</a:t>
            </a:r>
          </a:p>
        </p:txBody>
      </p:sp>
      <p:sp>
        <p:nvSpPr>
          <p:cNvPr id="42" name="Can 41"/>
          <p:cNvSpPr/>
          <p:nvPr/>
        </p:nvSpPr>
        <p:spPr>
          <a:xfrm>
            <a:off x="7872360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2360" y="3429000"/>
            <a:ext cx="1435608" cy="580000"/>
          </a:xfrm>
          <a:prstGeom prst="rect">
            <a:avLst/>
          </a:prstGeom>
          <a:solidFill>
            <a:srgbClr val="16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92360" y="3474720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C2222"/>
                </a:solidFill>
                <a:latin typeface="游明朝"/>
              </a:rPr>
              <a:t>決戦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2360" y="3730752"/>
            <a:ext cx="13556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0E4CC"/>
                </a:solidFill>
                <a:latin typeface="メイリオ"/>
              </a:rPr>
              <a:t>1000年ぶりにイグナールが倒れる</a:t>
            </a:r>
          </a:p>
        </p:txBody>
      </p:sp>
      <p:sp>
        <p:nvSpPr>
          <p:cNvPr id="46" name="Can 45"/>
          <p:cNvSpPr/>
          <p:nvPr/>
        </p:nvSpPr>
        <p:spPr>
          <a:xfrm>
            <a:off x="9407968" y="3792912"/>
            <a:ext cx="10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4160520"/>
            <a:ext cx="8778240" cy="480000"/>
          </a:xfrm>
          <a:prstGeom prst="rect">
            <a:avLst/>
          </a:prstGeom>
          <a:solidFill>
            <a:srgbClr val="12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160520"/>
            <a:ext cx="60000" cy="48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20624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テーマ：「1人では届かない。でも、意志を継ぐことで、必ず倒せる。」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480560"/>
            <a:ext cx="84124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IPなし・完全オリジナル。炎と闇のビジュアルテーマ。英雄の系譜という普遍的な物語構造で幅広い層に響く。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ゲームフロー全体図  ──  1セッションで世代が積み重なる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02920"/>
            <a:ext cx="2743200" cy="1051560"/>
          </a:xfrm>
          <a:prstGeom prst="rect">
            <a:avLst/>
          </a:prstGeom>
          <a:solidFill>
            <a:srgbClr val="08061C"/>
          </a:solidFill>
          <a:ln w="2286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562920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通常時 / 前兆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912920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4ステージ（荒野→黄金都市）
周期100GでCZ到来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02920"/>
            <a:ext cx="2743200" cy="1051560"/>
          </a:xfrm>
          <a:prstGeom prst="rect">
            <a:avLst/>
          </a:prstGeom>
          <a:solidFill>
            <a:srgbClr val="1C08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960" y="562920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CZ「英雄の試練」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8960" y="912920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3Gバトル / 成功でAT突入
失敗でも継承ポイント蓄積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02920"/>
            <a:ext cx="2743200" cy="1051560"/>
          </a:xfrm>
          <a:prstGeom prst="rect">
            <a:avLst/>
          </a:prstGeom>
          <a:solidFill>
            <a:srgbClr val="180C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40" y="562920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世代AT（1世代50G）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40" y="912920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純増4.0枚/G / ストック4種
赤7揃い → 継承の儀発動！</a:t>
            </a:r>
          </a:p>
        </p:txBody>
      </p:sp>
      <p:sp>
        <p:nvSpPr>
          <p:cNvPr id="15" name="Can 14"/>
          <p:cNvSpPr/>
          <p:nvPr/>
        </p:nvSpPr>
        <p:spPr>
          <a:xfrm>
            <a:off x="2966080" y="953700"/>
            <a:ext cx="102880" cy="15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892160" y="953700"/>
            <a:ext cx="102880" cy="15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 rot="5400000">
            <a:off x="7341640" y="1624480"/>
            <a:ext cx="130000" cy="36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21408"/>
            <a:ext cx="2743200" cy="1051560"/>
          </a:xfrm>
          <a:prstGeom prst="rect">
            <a:avLst/>
          </a:prstGeom>
          <a:solidFill>
            <a:srgbClr val="180C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5040" y="2181408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世代ループ（継承の儀）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040" y="2531408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世代が重なるほど台が強化
ストック残 → 次世代へ継続！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121408"/>
            <a:ext cx="2743200" cy="1051560"/>
          </a:xfrm>
          <a:prstGeom prst="rect">
            <a:avLst/>
          </a:prstGeom>
          <a:solidFill>
            <a:srgbClr val="041404"/>
          </a:solidFill>
          <a:ln w="22860">
            <a:solidFill>
              <a:srgbClr val="40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960" y="2181408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英雄連合（3世代以上）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8960" y="2531408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複数世代の英雄が集結
継続率75% / 純増6.5枚/G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21408"/>
            <a:ext cx="2743200" cy="1051560"/>
          </a:xfrm>
          <a:prstGeom prst="rect">
            <a:avLst/>
          </a:prstGeom>
          <a:solidFill>
            <a:srgbClr val="06081C"/>
          </a:solidFill>
          <a:ln w="2286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880" y="2181408"/>
            <a:ext cx="258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英雄の残照（引き戻し）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80" y="2531408"/>
            <a:ext cx="2583200" cy="57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AT終了後5Gのラストチャンス
絆の継承→確定発動！</a:t>
            </a:r>
          </a:p>
        </p:txBody>
      </p:sp>
      <p:sp>
        <p:nvSpPr>
          <p:cNvPr id="27" name="Can 26"/>
          <p:cNvSpPr/>
          <p:nvPr/>
        </p:nvSpPr>
        <p:spPr>
          <a:xfrm rot="10800000">
            <a:off x="5892160" y="2572188"/>
            <a:ext cx="10288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 rot="10800000">
            <a:off x="2966080" y="2572188"/>
            <a:ext cx="10288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540" y="1791408"/>
            <a:ext cx="55000" cy="33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540" y="1763908"/>
            <a:ext cx="465000" cy="5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7540" y="1791408"/>
            <a:ext cx="55000" cy="33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5040" y="1831408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↺ ループ！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383280"/>
            <a:ext cx="2651760" cy="870000"/>
          </a:xfrm>
          <a:prstGeom prst="rect">
            <a:avLst/>
          </a:prstGeom>
          <a:solidFill>
            <a:srgbClr val="200404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80" y="3443280"/>
            <a:ext cx="23774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決戦AT  ―世代の決着―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880" y="3813280"/>
            <a:ext cx="237744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宿敵弱体化MAX
＋皇帝の力＋継承コンプリート
純増8.0枚/G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383280"/>
            <a:ext cx="6126480" cy="870000"/>
          </a:xfrm>
          <a:prstGeom prst="rect">
            <a:avLst/>
          </a:prstGeom>
          <a:solidFill>
            <a:srgbClr val="10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463280"/>
            <a:ext cx="5760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歴代全世代の英雄が集結。不死の魔王イグナールを1000年ぶりに討伐する大演出。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853280"/>
            <a:ext cx="57607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「自分が今日育てた世代が、ここで結実する」——1セッションの物語が完結する瞬間。MY約3,500枚。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通常時の設計  ──  何をする台か・3行で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778240" cy="310000"/>
          </a:xfrm>
          <a:prstGeom prst="rect">
            <a:avLst/>
          </a:prstGeom>
          <a:solidFill>
            <a:srgbClr val="16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795528"/>
            <a:ext cx="85039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A44"/>
                </a:solidFill>
                <a:latin typeface="メイリオ"/>
              </a:rPr>
              <a:t>100G周期でCZが来る。失敗しても継承ポイントが貯まる。貯まるほど天井が短くなり、300ptで高確モード「英霊の導き」が発動する。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15568"/>
            <a:ext cx="2834640" cy="2423160"/>
          </a:xfrm>
          <a:prstGeom prst="rect">
            <a:avLst/>
          </a:prstGeom>
          <a:solidFill>
            <a:srgbClr val="100A22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161288"/>
            <a:ext cx="2651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77AA"/>
                </a:solidFill>
                <a:latin typeface="游明朝"/>
              </a:rPr>
              <a:t>ステージ4種（遊技数連動）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1508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BBBBBB"/>
                </a:solidFill>
                <a:latin typeface="メイリオ"/>
              </a:rPr>
              <a:t>荒野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2880" y="1508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通常ステージ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1776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EE44"/>
                </a:solidFill>
                <a:latin typeface="メイリオ"/>
              </a:rPr>
              <a:t>城下町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2880" y="1776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高確示唆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880" y="2044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30"/>
                </a:solidFill>
                <a:latin typeface="メイリオ"/>
              </a:rPr>
              <a:t>王都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2880" y="2044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前兆・CZ高確率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80" y="2312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黄金都市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2880" y="2312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AT超高確率状態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1115568"/>
            <a:ext cx="2834640" cy="2423160"/>
          </a:xfrm>
          <a:prstGeom prst="rect">
            <a:avLst/>
          </a:prstGeom>
          <a:solidFill>
            <a:srgbClr val="100A22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4680" y="1161288"/>
            <a:ext cx="2651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8800"/>
                </a:solidFill>
                <a:latin typeface="游明朝"/>
              </a:rPr>
              <a:t>周期CZ「英雄の試練」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4680" y="1508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0E4CC"/>
                </a:solidFill>
                <a:latin typeface="メイリオ"/>
              </a:rPr>
              <a:t>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680" y="1508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100G毎に規則的に到来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4680" y="1776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BBBBBB"/>
                </a:solidFill>
                <a:latin typeface="メイリオ"/>
              </a:rPr>
              <a:t>バトル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4680" y="1776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3G間の試練演出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4680" y="2044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4680" y="2044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世代AT突入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4680" y="2312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A44"/>
                </a:solidFill>
                <a:latin typeface="メイリオ"/>
              </a:rPr>
              <a:t>失敗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4680" y="2312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継承ポイント蓄積+10pt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115568"/>
            <a:ext cx="2834640" cy="2423160"/>
          </a:xfrm>
          <a:prstGeom prst="rect">
            <a:avLst/>
          </a:prstGeom>
          <a:solidFill>
            <a:srgbClr val="100A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6480" y="1161288"/>
            <a:ext cx="2651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継承ポイントシステム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6480" y="1508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EE44"/>
                </a:solidFill>
                <a:latin typeface="メイリオ"/>
              </a:rPr>
              <a:t>50pt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6480" y="1508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天井100G短縮（→500G）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6480" y="1776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30"/>
                </a:solidFill>
                <a:latin typeface="メイリオ"/>
              </a:rPr>
              <a:t>100pt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6480" y="1776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天井200G短縮（→400G）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80" y="2044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メイリオ"/>
              </a:rPr>
              <a:t>200pt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6480" y="2044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CZ突破率大幅UP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6480" y="2312760"/>
            <a:ext cx="1051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300pt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6480" y="2312760"/>
            <a:ext cx="1874519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英霊の導き発動！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675887"/>
            <a:ext cx="8778240" cy="540000"/>
          </a:xfrm>
          <a:prstGeom prst="rect">
            <a:avLst/>
          </a:prstGeom>
          <a:solidFill>
            <a:srgbClr val="180830"/>
          </a:solidFill>
          <a:ln w="25400">
            <a:solidFill>
              <a:srgbClr val="88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3730752"/>
            <a:ext cx="3657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66FF"/>
                </a:solidFill>
                <a:latin typeface="游明朝"/>
              </a:rPr>
              <a:t>高確モード「英霊の導き」（継承300pt到達で発動）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" y="4023360"/>
            <a:ext cx="411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連続CZ状態。CZ失敗でも次の周期CZが20G後に来る。
「貯めれば貯めるほど有利になる」具体的な実感。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730752"/>
            <a:ext cx="420624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通常時の読み方：ステージが「王都」以上になったら好機。
失敗しても「育てている」感覚＝ストレスフリー設計。
★ 周期CZは吉宗の規則的設計を参考に昇華。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世代AT  ──  継承の儀で「何を次の世代に残すか」を選ぶ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180C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5603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游明朝"/>
              </a:rPr>
              <a:t>世代AT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1セット50G / 純増4.0枚/G
【ストック4種】
  一代の力：ループ率20%
  二代の力：ループ率40%
  三代の力：ループ率60%
  皇帝の力：ループ率80%
赤7揃いで
「継承の儀」が発動！</a:t>
            </a:r>
          </a:p>
        </p:txBody>
      </p:sp>
      <p:sp>
        <p:nvSpPr>
          <p:cNvPr id="9" name="Can 8"/>
          <p:cNvSpPr/>
          <p:nvPr/>
        </p:nvSpPr>
        <p:spPr>
          <a:xfrm>
            <a:off x="3017520" y="2229288"/>
            <a:ext cx="270000" cy="15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3063240" cy="3154680"/>
          </a:xfrm>
          <a:prstGeom prst="rect">
            <a:avLst/>
          </a:prstGeom>
          <a:solidFill>
            <a:srgbClr val="180800"/>
          </a:solidFill>
          <a:ln w="317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822960"/>
            <a:ext cx="2880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800"/>
                </a:solidFill>
                <a:latin typeface="游明朝"/>
              </a:rPr>
              <a:t>継承の儀（業界初）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143000"/>
            <a:ext cx="2880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赤7揃いで発動。何を次世代に残すか選ぶ。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481328"/>
            <a:ext cx="2788920" cy="540000"/>
          </a:xfrm>
          <a:prstGeom prst="rect">
            <a:avLst/>
          </a:prstGeom>
          <a:solidFill>
            <a:srgbClr val="1A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521328"/>
            <a:ext cx="256032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游明朝"/>
              </a:rPr>
              <a:t>速さの継承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177132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次セット開始から10G高確
レア役確率1.5倍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041328"/>
            <a:ext cx="2788920" cy="540000"/>
          </a:xfrm>
          <a:prstGeom prst="rect">
            <a:avLst/>
          </a:prstGeom>
          <a:solidFill>
            <a:srgbClr val="1A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081328"/>
            <a:ext cx="256032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深さの継承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33132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宿敵弱体化ゲージが
通常の3倍速で貯まる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601328"/>
            <a:ext cx="2788920" cy="540000"/>
          </a:xfrm>
          <a:prstGeom prst="rect">
            <a:avLst/>
          </a:prstGeom>
          <a:solidFill>
            <a:srgbClr val="1A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641328"/>
            <a:ext cx="256032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66FF"/>
                </a:solidFill>
                <a:latin typeface="游明朝"/>
              </a:rPr>
              <a:t>絆の継承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89132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「英雄の残照」5Gが
確定発動（引き戻し保証）</a:t>
            </a:r>
          </a:p>
        </p:txBody>
      </p:sp>
      <p:sp>
        <p:nvSpPr>
          <p:cNvPr id="22" name="Can 21"/>
          <p:cNvSpPr/>
          <p:nvPr/>
        </p:nvSpPr>
        <p:spPr>
          <a:xfrm>
            <a:off x="6583680" y="2229288"/>
            <a:ext cx="270000" cy="15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777240"/>
            <a:ext cx="1965960" cy="3154680"/>
          </a:xfrm>
          <a:prstGeom prst="rect">
            <a:avLst/>
          </a:prstGeom>
          <a:solidFill>
            <a:srgbClr val="1610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822960"/>
            <a:ext cx="1828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游明朝"/>
              </a:rPr>
              <a:t>世代の重なり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1170432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第1世代
  ↓ 継承
第2世代
  ↓ 継承
第3世代
  ↓
英雄連合へ！
3択すべて選ぶ
→ 継承コンプリート
→ 決戦AT条件①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023360"/>
            <a:ext cx="8778240" cy="640000"/>
          </a:xfrm>
          <a:prstGeom prst="rect">
            <a:avLst/>
          </a:prstGeom>
          <a:solidFill>
            <a:srgbClr val="10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4023360"/>
            <a:ext cx="60000" cy="6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44"/>
                </a:solidFill>
                <a:latin typeface="游明朝"/>
              </a:rPr>
              <a:t>継承の儀の戦略性：「速さ」はループ率UP・「深さ」は決戦AT近道・「絆」は引き戻し保証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v1の課題「効果が曖昧」を完全解消。プレイヤーが戦略を持って選べる3択設計。ミリゴZ-ZONEを昇華。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英雄連合  ──  3世代の意志が1つになる瞬間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5303520" cy="2606040"/>
          </a:xfrm>
          <a:prstGeom prst="rect">
            <a:avLst/>
          </a:prstGeom>
          <a:solidFill>
            <a:srgbClr val="041404"/>
          </a:solidFill>
          <a:ln w="25400">
            <a:solidFill>
              <a:srgbClr val="40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32104"/>
            <a:ext cx="51206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D060"/>
                </a:solidFill>
                <a:latin typeface="游明朝"/>
              </a:rPr>
              <a:t>英雄連合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463040" cy="265000"/>
          </a:xfrm>
          <a:prstGeom prst="rect">
            <a:avLst/>
          </a:prstGeom>
          <a:solidFill>
            <a:srgbClr val="0A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89872"/>
            <a:ext cx="1371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発動条件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1289872"/>
            <a:ext cx="35661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0E4CC"/>
                </a:solidFill>
                <a:latin typeface="メイリオ"/>
              </a:rPr>
              <a:t>世代AT 3回以上ループ達成（3世代の英雄が揃う）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33872"/>
            <a:ext cx="1463040" cy="265000"/>
          </a:xfrm>
          <a:prstGeom prst="rect">
            <a:avLst/>
          </a:prstGeom>
          <a:solidFill>
            <a:srgbClr val="0A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61872"/>
            <a:ext cx="1371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継続率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1561872"/>
            <a:ext cx="35661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75%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05872"/>
            <a:ext cx="1463040" cy="265000"/>
          </a:xfrm>
          <a:prstGeom prst="rect">
            <a:avLst/>
          </a:prstGeom>
          <a:solidFill>
            <a:srgbClr val="0A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33872"/>
            <a:ext cx="1371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" y="1833872"/>
            <a:ext cx="35661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6.5枚/G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77872"/>
            <a:ext cx="1463040" cy="265000"/>
          </a:xfrm>
          <a:prstGeom prst="rect">
            <a:avLst/>
          </a:prstGeom>
          <a:solidFill>
            <a:srgbClr val="0A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105872"/>
            <a:ext cx="1371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期待枚数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2105872"/>
            <a:ext cx="35661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1,000〜1,500枚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49872"/>
            <a:ext cx="1463040" cy="265000"/>
          </a:xfrm>
          <a:prstGeom prst="rect">
            <a:avLst/>
          </a:prstGeom>
          <a:solidFill>
            <a:srgbClr val="0A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77872"/>
            <a:ext cx="1371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演出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4" y="2377872"/>
            <a:ext cx="35661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0AA40"/>
                </a:solidFill>
                <a:latin typeface="メイリオ"/>
              </a:rPr>
              <a:t>各世代の継承内容が演出に反映！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777240"/>
            <a:ext cx="3291840" cy="2606040"/>
          </a:xfrm>
          <a:prstGeom prst="rect">
            <a:avLst/>
          </a:prstGeom>
          <a:solidFill>
            <a:srgbClr val="06081C"/>
          </a:solidFill>
          <a:ln w="2286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9008" y="832104"/>
            <a:ext cx="31089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7AA"/>
                </a:solidFill>
                <a:latin typeface="游明朝"/>
              </a:rPr>
              <a:t>英雄の残照（引き戻し）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120700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英雄連合終了後に発動する5Gのラストチャンス
「絆の継承」選択 → 確定発動
通常時         → 確率発動
奇数図柄揃いで世代AT再突入！
★ 吉宗1G連の感動をここで昇華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493008"/>
            <a:ext cx="8778240" cy="680000"/>
          </a:xfrm>
          <a:prstGeom prst="rect">
            <a:avLst/>
          </a:prstGeom>
          <a:solidFill>
            <a:srgbClr val="081008"/>
          </a:solidFill>
          <a:ln w="19050">
            <a:solidFill>
              <a:srgbClr val="40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547872"/>
            <a:ext cx="85039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AA40"/>
                </a:solidFill>
                <a:latin typeface="游明朝"/>
              </a:rPr>
              <a:t>演出設計：継承内容が英雄連合に反映される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95344"/>
            <a:ext cx="2834640" cy="260000"/>
          </a:xfrm>
          <a:prstGeom prst="rect">
            <a:avLst/>
          </a:prstGeom>
          <a:solidFill>
            <a:srgbClr val="0C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040" y="3941063"/>
            <a:ext cx="26517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速さを継いだ世代：素早い連続攻撃演出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3895344"/>
            <a:ext cx="2834640" cy="260000"/>
          </a:xfrm>
          <a:prstGeom prst="rect">
            <a:avLst/>
          </a:prstGeom>
          <a:solidFill>
            <a:srgbClr val="0C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7832" y="3941063"/>
            <a:ext cx="26517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C2222"/>
                </a:solidFill>
                <a:latin typeface="メイリオ"/>
              </a:rPr>
              <a:t>深さを継いだ世代：宿敵の弱点を突く必殺技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5624" y="3895344"/>
            <a:ext cx="2834640" cy="260000"/>
          </a:xfrm>
          <a:prstGeom prst="rect">
            <a:avLst/>
          </a:prstGeom>
          <a:solidFill>
            <a:srgbClr val="0C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5624" y="3941063"/>
            <a:ext cx="26517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AA66FF"/>
                </a:solidFill>
                <a:latin typeface="メイリオ"/>
              </a:rPr>
              <a:t>絆を継いだ世代：他の英雄を援護する演出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187952"/>
            <a:ext cx="8778240" cy="420000"/>
          </a:xfrm>
          <a:prstGeom prst="rect">
            <a:avLst/>
          </a:prstGeom>
          <a:solidFill>
            <a:srgbClr val="0E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233672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MY設計：世代AT(400枚) × 複数 + 英雄連合(1,200枚) + 決戦AT(1,500枚) ＝ 約3,500枚
通常遊技でも英雄連合まで楽しめる。決戦ATは夢ではなく「積み上げれば届く」距離感。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決戦AT「世代の決着」  ──  積み上げた意志が報われる瞬間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2651760"/>
          </a:xfrm>
          <a:prstGeom prst="rect">
            <a:avLst/>
          </a:prstGeom>
          <a:solidFill>
            <a:srgbClr val="200404"/>
          </a:solidFill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32104"/>
            <a:ext cx="39319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発動条件（3つすべて必要）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280160"/>
            <a:ext cx="360000" cy="550000"/>
          </a:xfrm>
          <a:prstGeom prst="rect">
            <a:avLst/>
          </a:prstGeom>
          <a:solidFill>
            <a:srgbClr val="2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335160"/>
            <a:ext cx="3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8800"/>
                </a:solidFill>
                <a:latin typeface="游明朝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35160"/>
            <a:ext cx="3200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游明朝"/>
              </a:rPr>
              <a:t>宿敵弱体化ゲージ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10160"/>
            <a:ext cx="32004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「深さの継承」を重ねるほど早く貯まる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855160"/>
            <a:ext cx="360000" cy="550000"/>
          </a:xfrm>
          <a:prstGeom prst="rect">
            <a:avLst/>
          </a:prstGeom>
          <a:solidFill>
            <a:srgbClr val="2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910160"/>
            <a:ext cx="3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A840"/>
                </a:solidFill>
                <a:latin typeface="游明朝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10160"/>
            <a:ext cx="3200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皇帝の力ストック獲得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85160"/>
            <a:ext cx="32004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レアストック（ループ率80%）を入手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2430160"/>
            <a:ext cx="360000" cy="550000"/>
          </a:xfrm>
          <a:prstGeom prst="rect">
            <a:avLst/>
          </a:prstGeom>
          <a:solidFill>
            <a:srgbClr val="2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485160"/>
            <a:ext cx="3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66FF"/>
                </a:solidFill>
                <a:latin typeface="游明朝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85160"/>
            <a:ext cx="3200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66FF"/>
                </a:solidFill>
                <a:latin typeface="游明朝"/>
              </a:rPr>
              <a:t>継承コンプリート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60160"/>
            <a:ext cx="32004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速さ・深さ・絆の3択すべてを選び揃える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777240"/>
            <a:ext cx="4526280" cy="2651760"/>
          </a:xfrm>
          <a:prstGeom prst="rect">
            <a:avLst/>
          </a:prstGeom>
          <a:solidFill>
            <a:srgbClr val="1A0404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832104"/>
            <a:ext cx="4297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感動の演出設計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18872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純増：8.0枚/G
歴代全世代の英雄が集結。
宿敵イグナールとの最終決戦。
「積み上げた意志が1つの光になる」
── クライマックス演出
1000年ぶりの宿敵討伐
→ 感動の幕引き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520440"/>
            <a:ext cx="8778240" cy="1020000"/>
          </a:xfrm>
          <a:prstGeom prst="rect">
            <a:avLst/>
          </a:prstGeom>
          <a:solidFill>
            <a:srgbClr val="0E061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575304"/>
            <a:ext cx="3657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出玉設計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895344"/>
            <a:ext cx="228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状態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95344"/>
            <a:ext cx="28346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期待枚数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895344"/>
            <a:ext cx="2011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備考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4151376"/>
            <a:ext cx="8741664" cy="270000"/>
          </a:xfrm>
          <a:prstGeom prst="rect">
            <a:avLst/>
          </a:prstGeom>
          <a:solidFill>
            <a:srgbClr val="120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4179376"/>
            <a:ext cx="2286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通常AT（1〜2世代）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179376"/>
            <a:ext cx="28346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300〜400枚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179376"/>
            <a:ext cx="201168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最短体験の日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4426376"/>
            <a:ext cx="8741664" cy="270000"/>
          </a:xfrm>
          <a:prstGeom prst="rect">
            <a:avLst/>
          </a:prstGeom>
          <a:solidFill>
            <a:srgbClr val="18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4454376"/>
            <a:ext cx="2286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英雄連合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454376"/>
            <a:ext cx="28346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1,000〜1,500枚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454376"/>
            <a:ext cx="201168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3世代ループ達成の日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4701376"/>
            <a:ext cx="8741664" cy="270000"/>
          </a:xfrm>
          <a:prstGeom prst="rect">
            <a:avLst/>
          </a:prstGeom>
          <a:solidFill>
            <a:srgbClr val="120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4729376"/>
            <a:ext cx="2286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0E4CC"/>
                </a:solidFill>
                <a:latin typeface="メイリオ"/>
              </a:rPr>
              <a:t>決戦AT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29376"/>
            <a:ext cx="28346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1,500枚以上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729376"/>
            <a:ext cx="201168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全条件成立の日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4976376"/>
            <a:ext cx="8741664" cy="270000"/>
          </a:xfrm>
          <a:prstGeom prst="rect">
            <a:avLst/>
          </a:prstGeom>
          <a:solidFill>
            <a:srgbClr val="18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5004376"/>
            <a:ext cx="2286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メイリオ"/>
              </a:rPr>
              <a:t>MY目安（1日全部）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004376"/>
            <a:ext cx="28346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約3,500枚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004376"/>
            <a:ext cx="201168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決戦+前後込み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既存機種との差別化  ──  世代が埋める「空席」はどこか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417320" cy="350000"/>
          </a:xfrm>
          <a:prstGeom prst="rect">
            <a:avLst/>
          </a:prstGeom>
          <a:solidFill>
            <a:srgbClr val="18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880" y="822960"/>
            <a:ext cx="13573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777240"/>
            <a:ext cx="1719072" cy="350000"/>
          </a:xfrm>
          <a:prstGeom prst="rect">
            <a:avLst/>
          </a:prstGeom>
          <a:solidFill>
            <a:srgbClr val="18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0200" y="822960"/>
            <a:ext cx="165907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Re:ゼロ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777240"/>
            <a:ext cx="1719072" cy="350000"/>
          </a:xfrm>
          <a:prstGeom prst="rect">
            <a:avLst/>
          </a:prstGeom>
          <a:solidFill>
            <a:srgbClr val="18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9272" y="822960"/>
            <a:ext cx="165907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真打吉宗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777240"/>
            <a:ext cx="1719072" cy="350000"/>
          </a:xfrm>
          <a:prstGeom prst="rect">
            <a:avLst/>
          </a:prstGeom>
          <a:solidFill>
            <a:srgbClr val="18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8344" y="822960"/>
            <a:ext cx="165907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ミリゴ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416" y="777240"/>
            <a:ext cx="2020824" cy="350000"/>
          </a:xfrm>
          <a:prstGeom prst="rect">
            <a:avLst/>
          </a:prstGeom>
          <a:solidFill>
            <a:srgbClr val="22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7416" y="822960"/>
            <a:ext cx="1960824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游明朝"/>
              </a:rPr>
              <a:t>世代 ―継承の炎―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70432"/>
            <a:ext cx="1417320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880" y="1198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ループ設計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70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0200" y="119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タイムリープ（リセット）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1170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9272" y="119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周期CZ+1G連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8344" y="1170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344" y="119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A〜D4段階ストック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7416" y="1170432"/>
            <a:ext cx="2020824" cy="295000"/>
          </a:xfrm>
          <a:prstGeom prst="rect">
            <a:avLst/>
          </a:prstGeom>
          <a:solidFill>
            <a:srgbClr val="1C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7416" y="1198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世代交代（積み上げ）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472432"/>
            <a:ext cx="1417320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880" y="1500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失敗の意味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1472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0200" y="1500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やり直し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9272" y="1472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9272" y="1500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継承なし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8344" y="1472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8344" y="1500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継承なし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57416" y="1472432"/>
            <a:ext cx="2020824" cy="295000"/>
          </a:xfrm>
          <a:prstGeom prst="rect">
            <a:avLst/>
          </a:prstGeom>
          <a:solidFill>
            <a:srgbClr val="22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7416" y="1500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次世代への蓄積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1774432"/>
            <a:ext cx="1417320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2880" y="1802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AT中の選択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1774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0200" y="1802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なし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9272" y="1774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9272" y="1802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なし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38344" y="1774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8344" y="1802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なし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57416" y="1774432"/>
            <a:ext cx="2020824" cy="295000"/>
          </a:xfrm>
          <a:prstGeom prst="rect">
            <a:avLst/>
          </a:prstGeom>
          <a:solidFill>
            <a:srgbClr val="1C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7416" y="1802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継承の儀（3択）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076432"/>
            <a:ext cx="1417320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2880" y="2104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長期目標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2076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0200" y="2104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天井のみ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9272" y="2076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9272" y="2104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皇帝モード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38344" y="2076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344" y="2104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PGG 1/16384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7416" y="2076432"/>
            <a:ext cx="2020824" cy="295000"/>
          </a:xfrm>
          <a:prstGeom prst="rect">
            <a:avLst/>
          </a:prstGeom>
          <a:solidFill>
            <a:srgbClr val="22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7416" y="2104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宿敵弱体化ゲージ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378432"/>
            <a:ext cx="1417320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2880" y="2406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感情設計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378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0200" y="2406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失敗前提ループ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9272" y="2378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59272" y="2406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瞬間爆発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8344" y="2378432"/>
            <a:ext cx="1719072" cy="295000"/>
          </a:xfrm>
          <a:prstGeom prst="rect">
            <a:avLst/>
          </a:prstGeom>
          <a:solidFill>
            <a:srgbClr val="10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8344" y="2406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夢を追う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57416" y="2378432"/>
            <a:ext cx="2020824" cy="295000"/>
          </a:xfrm>
          <a:prstGeom prst="rect">
            <a:avLst/>
          </a:prstGeom>
          <a:solidFill>
            <a:srgbClr val="1C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7416" y="2406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積み上げ前提ループ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2680432"/>
            <a:ext cx="1417320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2880" y="2708432"/>
            <a:ext cx="1357320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来店継続動機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2680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0200" y="270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設定・天井期待値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9272" y="2680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59272" y="270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設定・天井期待値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38344" y="2680432"/>
            <a:ext cx="1719072" cy="2950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78344" y="2708432"/>
            <a:ext cx="1659072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設定・期待値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57416" y="2680432"/>
            <a:ext cx="2020824" cy="295000"/>
          </a:xfrm>
          <a:prstGeom prst="rect">
            <a:avLst/>
          </a:prstGeom>
          <a:solidFill>
            <a:srgbClr val="22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7416" y="2708432"/>
            <a:ext cx="1960824" cy="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物語の継続・世代の積み上げ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4133087"/>
            <a:ext cx="8778240" cy="560000"/>
          </a:xfrm>
          <a:prstGeom prst="rect">
            <a:avLst/>
          </a:prstGeom>
          <a:solidFill>
            <a:srgbClr val="14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2880" y="4133087"/>
            <a:ext cx="60000" cy="56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178808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游明朝"/>
              </a:rPr>
              <a:t>空席を埋める：「AT中に選択できる台」が業界に存在しない。継承の儀は他機種との最大の差別化点。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4453128"/>
            <a:ext cx="84124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積み上げ型ループは業界初。失敗をポジティブに転換する設計で、RPG世代のリピーター獲得を狙う。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スペック・ターゲット・業界初ポイント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2834640"/>
          </a:xfrm>
          <a:prstGeom prst="rect">
            <a:avLst/>
          </a:prstGeom>
          <a:solidFill>
            <a:srgbClr val="100A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32104"/>
            <a:ext cx="4114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基本スペック（ミドル）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16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44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244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79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07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天井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507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600G（継承ポイントで最短400G）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42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70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1770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4.0枚/G / 6.5枚/G / 8.0枚/G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05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033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機械割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2033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設定1：97.5%  /  設定6：109%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68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96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MY目標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2296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約3,500枚（ミドル）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31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59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コイン単価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2" y="2559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20円（3枚ベット / 1G＝60円）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94152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22152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2822152"/>
            <a:ext cx="256032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0.22〜0.27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777240"/>
            <a:ext cx="4297680" cy="1325880"/>
          </a:xfrm>
          <a:prstGeom prst="rect">
            <a:avLst/>
          </a:prstGeom>
          <a:solidFill>
            <a:srgbClr val="100A22"/>
          </a:solidFill>
          <a:ln w="1651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832104"/>
            <a:ext cx="4114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77AA"/>
                </a:solidFill>
                <a:latin typeface="游明朝"/>
              </a:rPr>
              <a:t>ターゲット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1124712"/>
            <a:ext cx="411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30〜50代男性　ロマサガ2・DQ・FF体験世代
週1〜2来店リピーター　許容投資3,000〜8,000円/日
感情ニーズ：「物語に没入」「積み上げを感じたい」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194560"/>
            <a:ext cx="4297680" cy="1417320"/>
          </a:xfrm>
          <a:prstGeom prst="rect">
            <a:avLst/>
          </a:prstGeom>
          <a:solidFill>
            <a:srgbClr val="1408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2249424"/>
            <a:ext cx="4114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業界初ポイント（3点）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578608"/>
            <a:ext cx="41148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A44"/>
                </a:solidFill>
                <a:latin typeface="メイリオ"/>
              </a:rPr>
              <a:t>★ ① 世代交代ループ演出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2826608"/>
            <a:ext cx="41148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A44"/>
                </a:solidFill>
                <a:latin typeface="メイリオ"/>
              </a:rPr>
              <a:t>★ ② 継承の儀（AT中3択・効果明確）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3074608"/>
            <a:ext cx="41148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A44"/>
                </a:solidFill>
                <a:latin typeface="メイリオ"/>
              </a:rPr>
              <a:t>★ ③ 宿敵弱体化ゲージ（1セッション）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703320"/>
            <a:ext cx="8778240" cy="3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3776472"/>
            <a:ext cx="8778240" cy="55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22191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学習機種からの昇華：ミリゴZ-ZONE→継承の儀 / 吉宗1G連→英雄の残照 / 祟り神加護→継承積み上げ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1480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4CC"/>
                </a:solidFill>
                <a:latin typeface="メイリオ"/>
              </a:rPr>
              <a:t>既存メカニクスを「感情設計」として統合。「選ぶ楽しさ」「積み上げる喜び」「決着の感動」を1セッションで体験。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まとめ  ──  「世代 ―継承の炎―」が生む体験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2999232"/>
          </a:xfrm>
          <a:prstGeom prst="rect">
            <a:avLst/>
          </a:prstGeom>
          <a:solidFill>
            <a:srgbClr val="1C0A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積み上げることで感じる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61872"/>
            <a:ext cx="2560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「今日の遊技が
1つの物語」
失敗しても
継承ポイントが貯まる
世代が重なるたびに
演出が豊かになる
前進感のある設計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2999232"/>
          </a:xfrm>
          <a:prstGeom prst="rect">
            <a:avLst/>
          </a:prstGeom>
          <a:solidFill>
            <a:srgbClr val="1A062C"/>
          </a:solidFill>
          <a:ln w="25400">
            <a:solidFill>
              <a:srgbClr val="88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33CC"/>
                </a:solidFill>
                <a:latin typeface="游明朝"/>
              </a:rPr>
              <a:t>選ぶことで感じる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61872"/>
            <a:ext cx="2560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「この台は
自分の台」
継承の儀で
選んだ内容が物語を変える
同じ台でも
2人と同じ体験をしない
能動的没入感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2999232"/>
          </a:xfrm>
          <a:prstGeom prst="rect">
            <a:avLst/>
          </a:prstGeom>
          <a:solidFill>
            <a:srgbClr val="200404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決着で感じる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61872"/>
            <a:ext cx="2560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「積み上げが
報われた」
決戦ATは
「たまたま当たった」
ではなく
「自分が育てた」感覚
MY3,500枚の爆発が
物語の完成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58768"/>
            <a:ext cx="8778240" cy="4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931920"/>
            <a:ext cx="8778240" cy="780000"/>
          </a:xfrm>
          <a:prstGeom prst="rect">
            <a:avLst/>
          </a:prstGeom>
          <a:solidFill>
            <a:srgbClr val="1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977639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業界初3点：① 世代交代ループ（積み上げ型）  ② 継承の儀（3択・効果明確）  ③ 宿敵弱体化ゲージ（1セッション完結）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79392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4CC"/>
                </a:solidFill>
                <a:latin typeface="メイリオ"/>
              </a:rPr>
              <a:t>ミリゴのZ-ZONE × 吉宗の1G連 × 祟り神の感情設計 × 世界観（不死の魔王イグナール）を統合。
「1人では届かない。でも、意志を継ぐことで、必ず倒せる。」——この感情設計が他の全ての台にない「世代」の核心。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