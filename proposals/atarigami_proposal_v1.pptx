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40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30000" cy="20116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0"/>
                </a:solidFill>
                <a:latin typeface="メイリオ"/>
              </a:rPr>
              <a:t>新機種ゲーム性提案書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メイリオ"/>
              </a:rPr>
              <a:t>祟り神の章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BB"/>
                </a:solidFill>
                <a:latin typeface="メイリオ"/>
              </a:rPr>
              <a:t>〜物語と出玉が交差するスロット〜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4389120" cy="5800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60000" cy="58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07792"/>
            <a:ext cx="41148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メイリオ"/>
              </a:rPr>
              <a:t>「倒した相手を、後から理解する。」
普通ATで祟り神を「戦って倒す」台。
特別ATでその祟り神の「なぜそうなったか」が分かる台。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389120"/>
            <a:ext cx="30175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メイリオ"/>
              </a:rPr>
              <a:t>スマスロ（L型）／ 実稼働データ453機種173週 知見ベース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0"/>
                </a:solidFill>
                <a:latin typeface="メイリオ"/>
              </a:rPr>
              <a:t>CONCEPT  ──  なぜこれが新しいのか？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474720" cy="2194560"/>
          </a:xfrm>
          <a:prstGeom prst="rect">
            <a:avLst/>
          </a:prstGeom>
          <a:solidFill>
            <a:srgbClr val="220000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22"/>
                </a:solidFill>
                <a:latin typeface="メイリオ"/>
              </a:rPr>
              <a:t>普通AT（バトル型）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メイリオ"/>
              </a:rPr>
              <a:t>祟り神を「敵」として戦い、倒す
⚔ ザコ戦 → 中ボス → ボス
⚔ 勝利でセット継続・SP蓄積
⚔ 敗北で悔しさ→リベンジ欲求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737360"/>
            <a:ext cx="1280160" cy="300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164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0"/>
                </a:solidFill>
                <a:latin typeface="メイリオ"/>
              </a:rPr>
              <a:t>感情が
逆転する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286000"/>
            <a:ext cx="1737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EE44"/>
                </a:solidFill>
                <a:latin typeface="メイリオ"/>
              </a:rPr>
              <a:t>敵 → 共感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914400"/>
            <a:ext cx="3474720" cy="2194560"/>
          </a:xfrm>
          <a:prstGeom prst="rect">
            <a:avLst/>
          </a:prstGeom>
          <a:solidFill>
            <a:srgbClr val="000033"/>
          </a:solidFill>
          <a:ln w="2540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9601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5CC"/>
                </a:solidFill>
                <a:latin typeface="メイリオ"/>
              </a:rPr>
              <a:t>特別AT（章型）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3716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メイリオ"/>
              </a:rPr>
              <a:t>祟り神の「なぜそうなったか」を知る
📖 村人の視点・僧侶の視点・家族の視点
📖 断片が集まって真実が見える
📖 100〜1500枚獲得チャンス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46120"/>
            <a:ext cx="8595360" cy="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1554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818"/>
                </a:solidFill>
                <a:latin typeface="メイリオ"/>
              </a:rPr>
              <a:t>比較軸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91840"/>
            <a:ext cx="30175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818"/>
                </a:solidFill>
                <a:latin typeface="メイリオ"/>
              </a:rPr>
              <a:t>従来機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91840"/>
            <a:ext cx="3749039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メイリオ"/>
              </a:rPr>
              <a:t>本提案（祟り神の章）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11880"/>
            <a:ext cx="8595360" cy="340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641880"/>
            <a:ext cx="15087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メイリオ"/>
              </a:rPr>
              <a:t>来店動機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641880"/>
            <a:ext cx="2926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設定・期待値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641880"/>
            <a:ext cx="35661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840"/>
                </a:solidFill>
                <a:latin typeface="メイリオ"/>
              </a:rPr>
              <a:t>物語の続きが見たい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61880"/>
            <a:ext cx="8595360" cy="340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991880"/>
            <a:ext cx="15087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メイリオ"/>
              </a:rPr>
              <a:t>リピート設計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991880"/>
            <a:ext cx="2926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1回来店で完結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991880"/>
            <a:ext cx="35661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840"/>
                </a:solidFill>
                <a:latin typeface="メイリオ"/>
              </a:rPr>
              <a:t>複数来店で完成する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11880"/>
            <a:ext cx="8595360" cy="340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341880"/>
            <a:ext cx="15087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メイリオ"/>
              </a:rPr>
              <a:t>プレイ体験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341880"/>
            <a:ext cx="2926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全員が同じ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341880"/>
            <a:ext cx="35661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840"/>
                </a:solidFill>
                <a:latin typeface="メイリオ"/>
              </a:rPr>
              <a:t>章のランダム順で変わる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0"/>
                </a:solidFill>
                <a:latin typeface="メイリオ"/>
              </a:rPr>
              <a:t>PLAYER EMOTION MAP  ──  どこで楽しませ、どこで揺さぶるか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868680"/>
            <a:ext cx="1024128" cy="2286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160" y="2468880"/>
            <a:ext cx="824128" cy="6858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3214680"/>
            <a:ext cx="102412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CC66"/>
                </a:solidFill>
                <a:latin typeface="メイリオ"/>
              </a:rPr>
              <a:t>①着席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28880"/>
            <a:ext cx="102412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メイリオ"/>
              </a:rPr>
              <a:t>自分の進捗
が迎えてくれる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981680"/>
            <a:ext cx="30000" cy="6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288" y="868680"/>
            <a:ext cx="1024128" cy="2286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91288" y="2272938"/>
            <a:ext cx="824128" cy="88174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1288" y="3214680"/>
            <a:ext cx="102412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BBBBB"/>
                </a:solidFill>
                <a:latin typeface="メイリオ"/>
              </a:rPr>
              <a:t>②通常時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1288" y="2332938"/>
            <a:ext cx="102412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メイリオ"/>
              </a:rPr>
              <a:t>レア役で
SP積み上げ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5416" y="1981680"/>
            <a:ext cx="30000" cy="6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5416" y="868680"/>
            <a:ext cx="1024128" cy="2286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5416" y="2076995"/>
            <a:ext cx="824128" cy="1077685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5416" y="3214680"/>
            <a:ext cx="102412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2222"/>
                </a:solidFill>
                <a:latin typeface="メイリオ"/>
              </a:rPr>
              <a:t>③普通AT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5416" y="2136995"/>
            <a:ext cx="102412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メイリオ"/>
              </a:rPr>
              <a:t>ザコ→中ボス
→ボス 一喜一憂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9544" y="1981680"/>
            <a:ext cx="30000" cy="6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9544" y="868680"/>
            <a:ext cx="1024128" cy="2286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9544" y="1881052"/>
            <a:ext cx="824128" cy="1273628"/>
          </a:xfrm>
          <a:prstGeom prst="rect">
            <a:avLst/>
          </a:prstGeom>
          <a:solidFill>
            <a:srgbClr val="33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9544" y="3214680"/>
            <a:ext cx="102412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355CC"/>
                </a:solidFill>
                <a:latin typeface="メイリオ"/>
              </a:rPr>
              <a:t>④特別AT
突入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9544" y="1941052"/>
            <a:ext cx="102412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メイリオ"/>
              </a:rPr>
              <a:t>どの章が来る?
ワクワク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3672" y="1981680"/>
            <a:ext cx="30000" cy="6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3672" y="868680"/>
            <a:ext cx="1024128" cy="2286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3672" y="1685109"/>
            <a:ext cx="824128" cy="1469571"/>
          </a:xfrm>
          <a:prstGeom prst="rect">
            <a:avLst/>
          </a:prstGeom>
          <a:solidFill>
            <a:srgbClr val="88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3672" y="3214680"/>
            <a:ext cx="102412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22AA"/>
                </a:solidFill>
                <a:latin typeface="メイリオ"/>
              </a:rPr>
              <a:t>⑤章の中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3672" y="1745109"/>
            <a:ext cx="102412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メイリオ"/>
              </a:rPr>
              <a:t>別視点で
同じ事件を見る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77800" y="1981680"/>
            <a:ext cx="30000" cy="6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7800" y="868680"/>
            <a:ext cx="1024128" cy="2286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07800" y="1489166"/>
            <a:ext cx="824128" cy="1665514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7800" y="3214680"/>
            <a:ext cx="102412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8A840"/>
                </a:solidFill>
                <a:latin typeface="メイリオ"/>
              </a:rPr>
              <a:t>⑥加護
獲得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7800" y="1549166"/>
            <a:ext cx="102412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メイリオ"/>
              </a:rPr>
              <a:t>コレクション
達成感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1928" y="1981680"/>
            <a:ext cx="30000" cy="6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61928" y="868680"/>
            <a:ext cx="1024128" cy="2286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61928" y="1293223"/>
            <a:ext cx="824128" cy="186145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1928" y="3214680"/>
            <a:ext cx="102412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9900"/>
                </a:solidFill>
                <a:latin typeface="メイリオ"/>
              </a:rPr>
              <a:t>⑦第5章AT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1928" y="1353223"/>
            <a:ext cx="102412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メイリオ"/>
              </a:rPr>
              <a:t>同時多発
「超楽しい」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86056" y="1981680"/>
            <a:ext cx="30000" cy="6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6056" y="868680"/>
            <a:ext cx="1024128" cy="2286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16056" y="1097281"/>
            <a:ext cx="824128" cy="2057399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056" y="3214680"/>
            <a:ext cx="1024128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EE44"/>
                </a:solidFill>
                <a:latin typeface="メイリオ"/>
              </a:rPr>
              <a:t>⑧第0章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056" y="1157281"/>
            <a:ext cx="1024128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メイリオ"/>
              </a:rPr>
              <a:t>1500枚
感動のラスト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4389120"/>
            <a:ext cx="8869680" cy="330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443984"/>
            <a:ext cx="8503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0"/>
                </a:solidFill>
                <a:latin typeface="メイリオ"/>
              </a:rPr>
              <a:t>★ 核心：普通ATで「倒した敵」が、特別ATで「共感できる存在」になる。  この感情の逆転が来店継続の最大動機。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0"/>
                </a:solidFill>
                <a:latin typeface="メイリオ"/>
              </a:rPr>
              <a:t>CHAPTER SYSTEM  ──  DQ4オムニバス型・ランダム章解放設計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68680"/>
            <a:ext cx="1371600" cy="2743200"/>
          </a:xfrm>
          <a:prstGeom prst="rect">
            <a:avLst/>
          </a:prstGeom>
          <a:solidFill>
            <a:srgbClr val="14142A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2880" y="92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BBBB"/>
                </a:solidFill>
                <a:latin typeface="メイリオ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2880" y="124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村人の視点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80" y="1568680"/>
            <a:ext cx="1271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なぜ祟られたのか
分からない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880" y="3111880"/>
            <a:ext cx="1271600" cy="420000"/>
          </a:xfrm>
          <a:prstGeom prst="rect">
            <a:avLst/>
          </a:prstGeom>
          <a:solidFill>
            <a:srgbClr val="2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3151880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22AA"/>
                </a:solidFill>
                <a:latin typeface="メイリオ"/>
              </a:rPr>
              <a:t>加護：
リプレイの力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4480" y="868680"/>
            <a:ext cx="1371600" cy="2743200"/>
          </a:xfrm>
          <a:prstGeom prst="rect">
            <a:avLst/>
          </a:prstGeom>
          <a:solidFill>
            <a:srgbClr val="14142A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4480" y="92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BBBB"/>
                </a:solidFill>
                <a:latin typeface="メイリオ"/>
              </a:rPr>
              <a:t>第2章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4480" y="124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僧侶の視点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4480" y="1568680"/>
            <a:ext cx="1271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封じるしかなかった
あの日の決断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04480" y="3111880"/>
            <a:ext cx="1271600" cy="420000"/>
          </a:xfrm>
          <a:prstGeom prst="rect">
            <a:avLst/>
          </a:prstGeom>
          <a:solidFill>
            <a:srgbClr val="2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4480" y="3151880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22AA"/>
                </a:solidFill>
                <a:latin typeface="メイリオ"/>
              </a:rPr>
              <a:t>加護：
ベルの力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6080" y="868680"/>
            <a:ext cx="1371600" cy="2743200"/>
          </a:xfrm>
          <a:prstGeom prst="rect">
            <a:avLst/>
          </a:prstGeom>
          <a:solidFill>
            <a:srgbClr val="14142A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6080" y="92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BBBB"/>
                </a:solidFill>
                <a:latin typeface="メイリオ"/>
              </a:rPr>
              <a:t>第3章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6080" y="124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家族の視点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6080" y="1568680"/>
            <a:ext cx="1271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あの人がなぜ
祟り神に…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6080" y="3111880"/>
            <a:ext cx="1271600" cy="420000"/>
          </a:xfrm>
          <a:prstGeom prst="rect">
            <a:avLst/>
          </a:prstGeom>
          <a:solidFill>
            <a:srgbClr val="2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6080" y="3151880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22AA"/>
                </a:solidFill>
                <a:latin typeface="メイリオ"/>
              </a:rPr>
              <a:t>加護：
選択の力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7680" y="868680"/>
            <a:ext cx="1371600" cy="2743200"/>
          </a:xfrm>
          <a:prstGeom prst="rect">
            <a:avLst/>
          </a:prstGeom>
          <a:solidFill>
            <a:srgbClr val="14142A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7680" y="92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2222"/>
                </a:solidFill>
                <a:latin typeface="メイリオ"/>
              </a:rPr>
              <a:t>第4章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7680" y="124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祟り神の記憶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7680" y="1568680"/>
            <a:ext cx="1271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守りたかった
だけなのに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7680" y="3111880"/>
            <a:ext cx="1271600" cy="420000"/>
          </a:xfrm>
          <a:prstGeom prst="rect">
            <a:avLst/>
          </a:prstGeom>
          <a:solidFill>
            <a:srgbClr val="2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7680" y="3151880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22AA"/>
                </a:solidFill>
                <a:latin typeface="メイリオ"/>
              </a:rPr>
              <a:t>加護：
魂の力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9280" y="868680"/>
            <a:ext cx="1371600" cy="2743200"/>
          </a:xfrm>
          <a:prstGeom prst="rect">
            <a:avLst/>
          </a:prstGeom>
          <a:solidFill>
            <a:srgbClr val="28200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9280" y="92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840"/>
                </a:solidFill>
                <a:latin typeface="メイリオ"/>
              </a:rPr>
              <a:t>第5章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9280" y="124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全視点収束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9280" y="1568680"/>
            <a:ext cx="1271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加護4個で
超楽しいAT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19280" y="3111880"/>
            <a:ext cx="1271600" cy="420000"/>
          </a:xfrm>
          <a:prstGeom prst="rect">
            <a:avLst/>
          </a:prstGeom>
          <a:solidFill>
            <a:srgbClr val="28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9280" y="3151880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8A840"/>
                </a:solidFill>
                <a:latin typeface="メイリオ"/>
              </a:rPr>
              <a:t>加護4個
全部発動！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0880" y="868680"/>
            <a:ext cx="1371600" cy="2743200"/>
          </a:xfrm>
          <a:prstGeom prst="rect">
            <a:avLst/>
          </a:prstGeom>
          <a:solidFill>
            <a:srgbClr val="000035"/>
          </a:solidFill>
          <a:ln w="1905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90880" y="92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55CC"/>
                </a:solidFill>
                <a:latin typeface="メイリオ"/>
              </a:rPr>
              <a:t>第0章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0880" y="1248680"/>
            <a:ext cx="127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真実＆成仏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0880" y="1568680"/>
            <a:ext cx="1271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1500枚一か八か
感動のラスト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90880" y="3111880"/>
            <a:ext cx="1271600" cy="420000"/>
          </a:xfrm>
          <a:prstGeom prst="rect">
            <a:avLst/>
          </a:prstGeom>
          <a:solidFill>
            <a:srgbClr val="00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880" y="3151880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355CC"/>
                </a:solidFill>
                <a:latin typeface="メイリオ"/>
              </a:rPr>
              <a:t>成仏
チャレンジ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749039"/>
            <a:ext cx="4206240" cy="550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94760"/>
            <a:ext cx="39319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C66"/>
                </a:solidFill>
                <a:latin typeface="メイリオ"/>
              </a:rPr>
              <a:t>📌 章はランダム順で解放。「俺は3章から入った、お前は？」
　→ ホールで会話が生まれる、体験がプレイヤーごとに変わる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749039"/>
            <a:ext cx="4389120" cy="55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3794760"/>
            <a:ext cx="4114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840"/>
                </a:solidFill>
                <a:latin typeface="メイリオ"/>
              </a:rPr>
              <a:t>📌 章クリアで加護を獲得→第5章のATが強化される
　→ 来るたびに体験が豊かになる「来店価値の積み上げ」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0"/>
                </a:solidFill>
                <a:latin typeface="メイリオ"/>
              </a:rPr>
              <a:t>加護システム → 第5章「超楽しい」の設計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68680"/>
            <a:ext cx="1645920" cy="1554480"/>
          </a:xfrm>
          <a:prstGeom prst="rect">
            <a:avLst/>
          </a:prstGeom>
          <a:solidFill>
            <a:srgbClr val="181028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28680"/>
            <a:ext cx="16459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22AA"/>
                </a:solidFill>
                <a:latin typeface="メイリオ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208680"/>
            <a:ext cx="1645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BBBB"/>
                </a:solidFill>
                <a:latin typeface="メイリオ"/>
              </a:rPr>
              <a:t>リプレイの力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18680"/>
            <a:ext cx="16459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リプレイ成立で
AT抽選が走る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994520" y="868680"/>
            <a:ext cx="1645920" cy="1554480"/>
          </a:xfrm>
          <a:prstGeom prst="rect">
            <a:avLst/>
          </a:prstGeom>
          <a:solidFill>
            <a:srgbClr val="181028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4520" y="928680"/>
            <a:ext cx="16459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22AA"/>
                </a:solidFill>
                <a:latin typeface="メイリオ"/>
              </a:rPr>
              <a:t>第2章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4520" y="1208680"/>
            <a:ext cx="1645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BBBB"/>
                </a:solidFill>
                <a:latin typeface="メイリオ"/>
              </a:rPr>
              <a:t>ベルの力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4520" y="1518680"/>
            <a:ext cx="16459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打順ベル成立で
上乗せ抽選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60440" y="868680"/>
            <a:ext cx="1645920" cy="1554480"/>
          </a:xfrm>
          <a:prstGeom prst="rect">
            <a:avLst/>
          </a:prstGeom>
          <a:solidFill>
            <a:srgbClr val="181028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0440" y="928680"/>
            <a:ext cx="16459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22AA"/>
                </a:solidFill>
                <a:latin typeface="メイリオ"/>
              </a:rPr>
              <a:t>第3章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0440" y="1208680"/>
            <a:ext cx="1645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BBBB"/>
                </a:solidFill>
                <a:latin typeface="メイリオ"/>
              </a:rPr>
              <a:t>選択の力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0440" y="1518680"/>
            <a:ext cx="16459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毎セット
2択チャレンジ発生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26360" y="868680"/>
            <a:ext cx="1645920" cy="1554480"/>
          </a:xfrm>
          <a:prstGeom prst="rect">
            <a:avLst/>
          </a:prstGeom>
          <a:solidFill>
            <a:srgbClr val="181028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6360" y="928680"/>
            <a:ext cx="16459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22AA"/>
                </a:solidFill>
                <a:latin typeface="メイリオ"/>
              </a:rPr>
              <a:t>第4章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6360" y="1208680"/>
            <a:ext cx="1645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2222"/>
                </a:solidFill>
                <a:latin typeface="メイリオ"/>
              </a:rPr>
              <a:t>魂の力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6360" y="1518680"/>
            <a:ext cx="16459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セット継続率が
底上げされる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A840"/>
                </a:solidFill>
                <a:latin typeface="メイリオ"/>
              </a:rPr>
              <a:t>⬇ 全部集まると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834640"/>
            <a:ext cx="5486400" cy="1371600"/>
          </a:xfrm>
          <a:prstGeom prst="rect">
            <a:avLst/>
          </a:prstGeom>
          <a:solidFill>
            <a:srgbClr val="282000"/>
          </a:solidFill>
          <a:ln w="317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880360"/>
            <a:ext cx="5486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A840"/>
                </a:solidFill>
                <a:latin typeface="メイリオ"/>
              </a:rPr>
              <a:t>第5章AT ── 同時多発で何かが起き続ける「超楽しい」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29184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メイリオ"/>
              </a:rPr>
              <a:t>✔ リプレイ → AT抽選！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329184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メイリオ"/>
              </a:rPr>
              <a:t>✔ ベル → 上乗せ！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29184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メイリオ"/>
              </a:rPr>
              <a:t>✔ セット開始 → 2択！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329184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メイリオ"/>
              </a:rPr>
              <a:t>✔ 継続率底上げ → なかなか終わらない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29184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メイリオ"/>
              </a:rPr>
              <a:t>✔ リプレイ → AT抽選！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358184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メイリオ"/>
              </a:rPr>
              <a:t>✔ ベル → 上乗せ！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87184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メイリオ"/>
              </a:rPr>
              <a:t>✔ セット開始 → 2択！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16184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メイリオ"/>
              </a:rPr>
              <a:t>✔ 継続率底上げ → なかなか終わらない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297680"/>
            <a:ext cx="8686800" cy="360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43400"/>
            <a:ext cx="83210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メイリオ"/>
              </a:rPr>
              <a:t>加護が少ないまま第5章に来ると体験が薄い → 「また章を集めに来る」動機が生まれる設計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40000"/>
          </a:xfrm>
          <a:prstGeom prst="rect">
            <a:avLst/>
          </a:prstGeom>
          <a:solidFill>
            <a:srgbClr val="00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55CC"/>
                </a:solidFill>
                <a:latin typeface="メイリオ"/>
              </a:rPr>
              <a:t>第0章  ──  全章コンプリート者だけが辿り着く「真実と成仏」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68680"/>
            <a:ext cx="4114800" cy="3200400"/>
          </a:xfrm>
          <a:prstGeom prst="rect">
            <a:avLst/>
          </a:prstGeom>
          <a:solidFill>
            <a:srgbClr val="000028"/>
          </a:solidFill>
          <a:ln w="2540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840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55CC"/>
                </a:solidFill>
                <a:latin typeface="メイリオ"/>
              </a:rPr>
              <a:t>「真の章が解禁されました」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メイリオ"/>
              </a:rPr>
              <a:t>全視点が交差して、真実が一枚の絵として完成する
・なぜ村人は祟られたのか
・なぜ僧侶は封じるしかなかったのか
・なぜ家族は気づけなかったのか
・なぜ祟り神はそうなったのか
──  全部が繋がる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868680"/>
            <a:ext cx="4389120" cy="3200400"/>
          </a:xfrm>
          <a:prstGeom prst="rect">
            <a:avLst/>
          </a:prstGeom>
          <a:solidFill>
            <a:srgbClr val="100000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914400"/>
            <a:ext cx="4114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2222"/>
                </a:solidFill>
                <a:latin typeface="メイリオ"/>
              </a:rPr>
              <a:t>成仏チャレンジ  ──  一か八か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63040"/>
            <a:ext cx="1920240" cy="914400"/>
          </a:xfrm>
          <a:prstGeom prst="rect">
            <a:avLst/>
          </a:prstGeom>
          <a:solidFill>
            <a:srgbClr val="00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1828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C66"/>
                </a:solidFill>
                <a:latin typeface="メイリオ"/>
              </a:rPr>
              <a:t>成功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1828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C66"/>
                </a:solidFill>
                <a:latin typeface="メイリオ"/>
              </a:rPr>
              <a:t>1500枚
＋「救えた」感動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463040"/>
            <a:ext cx="1920240" cy="9144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508760"/>
            <a:ext cx="1828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2222"/>
                </a:solidFill>
                <a:latin typeface="メイリオ"/>
              </a:rPr>
              <a:t>失敗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74519"/>
            <a:ext cx="1828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メイリオ"/>
              </a:rPr>
              <a:t>100枚
＋「また来て救おう」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4114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BBBBB"/>
                </a:solidFill>
                <a:latin typeface="メイリオ"/>
              </a:rPr>
              <a:t>失敗しても「終わり」ではなく
「また来たい理由」に変わる。
物語はまだ終わっていないから。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206240"/>
            <a:ext cx="8778240" cy="420000"/>
          </a:xfrm>
          <a:prstGeom prst="rect">
            <a:avLst/>
          </a:prstGeom>
          <a:solidFill>
            <a:srgbClr val="00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51960"/>
            <a:ext cx="84124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55CC"/>
                </a:solidFill>
                <a:latin typeface="メイリオ"/>
              </a:rPr>
              <a:t>★ 第0章は「ゴール」ではなく「また来たい気持ち」の設計。次の祟り神ストーリーへ続く可能性も。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0"/>
                </a:solidFill>
                <a:latin typeface="メイリオ"/>
              </a:rPr>
              <a:t>SPEC &amp; BENCHMARK  ──  スペックと近似機種比較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68680"/>
            <a:ext cx="3657600" cy="3017520"/>
          </a:xfrm>
          <a:prstGeom prst="rect">
            <a:avLst/>
          </a:prstGeom>
          <a:solidFill>
            <a:srgbClr val="14142C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2918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0"/>
                </a:solidFill>
                <a:latin typeface="メイリオ"/>
              </a:rPr>
              <a:t>推奨スペック（目安）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3520440" cy="34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10160"/>
            <a:ext cx="10972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10160"/>
            <a:ext cx="2194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メイリオ"/>
              </a:rPr>
              <a:t>スマスロ（L型）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30160"/>
            <a:ext cx="3520440" cy="340000"/>
          </a:xfrm>
          <a:prstGeom prst="rect">
            <a:avLst/>
          </a:prstGeom>
          <a:solidFill>
            <a:srgbClr val="16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60160"/>
            <a:ext cx="10972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60160"/>
            <a:ext cx="2194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メイリオ"/>
              </a:rPr>
              <a:t>600G（SP MAX時 300G）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980160"/>
            <a:ext cx="3520440" cy="34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010160"/>
            <a:ext cx="10972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純増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10160"/>
            <a:ext cx="2194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メイリオ"/>
              </a:rPr>
              <a:t>3.8枚/G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330160"/>
            <a:ext cx="3520440" cy="340000"/>
          </a:xfrm>
          <a:prstGeom prst="rect">
            <a:avLst/>
          </a:prstGeom>
          <a:solidFill>
            <a:srgbClr val="16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360160"/>
            <a:ext cx="10972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機械割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360160"/>
            <a:ext cx="2194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メイリオ"/>
              </a:rPr>
              <a:t>設定1: 97.5%  /  設定6: 109%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80160"/>
            <a:ext cx="3520440" cy="34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710160"/>
            <a:ext cx="10972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特別AT出玉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710160"/>
            <a:ext cx="2194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メイリオ"/>
              </a:rPr>
              <a:t>100〜1500枚（加護数・章で変動）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030160"/>
            <a:ext cx="3520440" cy="340000"/>
          </a:xfrm>
          <a:prstGeom prst="rect">
            <a:avLst/>
          </a:prstGeom>
          <a:solidFill>
            <a:srgbClr val="16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060160"/>
            <a:ext cx="10972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設計CV目標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060160"/>
            <a:ext cx="2194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メイリオ"/>
              </a:rPr>
              <a:t>0.20〜0.25（設定非依存）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868680"/>
            <a:ext cx="4983480" cy="380000"/>
          </a:xfrm>
          <a:prstGeom prst="rect">
            <a:avLst/>
          </a:prstGeom>
          <a:solidFill>
            <a:srgbClr val="22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3360" y="896112"/>
            <a:ext cx="87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0"/>
                </a:solidFill>
                <a:latin typeface="メイリオ"/>
              </a:rPr>
              <a:t>比較軸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3360" y="896112"/>
            <a:ext cx="87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0"/>
                </a:solidFill>
                <a:latin typeface="メイリオ"/>
              </a:rPr>
              <a:t>東京喰種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3360" y="896112"/>
            <a:ext cx="87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0"/>
                </a:solidFill>
                <a:latin typeface="メイリオ"/>
              </a:rPr>
              <a:t>モンキーV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3360" y="896112"/>
            <a:ext cx="87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0"/>
                </a:solidFill>
                <a:latin typeface="メイリオ"/>
              </a:rPr>
              <a:t>番長4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3360" y="896112"/>
            <a:ext cx="87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0"/>
                </a:solidFill>
                <a:latin typeface="メイリオ"/>
              </a:rPr>
              <a:t>本提案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1298448"/>
            <a:ext cx="4983480" cy="350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73360" y="132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CV値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3360" y="132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0.18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3360" y="132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0.23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3360" y="132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2222"/>
                </a:solidFill>
                <a:latin typeface="メイリオ"/>
              </a:rPr>
              <a:t>0.68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3360" y="132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0"/>
                </a:solidFill>
                <a:latin typeface="メイリオ"/>
              </a:rPr>
              <a:t>0.20〜0.25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1653448"/>
            <a:ext cx="4983480" cy="350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73360" y="168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来店動機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3360" y="168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世界観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3360" y="168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SP引継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3360" y="168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期待値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3360" y="168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0"/>
                </a:solidFill>
                <a:latin typeface="メイリオ"/>
              </a:rPr>
              <a:t>物語続き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2008448"/>
            <a:ext cx="4983480" cy="350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73360" y="203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一か八か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3360" y="203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3360" y="203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3360" y="203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3360" y="203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0"/>
                </a:solidFill>
                <a:latin typeface="メイリオ"/>
              </a:rPr>
              <a:t>◎（最大
1500枚）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0" y="2363448"/>
            <a:ext cx="4983480" cy="350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73360" y="239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20代訴求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73360" y="239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3360" y="239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3360" y="239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73360" y="2393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0"/>
                </a:solidFill>
                <a:latin typeface="メイリオ"/>
              </a:rPr>
              <a:t>◎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2718448"/>
            <a:ext cx="4983480" cy="350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73360" y="274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後半維持率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73360" y="274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73.7%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73360" y="274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BB"/>
                </a:solidFill>
                <a:latin typeface="メイリオ"/>
              </a:rPr>
              <a:t>68.2%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3360" y="274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2222"/>
                </a:solidFill>
                <a:latin typeface="メイリオ"/>
              </a:rPr>
              <a:t>29.6%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73360" y="2748448"/>
            <a:ext cx="87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A840"/>
                </a:solidFill>
                <a:latin typeface="メイリオ"/>
              </a:rPr>
              <a:t>目標65%+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80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06240"/>
            <a:ext cx="84124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C66"/>
                </a:solidFill>
                <a:latin typeface="メイリオ"/>
              </a:rPr>
              <a:t>CV0.20〜0.25（東京喰種・モンキーターンV水準）を目標とし、設定1でも「体験の質が変わらない」台を設計。
後半維持率65%以上、3ヶ月後も稼働している台を目指す。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4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0"/>
                </a:solidFill>
                <a:latin typeface="メイリオ"/>
              </a:rPr>
              <a:t>DIFFERENTIATORS  ──  差別化の核心3点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68680"/>
            <a:ext cx="60000" cy="10972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868680"/>
            <a:ext cx="5486400" cy="109728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28680"/>
            <a:ext cx="521208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2222"/>
                </a:solidFill>
                <a:latin typeface="メイリオ"/>
              </a:rPr>
              <a:t>①「倒した敵を後から理解する」感情逆転設計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48680"/>
            <a:ext cx="52120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BB"/>
                </a:solidFill>
                <a:latin typeface="メイリオ"/>
              </a:rPr>
              <a:t>普通ATで倒した祟り神が、特別ATで共感できる存在になる。
「敵 → 理解 → 救いたい」という感情の逆転は業界に前例がない。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103120"/>
            <a:ext cx="60000" cy="1097280"/>
          </a:xfrm>
          <a:prstGeom prst="rect">
            <a:avLst/>
          </a:prstGeom>
          <a:solidFill>
            <a:srgbClr val="33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5486400" cy="109728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63120"/>
            <a:ext cx="521208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55CC"/>
                </a:solidFill>
                <a:latin typeface="メイリオ"/>
              </a:rPr>
              <a:t>②DQ4型オムニバス章システム（業界初）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83120"/>
            <a:ext cx="52120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BB"/>
                </a:solidFill>
                <a:latin typeface="メイリオ"/>
              </a:rPr>
              <a:t>ランダム順に届く5つの視点。全部集まって初めて真実が見える。
「俺は3章から入った」という会話がホールで生まれる体験設計。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37560"/>
            <a:ext cx="60000" cy="1097280"/>
          </a:xfrm>
          <a:prstGeom prst="rect">
            <a:avLst/>
          </a:prstGeom>
          <a:solidFill>
            <a:srgbClr val="88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337560"/>
            <a:ext cx="5486400" cy="109728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397560"/>
            <a:ext cx="521208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22AA"/>
                </a:solidFill>
                <a:latin typeface="メイリオ"/>
              </a:rPr>
              <a:t>③加護の持ち越しで「第5章が超楽しくなる」設計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17560"/>
            <a:ext cx="52120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BB"/>
                </a:solidFill>
                <a:latin typeface="メイリオ"/>
              </a:rPr>
              <a:t>章をクリアするほど第5章のATが強化される。
来るたびに体験が豊かになる「来店価値の積み上げ」構造。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868680"/>
            <a:ext cx="2926080" cy="3200400"/>
          </a:xfrm>
          <a:prstGeom prst="rect">
            <a:avLst/>
          </a:prstGeom>
          <a:solidFill>
            <a:srgbClr val="101010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914400"/>
            <a:ext cx="26517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議論したい論点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325880"/>
            <a:ext cx="27432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Q1: 第0章後のリセット設計
　ループ か 次の祟り神IP へ？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15880"/>
            <a:ext cx="27432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Q2: 加護は全台共通 or
　スマスロ個人管理？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05880"/>
            <a:ext cx="27432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Q3: IPはオリジナル推奨
　「この台でしか見られない
　　ストーリー」の価値最大化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206240"/>
            <a:ext cx="8778240" cy="39000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51960"/>
            <a:ext cx="8229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分析ベース：実稼働データ 453機種・173週（2022〜2026）/ 設計CV目標 0.20〜0.25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