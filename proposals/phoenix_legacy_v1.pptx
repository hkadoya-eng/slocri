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691640"/>
            <a:ext cx="9144000" cy="6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91640"/>
            <a:ext cx="9144000" cy="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337560"/>
            <a:ext cx="9144000" cy="6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337560"/>
            <a:ext cx="9144000" cy="3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6032"/>
            <a:ext cx="8229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B040"/>
                </a:solidFill>
                <a:latin typeface="游明朝"/>
              </a:rPr>
              <a:t>新機種企画提案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8368"/>
            <a:ext cx="859536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D700"/>
                </a:solidFill>
                <a:latin typeface="游明朝"/>
              </a:rPr>
              <a:t>PHOENIX LEGACY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85953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6B1A"/>
                </a:solidFill>
                <a:latin typeface="游明朝"/>
              </a:rPr>
              <a:t>― 受 け 継 が れ る 炎 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810512"/>
            <a:ext cx="6949440" cy="570000"/>
          </a:xfrm>
          <a:prstGeom prst="rect">
            <a:avLst/>
          </a:prstGeom>
          <a:solidFill>
            <a:srgbClr val="1C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856231"/>
            <a:ext cx="676656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E6C8"/>
                </a:solidFill>
                <a:latin typeface="游明朝"/>
              </a:rPr>
              <a:t>「 炎は消えない。世代を超えて、燃え続ける。 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93192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メイリオ"/>
              </a:rPr>
              <a:t>タイプ：スマスロ（L型）
純増：4.0枚/G（FLAME）/ 8.0枚/G（ETERNAL FLAME）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474720"/>
            <a:ext cx="41148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メイリオ"/>
              </a:rPr>
              <a:t>ターゲット：30〜50代 / RPG・ロールプレイング世代
MY目標：約3,500枚（ミドル）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754880"/>
            <a:ext cx="18288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メイリオ"/>
              </a:rPr>
              <a:t>v1.0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コアコンセプト  ──  なぜフェニックスなのか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1E0800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2880" y="841248"/>
            <a:ext cx="256032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フェニックスの炎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880" y="126187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炎の中で眠り、
炎の中で蘇る不死鳥
「1回のATが1世代」
ATが終わるたびに
フェニックスが
次の炎を灯す
負けも
「炎を受け継いだ」
に変わる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154680"/>
          </a:xfrm>
          <a:prstGeom prst="rect">
            <a:avLst/>
          </a:prstGeom>
          <a:solidFill>
            <a:srgbClr val="101000"/>
          </a:solidFill>
          <a:ln w="2540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46120" y="841248"/>
            <a:ext cx="256032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A1E"/>
                </a:solidFill>
                <a:latin typeface="游明朝"/>
              </a:rPr>
              <a:t>IGNITION（業界初）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120" y="126187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AT消化中に
次の炎への
「点火方法」を選ぶ
Skill（技術）
Bond（絆）
Power（力）
の3択
プレイヤーが
物語を選ぶ台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154680"/>
          </a:xfrm>
          <a:prstGeom prst="rect">
            <a:avLst/>
          </a:prstGeom>
          <a:solidFill>
            <a:srgbClr val="1E0404"/>
          </a:solidFill>
          <a:ln w="2540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360" y="841248"/>
            <a:ext cx="256032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1C1C"/>
                </a:solidFill>
                <a:latin typeface="游明朝"/>
              </a:rPr>
              <a:t>NEMESIS（宿敵）撃破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360" y="126187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強大な宿敵に
1セッション内で挑む
FLAMEを重ねるほど
NEMESISが弱体化
「今日こそ
Eternal Flameだ」
という感動
完全1セッション完結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8778240" cy="4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096512"/>
            <a:ext cx="8778240" cy="580000"/>
          </a:xfrm>
          <a:prstGeom prst="rect">
            <a:avLst/>
          </a:prstGeom>
          <a:solidFill>
            <a:srgbClr val="16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142232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9A1E"/>
                </a:solidFill>
                <a:latin typeface="メイリオ"/>
              </a:rPr>
              <a:t>祟り神の章（感情逆転）→ ミリゴ・吉宗（実機メカニクス学習）→ PHOENIX LEGACY（継承×炎×選択）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389120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タイムリープ（Re:ゼロ・まどマギ）は既存。PHOENIX LEGACYは「炎の継承」という業界初のモチーフで先行者優位を狙う。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業界初ポイント  ──  既存機種にない3つの設計軸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2743200" cy="3291840"/>
          </a:xfrm>
          <a:prstGeom prst="rect">
            <a:avLst/>
          </a:prstGeom>
          <a:solidFill>
            <a:srgbClr val="200800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2880" y="804672"/>
            <a:ext cx="500000" cy="50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804672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明朝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880" y="841248"/>
            <a:ext cx="2011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フェニックスループ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880" y="1298448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ATループ＝フェニックスの
再誕演出
ATが終わるたびに
「炎を次の世代へ」
という演出が流れる
「また負けた」ではなく
「炎を受け継いだ」
になる感情設計
✓ 負けをポジティブに転換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749808"/>
            <a:ext cx="2743200" cy="3291840"/>
          </a:xfrm>
          <a:prstGeom prst="rect">
            <a:avLst/>
          </a:prstGeom>
          <a:solidFill>
            <a:srgbClr val="1E1000"/>
          </a:solidFill>
          <a:ln w="2540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26120" y="804672"/>
            <a:ext cx="500000" cy="50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6120" y="804672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明朝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6120" y="841248"/>
            <a:ext cx="2011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A1E"/>
                </a:solidFill>
                <a:latin typeface="游明朝"/>
              </a:rPr>
              <a:t>IGNITION（点火）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6120" y="1298448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AT消化中に
次の炎への
点火方法を選ぶ
アクティブシステム
Skill / Bond / Power
の3択
選んだ内容で
次ATの性能が変わる
✓ プレイヤーが
　 物語を作る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749808"/>
            <a:ext cx="2743200" cy="3291840"/>
          </a:xfrm>
          <a:prstGeom prst="rect">
            <a:avLst/>
          </a:prstGeom>
          <a:solidFill>
            <a:srgbClr val="200404"/>
          </a:solidFill>
          <a:ln w="2540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89360" y="804672"/>
            <a:ext cx="500000" cy="500000"/>
          </a:xfrm>
          <a:prstGeom prst="rect">
            <a:avLst/>
          </a:prstGeom>
          <a:solidFill>
            <a:srgbClr val="A8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9360" y="804672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游明朝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9360" y="841248"/>
            <a:ext cx="201168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1C1C"/>
                </a:solidFill>
                <a:latin typeface="游明朝"/>
              </a:rPr>
              <a:t>NEMESISゲージ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360" y="1298448"/>
            <a:ext cx="2560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1セッション内で
FLAMEを重ねるほど
宿敵が弱体化する
ゲージMAX
＋PHOENIX FLAME
＋IGNITION完全制覇
でETERNAL FLAME解放
✓ 長期遊技の
　 目標が明確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4133087"/>
            <a:ext cx="8778240" cy="600000"/>
          </a:xfrm>
          <a:prstGeom prst="rect">
            <a:avLst/>
          </a:prstGeom>
          <a:solidFill>
            <a:srgbClr val="14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4133087"/>
            <a:ext cx="60000" cy="60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178808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9A1E"/>
                </a:solidFill>
                <a:latin typeface="游明朝"/>
              </a:rPr>
              <a:t>ミリゴZ-ZONE → 「IGNITION」へ昇華  /  吉宗1G連 → 「EMBER（残り火）」へ昇華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443984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既存機種のメカニクスを感情設計に統合。「選ぶ楽しさ」「積み上げる喜び」「決着の感動」を1セッションで体験させる。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ゲームフロー全体図  ──  1セッションで炎が積み重なる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502920"/>
            <a:ext cx="2743200" cy="1097280"/>
          </a:xfrm>
          <a:prstGeom prst="rect">
            <a:avLst/>
          </a:prstGeom>
          <a:solidFill>
            <a:srgbClr val="100600"/>
          </a:solidFill>
          <a:ln w="2286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SLUMBER（スランバー）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フェニックスが眠る時代
4ステージ / 周期100GでAWAKENING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502920"/>
            <a:ext cx="2743200" cy="1097280"/>
          </a:xfrm>
          <a:prstGeom prst="rect">
            <a:avLst/>
          </a:prstGeom>
          <a:solidFill>
            <a:srgbClr val="1A0600"/>
          </a:solidFill>
          <a:ln w="2286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8896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AWAKENING（アウェイクニング）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896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目覚めの試練 / 3Gバトル
CZ成功でFLAME突入！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502920"/>
            <a:ext cx="2743200" cy="1097280"/>
          </a:xfrm>
          <a:prstGeom prst="rect">
            <a:avLst/>
          </a:prstGeom>
          <a:solidFill>
            <a:srgbClr val="200C00"/>
          </a:solidFill>
          <a:ln w="2286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15040" y="56292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FLAME（フレイム）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5040" y="92292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1世代50G / 純増4.0枚/G
赤7揃い → IGNITION発動！</a:t>
            </a:r>
          </a:p>
        </p:txBody>
      </p:sp>
      <p:sp>
        <p:nvSpPr>
          <p:cNvPr id="15" name="Can 14"/>
          <p:cNvSpPr/>
          <p:nvPr/>
        </p:nvSpPr>
        <p:spPr>
          <a:xfrm>
            <a:off x="2966080" y="976560"/>
            <a:ext cx="102880" cy="15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n 15"/>
          <p:cNvSpPr/>
          <p:nvPr/>
        </p:nvSpPr>
        <p:spPr>
          <a:xfrm>
            <a:off x="5892160" y="976560"/>
            <a:ext cx="102880" cy="15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n 16"/>
          <p:cNvSpPr/>
          <p:nvPr/>
        </p:nvSpPr>
        <p:spPr>
          <a:xfrm rot="5400000">
            <a:off x="7341640" y="1660200"/>
            <a:ext cx="130000" cy="38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148840"/>
            <a:ext cx="2743200" cy="1097280"/>
          </a:xfrm>
          <a:prstGeom prst="rect">
            <a:avLst/>
          </a:prstGeom>
          <a:solidFill>
            <a:srgbClr val="200C00"/>
          </a:solidFill>
          <a:ln w="2286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504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フェニックスループ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504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炎が重なるほど台が強化
ストック残 → 次の炎へ！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2148840"/>
            <a:ext cx="2743200" cy="1097280"/>
          </a:xfrm>
          <a:prstGeom prst="rect">
            <a:avLst/>
          </a:prstGeom>
          <a:solidFill>
            <a:srgbClr val="120A00"/>
          </a:solidFill>
          <a:ln w="2286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8896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BLAZING ALLIANCE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896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3世代以上で炎が集結
継続率75% / 純増6.5枚/G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148840"/>
            <a:ext cx="2743200" cy="1097280"/>
          </a:xfrm>
          <a:prstGeom prst="rect">
            <a:avLst/>
          </a:prstGeom>
          <a:solidFill>
            <a:srgbClr val="180600"/>
          </a:solidFill>
          <a:ln w="2286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880" y="2208840"/>
            <a:ext cx="25832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EMBER（エンバー）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2880" y="2568840"/>
            <a:ext cx="2583200" cy="60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AT終了後5Gの残り火
奇数揃いでFLAME再突入！</a:t>
            </a:r>
          </a:p>
        </p:txBody>
      </p:sp>
      <p:sp>
        <p:nvSpPr>
          <p:cNvPr id="27" name="Can 26"/>
          <p:cNvSpPr/>
          <p:nvPr/>
        </p:nvSpPr>
        <p:spPr>
          <a:xfrm rot="10800000">
            <a:off x="5892160" y="2622480"/>
            <a:ext cx="102880" cy="150000"/>
          </a:xfrm>
          <a:prstGeom prst="can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n 27"/>
          <p:cNvSpPr/>
          <p:nvPr/>
        </p:nvSpPr>
        <p:spPr>
          <a:xfrm rot="10800000">
            <a:off x="2966080" y="2622480"/>
            <a:ext cx="102880" cy="150000"/>
          </a:xfrm>
          <a:prstGeom prst="can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7540" y="1798840"/>
            <a:ext cx="55000" cy="35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7540" y="1771340"/>
            <a:ext cx="475000" cy="55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27540" y="1798840"/>
            <a:ext cx="55000" cy="35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5040" y="1838840"/>
            <a:ext cx="36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メイリオ"/>
              </a:rPr>
              <a:t>↺ ループ！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429000"/>
            <a:ext cx="2651760" cy="900000"/>
          </a:xfrm>
          <a:prstGeom prst="rect">
            <a:avLst/>
          </a:prstGeom>
          <a:solidFill>
            <a:srgbClr val="220404"/>
          </a:solidFill>
          <a:ln w="25400">
            <a:solidFill>
              <a:srgbClr val="A8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2880" y="3489000"/>
            <a:ext cx="2377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81C1C"/>
                </a:solidFill>
                <a:latin typeface="游明朝"/>
              </a:rPr>
              <a:t>ETERNAL FLAME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2880" y="3899000"/>
            <a:ext cx="237744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NEMESISゲージMAX
＋PHOENIX FLAME
＋IGNITION完全制覇
純増8.0枚/G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3429000"/>
            <a:ext cx="6126480" cy="90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3509000"/>
            <a:ext cx="5760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B040"/>
                </a:solidFill>
                <a:latin typeface="メイリオ"/>
              </a:rPr>
              <a:t>★ 歴代全フェニックスが集結する演出。前後のFLAME積み上げ込みでMY約3,500枚。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3909000"/>
            <a:ext cx="57607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「自分が今日育てた炎が、ここで完全に燃え上がる」——1セッションの物語が完結する瞬間。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通常時の仕組み  ──  SLUMBER × AWAKENING × レガシーポイント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834640" cy="2240280"/>
          </a:xfrm>
          <a:prstGeom prst="rect">
            <a:avLst/>
          </a:prstGeom>
          <a:solidFill>
            <a:srgbClr val="140800"/>
          </a:solidFill>
          <a:ln w="1905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040"/>
                </a:solidFill>
                <a:latin typeface="游明朝"/>
              </a:rPr>
              <a:t>① ステージ4種（遊技数連動）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16152"/>
            <a:ext cx="13716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灰の荒野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216152"/>
            <a:ext cx="12344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SLUMBER通常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486152"/>
            <a:ext cx="13716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E060"/>
                </a:solidFill>
                <a:latin typeface="メイリオ"/>
              </a:rPr>
              <a:t>燃える草原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486152"/>
            <a:ext cx="12344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高確示唆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56152"/>
            <a:ext cx="13716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30"/>
                </a:solidFill>
                <a:latin typeface="メイリオ"/>
              </a:rPr>
              <a:t>炎の王都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756152"/>
            <a:ext cx="12344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前兆・AWAKENING高確率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26152"/>
            <a:ext cx="13716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天空の炎柱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026152"/>
            <a:ext cx="12344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FLAME超高確率状態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777240"/>
            <a:ext cx="2834640" cy="2240280"/>
          </a:xfrm>
          <a:prstGeom prst="rect">
            <a:avLst/>
          </a:prstGeom>
          <a:solidFill>
            <a:srgbClr val="140800"/>
          </a:solidFill>
          <a:ln w="190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② AWAKENING（アウェイクニング）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21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E6C8"/>
                </a:solidFill>
                <a:latin typeface="メイリオ"/>
              </a:rPr>
              <a:t>周期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21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100G毎に規則的に到来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48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バトル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48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3G間の試練演出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175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成功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175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FLAME突入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026152"/>
            <a:ext cx="10058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B040"/>
                </a:solidFill>
                <a:latin typeface="メイリオ"/>
              </a:rPr>
              <a:t>失敗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026152"/>
            <a:ext cx="160020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レガシーポイント＋10獲得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777240"/>
            <a:ext cx="2834640" cy="2240280"/>
          </a:xfrm>
          <a:prstGeom prst="rect">
            <a:avLst/>
          </a:prstGeom>
          <a:solidFill>
            <a:srgbClr val="140800"/>
          </a:solidFill>
          <a:ln w="1905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9A1E"/>
                </a:solidFill>
                <a:latin typeface="游明朝"/>
              </a:rPr>
              <a:t>③ レガシーポイント（Legacy Point）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21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E6C8"/>
                </a:solidFill>
                <a:latin typeface="メイリオ"/>
              </a:rPr>
              <a:t>獲得方法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121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AWAKENING失敗・リプレイ等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48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E060"/>
                </a:solidFill>
                <a:latin typeface="メイリオ"/>
              </a:rPr>
              <a:t>50pt到達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148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天井100G短縮（600→500G）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75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30"/>
                </a:solidFill>
                <a:latin typeface="メイリオ"/>
              </a:rPr>
              <a:t>100pt到達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175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天井200G短縮（400G）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026152"/>
            <a:ext cx="11887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200pt到達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026152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AWAKENING突破率大幅UP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108960"/>
            <a:ext cx="8778240" cy="4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2880" y="3182112"/>
            <a:ext cx="8778240" cy="620000"/>
          </a:xfrm>
          <a:prstGeom prst="rect">
            <a:avLst/>
          </a:prstGeom>
          <a:solidFill>
            <a:srgbClr val="14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227832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通常時の読み方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529584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「天空の炎柱」以上になったら好機。レガシーポイントを積みながらAWAKENINGを迎える。失敗しても「育てている」感覚が大事。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822191"/>
            <a:ext cx="8778240" cy="380000"/>
          </a:xfrm>
          <a:prstGeom prst="rect">
            <a:avLst/>
          </a:prstGeom>
          <a:solidFill>
            <a:srgbClr val="14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858768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9A1E"/>
                </a:solidFill>
                <a:latin typeface="メイリオ"/>
              </a:rPr>
              <a:t>★ 周期設計は吉宗の規則的CZ設計を参考。「いつAWAKENINGが来るか分かる」ストレスの少ない通常時。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FLAME・IGNITION  ──  選ぶことで炎の色が変わる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200A00"/>
          </a:solidFill>
          <a:ln w="2540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25603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游明朝"/>
              </a:rPr>
              <a:t>FLAME（フレイム）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2560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1世代50G / 純増4.0枚/G
ストックを1個消費して消化
【フレイムストック4種】
  First Flame：ループ率20%
  Second Flame：ループ率40%
  Third Flame：ループ率60%
  PHOENIX FLAME：80%（レア）
ミリゴA〜Dストックを
フェニックスで昇華</a:t>
            </a:r>
          </a:p>
        </p:txBody>
      </p:sp>
      <p:sp>
        <p:nvSpPr>
          <p:cNvPr id="9" name="Can 8"/>
          <p:cNvSpPr/>
          <p:nvPr/>
        </p:nvSpPr>
        <p:spPr>
          <a:xfrm>
            <a:off x="3017520" y="2229288"/>
            <a:ext cx="270000" cy="150000"/>
          </a:xfrm>
          <a:prstGeom prst="can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777240"/>
            <a:ext cx="2834640" cy="3154680"/>
          </a:xfrm>
          <a:prstGeom prst="rect">
            <a:avLst/>
          </a:prstGeom>
          <a:solidFill>
            <a:srgbClr val="201000"/>
          </a:solidFill>
          <a:ln w="317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822960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1A"/>
                </a:solidFill>
                <a:latin typeface="游明朝"/>
              </a:rPr>
              <a:t>IGNITION（イグニション）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170432"/>
            <a:ext cx="2651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赤7揃いで発動
（ミリゴZ-ZONEを昇華）
【3択の点火方法】
  Skill（スキル）
  → 次FLAMEの特殊演出解放
  Bond（ボンド）
  → 次FLAME継続率+10%
  Power（パワー）
  → NEMESISゲージ大幅UP</a:t>
            </a:r>
          </a:p>
        </p:txBody>
      </p:sp>
      <p:sp>
        <p:nvSpPr>
          <p:cNvPr id="13" name="Can 12"/>
          <p:cNvSpPr/>
          <p:nvPr/>
        </p:nvSpPr>
        <p:spPr>
          <a:xfrm>
            <a:off x="6355080" y="2229288"/>
            <a:ext cx="270000" cy="150000"/>
          </a:xfrm>
          <a:prstGeom prst="can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777240"/>
            <a:ext cx="2194560" cy="3154680"/>
          </a:xfrm>
          <a:prstGeom prst="rect">
            <a:avLst/>
          </a:prstGeom>
          <a:solidFill>
            <a:srgbClr val="1E1200"/>
          </a:solidFill>
          <a:ln w="317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822960"/>
            <a:ext cx="20116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  <a:latin typeface="游明朝"/>
              </a:rPr>
              <a:t>炎の積み重ね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170432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1st FLAME
  ↓ IGNITION
2nd FLAME
  ↓ IGNITION
3rd FLAME
  ↓
BLAZING
ALLIANCEへ！
★ 炎が重なるほど
   演出が豊かに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4023360"/>
            <a:ext cx="60000" cy="70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069080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IGNITIONは「炎に何を注ぐか」を選ぶ唯一の瞬間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708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Skill・Bond・Powerの選択が次のFLAMEの質を変える。打ち手ごとに異なる炎の物語が展開する。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BLAZING ALLIANCE・ETERNAL FLAME  ──  炎が頂点に達する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3154680"/>
          </a:xfrm>
          <a:prstGeom prst="rect">
            <a:avLst/>
          </a:prstGeom>
          <a:solidFill>
            <a:srgbClr val="1A0A00"/>
          </a:solidFill>
          <a:ln w="25400">
            <a:solidFill>
              <a:srgbClr val="FFB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39319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040"/>
                </a:solidFill>
                <a:latin typeface="游明朝"/>
              </a:rPr>
              <a:t>BLAZING ALLIANCE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発動条件：FLAME 3回以上ループ
　　　　　＋ 特定IGNITION組み合わせ
複数世代のフェニックスが「連合」する演出
継続率：75%
純増：6.5枚/G
期待枚数：1,000〜1,500枚
ALLIANCE終了時「EMBER（残り火）」5G
  → 吉宗1G連の感動をここで再現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220000" cy="1828800"/>
          </a:xfrm>
          <a:prstGeom prst="rect">
            <a:avLst/>
          </a:prstGeom>
          <a:solidFill>
            <a:srgbClr val="20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22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3000"/>
                </a:solidFill>
                <a:latin typeface="メイリオ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777240"/>
            <a:ext cx="4160520" cy="3154680"/>
          </a:xfrm>
          <a:prstGeom prst="rect">
            <a:avLst/>
          </a:prstGeom>
          <a:solidFill>
            <a:srgbClr val="240404"/>
          </a:solidFill>
          <a:ln w="31750">
            <a:solidFill>
              <a:srgbClr val="FF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822960"/>
            <a:ext cx="3977639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3000"/>
                </a:solidFill>
                <a:latin typeface="游明朝"/>
              </a:rPr>
              <a:t>ETERNAL FLAME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170432"/>
            <a:ext cx="39776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発動条件：
  NEMESISゲージ MAX
  ＋ PHOENIX FLAMEストック
  ＋ IGNITION 3種コンプリート
純増：8.0枚/G
歴代全フェニックスが集結する演出
★ 前後のFLAME積み上げ込みで
   MY 約3,500枚（ミドル）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1E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60000" cy="700000"/>
          </a:xfrm>
          <a:prstGeom prst="rect">
            <a:avLst/>
          </a:prstGeom>
          <a:solidFill>
            <a:srgbClr val="FF3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069080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B040"/>
                </a:solidFill>
                <a:latin typeface="游明朝"/>
              </a:rPr>
              <a:t>MY設計：FLAME(800枚) ＋ BLAZING ALLIANCE(1,200枚) ＋ ETERNAL FLAME(1,500枚) ＝ 約3,500枚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708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通常遊技でもBLAZING ALLIANCEまで楽しめる設計。ETERNAL FLAMEは「夢」ではなく「積み上げれば届く」距離感。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基本スペック  ──  ミドルMY・ストレスフリー設計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97680" cy="3246120"/>
          </a:xfrm>
          <a:prstGeom prst="rect">
            <a:avLst/>
          </a:prstGeom>
          <a:solidFill>
            <a:srgbClr val="140800"/>
          </a:solidFill>
          <a:ln w="1905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A1E"/>
                </a:solidFill>
                <a:latin typeface="游明朝"/>
              </a:rPr>
              <a:t>基本スペック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43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7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タイプ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27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スマスロ（L型）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3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天井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536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600G（Legacy Pointで最短400G）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773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80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純増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180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4.0枚/G（FLAME）/ 6.5枚/G（ALLIANCE）/ 8.0枚/G（ETERNAL）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38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06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機械割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2066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設定1：97.5%  /  設定6：109%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303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33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MY目標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233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約3,500枚（ミドル）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68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59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コイン単価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596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20円（3枚ベット / 1G＝60円）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833584"/>
            <a:ext cx="1463040" cy="255000"/>
          </a:xfrm>
          <a:prstGeom prst="rect">
            <a:avLst/>
          </a:prstGeom>
          <a:solidFill>
            <a:srgbClr val="20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86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D700"/>
                </a:solidFill>
                <a:latin typeface="メイリオ"/>
              </a:rPr>
              <a:t>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861584"/>
            <a:ext cx="26060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0.22〜0.27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777240"/>
            <a:ext cx="4297680" cy="3246120"/>
          </a:xfrm>
          <a:prstGeom prst="rect">
            <a:avLst/>
          </a:prstGeom>
          <a:solidFill>
            <a:srgbClr val="140800"/>
          </a:solidFill>
          <a:ln w="190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822960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出玉期待値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1243584"/>
            <a:ext cx="1463040" cy="280000"/>
          </a:xfrm>
          <a:prstGeom prst="rect">
            <a:avLst/>
          </a:prstGeom>
          <a:solidFill>
            <a:srgbClr val="24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128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B040"/>
                </a:solidFill>
                <a:latin typeface="メイリオ"/>
              </a:rPr>
              <a:t>FLAME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281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300〜400枚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1281584"/>
            <a:ext cx="12344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1〜2世代の日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1538584"/>
            <a:ext cx="1463040" cy="280000"/>
          </a:xfrm>
          <a:prstGeom prst="rect">
            <a:avLst/>
          </a:prstGeom>
          <a:solidFill>
            <a:srgbClr val="24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157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B040"/>
                </a:solidFill>
                <a:latin typeface="メイリオ"/>
              </a:rPr>
              <a:t>BLAZING ALLIANCE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1576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1,000〜1,500枚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1576584"/>
            <a:ext cx="12344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3世代ループの日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1833584"/>
            <a:ext cx="1463040" cy="280000"/>
          </a:xfrm>
          <a:prstGeom prst="rect">
            <a:avLst/>
          </a:prstGeom>
          <a:solidFill>
            <a:srgbClr val="24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1871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B040"/>
                </a:solidFill>
                <a:latin typeface="メイリオ"/>
              </a:rPr>
              <a:t>ETERNAL FLAME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871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1,500枚以上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871584"/>
            <a:ext cx="12344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全条件成立の日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2128584"/>
            <a:ext cx="1463040" cy="280000"/>
          </a:xfrm>
          <a:prstGeom prst="rect">
            <a:avLst/>
          </a:prstGeom>
          <a:solidFill>
            <a:srgbClr val="24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0600" y="2166584"/>
            <a:ext cx="13716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B040"/>
                </a:solidFill>
                <a:latin typeface="メイリオ"/>
              </a:rPr>
              <a:t>MY（目安）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166584"/>
            <a:ext cx="132588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約3,500枚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166584"/>
            <a:ext cx="123444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Eternal+前後込みの1日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114800"/>
            <a:ext cx="8778240" cy="560000"/>
          </a:xfrm>
          <a:prstGeom prst="rect">
            <a:avLst/>
          </a:prstGeom>
          <a:solidFill>
            <a:srgbClr val="14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880" y="4114800"/>
            <a:ext cx="60000" cy="56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160520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99A1E"/>
                </a:solidFill>
                <a:latin typeface="メイリオ"/>
              </a:rPr>
              <a:t>時間コスト目安：1G=60円 × 設定1(97.5%) → 期待損失1.5円/G。400G/時で約600円/時。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416552"/>
            <a:ext cx="841248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BLAZING ALLIANCE狙いなら3FLAME（約150G）が一区切り。ミドル層が3,000〜5,000円で十分楽しめる時間設計。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4919472"/>
            <a:ext cx="128016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ターゲット・市場考察  ──  RPG世代×フェニックスの必然性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251960" cy="3154680"/>
          </a:xfrm>
          <a:prstGeom prst="rect">
            <a:avLst/>
          </a:prstGeom>
          <a:solidFill>
            <a:srgbClr val="140800"/>
          </a:solidFill>
          <a:ln w="1905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4069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A1E"/>
                </a:solidFill>
                <a:latin typeface="游明朝"/>
              </a:rPr>
              <a:t>メインターゲット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年齢層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23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D700"/>
                </a:solidFill>
                <a:latin typeface="メイリオ"/>
              </a:rPr>
              <a:t>30〜50代男性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世代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ロマサガ2・FF・DQ体験世代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77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プレイスタイル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77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5E6C8"/>
                </a:solidFill>
                <a:latin typeface="メイリオ"/>
              </a:rPr>
              <a:t>週1〜2来店のリピーター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04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感情ニーズ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04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B040"/>
                </a:solidFill>
                <a:latin typeface="メイリオ"/>
              </a:rPr>
              <a:t>「物語に没入」「積み上げを感じたい」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314440"/>
            <a:ext cx="141732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許容投資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314440"/>
            <a:ext cx="2606040" cy="2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E060"/>
                </a:solidFill>
                <a:latin typeface="メイリオ"/>
              </a:rPr>
              <a:t>3,000〜8,000円/日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777240"/>
            <a:ext cx="4343400" cy="3154680"/>
          </a:xfrm>
          <a:prstGeom prst="rect">
            <a:avLst/>
          </a:prstGeom>
          <a:solidFill>
            <a:srgbClr val="140800"/>
          </a:solidFill>
          <a:ln w="1905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822960"/>
            <a:ext cx="41605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6B1A"/>
                </a:solidFill>
                <a:latin typeface="游明朝"/>
              </a:rPr>
              <a:t>競合との差別化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234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Re:ゼロ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1234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タイムリープ・失敗前提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1234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B040"/>
                </a:solidFill>
                <a:latin typeface="メイリオ"/>
              </a:rPr>
              <a:t>→ 炎の継承＝積み上げ（前向き）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1502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ミリゴ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1502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PGG 1/16,384の夢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502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B040"/>
                </a:solidFill>
                <a:latin typeface="メイリオ"/>
              </a:rPr>
              <a:t>→ ETERNAL FLAME＝積み上げれば届く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1770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吉宗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1770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1G連の瞬間爆発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1770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B040"/>
                </a:solidFill>
                <a:latin typeface="メイリオ"/>
              </a:rPr>
              <a:t>→ フェニックスループで連続興奮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2038440"/>
            <a:ext cx="11430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BBBBBB"/>
                </a:solidFill>
                <a:latin typeface="メイリオ"/>
              </a:rPr>
              <a:t>祟り神の章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038440"/>
            <a:ext cx="141732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BBBBBB"/>
                </a:solidFill>
                <a:latin typeface="メイリオ"/>
              </a:rPr>
              <a:t>感情逆転・他者理解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038440"/>
            <a:ext cx="15087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FFB040"/>
                </a:solidFill>
                <a:latin typeface="メイリオ"/>
              </a:rPr>
              <a:t>→ 炎の積み上げ・自己の物語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023360"/>
            <a:ext cx="8778240" cy="700000"/>
          </a:xfrm>
          <a:prstGeom prst="rect">
            <a:avLst/>
          </a:prstGeom>
          <a:solidFill>
            <a:srgbClr val="14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4023360"/>
            <a:ext cx="60000" cy="70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406908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「なぜ今フェニックスなのか」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370832"/>
            <a:ext cx="8412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RPG世代（FF・ロマサガ）にはPhoenixが刺さる。「炎は消えない・再誕」というモチーフは継承テーマと完全一致。業界初で先行者優位を取れる。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180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FF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A1E"/>
                </a:solidFill>
                <a:latin typeface="游明朝"/>
              </a:rPr>
              <a:t>まとめ  ──  PHOENIX LEGACYが生み出す体験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017520"/>
          </a:xfrm>
          <a:prstGeom prst="rect">
            <a:avLst/>
          </a:prstGeom>
          <a:solidFill>
            <a:srgbClr val="1E0800"/>
          </a:solidFill>
          <a:ln w="25400">
            <a:solidFill>
              <a:srgbClr val="FF6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6B1A"/>
                </a:solidFill>
                <a:latin typeface="游明朝"/>
              </a:rPr>
              <a:t>1セッションで感じる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「今日の遊技が
1つの炎の物語」
FLAMEが重なるたびに
演出が豊かになり
AT終了時も
「炎を受け継いだ」
というポジティブな
余韻が残る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017520"/>
          </a:xfrm>
          <a:prstGeom prst="rect">
            <a:avLst/>
          </a:prstGeom>
          <a:solidFill>
            <a:srgbClr val="1E1000"/>
          </a:solidFill>
          <a:ln w="25400">
            <a:solidFill>
              <a:srgbClr val="C99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9A1E"/>
                </a:solidFill>
                <a:latin typeface="游明朝"/>
              </a:rPr>
              <a:t>選ぶことで感じる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「この台は
自分の炎だ」
IGNITIONで選んだ
点火方法が
炎の色を変える
同じ台でも
2人と同じ炎がない
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017520"/>
          </a:xfrm>
          <a:prstGeom prst="rect">
            <a:avLst/>
          </a:prstGeom>
          <a:solidFill>
            <a:srgbClr val="220400"/>
          </a:solidFill>
          <a:ln w="25400">
            <a:solidFill>
              <a:srgbClr val="FF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000"/>
                </a:solidFill>
                <a:latin typeface="游明朝"/>
              </a:rPr>
              <a:t>決着で感じる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61872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「積み上げた
炎が報われた」
ETERNAL FLAMEは
「たまたま当たった」
ではなく
「自分が育てた」
感覚
MY3,500枚の
完全燃焼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886200"/>
            <a:ext cx="8778240" cy="40000"/>
          </a:xfrm>
          <a:prstGeom prst="rect">
            <a:avLst/>
          </a:prstGeom>
          <a:solidFill>
            <a:srgbClr val="C99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959352"/>
            <a:ext cx="8778240" cy="760000"/>
          </a:xfrm>
          <a:prstGeom prst="rect">
            <a:avLst/>
          </a:prstGeom>
          <a:solidFill>
            <a:srgbClr val="1C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00507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業界初3点：① フェニックスループ演出  ② IGNITION（AT中の3択）  ③ NEMESISゲージ（1セッション完結）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97680"/>
            <a:ext cx="841248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E6C8"/>
                </a:solidFill>
                <a:latin typeface="メイリオ"/>
              </a:rPr>
              <a:t>ミリゴZ-ZONE × 吉宗1G連 × 祟り神の感情設計を統合。
「炎は消えない。世代を超えて、燃え続ける。」——PHOENIX LEGACYの核心です。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