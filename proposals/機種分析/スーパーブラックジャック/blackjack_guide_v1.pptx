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2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0"/>
            <a:ext cx="8000" cy="51435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82880"/>
            <a:ext cx="1280160" cy="260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82880"/>
            <a:ext cx="1280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3140B"/>
                </a:solidFill>
                <a:latin typeface="メイリオ"/>
              </a:rPr>
              <a:t>Part A 説明編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548640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A840"/>
                </a:solidFill>
                <a:latin typeface="游明朝"/>
              </a:rPr>
              <a:t>機種説明＋分析 統合版資料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914400"/>
            <a:ext cx="4572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  <a:latin typeface="游明朝"/>
              </a:rPr>
              <a:t>スマスロ
スーパーブラックジャック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606040"/>
            <a:ext cx="45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CAA8"/>
                </a:solidFill>
                <a:latin typeface="游明朝"/>
              </a:rPr>
              <a:t>── カードゲームとパチスロの融合が生む新感覚体験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3063240"/>
            <a:ext cx="2651760" cy="270000"/>
          </a:xfrm>
          <a:prstGeom prst="rect">
            <a:avLst/>
          </a:prstGeom>
          <a:solidFill>
            <a:srgbClr val="3A2A0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3063240"/>
            <a:ext cx="2651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D700"/>
                </a:solidFill>
                <a:latin typeface="メイリオ"/>
              </a:rPr>
              <a:t>  パチスロアワード2025 BRONZE受賞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493008"/>
            <a:ext cx="457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88"/>
                </a:solidFill>
                <a:latin typeface="メイリオ"/>
              </a:rPr>
              <a:t>メーカー: セブンリーグ（山佐ネクス）　導入: 2025年2月3日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721608"/>
            <a:ext cx="457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88"/>
                </a:solidFill>
                <a:latin typeface="メイリオ"/>
              </a:rPr>
              <a:t>設定: 1〜6段階　　ボーナス確率: 1/241.7〜1/181.3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950208"/>
            <a:ext cx="457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88"/>
                </a:solidFill>
                <a:latin typeface="メイリオ"/>
              </a:rPr>
              <a:t>機械割: 97.8〜112.7%　　純増: 約5.1枚/G（ST/ボーナス中）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4178808"/>
            <a:ext cx="4572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4号機「スーパーブラックジャック」のリメイク機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658368"/>
            <a:ext cx="4023360" cy="1188720"/>
          </a:xfrm>
          <a:prstGeom prst="rect">
            <a:avLst/>
          </a:prstGeom>
          <a:solidFill>
            <a:srgbClr val="072616"/>
          </a:solidFill>
          <a:ln w="1905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6048" y="658368"/>
            <a:ext cx="55000" cy="118872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6048" y="708368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A6B3C"/>
                </a:solidFill>
                <a:latin typeface="メイリオ"/>
              </a:rPr>
              <a:t>SBJループ（出玉の核心）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6048" y="988368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BIG→RC高確→リオチャンス→ストックタイム
連チャンを繰り返して大量出玉獲得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029967"/>
            <a:ext cx="4023360" cy="1188720"/>
          </a:xfrm>
          <a:prstGeom prst="rect">
            <a:avLst/>
          </a:prstGeom>
          <a:solidFill>
            <a:srgbClr val="072616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6048" y="2029967"/>
            <a:ext cx="55000" cy="118872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6048" y="2079967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C1111"/>
                </a:solidFill>
                <a:latin typeface="メイリオ"/>
              </a:rPr>
              <a:t>リオチャンス（昇格型ボーナス）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6048" y="2359967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前半・後半の2パートで報酬昇格を抽選
カードをめくる演出がブラックジャック世界観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3401568"/>
            <a:ext cx="4023360" cy="1188720"/>
          </a:xfrm>
          <a:prstGeom prst="rect">
            <a:avLst/>
          </a:prstGeom>
          <a:solidFill>
            <a:srgbClr val="072616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56048" y="3401568"/>
            <a:ext cx="55000" cy="11887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6048" y="3451568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8A840"/>
                </a:solidFill>
                <a:latin typeface="メイリオ"/>
              </a:rPr>
              <a:t>ジョーカーモード（上位状態）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6048" y="3731568"/>
            <a:ext cx="347472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スーパーSST当選率UP・大量ストック期待
ジョーカーランプ点灯で滞在濃厚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【設計】BIG→ループ型の連チャン設計。4号機リメイクながら現代スマスロで完全再構築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原作のリオチャンス・ストックタイムの「ストック放出型」DNA を継承しつつ、スマスロの差枚数管理に昇華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ゲームフロー全体図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2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445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85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445544"/>
                </a:solidFill>
                <a:latin typeface="メイリオ"/>
              </a:rPr>
              <a:t>通常時
（低確/高確）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68580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685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A6B3C"/>
                </a:solidFill>
                <a:latin typeface="メイリオ"/>
              </a:rPr>
              <a:t>ボーナス
高確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68580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685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メイリオ"/>
              </a:rPr>
              <a:t>BIG BONUS
(青7/赤7)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68580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6858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9E58"/>
                </a:solidFill>
                <a:latin typeface="メイリオ"/>
              </a:rPr>
              <a:t>RC高確
(リオチャンス
高確率)</a:t>
            </a:r>
          </a:p>
        </p:txBody>
      </p:sp>
      <p:sp>
        <p:nvSpPr>
          <p:cNvPr id="16" name="Can 15"/>
          <p:cNvSpPr/>
          <p:nvPr/>
        </p:nvSpPr>
        <p:spPr>
          <a:xfrm>
            <a:off x="2011680" y="128160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4069080" y="128160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 17"/>
          <p:cNvSpPr/>
          <p:nvPr/>
        </p:nvSpPr>
        <p:spPr>
          <a:xfrm>
            <a:off x="6126480" y="128160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miley Face 18"/>
          <p:cNvSpPr/>
          <p:nvPr/>
        </p:nvSpPr>
        <p:spPr>
          <a:xfrm>
            <a:off x="7225200" y="2057400"/>
            <a:ext cx="180000" cy="200000"/>
          </a:xfrm>
          <a:prstGeom prst="smileyFace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5176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6517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メイリオ"/>
              </a:rPr>
              <a:t>ジョーカー
モード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65176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26517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9E58"/>
                </a:solidFill>
                <a:latin typeface="メイリオ"/>
              </a:rPr>
              <a:t>スーパー
ストックタイム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65176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6517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A6B3C"/>
                </a:solidFill>
                <a:latin typeface="メイリオ"/>
              </a:rPr>
              <a:t>ストックタイム
(50G+α)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651760"/>
            <a:ext cx="1737360" cy="1371600"/>
          </a:xfrm>
          <a:prstGeom prst="rect">
            <a:avLst/>
          </a:prstGeom>
          <a:solidFill>
            <a:srgbClr val="072616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517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C1111"/>
                </a:solidFill>
                <a:latin typeface="メイリオ"/>
              </a:rPr>
              <a:t>リオチャンス
(RC)</a:t>
            </a:r>
          </a:p>
        </p:txBody>
      </p:sp>
      <p:sp>
        <p:nvSpPr>
          <p:cNvPr id="28" name="Cube 27"/>
          <p:cNvSpPr/>
          <p:nvPr/>
        </p:nvSpPr>
        <p:spPr>
          <a:xfrm>
            <a:off x="6126480" y="3247560"/>
            <a:ext cx="200000" cy="180000"/>
          </a:xfrm>
          <a:prstGeom prst="cube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ube 28"/>
          <p:cNvSpPr/>
          <p:nvPr/>
        </p:nvSpPr>
        <p:spPr>
          <a:xfrm>
            <a:off x="4069080" y="3247560"/>
            <a:ext cx="200000" cy="180000"/>
          </a:xfrm>
          <a:prstGeom prst="cube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ube 29"/>
          <p:cNvSpPr/>
          <p:nvPr/>
        </p:nvSpPr>
        <p:spPr>
          <a:xfrm>
            <a:off x="2011680" y="3247560"/>
            <a:ext cx="200000" cy="180000"/>
          </a:xfrm>
          <a:prstGeom prst="cube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0" y="2651760"/>
            <a:ext cx="1828800" cy="1371600"/>
          </a:xfrm>
          <a:prstGeom prst="rect">
            <a:avLst/>
          </a:prstGeom>
          <a:solidFill>
            <a:srgbClr val="3A2A0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651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メイリオ"/>
              </a:rPr>
              <a:t>エンディング
ボーナス
(差枚数完走)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685800"/>
            <a:ext cx="822960" cy="1371600"/>
          </a:xfrm>
          <a:prstGeom prst="rect">
            <a:avLst/>
          </a:prstGeom>
          <a:solidFill>
            <a:srgbClr val="072616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685800"/>
            <a:ext cx="822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3333"/>
                </a:solidFill>
                <a:latin typeface="メイリオ"/>
              </a:rPr>
              <a:t>REG
BONUS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51960"/>
            <a:ext cx="4206240" cy="310000"/>
          </a:xfrm>
          <a:prstGeom prst="rect">
            <a:avLst/>
          </a:prstGeom>
          <a:solidFill>
            <a:srgbClr val="101810"/>
          </a:solidFill>
          <a:ln w="12700">
            <a:solidFill>
              <a:srgbClr val="8899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279392"/>
            <a:ext cx="4023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天井: BIG間最大999G → BIG確定　|　スイカ天井: 規定回数到達でSTに直撃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【設計】BIG→RC高確→RC→STのループが出玉の本体。REGはシナリオ昇格のカウンター役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有利区間管理：差枚数2000枚超でエンディング移行。ジョーカーモードは終了後に確定移行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通常時の遊び方 ── 初当りへの3ルート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3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13232"/>
            <a:ext cx="2743200" cy="2926080"/>
          </a:xfrm>
          <a:prstGeom prst="rect">
            <a:avLst/>
          </a:prstGeom>
          <a:solidFill>
            <a:srgbClr val="072616"/>
          </a:solidFill>
          <a:ln w="254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713232"/>
            <a:ext cx="2743200" cy="60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1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A6B3C"/>
                </a:solidFill>
                <a:latin typeface="メイリオ"/>
              </a:rPr>
              <a:t>①チャンス役ルート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1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スイカ・チェリーなどのチャンス役で
ボーナス高確への移行を抽選
スイカは天井カウンターにもなる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168" y="2253232"/>
            <a:ext cx="2468880" cy="330000"/>
          </a:xfrm>
          <a:prstGeom prst="rect">
            <a:avLst/>
          </a:prstGeom>
          <a:solidFill>
            <a:srgbClr val="04180A"/>
          </a:solidFill>
          <a:ln w="1016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168" y="227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最もオーソドックスな突入ルート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713232"/>
            <a:ext cx="2743200" cy="2926080"/>
          </a:xfrm>
          <a:prstGeom prst="rect">
            <a:avLst/>
          </a:prstGeom>
          <a:solidFill>
            <a:srgbClr val="072616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713232"/>
            <a:ext cx="2743200" cy="60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29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C1111"/>
                </a:solidFill>
                <a:latin typeface="メイリオ"/>
              </a:rPr>
              <a:t>②小役連続ルート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29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通常時に小役が複数回連続すると
高確率状態（ボーナス高確）に移行
設定が高いほど移行率がUP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2968" y="2253232"/>
            <a:ext cx="2468880" cy="330000"/>
          </a:xfrm>
          <a:prstGeom prst="rect">
            <a:avLst/>
          </a:prstGeom>
          <a:solidFill>
            <a:srgbClr val="04180A"/>
          </a:solidFill>
          <a:ln w="1016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2968" y="227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設定判別の重要指標でもある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713232"/>
            <a:ext cx="2743200" cy="2926080"/>
          </a:xfrm>
          <a:prstGeom prst="rect">
            <a:avLst/>
          </a:prstGeom>
          <a:solidFill>
            <a:srgbClr val="072616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713232"/>
            <a:ext cx="2743200" cy="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4768" y="783232"/>
            <a:ext cx="24688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8A840"/>
                </a:solidFill>
                <a:latin typeface="メイリオ"/>
              </a:rPr>
              <a:t>③ゲーム数天井ルート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4768" y="1053232"/>
            <a:ext cx="246888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BIG間999G消化でBIG確定
（BIGスルー時は天井カウントあり）
スイカ規定回数到達でSTに直撃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4768" y="2253232"/>
            <a:ext cx="2468880" cy="330000"/>
          </a:xfrm>
          <a:prstGeom prst="rect">
            <a:avLst/>
          </a:prstGeom>
          <a:solidFill>
            <a:srgbClr val="04180A"/>
          </a:solidFill>
          <a:ln w="101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4768" y="2273232"/>
            <a:ext cx="237744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低設定でも拾える狙い目ルート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3794760"/>
            <a:ext cx="8778240" cy="680000"/>
          </a:xfrm>
          <a:prstGeom prst="rect">
            <a:avLst/>
          </a:prstGeom>
          <a:solidFill>
            <a:srgbClr val="051E10"/>
          </a:solidFill>
          <a:ln w="127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822191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9E58"/>
                </a:solidFill>
                <a:latin typeface="メイリオ"/>
              </a:rPr>
              <a:t>BIG BONUS 2種類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069080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青7揃い BIG（300枚払い出し）→ RC高確確定・SBJループ突入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069080"/>
            <a:ext cx="44805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3333"/>
                </a:solidFill>
                <a:latin typeface="メイリオ"/>
              </a:rPr>
              <a:t>赤7揃い BIG（100枚払い出し）→ RC高確移行・ループ期待度やや低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【設計】通常時は「いかに早くBIGを引くか」に集約。高確移行ルートを複数設けることで単調さを回避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スイカは天井カウンター兼高確移行契機の二役。スイカ天井はAT直撃（ST）なので中間狙いも有効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ブラックジャックゲームの仕組み ── 独自ゲーム性の核心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4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5029200" cy="3749039"/>
          </a:xfrm>
          <a:prstGeom prst="rect">
            <a:avLst/>
          </a:prstGeom>
          <a:solidFill>
            <a:srgbClr val="051E10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749808"/>
            <a:ext cx="4754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メイリオ"/>
              </a:rPr>
              <a:t>リオチャンス（RC）── 昇格型ボーナス準備状態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475488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RCはBIG後のRC高確中にボーナス当選で移行する「準備状態」。
カードをめくる演出でブラックジャックの世界観を表現。
【前半パート】カードをめくって報酬を昇格抽選
  → REG / エピソードボーナス / BIG へ昇格の可能性
【後半パート】「狙えカットイン」のタイミングで報酬確定
  → 報酬の種類によってストックタイム(ST)移行が決まる
RC3回→金BARシナリオへ昇格→次RC時にジョーカーモード大チャンス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685800"/>
            <a:ext cx="3520440" cy="1828800"/>
          </a:xfrm>
          <a:prstGeom prst="rect">
            <a:avLst/>
          </a:prstGeom>
          <a:solidFill>
            <a:srgbClr val="072616"/>
          </a:solidFill>
          <a:ln w="1905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749808"/>
            <a:ext cx="32918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29E58"/>
                </a:solidFill>
                <a:latin typeface="メイリオ"/>
              </a:rPr>
              <a:t>ストックタイム（ST）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051560"/>
            <a:ext cx="3291840" cy="1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継続: 50G〜777G（リプレイ・レア役でRC抽選）
リーチ目出現 → RC濃厚
平均ストック数: 約2個
獲得RCは50Gごとに放出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2651760"/>
            <a:ext cx="3520440" cy="1783080"/>
          </a:xfrm>
          <a:prstGeom prst="rect">
            <a:avLst/>
          </a:prstGeom>
          <a:solidFill>
            <a:srgbClr val="072616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2715768"/>
            <a:ext cx="32918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D700"/>
                </a:solidFill>
                <a:latin typeface="メイリオ"/>
              </a:rPr>
              <a:t>スーパーストックタイム（SST）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017520"/>
            <a:ext cx="329184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0F0"/>
                </a:solidFill>
                <a:latin typeface="メイリオ"/>
              </a:rPr>
              <a:t>継続: 100G+α　純増: 約5.1枚/G（ベルナビ発生）
消化中だけで500枚以上獲得可能
RCを大量ストック→放出で爆発力抜群
ジョーカーモード中はSST当選率が大幅UP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【設計】「カードをめくって昇格確認」という行為がBJ体験を演出。リール機にカードゲームを融合した希少設計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RC前半・後半の2段構えで、プレイヤーは「まず昇格を期待→確定タイミングで報酬確認」という2つのドキドキを体験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AT/ボーナス ── 何をすれば出玉が伸びるか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5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2011680" cy="1325880"/>
          </a:xfrm>
          <a:prstGeom prst="rect">
            <a:avLst/>
          </a:prstGeom>
          <a:solidFill>
            <a:srgbClr val="072616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メイリオ"/>
              </a:rPr>
              <a:t>BIG BONUS
青7/赤7</a:t>
            </a:r>
          </a:p>
        </p:txBody>
      </p:sp>
      <p:sp>
        <p:nvSpPr>
          <p:cNvPr id="10" name="Can 9"/>
          <p:cNvSpPr/>
          <p:nvPr/>
        </p:nvSpPr>
        <p:spPr>
          <a:xfrm>
            <a:off x="2286000" y="1286172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713232"/>
            <a:ext cx="2011680" cy="1325880"/>
          </a:xfrm>
          <a:prstGeom prst="rect">
            <a:avLst/>
          </a:prstGeom>
          <a:solidFill>
            <a:srgbClr val="072616"/>
          </a:solidFill>
          <a:ln w="254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6B3C"/>
                </a:solidFill>
                <a:latin typeface="メイリオ"/>
              </a:rPr>
              <a:t>RC高確
（ループの土台）</a:t>
            </a:r>
          </a:p>
        </p:txBody>
      </p:sp>
      <p:sp>
        <p:nvSpPr>
          <p:cNvPr id="13" name="Can 12"/>
          <p:cNvSpPr/>
          <p:nvPr/>
        </p:nvSpPr>
        <p:spPr>
          <a:xfrm>
            <a:off x="4498848" y="1286172"/>
            <a:ext cx="200000" cy="180000"/>
          </a:xfrm>
          <a:prstGeom prst="can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0016" y="713232"/>
            <a:ext cx="2011680" cy="1325880"/>
          </a:xfrm>
          <a:prstGeom prst="rect">
            <a:avLst/>
          </a:prstGeom>
          <a:solidFill>
            <a:srgbClr val="072616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1111"/>
                </a:solidFill>
                <a:latin typeface="メイリオ"/>
              </a:rPr>
              <a:t>リオチャンス
（RC）</a:t>
            </a:r>
          </a:p>
        </p:txBody>
      </p:sp>
      <p:sp>
        <p:nvSpPr>
          <p:cNvPr id="16" name="Can 15"/>
          <p:cNvSpPr/>
          <p:nvPr/>
        </p:nvSpPr>
        <p:spPr>
          <a:xfrm>
            <a:off x="6711696" y="1286172"/>
            <a:ext cx="200000" cy="180000"/>
          </a:xfrm>
          <a:prstGeom prst="can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12864" y="713232"/>
            <a:ext cx="2011680" cy="1325880"/>
          </a:xfrm>
          <a:prstGeom prst="rect">
            <a:avLst/>
          </a:prstGeom>
          <a:solidFill>
            <a:srgbClr val="072616"/>
          </a:solidFill>
          <a:ln w="2540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12864" y="713232"/>
            <a:ext cx="2011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9E58"/>
                </a:solidFill>
                <a:latin typeface="メイリオ"/>
              </a:rPr>
              <a:t>ストックタイム
（ST/SST）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240280"/>
            <a:ext cx="841248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8A840"/>
                </a:solidFill>
                <a:latin typeface="メイリオ"/>
              </a:rPr>
              <a:t>↑ RCをストックして放出 → BIG当選 → RC高確継続 → SBJループ繰り返し 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2560320"/>
            <a:ext cx="2743200" cy="1828800"/>
          </a:xfrm>
          <a:prstGeom prst="rect">
            <a:avLst/>
          </a:prstGeom>
          <a:solidFill>
            <a:srgbClr val="051E10"/>
          </a:solidFill>
          <a:ln w="1905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1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6B3C"/>
                </a:solidFill>
                <a:latin typeface="メイリオ"/>
              </a:rPr>
              <a:t>RC高確維持が最重要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1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BIG後は必ずRC高確移行。
RC高確中のボーナス当選でRC突入。
RC高確が続く限りループは継続する。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2968" y="2560320"/>
            <a:ext cx="2743200" cy="1828800"/>
          </a:xfrm>
          <a:prstGeom prst="rect">
            <a:avLst/>
          </a:prstGeom>
          <a:solidFill>
            <a:srgbClr val="051E10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29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1111"/>
                </a:solidFill>
                <a:latin typeface="メイリオ"/>
              </a:rPr>
              <a:t>RCでの報酬昇格を狙う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29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RC前半のカード演出で BIG昇格が理想。
BIG獲得→ST移行→大量RC放出で爆発。
REGはシナリオカウンター（3回→金BAR）。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560320"/>
            <a:ext cx="2743200" cy="1828800"/>
          </a:xfrm>
          <a:prstGeom prst="rect">
            <a:avLst/>
          </a:prstGeom>
          <a:solidFill>
            <a:srgbClr val="051E1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4768" y="2633472"/>
            <a:ext cx="24688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SSTで一気に積む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4768" y="2944368"/>
            <a:ext cx="246888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SSTは純増5.1枚×100G以上で500枚超。
ジョーカーモード中はSST頻発。
エンディングまで駆け抜ければ最高。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【設計】「ST中にRCをどれだけストックできるか」が1セットの出玉規模を決める核心変数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純増5.1枚のSSTを何度引けるかが連チャンの深さを左右。RC3回→金BARシナリオ昇格はジョーカーモードへの最短ルート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上位ATへの道 ── ジョーカーモード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6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8778240" cy="960120"/>
          </a:xfrm>
          <a:prstGeom prst="rect">
            <a:avLst/>
          </a:prstGeom>
          <a:solidFill>
            <a:srgbClr val="28200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  <a:latin typeface="メイリオ"/>
              </a:rPr>
              <a:t>ジョーカーモード：RC高確のロングバージョン。滞在中はSST当選率が大幅UP。ジョーカーランプ（筐体上部）が点灯で滞在濃厚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55648"/>
            <a:ext cx="822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メイリオ"/>
              </a:rPr>
              <a:t>ジョーカーモード 突入条件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121408"/>
            <a:ext cx="4206240" cy="1097280"/>
          </a:xfrm>
          <a:prstGeom prst="rect">
            <a:avLst/>
          </a:prstGeom>
          <a:solidFill>
            <a:srgbClr val="072616"/>
          </a:solidFill>
          <a:ln w="1905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2121408"/>
            <a:ext cx="55000" cy="109728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68" y="217140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6B3C"/>
                </a:solidFill>
                <a:latin typeface="メイリオ"/>
              </a:rPr>
              <a:t>①エンディング後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168" y="244140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エンディングボーナス（差枚数2000枚完走）終了後
→ ジョーカーモード確定移行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7" y="2121408"/>
            <a:ext cx="4206240" cy="1097280"/>
          </a:xfrm>
          <a:prstGeom prst="rect">
            <a:avLst/>
          </a:prstGeom>
          <a:solidFill>
            <a:srgbClr val="072616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6007" y="2121408"/>
            <a:ext cx="55000" cy="109728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6007" y="217140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1111"/>
                </a:solidFill>
                <a:latin typeface="メイリオ"/>
              </a:rPr>
              <a:t>②スペシャルエピソードボーナス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6007" y="244140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RC経由のREGを3回引いて金BARシナリオ昇格後
4回目のREG（スペシャルエピソード発生）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355848"/>
            <a:ext cx="4206240" cy="1097280"/>
          </a:xfrm>
          <a:prstGeom prst="rect">
            <a:avLst/>
          </a:prstGeom>
          <a:solidFill>
            <a:srgbClr val="072616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355848"/>
            <a:ext cx="55000" cy="109728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1168" y="340584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③有利区間リセット時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168" y="367584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有利区間リセット（設定変更除く）
→ 必ずジョーカーモード突入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7" y="3355848"/>
            <a:ext cx="4206240" cy="1097280"/>
          </a:xfrm>
          <a:prstGeom prst="rect">
            <a:avLst/>
          </a:prstGeom>
          <a:solidFill>
            <a:srgbClr val="072616"/>
          </a:solidFill>
          <a:ln w="1905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7" y="3355848"/>
            <a:ext cx="55000" cy="1097280"/>
          </a:xfrm>
          <a:prstGeom prst="rect">
            <a:avLst/>
          </a:prstGeom>
          <a:solidFill>
            <a:srgbClr val="12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6007" y="3405848"/>
            <a:ext cx="3840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9E58"/>
                </a:solidFill>
                <a:latin typeface="メイリオ"/>
              </a:rPr>
              <a:t>④その他の条件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6007" y="3675848"/>
            <a:ext cx="3840480" cy="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金BAR獲得 / RC高確中に差枚2000枚でRC当選
/ 有利区間差枚1800枚でRC当選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【設計】ジョーカーモードはSST頻発モード。RC3回→金BAR→スペシャルエピソードが最もオーソドックスな到達ルート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ランプ消灯でも滞在継続の可能性あり。ジョーカーモード中REG引くと次RCに必ずSST出現が最大の恩恵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面白さの設計 ── カードゲームとパチスロの融合がなぜ機能するか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7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914400" cy="530352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0F0F0"/>
                </a:solidFill>
                <a:latin typeface="メイリオ"/>
              </a:rPr>
              <a:t>Part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777240"/>
            <a:ext cx="4206240" cy="1417320"/>
          </a:xfrm>
          <a:prstGeom prst="rect">
            <a:avLst/>
          </a:prstGeom>
          <a:solidFill>
            <a:srgbClr val="051E10"/>
          </a:solidFill>
          <a:ln w="1905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777240"/>
            <a:ext cx="55000" cy="141732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168" y="8322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1111"/>
                </a:solidFill>
                <a:latin typeface="メイリオ"/>
              </a:rPr>
              <a:t>インタラクション設計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168" y="1117240"/>
            <a:ext cx="38404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RCのカードめくり演出は「プレイヤーが選択・確認する」行為を模倣。
パチスロは本来受動的だが、BJ演出で能動感を演出。
報酬昇格の瞬間に「自分が勝った」感覚を付与。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7" y="777240"/>
            <a:ext cx="4206240" cy="1417320"/>
          </a:xfrm>
          <a:prstGeom prst="rect">
            <a:avLst/>
          </a:prstGeom>
          <a:solidFill>
            <a:srgbClr val="051E10"/>
          </a:solidFill>
          <a:ln w="1905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36007" y="777240"/>
            <a:ext cx="55000" cy="141732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6007" y="8322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A6B3C"/>
                </a:solidFill>
                <a:latin typeface="メイリオ"/>
              </a:rPr>
              <a:t>2段階ドキドキ設計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6007" y="1117240"/>
            <a:ext cx="38404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前半（昇格を期待） → 後半（確定確認）の2パートで
1回のRCに2つの感情的ピークを設計。
単純な「当たった/外れた」より体験密度が高い。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2377440"/>
            <a:ext cx="4206240" cy="1417320"/>
          </a:xfrm>
          <a:prstGeom prst="rect">
            <a:avLst/>
          </a:prstGeom>
          <a:solidFill>
            <a:srgbClr val="051E1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2377440"/>
            <a:ext cx="55000" cy="14173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168" y="24324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メイリオ"/>
              </a:rPr>
              <a:t>ループ × カウンター設計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168" y="2717440"/>
            <a:ext cx="38404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SBJループは「次もある」という期待を持続させる設計。
REGのカウンター（3回→金BAR）は悔しさを次回への動機に変換。
損失を「蓄積」に変える心理設計。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6007" y="2377440"/>
            <a:ext cx="4206240" cy="1417320"/>
          </a:xfrm>
          <a:prstGeom prst="rect">
            <a:avLst/>
          </a:prstGeom>
          <a:solidFill>
            <a:srgbClr val="051E10"/>
          </a:solidFill>
          <a:ln w="1905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36007" y="2377440"/>
            <a:ext cx="55000" cy="1417320"/>
          </a:xfrm>
          <a:prstGeom prst="rect">
            <a:avLst/>
          </a:prstGeom>
          <a:solidFill>
            <a:srgbClr val="129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6007" y="24324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9E58"/>
                </a:solidFill>
                <a:latin typeface="メイリオ"/>
              </a:rPr>
              <a:t>4号機リメイクの情緒価値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6007" y="2717440"/>
            <a:ext cx="384048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8CAA8"/>
                </a:solidFill>
                <a:latin typeface="メイリオ"/>
              </a:rPr>
              <a:t>原作「スーパーブラックジャック」のプレイヤーへのノスタルジー。
リオチャンス・ストックタイムの名称を踏襲し親近感を担保。
新規層には新鮮、経験者には懐かしい二重訴求。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【設計】「カードゲームの意思決定感覚」をパチスロの演出に落とし込んだ希少な設計アプローチ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BJ本来のルール（21を目指す）をそのまま使うのではなく、「昇格」という概念に変換した点が巧みな翻訳設計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良い点と課題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8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4251960" cy="3749039"/>
          </a:xfrm>
          <a:prstGeom prst="rect">
            <a:avLst/>
          </a:prstGeom>
          <a:solidFill>
            <a:srgbClr val="051E10"/>
          </a:solidFill>
          <a:ln w="25400">
            <a:solidFill>
              <a:srgbClr val="12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685800"/>
            <a:ext cx="4251960" cy="65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749808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29E58"/>
                </a:solidFill>
                <a:latin typeface="メイリオ"/>
              </a:rPr>
              <a:t>良い点（Pros）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15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BJ演出でパチスロに能動感を付与（業界稀少）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4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RC2段構えで1回の当選体験の密度が高い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3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SBJループの連鎖性が高く「次もある」期待を持続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2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ジョーカーモードという明確な上位状態で目標設定しやすい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71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4号機リメイクによる情緒価値・二重訴求（新旧ユーザー）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10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天井・スイカ天井で狙い目が明確。ホールでの立ち回りしやすさ◎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92144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スペック（機械割）は設定5で110%・高設定は十分な性能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685800"/>
            <a:ext cx="4315968" cy="3749039"/>
          </a:xfrm>
          <a:prstGeom prst="rect">
            <a:avLst/>
          </a:prstGeom>
          <a:solidFill>
            <a:srgbClr val="051E10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685800"/>
            <a:ext cx="4315968" cy="65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749808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メイリオ"/>
              </a:rPr>
              <a:t>課題（Cons）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115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低設定は初当り確率が重く「何もできない」体験になりやすい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58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BIGを引けないとループが始まらない完全ボーナス依存設計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01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RC昇格なしのREGは出玉貢献が低く、連続で引くと消化感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44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SBJループは理解するまでゲームフローが複雑に見える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287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ジョーカーモードの認識にランプ依存（演出上の分かりにくさ）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3302144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  <a:latin typeface="メイリオ"/>
              </a:rPr>
              <a:t>● BJ要素が「演出」止まりで実際の戦略性はない（好みが分かれる）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【設計】高設定での爆発力・BJ演出の新鮮さはBRONZE受賞に値するが、低設定での体験改善が普及の鍵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「BJ演出が楽しめるかどうか」がこの台との相性を決定する。純粋な連チャン快感だけを求めるユーザーには刺さりにくい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5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9988"/>
                </a:solidFill>
                <a:latin typeface="メイリオ"/>
              </a:rPr>
              <a:t>9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8778240" cy="822960"/>
          </a:xfrm>
          <a:prstGeom prst="rect">
            <a:avLst/>
          </a:prstGeom>
          <a:solidFill>
            <a:srgbClr val="2820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49808"/>
            <a:ext cx="841248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8CAA8"/>
                </a:solidFill>
                <a:latin typeface="メイリオ"/>
              </a:rPr>
              <a:t>スマスロ SBJは「他ジャンルのゲーム性をパチスロに翻訳した実践例」として
設計の教科書的価値を持つ。パチスロアワード2025 BRONZE受賞もその証左。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664208"/>
            <a:ext cx="2743200" cy="2606040"/>
          </a:xfrm>
          <a:prstGeom prst="rect">
            <a:avLst/>
          </a:prstGeom>
          <a:solidFill>
            <a:srgbClr val="051E10"/>
          </a:solidFill>
          <a:ln w="25400">
            <a:solidFill>
              <a:srgbClr val="0A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664208"/>
            <a:ext cx="2743200" cy="55000"/>
          </a:xfrm>
          <a:prstGeom prst="rect">
            <a:avLst/>
          </a:prstGeom>
          <a:solidFill>
            <a:srgbClr val="0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168" y="1729208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A6B3C"/>
                </a:solidFill>
                <a:latin typeface="メイリオ"/>
              </a:rPr>
              <a:t>設計学び①
異ジャンル翻訳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168" y="2064208"/>
            <a:ext cx="2468880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BJ（ボード/カードゲーム）の「昇格確認」への翻訳
→ 既存ゲームの面白さをそのまま使わず、
　パチスロの文脈に合う形に変換する発想が重要。
「21を目指す戦略性」→「昇格期待の演出体験」への昇華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664208"/>
            <a:ext cx="2743200" cy="2606040"/>
          </a:xfrm>
          <a:prstGeom prst="rect">
            <a:avLst/>
          </a:prstGeom>
          <a:solidFill>
            <a:srgbClr val="051E10"/>
          </a:solidFill>
          <a:ln w="25400">
            <a:solidFill>
              <a:srgbClr val="CC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1664208"/>
            <a:ext cx="2743200" cy="55000"/>
          </a:xfrm>
          <a:prstGeom prst="rect">
            <a:avLst/>
          </a:prstGeom>
          <a:solidFill>
            <a:srgbClr val="CC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2968" y="1729208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1111"/>
                </a:solidFill>
                <a:latin typeface="メイリオ"/>
              </a:rPr>
              <a:t>設計学び②
感情ピーク2段化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2968" y="2064208"/>
            <a:ext cx="2468880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前半（昇格期待）× 後半（報酬確定）の2段階設計
→ 1回の当選に複数の感情ピークを組み込む手法は
　様々なゲームジャンルに応用可能。
「ドキドキの数」を増やすことで体験価値を高める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664208"/>
            <a:ext cx="2743200" cy="2606040"/>
          </a:xfrm>
          <a:prstGeom prst="rect">
            <a:avLst/>
          </a:prstGeom>
          <a:solidFill>
            <a:srgbClr val="051E1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664208"/>
            <a:ext cx="2743200" cy="5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4768" y="1729208"/>
            <a:ext cx="24688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設計学び③
ループ×カウンター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4768" y="2064208"/>
            <a:ext cx="2468880" cy="1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8CAA8"/>
                </a:solidFill>
                <a:latin typeface="メイリオ"/>
              </a:rPr>
              <a:t>SBJループ（連鎖）× REGカウンター（蓄積）の組み合わせ
→「失敗が次回への期待に変換される」設計は
　プレイヤーのモチベーション維持に直結。
悔しさ・損失を「次は成功する」動機に変える心理工学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416552"/>
            <a:ext cx="8778240" cy="390000"/>
          </a:xfrm>
          <a:prstGeom prst="rect">
            <a:avLst/>
          </a:prstGeom>
          <a:solidFill>
            <a:srgbClr val="072616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53128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総合：カードゲームIPとパチスロの融合を「演出翻訳」で成立させた意欲作。高設定のループ爆発力と新感覚BJ演出が評価され受賞。低設定の体験改善が次の課題。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2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【設計】「異ジャンル翻訳×感情2段化×ループカウンター」の3軸設計がSBJの本質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9988"/>
                </a:solidFill>
                <a:latin typeface="メイリオ"/>
              </a:rPr>
              <a:t>4号機リメイクという情緒的入口と、スマスロとしての現代設計の両立が2025年のBRONZE評価を獲得した要因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99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