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343400" cy="5143500"/>
          </a:xfrm>
          <a:prstGeom prst="rect">
            <a:avLst/>
          </a:prstGeom>
          <a:solidFill>
            <a:srgbClr val="ECF8F2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64592"/>
            <a:ext cx="1234440" cy="260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64592"/>
            <a:ext cx="1234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Part A 説明編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"/>
            <a:ext cx="4023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B9015"/>
                </a:solidFill>
                <a:latin typeface="游明朝"/>
              </a:rPr>
              <a:t>機種説明＋分析 統合版資料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914400"/>
            <a:ext cx="402336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C7A3F"/>
                </a:solidFill>
                <a:latin typeface="游明朝"/>
              </a:rPr>
              <a:t>スマスロ
スーパーブラックジャック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560320"/>
            <a:ext cx="402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040"/>
                </a:solidFill>
                <a:latin typeface="游明朝"/>
              </a:rPr>
              <a:t>── カードゲームと華やかキャラが彩る新感覚体験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980944"/>
            <a:ext cx="2743200" cy="280000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2980944"/>
            <a:ext cx="27432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B9015"/>
                </a:solidFill>
                <a:latin typeface="メイリオ"/>
              </a:rPr>
              <a:t>  パチスロアワード2025 BRONZE受賞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01568"/>
            <a:ext cx="40233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040"/>
                </a:solidFill>
                <a:latin typeface="メイリオ"/>
              </a:rPr>
              <a:t>メーカー: セブンリーグ（山佐ネクス）　導入: 2025年2月3日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621024"/>
            <a:ext cx="40233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040"/>
                </a:solidFill>
                <a:latin typeface="メイリオ"/>
              </a:rPr>
              <a:t>機械割: 97.8〜112.7%　純増: 約5.1枚/G　設定: 1〜6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840480"/>
            <a:ext cx="40233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040"/>
                </a:solidFill>
                <a:latin typeface="メイリオ"/>
              </a:rPr>
              <a:t>4号機「スーパーブラックジャック」のスマスロリメイク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0"/>
            <a:ext cx="47091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91440"/>
            <a:ext cx="42976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D3388"/>
                </a:solidFill>
                <a:latin typeface="游明朝"/>
              </a:rPr>
              <a:t>登場キャラクター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502920"/>
            <a:ext cx="4297680" cy="1325880"/>
          </a:xfrm>
          <a:prstGeom prst="rect">
            <a:avLst/>
          </a:prstGeom>
          <a:solidFill>
            <a:srgbClr val="FFEEF5"/>
          </a:solidFill>
          <a:ln w="19050">
            <a:solidFill>
              <a:srgbClr val="DD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502920"/>
            <a:ext cx="55000" cy="1325880"/>
          </a:xfrm>
          <a:prstGeom prst="rect">
            <a:avLst/>
          </a:prstGeom>
          <a:solidFill>
            <a:srgbClr val="DD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562920"/>
            <a:ext cx="914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3388"/>
                </a:solidFill>
                <a:latin typeface="メイリオ"/>
              </a:rPr>
              <a:t>リオ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832920"/>
            <a:ext cx="384048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主人公キャラ。元気・明るい・パワフルな赤髪の女の子。
SBJの顔として全編に登場し、大当りを盛り上げる。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965960"/>
            <a:ext cx="4297680" cy="1325880"/>
          </a:xfrm>
          <a:prstGeom prst="rect">
            <a:avLst/>
          </a:prstGeom>
          <a:solidFill>
            <a:srgbClr val="ECFFF5"/>
          </a:solidFill>
          <a:ln w="19050">
            <a:solidFill>
              <a:srgbClr val="11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1965960"/>
            <a:ext cx="55000" cy="1325880"/>
          </a:xfrm>
          <a:prstGeom prst="rect">
            <a:avLst/>
          </a:prstGeom>
          <a:solidFill>
            <a:srgbClr val="11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2025960"/>
            <a:ext cx="914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9966"/>
                </a:solidFill>
                <a:latin typeface="メイリオ"/>
              </a:rPr>
              <a:t>ミント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2295960"/>
            <a:ext cx="384048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クールな緑髪の女の子。リオの対になる存在。
SST（スーパーストックタイム）の盛り上げ役。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429000"/>
            <a:ext cx="4297680" cy="1325880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429000"/>
            <a:ext cx="55000" cy="1325880"/>
          </a:xfrm>
          <a:prstGeom prst="rect">
            <a:avLst/>
          </a:prstGeom>
          <a:solidFill>
            <a:srgbClr val="BB9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489000"/>
            <a:ext cx="914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B9015"/>
                </a:solidFill>
                <a:latin typeface="メイリオ"/>
              </a:rPr>
              <a:t>リナ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3759000"/>
            <a:ext cx="384048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お嬢様系の金髪キャラ。上品なBJ演出を担当。
ジョーカーモード突入演出に深く関与。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361688"/>
            <a:ext cx="4297680" cy="320000"/>
          </a:xfrm>
          <a:prstGeom prst="rect">
            <a:avLst/>
          </a:prstGeom>
          <a:solidFill>
            <a:srgbClr val="ECF8F2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389120"/>
            <a:ext cx="41148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C7A3F"/>
                </a:solidFill>
                <a:latin typeface="メイリオ"/>
              </a:rPr>
              <a:t>SBJループ・リオチャンス2段構え・ジョーカーモード ── 3軸で爆発する設計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【設計】女の子が活躍する華やかな世界観 × BJ演出の緊張感。稼働とアワードが実力を証明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リオ・ミント・リナの3キャラがゲームの各局面を彩り、単なるカジノ台とは一線を画す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4864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8000"/>
            <a:ext cx="6858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3F"/>
                </a:solidFill>
                <a:latin typeface="游明朝"/>
              </a:rPr>
              <a:t>ゲームフロー全体図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570"/>
                </a:solidFill>
                <a:latin typeface="メイリオ"/>
              </a:rPr>
              <a:t>2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8640"/>
            <a:ext cx="9144000" cy="6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" y="713232"/>
            <a:ext cx="1371600" cy="713232"/>
          </a:xfrm>
          <a:prstGeom prst="rect">
            <a:avLst/>
          </a:prstGeom>
          <a:solidFill>
            <a:srgbClr val="F8F4EC"/>
          </a:solidFill>
          <a:ln w="19050">
            <a:solidFill>
              <a:srgbClr val="888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" y="71323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888570"/>
                </a:solidFill>
                <a:latin typeface="メイリオ"/>
              </a:rPr>
              <a:t>通常時
（低確/高確）</a:t>
            </a:r>
          </a:p>
        </p:txBody>
      </p:sp>
      <p:sp>
        <p:nvSpPr>
          <p:cNvPr id="10" name="Can 9"/>
          <p:cNvSpPr/>
          <p:nvPr/>
        </p:nvSpPr>
        <p:spPr>
          <a:xfrm>
            <a:off x="1527048" y="979848"/>
            <a:ext cx="200000" cy="180000"/>
          </a:xfrm>
          <a:prstGeom prst="can">
            <a:avLst/>
          </a:prstGeom>
          <a:solidFill>
            <a:srgbClr val="888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0" y="713232"/>
            <a:ext cx="1371600" cy="713232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71323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B9015"/>
                </a:solidFill>
                <a:latin typeface="メイリオ"/>
              </a:rPr>
              <a:t>BIG BONUS
(青7/赤7)</a:t>
            </a:r>
          </a:p>
        </p:txBody>
      </p:sp>
      <p:sp>
        <p:nvSpPr>
          <p:cNvPr id="13" name="Can 12"/>
          <p:cNvSpPr/>
          <p:nvPr/>
        </p:nvSpPr>
        <p:spPr>
          <a:xfrm>
            <a:off x="3017520" y="979848"/>
            <a:ext cx="200000" cy="180000"/>
          </a:xfrm>
          <a:prstGeom prst="can">
            <a:avLst/>
          </a:prstGeom>
          <a:solidFill>
            <a:srgbClr val="BB9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36392" y="713232"/>
            <a:ext cx="1371600" cy="713232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71323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7A3F"/>
                </a:solidFill>
                <a:latin typeface="メイリオ"/>
              </a:rPr>
              <a:t>RC高確
(高確率)</a:t>
            </a:r>
          </a:p>
        </p:txBody>
      </p:sp>
      <p:sp>
        <p:nvSpPr>
          <p:cNvPr id="16" name="Can 15"/>
          <p:cNvSpPr/>
          <p:nvPr/>
        </p:nvSpPr>
        <p:spPr>
          <a:xfrm>
            <a:off x="4507992" y="979848"/>
            <a:ext cx="200000" cy="180000"/>
          </a:xfrm>
          <a:prstGeom prst="can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26864" y="713232"/>
            <a:ext cx="1371600" cy="713232"/>
          </a:xfrm>
          <a:prstGeom prst="rect">
            <a:avLst/>
          </a:prstGeom>
          <a:solidFill>
            <a:srgbClr val="FFEEF5"/>
          </a:solidFill>
          <a:ln w="19050">
            <a:solidFill>
              <a:srgbClr val="DD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71323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DD3388"/>
                </a:solidFill>
                <a:latin typeface="メイリオ"/>
              </a:rPr>
              <a:t>リオチャンス
（RC）</a:t>
            </a:r>
          </a:p>
        </p:txBody>
      </p:sp>
      <p:sp>
        <p:nvSpPr>
          <p:cNvPr id="19" name="Can 18"/>
          <p:cNvSpPr/>
          <p:nvPr/>
        </p:nvSpPr>
        <p:spPr>
          <a:xfrm>
            <a:off x="5998464" y="979848"/>
            <a:ext cx="200000" cy="180000"/>
          </a:xfrm>
          <a:prstGeom prst="can">
            <a:avLst/>
          </a:prstGeom>
          <a:solidFill>
            <a:srgbClr val="DD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17336" y="713232"/>
            <a:ext cx="1371600" cy="713232"/>
          </a:xfrm>
          <a:prstGeom prst="rect">
            <a:avLst/>
          </a:prstGeom>
          <a:solidFill>
            <a:srgbClr val="ECFFF5"/>
          </a:solidFill>
          <a:ln w="19050">
            <a:solidFill>
              <a:srgbClr val="11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71323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19966"/>
                </a:solidFill>
                <a:latin typeface="メイリオ"/>
              </a:rPr>
              <a:t>ストックタイム
（ST）</a:t>
            </a:r>
          </a:p>
        </p:txBody>
      </p:sp>
      <p:sp>
        <p:nvSpPr>
          <p:cNvPr id="22" name="Smiley Face 21"/>
          <p:cNvSpPr/>
          <p:nvPr/>
        </p:nvSpPr>
        <p:spPr>
          <a:xfrm>
            <a:off x="6713136" y="1426464"/>
            <a:ext cx="180000" cy="200000"/>
          </a:xfrm>
          <a:prstGeom prst="smileyFace">
            <a:avLst/>
          </a:prstGeom>
          <a:solidFill>
            <a:srgbClr val="11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17336" y="1810512"/>
            <a:ext cx="1371600" cy="713232"/>
          </a:xfrm>
          <a:prstGeom prst="rect">
            <a:avLst/>
          </a:prstGeom>
          <a:solidFill>
            <a:srgbClr val="ECFFF5"/>
          </a:solidFill>
          <a:ln w="19050">
            <a:solidFill>
              <a:srgbClr val="11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6" y="181051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19966"/>
                </a:solidFill>
                <a:latin typeface="メイリオ"/>
              </a:rPr>
              <a:t>SST
（超高速AT）</a:t>
            </a:r>
          </a:p>
        </p:txBody>
      </p:sp>
      <p:sp>
        <p:nvSpPr>
          <p:cNvPr id="25" name="Cube 24"/>
          <p:cNvSpPr/>
          <p:nvPr/>
        </p:nvSpPr>
        <p:spPr>
          <a:xfrm>
            <a:off x="5998464" y="2077128"/>
            <a:ext cx="200000" cy="180000"/>
          </a:xfrm>
          <a:prstGeom prst="cube">
            <a:avLst/>
          </a:prstGeom>
          <a:solidFill>
            <a:srgbClr val="11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26864" y="1810512"/>
            <a:ext cx="1371600" cy="713232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181051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B9015"/>
                </a:solidFill>
                <a:latin typeface="メイリオ"/>
              </a:rPr>
              <a:t>ジョーカー
モード</a:t>
            </a:r>
          </a:p>
        </p:txBody>
      </p:sp>
      <p:sp>
        <p:nvSpPr>
          <p:cNvPr id="28" name="Cube 27"/>
          <p:cNvSpPr/>
          <p:nvPr/>
        </p:nvSpPr>
        <p:spPr>
          <a:xfrm>
            <a:off x="4507992" y="2077128"/>
            <a:ext cx="200000" cy="180000"/>
          </a:xfrm>
          <a:prstGeom prst="cube">
            <a:avLst/>
          </a:prstGeom>
          <a:solidFill>
            <a:srgbClr val="BB9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36392" y="1810512"/>
            <a:ext cx="1371600" cy="713232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2" y="181051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B9015"/>
                </a:solidFill>
                <a:latin typeface="メイリオ"/>
              </a:rPr>
              <a:t>金BAR
昇格</a:t>
            </a:r>
          </a:p>
        </p:txBody>
      </p:sp>
      <p:sp>
        <p:nvSpPr>
          <p:cNvPr id="31" name="Cube 30"/>
          <p:cNvSpPr/>
          <p:nvPr/>
        </p:nvSpPr>
        <p:spPr>
          <a:xfrm>
            <a:off x="3017520" y="2077128"/>
            <a:ext cx="200000" cy="180000"/>
          </a:xfrm>
          <a:prstGeom prst="cube">
            <a:avLst/>
          </a:prstGeom>
          <a:solidFill>
            <a:srgbClr val="BB9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0" y="1810512"/>
            <a:ext cx="1371600" cy="713232"/>
          </a:xfrm>
          <a:prstGeom prst="rect">
            <a:avLst/>
          </a:prstGeom>
          <a:solidFill>
            <a:srgbClr val="FFEDED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181051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C2222"/>
                </a:solidFill>
                <a:latin typeface="メイリオ"/>
              </a:rPr>
              <a:t>REG BONUS
（シナリオ+1）</a:t>
            </a:r>
          </a:p>
        </p:txBody>
      </p:sp>
      <p:sp>
        <p:nvSpPr>
          <p:cNvPr id="34" name="Cube 33"/>
          <p:cNvSpPr/>
          <p:nvPr/>
        </p:nvSpPr>
        <p:spPr>
          <a:xfrm>
            <a:off x="1527048" y="2077128"/>
            <a:ext cx="200000" cy="180000"/>
          </a:xfrm>
          <a:prstGeom prst="cube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5448" y="1810512"/>
            <a:ext cx="1371600" cy="713232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448" y="1810512"/>
            <a:ext cx="1371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7A3F"/>
                </a:solidFill>
                <a:latin typeface="メイリオ"/>
              </a:rPr>
              <a:t>BIG再当選
→ループ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" y="2779776"/>
            <a:ext cx="2788920" cy="932688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168" y="2819776"/>
            <a:ext cx="2718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C7A3F"/>
                </a:solidFill>
                <a:latin typeface="メイリオ"/>
              </a:rPr>
              <a:t>SBJループ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168" y="3079776"/>
            <a:ext cx="2718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408"/>
                </a:solidFill>
                <a:latin typeface="メイリオ"/>
              </a:rPr>
              <a:t>BIG→RC高確→RC→ST
→BIG のループが出玉の核心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2779776"/>
            <a:ext cx="2788920" cy="932688"/>
          </a:xfrm>
          <a:prstGeom prst="rect">
            <a:avLst/>
          </a:prstGeom>
          <a:solidFill>
            <a:srgbClr val="FFEEF5"/>
          </a:solidFill>
          <a:ln w="19050">
            <a:solidFill>
              <a:srgbClr val="DD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95536" y="2819776"/>
            <a:ext cx="2718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D3388"/>
                </a:solidFill>
                <a:latin typeface="メイリオ"/>
              </a:rPr>
              <a:t>RC 2段構え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95536" y="3079776"/>
            <a:ext cx="2718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408"/>
                </a:solidFill>
                <a:latin typeface="メイリオ"/>
              </a:rPr>
              <a:t>前半：カード昇格期待
後半：報酬確定の2ドキドキ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9904" y="2779776"/>
            <a:ext cx="2788920" cy="932688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9904" y="2819776"/>
            <a:ext cx="2718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9015"/>
                </a:solidFill>
                <a:latin typeface="メイリオ"/>
              </a:rPr>
              <a:t>ジョーカーモード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9904" y="3079776"/>
            <a:ext cx="2718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408"/>
                </a:solidFill>
                <a:latin typeface="メイリオ"/>
              </a:rPr>
              <a:t>RC3回→金BAR→SST頻発
エンディングから確定突入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【設計】BIG→ループ型連チャン。REGはシナリオカウンター（3回→金BAR昇格）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差枚数2000枚完走でエンディング移行→ジョーカーモード確定。有利区間管理が鍵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4864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8000"/>
            <a:ext cx="6858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3F"/>
                </a:solidFill>
                <a:latin typeface="游明朝"/>
              </a:rPr>
              <a:t>通常時の遊び方 ── 初当りへの3ルート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570"/>
                </a:solidFill>
                <a:latin typeface="メイリオ"/>
              </a:rPr>
              <a:t>3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8640"/>
            <a:ext cx="9144000" cy="6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713232"/>
            <a:ext cx="2743200" cy="2971800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713232"/>
            <a:ext cx="2743200" cy="58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168" y="783232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7A3F"/>
                </a:solidFill>
                <a:latin typeface="メイリオ"/>
              </a:rPr>
              <a:t>①チャンス役ルート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168" y="1053232"/>
            <a:ext cx="246888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408"/>
                </a:solidFill>
                <a:latin typeface="メイリオ"/>
              </a:rPr>
              <a:t>スイカ・チェリーなどのチャンス役で
ボーナス高確への移行を抽選
スイカは天井カウンターにもなる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168" y="2273232"/>
            <a:ext cx="2468880" cy="330000"/>
          </a:xfrm>
          <a:prstGeom prst="rect">
            <a:avLst/>
          </a:prstGeom>
          <a:solidFill>
            <a:srgbClr val="F8F4EC"/>
          </a:solidFill>
          <a:ln w="1016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68" y="2293232"/>
            <a:ext cx="23774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040"/>
                </a:solidFill>
                <a:latin typeface="メイリオ"/>
              </a:rPr>
              <a:t>最もオーソドックスな突入ルート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713232"/>
            <a:ext cx="2743200" cy="2971800"/>
          </a:xfrm>
          <a:prstGeom prst="rect">
            <a:avLst/>
          </a:prstGeom>
          <a:solidFill>
            <a:srgbClr val="FFEDED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2968" y="713232"/>
            <a:ext cx="2743200" cy="58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2968" y="783232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メイリオ"/>
              </a:rPr>
              <a:t>②小役連続ルート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2968" y="1053232"/>
            <a:ext cx="246888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408"/>
                </a:solidFill>
                <a:latin typeface="メイリオ"/>
              </a:rPr>
              <a:t>通常時に小役が複数回連続すると
高確率状態（ボーナス高確）に移行
設定が高いほど移行率がUP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2968" y="2273232"/>
            <a:ext cx="2468880" cy="330000"/>
          </a:xfrm>
          <a:prstGeom prst="rect">
            <a:avLst/>
          </a:prstGeom>
          <a:solidFill>
            <a:srgbClr val="F8F4EC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2968" y="2293232"/>
            <a:ext cx="23774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040"/>
                </a:solidFill>
                <a:latin typeface="メイリオ"/>
              </a:rPr>
              <a:t>設定判別の重要指標でもある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713232"/>
            <a:ext cx="2743200" cy="2971800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713232"/>
            <a:ext cx="2743200" cy="58000"/>
          </a:xfrm>
          <a:prstGeom prst="rect">
            <a:avLst/>
          </a:prstGeom>
          <a:solidFill>
            <a:srgbClr val="BB9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4768" y="783232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9015"/>
                </a:solidFill>
                <a:latin typeface="メイリオ"/>
              </a:rPr>
              <a:t>③ゲーム数天井ルート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4768" y="1053232"/>
            <a:ext cx="246888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408"/>
                </a:solidFill>
                <a:latin typeface="メイリオ"/>
              </a:rPr>
              <a:t>BIG間999G消化でBIG確定
スイカ規定回数到達でSTに直撃
スイカ天井が狙い目の核心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4768" y="2273232"/>
            <a:ext cx="2468880" cy="330000"/>
          </a:xfrm>
          <a:prstGeom prst="rect">
            <a:avLst/>
          </a:prstGeom>
          <a:solidFill>
            <a:srgbClr val="F8F4EC"/>
          </a:solidFill>
          <a:ln w="1016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4768" y="2293232"/>
            <a:ext cx="23774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040"/>
                </a:solidFill>
                <a:latin typeface="メイリオ"/>
              </a:rPr>
              <a:t>低設定でも拾える狙い目ルート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3813048"/>
            <a:ext cx="8778240" cy="680000"/>
          </a:xfrm>
          <a:prstGeom prst="rect">
            <a:avLst/>
          </a:prstGeom>
          <a:solidFill>
            <a:srgbClr val="ECF8F2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84048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7A3F"/>
                </a:solidFill>
                <a:latin typeface="メイリオ"/>
              </a:rPr>
              <a:t>BIG BONUS 2種類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096512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408"/>
                </a:solidFill>
                <a:latin typeface="メイリオ"/>
              </a:rPr>
              <a:t>青7揃い BIG（300枚払い出し）→ RC高確確定・SBJループ突入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096512"/>
            <a:ext cx="44805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2222"/>
                </a:solidFill>
                <a:latin typeface="メイリオ"/>
              </a:rPr>
              <a:t>赤7揃い BIG（100枚払い出し）→ RC高確移行・ループ期待度やや低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【設計】通常時は「いかに早くBIGを引くか」に集約。スイカ天井はAT直撃（ST）で中間狙いも有効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高確移行ルートを複数設けることで単調さを回避。設定判別は小役連続率が重要指標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4864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8000"/>
            <a:ext cx="6858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3F"/>
                </a:solidFill>
                <a:latin typeface="游明朝"/>
              </a:rPr>
              <a:t>リオチャンス（RC）の仕組み ── 2段構えの体験設計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570"/>
                </a:solidFill>
                <a:latin typeface="メイリオ"/>
              </a:rPr>
              <a:t>4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8640"/>
            <a:ext cx="9144000" cy="6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4160520" cy="2514600"/>
          </a:xfrm>
          <a:prstGeom prst="rect">
            <a:avLst/>
          </a:prstGeom>
          <a:solidFill>
            <a:srgbClr val="FFEEF5"/>
          </a:solidFill>
          <a:ln w="25400">
            <a:solidFill>
              <a:srgbClr val="DD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685800"/>
            <a:ext cx="4160520" cy="58000"/>
          </a:xfrm>
          <a:prstGeom prst="rect">
            <a:avLst/>
          </a:prstGeom>
          <a:solidFill>
            <a:srgbClr val="DD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49808"/>
            <a:ext cx="39319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D3388"/>
                </a:solidFill>
                <a:latin typeface="メイリオ"/>
              </a:rPr>
              <a:t>前半パート ── カード昇格抽選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393192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408"/>
                </a:solidFill>
                <a:latin typeface="メイリオ"/>
              </a:rPr>
              <a:t>カードをめくる演出でブラックジャック体験を再現。
● 押し順ベル約1/2で昇格チャンス発生
● レア役（スイカ・チェリー）→ 超昇格の大チャンス
● シナリオ14種 → 最終的な報酬グレードを決定
昇格: REG → エピソードBONUS → BIG の3段階</a:t>
            </a:r>
          </a:p>
        </p:txBody>
      </p:sp>
      <p:sp>
        <p:nvSpPr>
          <p:cNvPr id="12" name="Can 11"/>
          <p:cNvSpPr/>
          <p:nvPr/>
        </p:nvSpPr>
        <p:spPr>
          <a:xfrm>
            <a:off x="4361688" y="1853100"/>
            <a:ext cx="200000" cy="180000"/>
          </a:xfrm>
          <a:prstGeom prst="can">
            <a:avLst/>
          </a:prstGeom>
          <a:solidFill>
            <a:srgbClr val="DD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685800"/>
            <a:ext cx="4251960" cy="2514600"/>
          </a:xfrm>
          <a:prstGeom prst="rect">
            <a:avLst/>
          </a:prstGeom>
          <a:solidFill>
            <a:srgbClr val="FFEDED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685800"/>
            <a:ext cx="4251960" cy="58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749808"/>
            <a:ext cx="39319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C2222"/>
                </a:solidFill>
                <a:latin typeface="メイリオ"/>
              </a:rPr>
              <a:t>後半パート ── ジャッジ（報酬確定）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097280"/>
            <a:ext cx="393192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408"/>
                </a:solidFill>
                <a:latin typeface="メイリオ"/>
              </a:rPr>
              <a:t>「狙えカットイン」のタイミングで報酬が確定する。
● 狙え役を外す → 1段階さらに昇格（逆転演出！）
● 周回ごとに報酬グレードが上がる仕組み
● 報酬種別 → ST突入・SST突入・BIG確定 に分岐
「外れた＝嬉しい」という逆転心理設計が秀逸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337560"/>
            <a:ext cx="2743200" cy="1115568"/>
          </a:xfrm>
          <a:prstGeom prst="rect">
            <a:avLst/>
          </a:prstGeom>
          <a:solidFill>
            <a:srgbClr val="ECFFF5"/>
          </a:solidFill>
          <a:ln w="19050">
            <a:solidFill>
              <a:srgbClr val="11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168" y="3377560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9966"/>
                </a:solidFill>
                <a:latin typeface="メイリオ"/>
              </a:rPr>
              <a:t>ストックタイム（ST）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168" y="3647560"/>
            <a:ext cx="24688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50G〜777G継続　リプ・レア役でRC抽選
平均ストック数: 約2個　50Gごとに放出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72968" y="3337560"/>
            <a:ext cx="2743200" cy="1115568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2968" y="3377560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9015"/>
                </a:solidFill>
                <a:latin typeface="メイリオ"/>
              </a:rPr>
              <a:t>スーパーストックタイム（SST）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2968" y="3647560"/>
            <a:ext cx="24688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100G+α　純増約5.1枚/G　500枚超可能
RC大量ストック→放出で爆発力抜群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337560"/>
            <a:ext cx="2743200" cy="1115568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4768" y="3377560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C7A3F"/>
                </a:solidFill>
                <a:latin typeface="メイリオ"/>
              </a:rPr>
              <a:t>RC3回→金BAR昇格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4768" y="3647560"/>
            <a:ext cx="24688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REGをRCで3回引くと金BARシナリオへ
4回目のREG→ジョーカーモード大チャンス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【設計】「カードをめくって昇格確認」→「外れたら逆転」の2段ドキドキ構造が核心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前半で昇格を期待、後半で確定確認。1回のRCに2つの感情ピークを設計した稀有な構造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4864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8000"/>
            <a:ext cx="6858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3F"/>
                </a:solidFill>
                <a:latin typeface="游明朝"/>
              </a:rPr>
              <a:t>AT/ボーナス ── 出玉が伸びる仕組み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570"/>
                </a:solidFill>
                <a:latin typeface="メイリオ"/>
              </a:rPr>
              <a:t>5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8640"/>
            <a:ext cx="9144000" cy="6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2011680" cy="1325880"/>
          </a:xfrm>
          <a:prstGeom prst="rect">
            <a:avLst/>
          </a:prstGeom>
          <a:solidFill>
            <a:srgbClr val="FEFAEA"/>
          </a:solidFill>
          <a:ln w="2540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1323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B9015"/>
                </a:solidFill>
                <a:latin typeface="メイリオ"/>
              </a:rPr>
              <a:t>BIG BONUS
青7/赤7</a:t>
            </a:r>
          </a:p>
        </p:txBody>
      </p:sp>
      <p:sp>
        <p:nvSpPr>
          <p:cNvPr id="10" name="Can 9"/>
          <p:cNvSpPr/>
          <p:nvPr/>
        </p:nvSpPr>
        <p:spPr>
          <a:xfrm>
            <a:off x="2286000" y="1286172"/>
            <a:ext cx="200000" cy="180000"/>
          </a:xfrm>
          <a:prstGeom prst="can">
            <a:avLst/>
          </a:prstGeom>
          <a:solidFill>
            <a:srgbClr val="BB9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713232"/>
            <a:ext cx="2011680" cy="1325880"/>
          </a:xfrm>
          <a:prstGeom prst="rect">
            <a:avLst/>
          </a:prstGeom>
          <a:solidFill>
            <a:srgbClr val="ECF8F2"/>
          </a:solidFill>
          <a:ln w="254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71323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C7A3F"/>
                </a:solidFill>
                <a:latin typeface="メイリオ"/>
              </a:rPr>
              <a:t>RC高確
（ループ土台）</a:t>
            </a:r>
          </a:p>
        </p:txBody>
      </p:sp>
      <p:sp>
        <p:nvSpPr>
          <p:cNvPr id="13" name="Can 12"/>
          <p:cNvSpPr/>
          <p:nvPr/>
        </p:nvSpPr>
        <p:spPr>
          <a:xfrm>
            <a:off x="4498848" y="1286172"/>
            <a:ext cx="200000" cy="180000"/>
          </a:xfrm>
          <a:prstGeom prst="can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0016" y="713232"/>
            <a:ext cx="2011680" cy="1325880"/>
          </a:xfrm>
          <a:prstGeom prst="rect">
            <a:avLst/>
          </a:prstGeom>
          <a:solidFill>
            <a:srgbClr val="FFEEF5"/>
          </a:solidFill>
          <a:ln w="25400">
            <a:solidFill>
              <a:srgbClr val="DD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71323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D3388"/>
                </a:solidFill>
                <a:latin typeface="メイリオ"/>
              </a:rPr>
              <a:t>リオチャンス
（RC）</a:t>
            </a:r>
          </a:p>
        </p:txBody>
      </p:sp>
      <p:sp>
        <p:nvSpPr>
          <p:cNvPr id="16" name="Can 15"/>
          <p:cNvSpPr/>
          <p:nvPr/>
        </p:nvSpPr>
        <p:spPr>
          <a:xfrm>
            <a:off x="6711696" y="1286172"/>
            <a:ext cx="200000" cy="180000"/>
          </a:xfrm>
          <a:prstGeom prst="can">
            <a:avLst/>
          </a:prstGeom>
          <a:solidFill>
            <a:srgbClr val="DD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12864" y="713232"/>
            <a:ext cx="2011680" cy="1325880"/>
          </a:xfrm>
          <a:prstGeom prst="rect">
            <a:avLst/>
          </a:prstGeom>
          <a:solidFill>
            <a:srgbClr val="ECFFF5"/>
          </a:solidFill>
          <a:ln w="25400">
            <a:solidFill>
              <a:srgbClr val="11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12864" y="71323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9966"/>
                </a:solidFill>
                <a:latin typeface="メイリオ"/>
              </a:rPr>
              <a:t>ストックタイム
（ST/SST）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240280"/>
            <a:ext cx="84124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C7A3F"/>
                </a:solidFill>
                <a:latin typeface="メイリオ"/>
              </a:rPr>
              <a:t>↑ RCをストックして放出 → BIG当選 → RC高確継続 → SBJループ繰り返し 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2560320"/>
            <a:ext cx="2743200" cy="1828800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168" y="2633472"/>
            <a:ext cx="24688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7A3F"/>
                </a:solidFill>
                <a:latin typeface="メイリオ"/>
              </a:rPr>
              <a:t>RC高確維持が最重要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168" y="2944368"/>
            <a:ext cx="246888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BIG後は必ずRC高確移行。
RC高確中のボーナス当選でRC突入。
RC高確が続く限りループは継続する。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2968" y="2560320"/>
            <a:ext cx="2743200" cy="1828800"/>
          </a:xfrm>
          <a:prstGeom prst="rect">
            <a:avLst/>
          </a:prstGeom>
          <a:solidFill>
            <a:srgbClr val="FFEDED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2968" y="2633472"/>
            <a:ext cx="24688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メイリオ"/>
              </a:rPr>
              <a:t>RCでの報酬昇格を狙う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2968" y="2944368"/>
            <a:ext cx="246888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RC前半のカード演出でBIG昇格が理想。
BIG獲得→ST移行→大量RC放出で爆発。
REGはシナリオカウンター（3回→金BAR）。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560320"/>
            <a:ext cx="2743200" cy="1828800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4768" y="2633472"/>
            <a:ext cx="24688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9015"/>
                </a:solidFill>
                <a:latin typeface="メイリオ"/>
              </a:rPr>
              <a:t>SSTで一気に積む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4768" y="2944368"/>
            <a:ext cx="246888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SSTは純増5.1枚×100G以上で500枚超。
ジョーカーモード中はSST頻発。
エンディングまで駆け抜ければ最高。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【設計】「ST中にRCをどれだけストックできるか」が1セットの出玉規模を決める核心変数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純増5.1枚のSSTを何度引けるかが連チャンの深さを左右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4864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8000"/>
            <a:ext cx="6858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3F"/>
                </a:solidFill>
                <a:latin typeface="游明朝"/>
              </a:rPr>
              <a:t>上位ATへの道 ── ジョーカーモード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570"/>
                </a:solidFill>
                <a:latin typeface="メイリオ"/>
              </a:rPr>
              <a:t>6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8640"/>
            <a:ext cx="9144000" cy="6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8778240" cy="960120"/>
          </a:xfrm>
          <a:prstGeom prst="rect">
            <a:avLst/>
          </a:prstGeom>
          <a:solidFill>
            <a:srgbClr val="FEFAEA"/>
          </a:solidFill>
          <a:ln w="2540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9015"/>
                </a:solidFill>
                <a:latin typeface="メイリオ"/>
              </a:rPr>
              <a:t>ジョーカーモード：RC高確のロングバージョン。滞在中はSST当選率が大幅UP。ジョーカーランプ（筐体上部）が点灯で滞在濃厚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55648"/>
            <a:ext cx="822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9015"/>
                </a:solidFill>
                <a:latin typeface="メイリオ"/>
              </a:rPr>
              <a:t>ジョーカーモード 突入条件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121408"/>
            <a:ext cx="4206240" cy="1097280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2121408"/>
            <a:ext cx="55000" cy="109728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68" y="2171408"/>
            <a:ext cx="3840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7A3F"/>
                </a:solidFill>
                <a:latin typeface="メイリオ"/>
              </a:rPr>
              <a:t>①エンディング後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168" y="2441408"/>
            <a:ext cx="384048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エンディングボーナス（差枚数2000枚完走）終了後
→ ジョーカーモード確定移行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7" y="2121408"/>
            <a:ext cx="4206240" cy="1097280"/>
          </a:xfrm>
          <a:prstGeom prst="rect">
            <a:avLst/>
          </a:prstGeom>
          <a:solidFill>
            <a:srgbClr val="FFEDED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36007" y="2121408"/>
            <a:ext cx="55000" cy="10972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6007" y="2171408"/>
            <a:ext cx="3840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メイリオ"/>
              </a:rPr>
              <a:t>②スペシャルエピソードBONUS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6007" y="2441408"/>
            <a:ext cx="384048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RC経由のREGを3回引いて金BARシナリオ昇格後
4回目のREG（スペシャルエピソード発生）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355848"/>
            <a:ext cx="4206240" cy="1097280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355848"/>
            <a:ext cx="55000" cy="1097280"/>
          </a:xfrm>
          <a:prstGeom prst="rect">
            <a:avLst/>
          </a:prstGeom>
          <a:solidFill>
            <a:srgbClr val="BB9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168" y="3405848"/>
            <a:ext cx="3840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9015"/>
                </a:solidFill>
                <a:latin typeface="メイリオ"/>
              </a:rPr>
              <a:t>③有利区間リセット時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168" y="3675848"/>
            <a:ext cx="384048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有利区間リセット（設定変更除く）
→ 必ずジョーカーモード突入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7" y="3355848"/>
            <a:ext cx="4206240" cy="1097280"/>
          </a:xfrm>
          <a:prstGeom prst="rect">
            <a:avLst/>
          </a:prstGeom>
          <a:solidFill>
            <a:srgbClr val="ECFFF5"/>
          </a:solidFill>
          <a:ln w="19050">
            <a:solidFill>
              <a:srgbClr val="11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7" y="3355848"/>
            <a:ext cx="55000" cy="1097280"/>
          </a:xfrm>
          <a:prstGeom prst="rect">
            <a:avLst/>
          </a:prstGeom>
          <a:solidFill>
            <a:srgbClr val="11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6007" y="3405848"/>
            <a:ext cx="3840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9966"/>
                </a:solidFill>
                <a:latin typeface="メイリオ"/>
              </a:rPr>
              <a:t>④その他の条件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6007" y="3675848"/>
            <a:ext cx="384048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金BAR獲得 / RC高確中に差枚2000枚でRC当選
/ 有利区間差枚1800枚でRC当選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【設計】ジョーカーモードはSST頻発モード。RC3回→金BAR→スペシャルエピソードが最短ルート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ランプ消灯でも滞在継続の可能性あり。ジョーカーモード中REG引くと次RCに必ずSST出現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4864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8000"/>
            <a:ext cx="6858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3F"/>
                </a:solidFill>
                <a:latin typeface="游明朝"/>
              </a:rPr>
              <a:t>面白さの設計 ── カードゲーム×女の子×パチスロの融合がなぜ機能するか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570"/>
                </a:solidFill>
                <a:latin typeface="メイリオ"/>
              </a:rPr>
              <a:t>7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8640"/>
            <a:ext cx="9144000" cy="6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914400" cy="54864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Part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777240"/>
            <a:ext cx="4206240" cy="1554480"/>
          </a:xfrm>
          <a:prstGeom prst="rect">
            <a:avLst/>
          </a:prstGeom>
          <a:solidFill>
            <a:srgbClr val="FFEEF5"/>
          </a:solidFill>
          <a:ln w="19050">
            <a:solidFill>
              <a:srgbClr val="DD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777240"/>
            <a:ext cx="55000" cy="1554480"/>
          </a:xfrm>
          <a:prstGeom prst="rect">
            <a:avLst/>
          </a:prstGeom>
          <a:solidFill>
            <a:srgbClr val="DD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168" y="83224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D3388"/>
                </a:solidFill>
                <a:latin typeface="メイリオ"/>
              </a:rPr>
              <a:t>キャラクター演出設計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168" y="1117240"/>
            <a:ext cx="3840480" cy="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リオ・ミント・リナが各フェーズを担当。
「誰が出るか」でゲーム状態を直感的に判断できる。
華やかさとゲーム性が一体化した演出設計。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7" y="777240"/>
            <a:ext cx="4206240" cy="1554480"/>
          </a:xfrm>
          <a:prstGeom prst="rect">
            <a:avLst/>
          </a:prstGeom>
          <a:solidFill>
            <a:srgbClr val="FFEDED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36007" y="777240"/>
            <a:ext cx="55000" cy="15544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6007" y="83224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メイリオ"/>
              </a:rPr>
              <a:t>2段階ドキドキ設計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6007" y="1117240"/>
            <a:ext cx="3840480" cy="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前半（昇格期待） × 後半（報酬確定）の2パートで
1回のRCに2つの感情ピークを設計。
「外れ＝逆転昇格」の心理的反転で常に期待が続く。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2514600"/>
            <a:ext cx="4206240" cy="1554480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2514600"/>
            <a:ext cx="55000" cy="155448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168" y="256960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7A3F"/>
                </a:solidFill>
                <a:latin typeface="メイリオ"/>
              </a:rPr>
              <a:t>ループ × カウンター設計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168" y="2854600"/>
            <a:ext cx="3840480" cy="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SBJループ（連鎖）× REGカウンター（蓄積）。
失敗が次回への期待に変換される設計。
悔しさ・損失を「次は成功する」動機に変換。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6007" y="2514600"/>
            <a:ext cx="4206240" cy="1554480"/>
          </a:xfrm>
          <a:prstGeom prst="rect">
            <a:avLst/>
          </a:prstGeom>
          <a:solidFill>
            <a:srgbClr val="FEFAEA"/>
          </a:solidFill>
          <a:ln w="1905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36007" y="2514600"/>
            <a:ext cx="55000" cy="1554480"/>
          </a:xfrm>
          <a:prstGeom prst="rect">
            <a:avLst/>
          </a:prstGeom>
          <a:solidFill>
            <a:srgbClr val="BB9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6007" y="256960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9015"/>
                </a:solidFill>
                <a:latin typeface="メイリオ"/>
              </a:rPr>
              <a:t>4号機リメイクの情緒価値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6007" y="2854600"/>
            <a:ext cx="3840480" cy="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原作プレイヤーへのノスタルジー。
リオチャンス・ストックタイムの名称を踏襲し親近感。
新規層には新鮮、経験者には懐かしい二重訴求。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【設計】「カジノのダーク」ではなく「女の子が活躍する華やか台」としての世界観構築が差別化の核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BJ演出の知的緊張感 × キャラの明るさ × ループの高揚感を三位一体で設計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4864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8000"/>
            <a:ext cx="6858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3F"/>
                </a:solidFill>
                <a:latin typeface="游明朝"/>
              </a:rPr>
              <a:t>良い点と課題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570"/>
                </a:solidFill>
                <a:latin typeface="メイリオ"/>
              </a:rPr>
              <a:t>8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8640"/>
            <a:ext cx="9144000" cy="6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4251960" cy="3749039"/>
          </a:xfrm>
          <a:prstGeom prst="rect">
            <a:avLst/>
          </a:prstGeom>
          <a:solidFill>
            <a:srgbClr val="ECF8F2"/>
          </a:solidFill>
          <a:ln w="254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685800"/>
            <a:ext cx="4251960" cy="65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749808"/>
            <a:ext cx="3931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A3F"/>
                </a:solidFill>
                <a:latin typeface="メイリオ"/>
              </a:rPr>
              <a:t>良い点（Pros）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15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BJ演出＋女の子キャラで「見ていて楽しい」台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4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RC2段構えで1回の当選体験の密度が高い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3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SBJループの連鎖性が高く「次もある」期待を持続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32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ジョーカーモードという明確な上位状態で目標設定しやすい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71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4号機リメイクによる情緒価値・二重訴求（新旧ユーザー）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10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天井・スイカ天井で狙い目が明確。立ち回りしやすさ◎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49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スペック（機械割）は設定5で110%・高設定は十分な性能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685800"/>
            <a:ext cx="4315968" cy="3749039"/>
          </a:xfrm>
          <a:prstGeom prst="rect">
            <a:avLst/>
          </a:prstGeom>
          <a:solidFill>
            <a:srgbClr val="FFEDED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685800"/>
            <a:ext cx="4315968" cy="65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749808"/>
            <a:ext cx="3931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メイリオ"/>
              </a:rPr>
              <a:t>課題（Cons）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115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低設定は初当り確率が重く「何もできない」体験になりやすい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158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BIGを引けないとループが始まらない完全ボーナス依存設計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01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RC昇格なしのREGは出玉貢献が低く、連続で引くと消化感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244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SBJループは理解するまでゲームフローが複雑に見える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287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ジョーカーモードの認識にランプ依存（演出上の分かりにくさ）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330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408"/>
                </a:solidFill>
                <a:latin typeface="メイリオ"/>
              </a:rPr>
              <a:t>● BJ要素が「演出」止まりで実際の戦略性はない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【設計】高設定での爆発力・BJ演出の新鮮さはBRONZE受賞に値するが、低設定での体験改善が普及の鍵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「女の子が活躍する」世界観の認知が広まれば若年層・女性層への訴求力も上がる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4864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8000"/>
            <a:ext cx="6858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3F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570"/>
                </a:solidFill>
                <a:latin typeface="メイリオ"/>
              </a:rPr>
              <a:t>9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8640"/>
            <a:ext cx="9144000" cy="6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8778240" cy="822960"/>
          </a:xfrm>
          <a:prstGeom prst="rect">
            <a:avLst/>
          </a:prstGeom>
          <a:solidFill>
            <a:srgbClr val="FEFAEA"/>
          </a:solidFill>
          <a:ln w="25400">
            <a:solidFill>
              <a:srgbClr val="BB90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9015"/>
                </a:solidFill>
                <a:latin typeface="メイリオ"/>
              </a:rPr>
              <a:t>スマスロ SBJは「他ジャンルのゲーム性をパチスロに翻訳した実践例」として
設計の教科書的価値を持つ。パチスロアワード2025 BRONZE受賞もその証左。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1600200"/>
            <a:ext cx="2743200" cy="2423160"/>
          </a:xfrm>
          <a:prstGeom prst="rect">
            <a:avLst/>
          </a:prstGeom>
          <a:solidFill>
            <a:srgbClr val="FFEEF5"/>
          </a:solidFill>
          <a:ln w="25400">
            <a:solidFill>
              <a:srgbClr val="DD3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600200"/>
            <a:ext cx="2743200" cy="55000"/>
          </a:xfrm>
          <a:prstGeom prst="rect">
            <a:avLst/>
          </a:prstGeom>
          <a:solidFill>
            <a:srgbClr val="DD3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168" y="1665200"/>
            <a:ext cx="24688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3388"/>
                </a:solidFill>
                <a:latin typeface="メイリオ"/>
              </a:rPr>
              <a:t>設計学び①
キャラ設計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168" y="2000200"/>
            <a:ext cx="246888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408"/>
                </a:solidFill>
                <a:latin typeface="メイリオ"/>
              </a:rPr>
              <a:t>リオ・ミント・リナで状態を視覚化。
「誰が出るか＝何が起きるか」の直感設計。
世界観とゲーム性を分離せず一体化した好例。
「女の子台」という入口で間口を広げた戦略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600200"/>
            <a:ext cx="2743200" cy="2423160"/>
          </a:xfrm>
          <a:prstGeom prst="rect">
            <a:avLst/>
          </a:prstGeom>
          <a:solidFill>
            <a:srgbClr val="FFEDED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2968" y="1600200"/>
            <a:ext cx="2743200" cy="55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2968" y="1665200"/>
            <a:ext cx="24688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メイリオ"/>
              </a:rPr>
              <a:t>設計学び②
感情ピーク2段化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2968" y="2000200"/>
            <a:ext cx="246888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408"/>
                </a:solidFill>
                <a:latin typeface="メイリオ"/>
              </a:rPr>
              <a:t>前半（昇格期待）× 後半（報酬確定）の2段階。
「外れ＝逆転昇格」の心理反転も組み込み。
1回の当選に複数の感情ピークを設計する手法は
様々なゲームジャンルに応用可能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600200"/>
            <a:ext cx="2743200" cy="2423160"/>
          </a:xfrm>
          <a:prstGeom prst="rect">
            <a:avLst/>
          </a:prstGeom>
          <a:solidFill>
            <a:srgbClr val="ECF8F2"/>
          </a:solidFill>
          <a:ln w="2540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600200"/>
            <a:ext cx="2743200" cy="5500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4768" y="1665200"/>
            <a:ext cx="24688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C7A3F"/>
                </a:solidFill>
                <a:latin typeface="メイリオ"/>
              </a:rPr>
              <a:t>設計学び③
ループ×カウンター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4768" y="2000200"/>
            <a:ext cx="246888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408"/>
                </a:solidFill>
                <a:latin typeface="メイリオ"/>
              </a:rPr>
              <a:t>SBJループ（連鎖）× REGカウンター（蓄積）。
「失敗が次回への期待に変換される」設計は
プレイヤーのモチベーション維持に直結。
悔しさ・損失を動機に変える心理工学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178808"/>
            <a:ext cx="8778240" cy="340000"/>
          </a:xfrm>
          <a:prstGeom prst="rect">
            <a:avLst/>
          </a:prstGeom>
          <a:solidFill>
            <a:srgbClr val="ECF8F2"/>
          </a:solidFill>
          <a:ln w="19050">
            <a:solidFill>
              <a:srgbClr val="0C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15384"/>
            <a:ext cx="84124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C7A3F"/>
                </a:solidFill>
                <a:latin typeface="メイリオ"/>
              </a:rPr>
              <a:t>総合：華やかキャラ×BJ演出×ループ爆発力の三位一体。カジノの重い印象を女の子の活躍で払拭し、幅広いプレイヤーに訴求した意欲作。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C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メイリオ"/>
              </a:rPr>
              <a:t>【設計】「キャラ設計×感情2段化×ループカウンター」の3軸設計がSBJの本質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CCFFDD"/>
                </a:solidFill>
                <a:latin typeface="メイリオ"/>
              </a:rPr>
              <a:t>4号機リメイクという情緒的入口と、スマスロの現代設計の両立が2025年のBRONZE評価を獲得した要因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570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