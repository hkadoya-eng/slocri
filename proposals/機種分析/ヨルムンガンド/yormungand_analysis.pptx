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20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1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3268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4DD66"/>
                </a:solidFill>
                <a:latin typeface="游明朝"/>
              </a:rPr>
              <a:t>スマスロ
ヨルムンガンド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651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C0A0"/>
                </a:solidFill>
                <a:latin typeface="游明朝"/>
              </a:rPr>
              <a:t>── 高性能POと低評価の乖離を解剖する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20040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メーカー：山佐（YAMASA）　　導入：2026年3月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493008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設定：1〜6段階　　AT純増：約2.4枚/G（通常AT）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785615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PO純増：約5.0枚/G　　PO初期G数：50G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640080"/>
            <a:ext cx="3749039" cy="1143000"/>
          </a:xfrm>
          <a:prstGeom prst="rect">
            <a:avLst/>
          </a:prstGeom>
          <a:solidFill>
            <a:srgbClr val="08180C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640080"/>
            <a:ext cx="60000" cy="1143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69508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AA44"/>
                </a:solidFill>
                <a:latin typeface="游明朝"/>
              </a:rPr>
              <a:t>ヨルムンガンドラッシュ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01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基本AT
ストーリーCZ経由で継続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57400"/>
            <a:ext cx="3749039" cy="1143000"/>
          </a:xfrm>
          <a:prstGeom prst="rect">
            <a:avLst/>
          </a:prstGeom>
          <a:solidFill>
            <a:srgbClr val="08180C"/>
          </a:solidFill>
          <a:ln w="2540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60000" cy="1143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1240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CDD"/>
                </a:solidFill>
                <a:latin typeface="游明朝"/>
              </a:rPr>
              <a:t>パーフェクトオーダー(PO)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純増5.0枚/G
恥の世紀でループ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474720"/>
            <a:ext cx="3749039" cy="1143000"/>
          </a:xfrm>
          <a:prstGeom prst="rect">
            <a:avLst/>
          </a:prstGeom>
          <a:solidFill>
            <a:srgbClr val="08180C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3474720"/>
            <a:ext cx="60000" cy="1143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52972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2222"/>
                </a:solidFill>
                <a:latin typeface="游明朝"/>
              </a:rPr>
              <a:t>評価の現実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4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通常時が渋すぎる
演出単調・デキレ疑惑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スペック ── 基本数値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3000000" cy="360000"/>
          </a:xfrm>
          <a:prstGeom prst="rect">
            <a:avLst/>
          </a:prstGeom>
          <a:solidFill>
            <a:srgbClr val="084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758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4DD66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320" y="758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4DD66"/>
                </a:solidFill>
                <a:latin typeface="メイリオ"/>
              </a:rPr>
              <a:t>機械割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4320" y="758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4DD66"/>
                </a:solidFill>
                <a:latin typeface="メイリオ"/>
              </a:rPr>
              <a:t>特記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73232"/>
            <a:ext cx="3000000" cy="370000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20" y="112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20" y="112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4320" y="112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43232"/>
            <a:ext cx="3000000" cy="370000"/>
          </a:xfrm>
          <a:prstGeom prst="rect">
            <a:avLst/>
          </a:prstGeom>
          <a:solidFill>
            <a:srgbClr val="0A1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320" y="149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20" y="149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4320" y="149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813232"/>
            <a:ext cx="3000000" cy="370000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320" y="186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20" y="186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4320" y="186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183232"/>
            <a:ext cx="3000000" cy="370000"/>
          </a:xfrm>
          <a:prstGeom prst="rect">
            <a:avLst/>
          </a:prstGeom>
          <a:solidFill>
            <a:srgbClr val="0A1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320" y="223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20" y="223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4320" y="223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553232"/>
            <a:ext cx="3000000" cy="370000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320" y="260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20" y="260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4320" y="260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23232"/>
            <a:ext cx="3000000" cy="370000"/>
          </a:xfrm>
          <a:prstGeom prst="rect">
            <a:avLst/>
          </a:prstGeom>
          <a:solidFill>
            <a:srgbClr val="0A1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320" y="297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4DD66"/>
                </a:solidFill>
                <a:latin typeface="メイリオ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20" y="2973232"/>
            <a:ext cx="115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2CCDD"/>
                </a:solidFill>
                <a:latin typeface="メイリオ"/>
              </a:rPr>
              <a:t>約110%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4320" y="297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設定6のみ期待値プラス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713232"/>
            <a:ext cx="4937760" cy="485000"/>
          </a:xfrm>
          <a:prstGeom prst="rect">
            <a:avLst/>
          </a:prstGeom>
          <a:solidFill>
            <a:srgbClr val="08180C"/>
          </a:solidFill>
          <a:ln w="1524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31920" y="713232"/>
            <a:ext cx="40000" cy="485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1920" y="75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44"/>
                </a:solidFill>
                <a:latin typeface="メイリオ"/>
              </a:rPr>
              <a:t>通常AT純増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1920" y="963232"/>
            <a:ext cx="4572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約2.4枚/G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1243232"/>
            <a:ext cx="4937760" cy="485000"/>
          </a:xfrm>
          <a:prstGeom prst="rect">
            <a:avLst/>
          </a:prstGeom>
          <a:solidFill>
            <a:srgbClr val="08180C"/>
          </a:solidFill>
          <a:ln w="1524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31920" y="1243232"/>
            <a:ext cx="40000" cy="485000"/>
          </a:xfrm>
          <a:prstGeom prst="rect">
            <a:avLst/>
          </a:prstGeom>
          <a:solidFill>
            <a:srgbClr val="44D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01920" y="128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4DD66"/>
                </a:solidFill>
                <a:latin typeface="メイリオ"/>
              </a:rPr>
              <a:t>通常AT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1920" y="1493232"/>
            <a:ext cx="4572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約90G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1773232"/>
            <a:ext cx="4937760" cy="485000"/>
          </a:xfrm>
          <a:prstGeom prst="rect">
            <a:avLst/>
          </a:prstGeom>
          <a:solidFill>
            <a:srgbClr val="08180C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31920" y="1773232"/>
            <a:ext cx="40000" cy="48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1920" y="181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PO純増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1920" y="2023232"/>
            <a:ext cx="4572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約5.0枚/G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2303232"/>
            <a:ext cx="4937760" cy="485000"/>
          </a:xfrm>
          <a:prstGeom prst="rect">
            <a:avLst/>
          </a:prstGeom>
          <a:solidFill>
            <a:srgbClr val="08180C"/>
          </a:solidFill>
          <a:ln w="1524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31920" y="2303232"/>
            <a:ext cx="40000" cy="485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1920" y="234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CCDD"/>
                </a:solidFill>
                <a:latin typeface="メイリオ"/>
              </a:rPr>
              <a:t>PO初期G数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1920" y="2553232"/>
            <a:ext cx="4572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50G（消化中ボーナスはBB以上濃厚）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31920" y="2833232"/>
            <a:ext cx="4937760" cy="485000"/>
          </a:xfrm>
          <a:prstGeom prst="rect">
            <a:avLst/>
          </a:prstGeom>
          <a:solidFill>
            <a:srgbClr val="08180C"/>
          </a:solidFill>
          <a:ln w="1524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31920" y="2833232"/>
            <a:ext cx="40000" cy="485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01920" y="287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AA22"/>
                </a:solidFill>
                <a:latin typeface="メイリオ"/>
              </a:rPr>
              <a:t>ループ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1920" y="3083232"/>
            <a:ext cx="4572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「恥の世紀」でPOループ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0" y="3363232"/>
            <a:ext cx="4937760" cy="485000"/>
          </a:xfrm>
          <a:prstGeom prst="rect">
            <a:avLst/>
          </a:prstGeom>
          <a:solidFill>
            <a:srgbClr val="08180C"/>
          </a:solidFill>
          <a:ln w="1524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31920" y="3363232"/>
            <a:ext cx="40000" cy="485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01920" y="340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22"/>
                </a:solidFill>
                <a:latin typeface="メイリオ"/>
              </a:rPr>
              <a:t>問題点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1920" y="3613232"/>
            <a:ext cx="4572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通常AT→PO到達率が低い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ゲームフロー ── CZ → AT → PO の構造と問題点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8595360" cy="280000"/>
          </a:xfrm>
          <a:prstGeom prst="rect">
            <a:avLst/>
          </a:prstGeom>
          <a:solidFill>
            <a:srgbClr val="0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76656"/>
            <a:ext cx="3657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2222"/>
                </a:solidFill>
                <a:latin typeface="メイリオ"/>
              </a:rPr>
              <a:t>通常時の問題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320" y="950976"/>
            <a:ext cx="2815120" cy="700000"/>
          </a:xfrm>
          <a:prstGeom prst="rect">
            <a:avLst/>
          </a:prstGeom>
          <a:solidFill>
            <a:srgbClr val="08180C"/>
          </a:solidFill>
          <a:ln w="1524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32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C2222"/>
                </a:solidFill>
                <a:latin typeface="メイリオ"/>
              </a:rPr>
              <a:t>CZ当選率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2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「通常時は当たらない」が頻出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9440" y="950976"/>
            <a:ext cx="2815120" cy="700000"/>
          </a:xfrm>
          <a:prstGeom prst="rect">
            <a:avLst/>
          </a:prstGeom>
          <a:solidFill>
            <a:srgbClr val="08180C"/>
          </a:solidFill>
          <a:ln w="1524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944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C2222"/>
                </a:solidFill>
                <a:latin typeface="メイリオ"/>
              </a:rPr>
              <a:t>ストーリーCZ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944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「デキレ感が強い」評価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4560" y="950976"/>
            <a:ext cx="2815120" cy="700000"/>
          </a:xfrm>
          <a:prstGeom prst="rect">
            <a:avLst/>
          </a:prstGeom>
          <a:solidFill>
            <a:srgbClr val="08180C"/>
          </a:solidFill>
          <a:ln w="1524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456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CAA22"/>
                </a:solidFill>
                <a:latin typeface="メイリオ"/>
              </a:rPr>
              <a:t>天井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456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（概算1000G前後）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880360"/>
            <a:ext cx="1645920" cy="1280160"/>
          </a:xfrm>
          <a:prstGeom prst="rect">
            <a:avLst/>
          </a:prstGeom>
          <a:solidFill>
            <a:srgbClr val="444466"/>
          </a:solidFill>
          <a:ln w="228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112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888AA"/>
                </a:solidFill>
                <a:latin typeface="游明朝"/>
              </a:rPr>
              <a:t>通常時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112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CZ当選を待つ
当たらないで消耗</a:t>
            </a:r>
          </a:p>
        </p:txBody>
      </p:sp>
      <p:sp>
        <p:nvSpPr>
          <p:cNvPr id="22" name="Can 21"/>
          <p:cNvSpPr/>
          <p:nvPr/>
        </p:nvSpPr>
        <p:spPr>
          <a:xfrm>
            <a:off x="2552032" y="3430440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8064" y="2880360"/>
            <a:ext cx="1645920" cy="1280160"/>
          </a:xfrm>
          <a:prstGeom prst="rect">
            <a:avLst/>
          </a:prstGeom>
          <a:solidFill>
            <a:srgbClr val="0C2010"/>
          </a:solidFill>
          <a:ln w="2286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8064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AA44"/>
                </a:solidFill>
                <a:latin typeface="游明朝"/>
              </a:rPr>
              <a:t>CZ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8064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ストーリーCZ
デキレ疑惑多数</a:t>
            </a:r>
          </a:p>
        </p:txBody>
      </p:sp>
      <p:sp>
        <p:nvSpPr>
          <p:cNvPr id="26" name="Can 25"/>
          <p:cNvSpPr/>
          <p:nvPr/>
        </p:nvSpPr>
        <p:spPr>
          <a:xfrm>
            <a:off x="4453984" y="3430440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2880360"/>
            <a:ext cx="1645920" cy="1280160"/>
          </a:xfrm>
          <a:prstGeom prst="rect">
            <a:avLst/>
          </a:prstGeom>
          <a:solidFill>
            <a:srgbClr val="082010"/>
          </a:solidFill>
          <a:ln w="22860">
            <a:solidFill>
              <a:srgbClr val="44D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0016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4DD66"/>
                </a:solidFill>
                <a:latin typeface="游明朝"/>
              </a:rPr>
              <a:t>ヨルムンガンドラッシュ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0016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通常AT
90G/2.4枚
上位を目指す</a:t>
            </a:r>
          </a:p>
        </p:txBody>
      </p:sp>
      <p:sp>
        <p:nvSpPr>
          <p:cNvPr id="30" name="Can 29"/>
          <p:cNvSpPr/>
          <p:nvPr/>
        </p:nvSpPr>
        <p:spPr>
          <a:xfrm>
            <a:off x="6355936" y="3430440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01968" y="2880360"/>
            <a:ext cx="1645920" cy="1280160"/>
          </a:xfrm>
          <a:prstGeom prst="rect">
            <a:avLst/>
          </a:prstGeom>
          <a:solidFill>
            <a:srgbClr val="041820"/>
          </a:solidFill>
          <a:ln w="2286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1968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CCDD"/>
                </a:solidFill>
                <a:latin typeface="游明朝"/>
              </a:rPr>
              <a:t>PO（パーフェクトオーダー）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1968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純増5.0枚
初期50G
BB以上確定ループ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なぜ不評なのか ── 設計課題の3層構造を解剖する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0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207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問題①：通常時の渋さ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63368"/>
            <a:ext cx="4014800" cy="1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・CZ当選率が体感で低い
・「昨今のデキレ・冷遇が可愛く見える」という実戦報告
・弱い演出がとことん弱く、当選示唆がない
・レア役を引いてもCZが入らない体験が続く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828368"/>
            <a:ext cx="4114800" cy="202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828368"/>
            <a:ext cx="45000" cy="20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32" y="287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問題②：AT中の有利区間問題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32" y="3133368"/>
            <a:ext cx="4014800" cy="1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・大量獲得後に有利区間上限でエンディング強制
・「上位AT中に残り2000枚でエンディングは虚無」という評価
・出玉が伸びるほど終わりが近づく矛盾した設計体験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58368"/>
            <a:ext cx="4297680" cy="207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658368"/>
            <a:ext cx="45000" cy="207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7000" y="7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問題③：ストーリーCZのデキレ感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7000" y="963368"/>
            <a:ext cx="4197680" cy="1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・ストーリーCZが「シナリオで結果が決まっている」と感じさせる
・自力感のない演出進行
・「当たる気がしない演出が続く」という消耗体験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28368"/>
            <a:ext cx="4297680" cy="2020000"/>
          </a:xfrm>
          <a:prstGeom prst="rect">
            <a:avLst/>
          </a:prstGeom>
          <a:solidFill>
            <a:srgbClr val="041820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828368"/>
            <a:ext cx="45000" cy="202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7000" y="287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DD"/>
                </a:solidFill>
                <a:latin typeface="游明朝"/>
              </a:rPr>
              <a:t>PO自体の性能は高い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7000" y="3133368"/>
            <a:ext cx="4197680" cy="1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・POは純増5.0枚/Gで性能は十分
・恥の世紀ループで継続率も悪くない
・問題は「到達できない」こと
・高性能だが誰も見られない「幻のスペック」化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ゲーム体験のギャップ ── 設計意図と実態の乖離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1645920" cy="1350000"/>
          </a:xfrm>
          <a:prstGeom prst="rect">
            <a:avLst/>
          </a:prstGeom>
          <a:solidFill>
            <a:srgbClr val="0C2010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880" y="718368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AA44"/>
                </a:solidFill>
                <a:latin typeface="游明朝"/>
              </a:rPr>
              <a:t>通常時（理想）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880" y="1118368"/>
            <a:ext cx="15909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CZ演出で盛り上がり
AT突入への期待が高まる</a:t>
            </a:r>
          </a:p>
        </p:txBody>
      </p:sp>
      <p:sp>
        <p:nvSpPr>
          <p:cNvPr id="11" name="Can 10"/>
          <p:cNvSpPr/>
          <p:nvPr/>
        </p:nvSpPr>
        <p:spPr>
          <a:xfrm>
            <a:off x="1908800" y="124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7984" y="658368"/>
            <a:ext cx="1645920" cy="135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7984" y="718368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2222"/>
                </a:solidFill>
                <a:latin typeface="游明朝"/>
              </a:rPr>
              <a:t>通常時（現実）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2984" y="1118368"/>
            <a:ext cx="15909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弱い演出が続く
当たらずに消耗する</a:t>
            </a:r>
          </a:p>
        </p:txBody>
      </p:sp>
      <p:sp>
        <p:nvSpPr>
          <p:cNvPr id="15" name="Can 14"/>
          <p:cNvSpPr/>
          <p:nvPr/>
        </p:nvSpPr>
        <p:spPr>
          <a:xfrm>
            <a:off x="3883904" y="124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3088" y="658368"/>
            <a:ext cx="1645920" cy="1350000"/>
          </a:xfrm>
          <a:prstGeom prst="rect">
            <a:avLst/>
          </a:prstGeom>
          <a:solidFill>
            <a:srgbClr val="041820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3088" y="718368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CDD"/>
                </a:solidFill>
                <a:latin typeface="游明朝"/>
              </a:rPr>
              <a:t>PO（理想）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8088" y="1118368"/>
            <a:ext cx="15909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純増5枚の爆発感
恥の世紀でループする快感</a:t>
            </a:r>
          </a:p>
        </p:txBody>
      </p:sp>
      <p:sp>
        <p:nvSpPr>
          <p:cNvPr id="19" name="Can 18"/>
          <p:cNvSpPr/>
          <p:nvPr/>
        </p:nvSpPr>
        <p:spPr>
          <a:xfrm>
            <a:off x="5859008" y="1243368"/>
            <a:ext cx="200000" cy="18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658368"/>
            <a:ext cx="1645920" cy="1350000"/>
          </a:xfrm>
          <a:prstGeom prst="rect">
            <a:avLst/>
          </a:prstGeom>
          <a:solidFill>
            <a:srgbClr val="180404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8192" y="718368"/>
            <a:ext cx="158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2222"/>
                </a:solidFill>
                <a:latin typeface="游明朝"/>
              </a:rPr>
              <a:t>有利区間上限（現実）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3192" y="1118368"/>
            <a:ext cx="15909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大量獲得中に強制終了
「もっと続くはずが...」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128368"/>
            <a:ext cx="4114800" cy="25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128368"/>
            <a:ext cx="45000" cy="250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32" y="217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自力感の欠如という根本問題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32" y="2428368"/>
            <a:ext cx="4014800" cy="2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スロットの面白さは「自分が引いた」という
能動体験から生まれる。
ヨルムンガンドはストーリーCZを採用することで
「シナリオが決めた当否」という受け身感を強めてしまった。
プレイヤーが「自分がやった」と感じられる
場面が少ないことが根本的な問題。
モンキーターンVの「チェリーで自力バトル」や
炎炎2の「リールロック段数を見守る3G」のような
能動的な緊張感が欠けている。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128368"/>
            <a:ext cx="4297680" cy="25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128368"/>
            <a:ext cx="45000" cy="25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7000" y="217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設計の教訓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7000" y="2428368"/>
            <a:ext cx="4197680" cy="2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ヨルムンガンドが示す教訓:
① 上位ATの性能だけでは不十分
   → 到達できなければ「幻のスペック」
② 通常時の自力感が打感を決める
   → 「当たった感覚」が来店継続を生む
③ 有利区間管理の透明性
   → 「なぜ終わったのか」が分からないと不信感
④ 演出の強弱設計
   → 弱い演出が続くと希望が薄れる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設定判別 ── REGキャラ示唆と天井狙いの目安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2633472" cy="36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03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41008"/>
                </a:solidFill>
                <a:latin typeface="メイリオ"/>
              </a:rPr>
              <a:t>REGキャラ示唆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8368"/>
            <a:ext cx="2633472" cy="1210000"/>
          </a:xfrm>
          <a:prstGeom prst="rect">
            <a:avLst/>
          </a:prstGeom>
          <a:solidFill>
            <a:srgbClr val="08180C"/>
          </a:solidFill>
          <a:ln w="63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3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キャラ示唆の読み方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3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REGボーナス中のキャラ登場で設定示唆。
高キャラほど高設定が確定。
複数回確認で精度UP。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288368"/>
            <a:ext cx="2633472" cy="1210000"/>
          </a:xfrm>
          <a:prstGeom prst="rect">
            <a:avLst/>
          </a:prstGeom>
          <a:solidFill>
            <a:srgbClr val="0A1C0E"/>
          </a:solidFill>
          <a:ln w="63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03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高キャラ出現率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03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高設定ほど高キャラ出現率が高い傾向。
1回だけでなく複数REGで
総合判断する。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58368"/>
            <a:ext cx="2633472" cy="1210000"/>
          </a:xfrm>
          <a:prstGeom prst="rect">
            <a:avLst/>
          </a:prstGeom>
          <a:solidFill>
            <a:srgbClr val="08180C"/>
          </a:solidFill>
          <a:ln w="63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3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キャラ示唆の活用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3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設定判別の主軸。
データカウンターと合わせて
朝一から記録しておく。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658368"/>
            <a:ext cx="2633472" cy="36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211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41008"/>
                </a:solidFill>
                <a:latin typeface="メイリオ"/>
              </a:rPr>
              <a:t>PO到達率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1018368"/>
            <a:ext cx="2633472" cy="1210000"/>
          </a:xfrm>
          <a:prstGeom prst="rect">
            <a:avLst/>
          </a:prstGeom>
          <a:solidFill>
            <a:srgbClr val="08180C"/>
          </a:solidFill>
          <a:ln w="63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211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AT複数消化での判断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211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高設定ほどPO到達率が高い傾向。
複数AT消化後のPO到達回数を
比較して判断。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288368"/>
            <a:ext cx="2633472" cy="1210000"/>
          </a:xfrm>
          <a:prstGeom prst="rect">
            <a:avLst/>
          </a:prstGeom>
          <a:solidFill>
            <a:srgbClr val="0A1C0E"/>
          </a:solidFill>
          <a:ln w="63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211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PO到達率の差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11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低設定はATをこなしてもPOに
届かないケースが多い。
「AT数/PO数」比率を観察。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558368"/>
            <a:ext cx="2633472" cy="1210000"/>
          </a:xfrm>
          <a:prstGeom prst="rect">
            <a:avLst/>
          </a:prstGeom>
          <a:solidFill>
            <a:srgbClr val="08180C"/>
          </a:solidFill>
          <a:ln w="63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211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CCDD"/>
                </a:solidFill>
                <a:latin typeface="メイリオ"/>
              </a:rPr>
              <a:t>天井狙いの目安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11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天井概算1000G前後。
ゾーン狙いよりも
純粋な天井狙いが有効か検討。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658368"/>
            <a:ext cx="2633472" cy="36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819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41008"/>
                </a:solidFill>
                <a:latin typeface="メイリオ"/>
              </a:rPr>
              <a:t>恥の世紀発生率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018368"/>
            <a:ext cx="2633472" cy="1210000"/>
          </a:xfrm>
          <a:prstGeom prst="rect">
            <a:avLst/>
          </a:prstGeom>
          <a:solidFill>
            <a:srgbClr val="08180C"/>
          </a:solidFill>
          <a:ln w="63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819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ループ頻度の観察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19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「恥の世紀」の発生頻度に設定差あり。
PO中の恥の世紀発生回数を
複数セット観察する。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2288368"/>
            <a:ext cx="2633472" cy="1210000"/>
          </a:xfrm>
          <a:prstGeom prst="rect">
            <a:avLst/>
          </a:prstGeom>
          <a:solidFill>
            <a:srgbClr val="0A1C0E"/>
          </a:solidFill>
          <a:ln w="63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819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高設定の目安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819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恥の世紀が複数回発生する台は
高設定の可能性あり。
単発では判断しない。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3558368"/>
            <a:ext cx="2633472" cy="1210000"/>
          </a:xfrm>
          <a:prstGeom prst="rect">
            <a:avLst/>
          </a:prstGeom>
          <a:solidFill>
            <a:srgbClr val="08180C"/>
          </a:solidFill>
          <a:ln w="63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819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CAA22"/>
                </a:solidFill>
                <a:latin typeface="メイリオ"/>
              </a:rPr>
              <a:t>複合判断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819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REGキャラ + PO到達率 +
恥の世紀発生率の3点で
総合的に設定を推測する。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8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DD66"/>
                </a:solidFill>
                <a:latin typeface="游明朝"/>
              </a:rPr>
              <a:t>まとめ ── 不評機種から学べる設計の教訓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08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DD66"/>
                </a:solidFill>
                <a:latin typeface="游明朝"/>
              </a:rPr>
              <a:t>不評機種から学べること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0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0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自力感なき演出は打感を破壊する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ストーリーCZのデキレ感が示すように
結果が「決められている」と感じさせる演出は
プレイヤーの能動性を奪い打感を著しく低下させる。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28368"/>
            <a:ext cx="4114800" cy="12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22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28368"/>
            <a:ext cx="45000" cy="120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7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DD"/>
                </a:solidFill>
                <a:latin typeface="メイリオ"/>
              </a:rPr>
              <a:t>高性能ATは「見えないと」意味がない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3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PO純増5.0枚という高い性能も
通常時の渋さで到達できなければ存在しないも同然。
性能と到達可能性のバランスが設計の核心。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98368"/>
            <a:ext cx="4114800" cy="1200000"/>
          </a:xfrm>
          <a:prstGeom prst="rect">
            <a:avLst/>
          </a:prstGeom>
          <a:solidFill>
            <a:srgbClr val="08180C"/>
          </a:solidFill>
          <a:ln w="19050">
            <a:solidFill>
              <a:srgbClr val="CCA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98368"/>
            <a:ext cx="45000" cy="120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54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AA22"/>
                </a:solidFill>
                <a:latin typeface="メイリオ"/>
              </a:rPr>
              <a:t>有利区間の「見えない壁」がユーザーを離れさせる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0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大量獲得中の強制終了は
最大の失望体験を生む。
透明性の確保が長期稼働の前提条件。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0C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DD66"/>
                </a:solidFill>
                <a:latin typeface="游明朝"/>
              </a:rPr>
              <a:t>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90000"/>
          </a:xfrm>
          <a:prstGeom prst="rect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101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通常時の自力感がAT到達への期待感を生む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78368"/>
            <a:ext cx="20000" cy="490000"/>
          </a:xfrm>
          <a:prstGeom prst="rect">
            <a:avLst/>
          </a:prstGeom>
          <a:solidFill>
            <a:srgbClr val="22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55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高性能ATは到達可能性が担保されて初めて機能する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18368"/>
            <a:ext cx="20000" cy="4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209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有利区間管理の不透明さは不信感の温床になる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58368"/>
            <a:ext cx="20000" cy="490000"/>
          </a:xfrm>
          <a:prstGeom prst="rect">
            <a:avLst/>
          </a:prstGeom>
          <a:solidFill>
            <a:srgbClr val="CCA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63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演出の強弱設計が「当たる気がする台」を作る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368"/>
            <a:ext cx="4297680" cy="800000"/>
          </a:xfrm>
          <a:prstGeom prst="rect">
            <a:avLst/>
          </a:prstGeom>
          <a:solidFill>
            <a:srgbClr val="041408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7000" y="3158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DD66"/>
                </a:solidFill>
                <a:latin typeface="メイリオ"/>
              </a:rPr>
              <a:t>総括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000" y="3418368"/>
            <a:ext cx="42226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ヨルムンガンドは「高性能だが刺さらない台」の典型例。
不評の分析が優れた台設計への重要な道標になる。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