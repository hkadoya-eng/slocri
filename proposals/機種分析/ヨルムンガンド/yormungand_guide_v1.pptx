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0" y="0"/>
            <a:ext cx="9000" cy="5143500"/>
          </a:xfrm>
          <a:prstGeom prst="rect">
            <a:avLst/>
          </a:prstGeom>
          <a:solidFill>
            <a:srgbClr val="1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2004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A840"/>
                </a:solidFill>
                <a:latin typeface="游明朝"/>
              </a:rPr>
              <a:t>スマスロ 機種説明＋分析 統合版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777240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4DD66"/>
                </a:solidFill>
                <a:latin typeface="游明朝"/>
              </a:rPr>
              <a:t>スマスロ
ヨルムンガンド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514600"/>
            <a:ext cx="45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C0A0"/>
                </a:solidFill>
                <a:latin typeface="游明朝"/>
              </a:rPr>
              <a:t>山佐（YAMASA）　2026年3月導入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88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8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1〜6段階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1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AT名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21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ヨルムンガンドラッシュ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54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AT純増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4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約2.4枚/G  約90G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387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87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パーフェクトオーダー（PO）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20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0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約5.0枚/G  初期50G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453036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天井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30360"/>
            <a:ext cx="301752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概算 1000G 前後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4064" y="384048"/>
            <a:ext cx="3840480" cy="1325880"/>
          </a:xfrm>
          <a:prstGeom prst="rect">
            <a:avLst/>
          </a:prstGeom>
          <a:solidFill>
            <a:srgbClr val="08180C"/>
          </a:solidFill>
          <a:ln w="2540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384048"/>
            <a:ext cx="55000" cy="132588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454048"/>
            <a:ext cx="347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44"/>
                </a:solidFill>
                <a:latin typeface="游明朝"/>
              </a:rPr>
              <a:t>ポイント①
ストーリーCZ経由でATへ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834048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通常時→ストーリーCZ突破で
ヨルムンガンドラッシュに突入する台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4064" y="1892807"/>
            <a:ext cx="3840480" cy="1325880"/>
          </a:xfrm>
          <a:prstGeom prst="rect">
            <a:avLst/>
          </a:prstGeom>
          <a:solidFill>
            <a:srgbClr val="08180C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84064" y="1892807"/>
            <a:ext cx="55000" cy="132588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1962807"/>
            <a:ext cx="347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ポイント②
POが純増5.0枚の高性能AT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2342807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PO「パーフェクトオーダー」は
純増5枚・恥の世紀でループするトップスペック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4064" y="3401568"/>
            <a:ext cx="3840480" cy="132588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84064" y="3401568"/>
            <a:ext cx="55000" cy="132588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66944" y="3471568"/>
            <a:ext cx="3474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ポイント③
不評の実態（客観的に）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4" y="3851568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通常時の体感の渋さと
有利区間上限が不満として噴出した機種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設計コメント：高性能POを持ちながら「届かない台」として評価が割れた機種。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説明はフラット・客観的に記述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ゲームフロー全体図 ── 通常時 → CZ → AT → PO の全ルート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58368"/>
            <a:ext cx="2011680" cy="1250000"/>
          </a:xfrm>
          <a:prstGeom prst="rect">
            <a:avLst/>
          </a:prstGeom>
          <a:solidFill>
            <a:srgbClr val="444466"/>
          </a:solidFill>
          <a:ln w="228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40" y="7483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888AA"/>
                </a:solidFill>
                <a:latin typeface="游明朝"/>
              </a:rPr>
              <a:t>通常時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40" y="11483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レア役・コイン投入
CZ当選を待つ</a:t>
            </a:r>
          </a:p>
        </p:txBody>
      </p:sp>
      <p:sp>
        <p:nvSpPr>
          <p:cNvPr id="11" name="Can 10"/>
          <p:cNvSpPr/>
          <p:nvPr/>
        </p:nvSpPr>
        <p:spPr>
          <a:xfrm>
            <a:off x="2351720" y="1193368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658368"/>
            <a:ext cx="2011680" cy="1250000"/>
          </a:xfrm>
          <a:prstGeom prst="rect">
            <a:avLst/>
          </a:prstGeom>
          <a:solidFill>
            <a:srgbClr val="0C2010"/>
          </a:solidFill>
          <a:ln w="2286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9192" y="7483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AA44"/>
                </a:solidFill>
                <a:latin typeface="游明朝"/>
              </a:rPr>
              <a:t>ストーリーCZ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9192" y="11483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キャラストーリー展開
突破でAT確定</a:t>
            </a:r>
          </a:p>
        </p:txBody>
      </p:sp>
      <p:sp>
        <p:nvSpPr>
          <p:cNvPr id="15" name="Can 14"/>
          <p:cNvSpPr/>
          <p:nvPr/>
        </p:nvSpPr>
        <p:spPr>
          <a:xfrm>
            <a:off x="4710872" y="1193368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8344" y="658368"/>
            <a:ext cx="2011680" cy="1250000"/>
          </a:xfrm>
          <a:prstGeom prst="rect">
            <a:avLst/>
          </a:prstGeom>
          <a:solidFill>
            <a:srgbClr val="082010"/>
          </a:solidFill>
          <a:ln w="2286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344" y="7483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4DD66"/>
                </a:solidFill>
                <a:latin typeface="游明朝"/>
              </a:rPr>
              <a:t>ヨルムンガンドラッシュ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8344" y="11483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基本AT
純増2.4枚/G・約90G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0024" y="1828368"/>
            <a:ext cx="1325880" cy="140000"/>
          </a:xfrm>
          <a:prstGeom prst="rect">
            <a:avLst/>
          </a:prstGeom>
          <a:solidFill>
            <a:srgbClr val="0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0024" y="1838368"/>
            <a:ext cx="1234440" cy="1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2CCDD"/>
                </a:solidFill>
                <a:latin typeface="メイリオ"/>
              </a:rPr>
              <a:t>上位狙いで継続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2964" y="1828368"/>
            <a:ext cx="20000" cy="82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2029968"/>
            <a:ext cx="2011680" cy="1250000"/>
          </a:xfrm>
          <a:prstGeom prst="rect">
            <a:avLst/>
          </a:prstGeom>
          <a:solidFill>
            <a:srgbClr val="041820"/>
          </a:solidFill>
          <a:ln w="2286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2280" y="21199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CDD"/>
                </a:solidFill>
                <a:latin typeface="游明朝"/>
              </a:rPr>
              <a:t>PO（パーフェクトオーダー）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2280" y="25199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純増5.0枚/G
初期50G</a:t>
            </a:r>
          </a:p>
        </p:txBody>
      </p:sp>
      <p:sp>
        <p:nvSpPr>
          <p:cNvPr id="25" name="Regular Pentagon 24"/>
          <p:cNvSpPr/>
          <p:nvPr/>
        </p:nvSpPr>
        <p:spPr>
          <a:xfrm>
            <a:off x="6434808" y="2564968"/>
            <a:ext cx="200000" cy="180000"/>
          </a:xfrm>
          <a:prstGeom prst="pentagon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53128" y="2029968"/>
            <a:ext cx="2011680" cy="1250000"/>
          </a:xfrm>
          <a:prstGeom prst="rect">
            <a:avLst/>
          </a:prstGeom>
          <a:solidFill>
            <a:srgbClr val="101404"/>
          </a:solidFill>
          <a:ln w="228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3128" y="21199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AA22"/>
                </a:solidFill>
                <a:latin typeface="游明朝"/>
              </a:rPr>
              <a:t>恥の世紀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3128" y="25199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POループ確定
BB以上ループ</a:t>
            </a:r>
          </a:p>
        </p:txBody>
      </p:sp>
      <p:sp>
        <p:nvSpPr>
          <p:cNvPr id="29" name="Regular Pentagon 28"/>
          <p:cNvSpPr/>
          <p:nvPr/>
        </p:nvSpPr>
        <p:spPr>
          <a:xfrm>
            <a:off x="4075656" y="2564968"/>
            <a:ext cx="200000" cy="180000"/>
          </a:xfrm>
          <a:prstGeom prst="pentagon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93976" y="2029968"/>
            <a:ext cx="2011680" cy="1250000"/>
          </a:xfrm>
          <a:prstGeom prst="rect">
            <a:avLst/>
          </a:prstGeom>
          <a:solidFill>
            <a:srgbClr val="180404"/>
          </a:solidFill>
          <a:ln w="228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3976" y="2119968"/>
            <a:ext cx="193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2222"/>
                </a:solidFill>
                <a:latin typeface="游明朝"/>
              </a:rPr>
              <a:t>有利区間上限
（エンディング）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3976" y="2519968"/>
            <a:ext cx="19516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2400枚上限で
強制終了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848368"/>
            <a:ext cx="155448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22CCDD"/>
                </a:solidFill>
                <a:latin typeface="メイリオ"/>
              </a:rPr>
              <a:t>BB以上フリーズでPO当選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029968"/>
            <a:ext cx="1371600" cy="1250000"/>
          </a:xfrm>
          <a:prstGeom prst="rect">
            <a:avLst/>
          </a:prstGeom>
          <a:solidFill>
            <a:srgbClr val="0A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029968"/>
            <a:ext cx="1371600" cy="1250000"/>
          </a:xfrm>
          <a:prstGeom prst="rect">
            <a:avLst/>
          </a:prstGeom>
          <a:solidFill>
            <a:srgbClr val="0A140C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2149968"/>
            <a:ext cx="1234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88AA"/>
                </a:solidFill>
                <a:latin typeface="メイリオ"/>
              </a:rPr>
              <a:t>CZ
非突破
↓
通常時
戻り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設計コメント：通常時→CZ→AT→POの到達ルートが長く、POにたどり着けない体験が不評の核心。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蛇行2段フロー：上段 左→右、下段 右→左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通常時の遊び方 ── CZへのルートと基本の押し方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3931920" cy="9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9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708368"/>
            <a:ext cx="38319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38368"/>
            <a:ext cx="3831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コインを投入して通常遊技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32" y="1208368"/>
            <a:ext cx="38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設定1〜6は判別困難。
演出は弱いものが多く、
「当たらない」時間が続く。</a:t>
            </a:r>
          </a:p>
        </p:txBody>
      </p:sp>
      <p:sp>
        <p:nvSpPr>
          <p:cNvPr id="13" name="Cube 12"/>
          <p:cNvSpPr/>
          <p:nvPr/>
        </p:nvSpPr>
        <p:spPr>
          <a:xfrm>
            <a:off x="2131992" y="1628368"/>
            <a:ext cx="180000" cy="200000"/>
          </a:xfrm>
          <a:prstGeom prst="cube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1683368"/>
            <a:ext cx="3931920" cy="9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683368"/>
            <a:ext cx="45000" cy="960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1733368"/>
            <a:ext cx="38319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1963368"/>
            <a:ext cx="3831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レア役・CZポイント獲得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32" y="2233368"/>
            <a:ext cx="38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チェリー・スイカ等のレア役で
CZポイントが加算される。
ただし当選率は体感で低い。</a:t>
            </a:r>
          </a:p>
        </p:txBody>
      </p:sp>
      <p:sp>
        <p:nvSpPr>
          <p:cNvPr id="19" name="Cube 18"/>
          <p:cNvSpPr/>
          <p:nvPr/>
        </p:nvSpPr>
        <p:spPr>
          <a:xfrm>
            <a:off x="2131992" y="2653368"/>
            <a:ext cx="180000" cy="200000"/>
          </a:xfrm>
          <a:prstGeom prst="cube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2708368"/>
            <a:ext cx="3931920" cy="9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708368"/>
            <a:ext cx="45000" cy="9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32" y="2758368"/>
            <a:ext cx="38319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32" y="2988368"/>
            <a:ext cx="3831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ストーリーCZ当選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32" y="3258368"/>
            <a:ext cx="38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ポイント規定到達 or 抽選で
ストーリーCZに突入。
天井は概算1000G前後。</a:t>
            </a:r>
          </a:p>
        </p:txBody>
      </p:sp>
      <p:sp>
        <p:nvSpPr>
          <p:cNvPr id="25" name="Cube 24"/>
          <p:cNvSpPr/>
          <p:nvPr/>
        </p:nvSpPr>
        <p:spPr>
          <a:xfrm>
            <a:off x="2131992" y="3678368"/>
            <a:ext cx="180000" cy="200000"/>
          </a:xfrm>
          <a:prstGeom prst="cube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733368"/>
            <a:ext cx="3931920" cy="9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733368"/>
            <a:ext cx="45000" cy="9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32" y="3783368"/>
            <a:ext cx="38319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32" y="4013368"/>
            <a:ext cx="38319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AT「ヨルムンガンドラッシュ」突入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32" y="4283368"/>
            <a:ext cx="38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CZ突破でAT確定。
CZ非突破は通常時に戻る
（ループ）。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658368"/>
            <a:ext cx="4480560" cy="150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658368"/>
            <a:ext cx="45000" cy="150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9840" y="68580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游明朝"/>
              </a:rPr>
              <a:t>CZ当選ルート（主な方法）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9840" y="96012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① レア役による直撃抽選（チェリー・スイカ・強ベル等）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9840" y="125012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② CZポイント規定到達（規定は変動）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9840" y="154012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③ 天井（概算 1000G 前後）到達による自動当選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9840" y="1830120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④ ボーナス当選後の連携（内部状態による）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2258368"/>
            <a:ext cx="4480560" cy="28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4840" y="2258368"/>
            <a:ext cx="45000" cy="280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9840" y="2308368"/>
            <a:ext cx="4380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通常時プレイヤーの実態（客観的記録）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9840" y="258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・「昨今のデキレや冷遇が可愛く見える」という実戦報告が複数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09840" y="291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・弱い演出ばかりでCZ示唆がほぼ来ない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9840" y="324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・レア役を引いてもCZが入らないセッションが続く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9840" y="357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・ゾーン狙いよりも純粋な天井狙いが有効という意見多数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9840" y="3908368"/>
            <a:ext cx="43805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・「投資が重く、回収できないまま終わる」という声が支配的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設計コメント：通常時の「当たらない体感」がプレイヤーを消耗させ、POへの期待を消す前に離脱を招く。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天井狙い以外に有効な立ち回りが少ない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ストーリーCZ ── 仕組みと突破条件・デキレ感の正体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023360" cy="56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5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685800"/>
            <a:ext cx="39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44"/>
                </a:solidFill>
                <a:latin typeface="游明朝"/>
              </a:rPr>
              <a:t>ストーリーCZとは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60120"/>
            <a:ext cx="392336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アニメ「JOKER GAME」のストーリーに沿って
キャラクターが展開する演出CZ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31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1318368"/>
            <a:ext cx="40000" cy="64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032" y="137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44"/>
                </a:solidFill>
                <a:latin typeface="游明朝"/>
              </a:rPr>
              <a:t>CZ開始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032" y="161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ストーリー展開スタート
キャラが登場・任務開始</a:t>
            </a:r>
          </a:p>
        </p:txBody>
      </p:sp>
      <p:sp>
        <p:nvSpPr>
          <p:cNvPr id="16" name="Cube 15"/>
          <p:cNvSpPr/>
          <p:nvPr/>
        </p:nvSpPr>
        <p:spPr>
          <a:xfrm>
            <a:off x="2177712" y="1963368"/>
            <a:ext cx="180000" cy="200000"/>
          </a:xfrm>
          <a:prstGeom prst="cube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00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008368"/>
            <a:ext cx="40000" cy="640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032" y="206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DD66"/>
                </a:solidFill>
                <a:latin typeface="游明朝"/>
              </a:rPr>
              <a:t>ストーリー進行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032" y="230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ゲーム数消化で
エピソードが進む</a:t>
            </a:r>
          </a:p>
        </p:txBody>
      </p:sp>
      <p:sp>
        <p:nvSpPr>
          <p:cNvPr id="21" name="Cube 20"/>
          <p:cNvSpPr/>
          <p:nvPr/>
        </p:nvSpPr>
        <p:spPr>
          <a:xfrm>
            <a:off x="2177712" y="2653368"/>
            <a:ext cx="180000" cy="200000"/>
          </a:xfrm>
          <a:prstGeom prst="cube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269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2698368"/>
            <a:ext cx="40000" cy="64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1032" y="275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游明朝"/>
              </a:rPr>
              <a:t>最終局面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032" y="299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バトル・作戦結果が判定
「成功」でAT確定</a:t>
            </a:r>
          </a:p>
        </p:txBody>
      </p:sp>
      <p:sp>
        <p:nvSpPr>
          <p:cNvPr id="26" name="Cube 25"/>
          <p:cNvSpPr/>
          <p:nvPr/>
        </p:nvSpPr>
        <p:spPr>
          <a:xfrm>
            <a:off x="2177712" y="3343368"/>
            <a:ext cx="180000" cy="200000"/>
          </a:xfrm>
          <a:prstGeom prst="cube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38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3388368"/>
            <a:ext cx="40000" cy="64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1032" y="344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CZ突破（成功）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032" y="368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ヨルムンガンドラッシュへ
（おめでとう）</a:t>
            </a:r>
          </a:p>
        </p:txBody>
      </p:sp>
      <p:sp>
        <p:nvSpPr>
          <p:cNvPr id="31" name="Cube 30"/>
          <p:cNvSpPr/>
          <p:nvPr/>
        </p:nvSpPr>
        <p:spPr>
          <a:xfrm>
            <a:off x="2177712" y="4033368"/>
            <a:ext cx="180000" cy="200000"/>
          </a:xfrm>
          <a:prstGeom prst="cube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4078368"/>
            <a:ext cx="4023360" cy="640000"/>
          </a:xfrm>
          <a:prstGeom prst="rect">
            <a:avLst/>
          </a:prstGeom>
          <a:solidFill>
            <a:srgbClr val="08180C"/>
          </a:solidFill>
          <a:ln w="1651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4078368"/>
            <a:ext cx="40000" cy="64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1032" y="4133368"/>
            <a:ext cx="3943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游明朝"/>
              </a:rPr>
              <a:t>CZ非突破（失敗）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032" y="4378368"/>
            <a:ext cx="394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通常時に戻る
リトライが必要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658368"/>
            <a:ext cx="4343400" cy="135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26280" y="658368"/>
            <a:ext cx="45000" cy="1350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1280" y="685800"/>
            <a:ext cx="4243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突破条件（解析情報）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1280" y="95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・内部状態（高確・超高確等）で突破率が変動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1280" y="124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・AT中のボーナス種別でPO当選も抽選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1280" y="153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・強レア役ほど突破率が高い傾向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1280" y="1820976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・「当たる時は最初から違う雰囲気がある」という声あり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26280" y="2108368"/>
            <a:ext cx="4343400" cy="168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26280" y="2108368"/>
            <a:ext cx="45000" cy="168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01280" y="2158368"/>
            <a:ext cx="4243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「デキレ感」の正体と構造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1280" y="2458368"/>
            <a:ext cx="15000" cy="3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41280" y="2488368"/>
            <a:ext cx="41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444"/>
                </a:solidFill>
                <a:latin typeface="メイリオ"/>
              </a:rPr>
              <a:t>シナリオ進行型演出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1280" y="2673368"/>
            <a:ext cx="4193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当否が先に決まって演出が後付けされる設計。
プレイヤーが「自力感」を持てない。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01280" y="2878368"/>
            <a:ext cx="15000" cy="3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1280" y="2908368"/>
            <a:ext cx="41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444"/>
                </a:solidFill>
                <a:latin typeface="メイリオ"/>
              </a:rPr>
              <a:t>弱い演出で失敗を繰り返す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41280" y="3093368"/>
            <a:ext cx="4193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「どうせ負ける演出だ」という学習が起き、
CZ自体に期待感が湧かなくなる。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01280" y="3298368"/>
            <a:ext cx="15000" cy="3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1280" y="3328368"/>
            <a:ext cx="41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444"/>
                </a:solidFill>
                <a:latin typeface="メイリオ"/>
              </a:rPr>
              <a:t>強い演出でも負けがある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41280" y="3513368"/>
            <a:ext cx="41934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信頼度設計が不透明で
「信じられない」感覚が広がる。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6280" y="3888368"/>
            <a:ext cx="4343400" cy="560000"/>
          </a:xfrm>
          <a:prstGeom prst="rect">
            <a:avLst/>
          </a:prstGeom>
          <a:solidFill>
            <a:srgbClr val="041408"/>
          </a:solidFill>
          <a:ln w="1524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01280" y="3938368"/>
            <a:ext cx="424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2CCDD"/>
                </a:solidFill>
                <a:latin typeface="メイリオ"/>
              </a:rPr>
              <a:t>CZ突破後の報酬：AT「ヨルムンガンドラッシュ」突入
　→ 次のスライドで詳しく解説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設計コメント：シナリオ型CZは「自力感の欠如」を生み、繰り返すほど打感が悪化する悪循環を生む。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CZ突破率の設定差も大きな判別要素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AT「ヨルムンガンドラッシュ」── 遊び方とPO到達ルート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8631936" cy="480000"/>
          </a:xfrm>
          <a:prstGeom prst="rect">
            <a:avLst/>
          </a:prstGeom>
          <a:solidFill>
            <a:srgbClr val="082010"/>
          </a:solidFill>
          <a:ln w="1905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94944"/>
            <a:ext cx="100584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AT名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77824"/>
            <a:ext cx="2011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ヨルムンガンドラッシュ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694944"/>
            <a:ext cx="100584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純増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877824"/>
            <a:ext cx="2011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約2.4枚/G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694944"/>
            <a:ext cx="100584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AT期待ゲーム数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877824"/>
            <a:ext cx="2011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約90G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694944"/>
            <a:ext cx="100584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継続方式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877824"/>
            <a:ext cx="2011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ストーリーCZ(ループ)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1207008"/>
            <a:ext cx="4023360" cy="8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1207008"/>
            <a:ext cx="40000" cy="87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032" y="1257008"/>
            <a:ext cx="3938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AT中 STEP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032" y="1482008"/>
            <a:ext cx="3938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ゲーム数消化（約90G）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032" y="1752008"/>
            <a:ext cx="3938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AT中はレバーを叩くだけ。
純増2.4枚/Gでコインを増やす。</a:t>
            </a:r>
          </a:p>
        </p:txBody>
      </p:sp>
      <p:sp>
        <p:nvSpPr>
          <p:cNvPr id="22" name="Cube 21"/>
          <p:cNvSpPr/>
          <p:nvPr/>
        </p:nvSpPr>
        <p:spPr>
          <a:xfrm>
            <a:off x="2177712" y="2085008"/>
            <a:ext cx="180000" cy="200000"/>
          </a:xfrm>
          <a:prstGeom prst="cube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2132008"/>
            <a:ext cx="4023360" cy="8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132008"/>
            <a:ext cx="40000" cy="870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032" y="2182008"/>
            <a:ext cx="3938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AT中 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032" y="2407008"/>
            <a:ext cx="3938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AT中ボーナスを引く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032" y="2677008"/>
            <a:ext cx="3938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BB（ビッグボーナス）以上の
ボーナスがPO当選の鍵。
SBやRBでは基本的にPOに行かない。</a:t>
            </a:r>
          </a:p>
        </p:txBody>
      </p:sp>
      <p:sp>
        <p:nvSpPr>
          <p:cNvPr id="28" name="Cube 27"/>
          <p:cNvSpPr/>
          <p:nvPr/>
        </p:nvSpPr>
        <p:spPr>
          <a:xfrm>
            <a:off x="2177712" y="3010008"/>
            <a:ext cx="180000" cy="200000"/>
          </a:xfrm>
          <a:prstGeom prst="cube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3057008"/>
            <a:ext cx="4023360" cy="8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3057008"/>
            <a:ext cx="40000" cy="87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032" y="3107008"/>
            <a:ext cx="3938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AT中 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032" y="3332008"/>
            <a:ext cx="3938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BB以上でPO当選抽選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032" y="3602008"/>
            <a:ext cx="3938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BB中の抽選でPO（パーフェクトオーダー）
へ移行する。高設定ほど到達率UP。</a:t>
            </a:r>
          </a:p>
        </p:txBody>
      </p:sp>
      <p:sp>
        <p:nvSpPr>
          <p:cNvPr id="34" name="Cube 33"/>
          <p:cNvSpPr/>
          <p:nvPr/>
        </p:nvSpPr>
        <p:spPr>
          <a:xfrm>
            <a:off x="2177712" y="3935008"/>
            <a:ext cx="180000" cy="200000"/>
          </a:xfrm>
          <a:prstGeom prst="cube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3982008"/>
            <a:ext cx="4023360" cy="8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3982008"/>
            <a:ext cx="40000" cy="87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032" y="4032008"/>
            <a:ext cx="3938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AT終了後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032" y="4257008"/>
            <a:ext cx="3938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8F4"/>
                </a:solidFill>
                <a:latin typeface="游明朝"/>
              </a:rPr>
              <a:t>ストーリーCZで継続抽選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1032" y="4527008"/>
            <a:ext cx="3938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90G消化後にCZで継続判定。
突破→AT継続、非突破→通常時戻り。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1207008"/>
            <a:ext cx="4343400" cy="1500000"/>
          </a:xfrm>
          <a:prstGeom prst="rect">
            <a:avLst/>
          </a:prstGeom>
          <a:solidFill>
            <a:srgbClr val="041820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26280" y="1207008"/>
            <a:ext cx="50000" cy="15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06280" y="1234440"/>
            <a:ext cx="4233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PO（パーフェクトオーダー）到達ルート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6280" y="1536192"/>
            <a:ext cx="15000" cy="25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6280" y="1566192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メインルート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6280" y="1566192"/>
            <a:ext cx="30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AT中 BB以上当選 → PO当選抽選 → PO突入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6280" y="1826192"/>
            <a:ext cx="15000" cy="25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46280" y="1856192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設定差あり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26280" y="1856192"/>
            <a:ext cx="30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高設定ほどPO到達率が高い（判別の主軸）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06280" y="2116192"/>
            <a:ext cx="15000" cy="25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6280" y="2146192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フリーズ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26280" y="2146192"/>
            <a:ext cx="30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BB以上 + フリーズ発生 → PO確定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06280" y="2406192"/>
            <a:ext cx="15000" cy="25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6280" y="2436192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期待度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26280" y="2436192"/>
            <a:ext cx="3093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AT1回あたりのPO期待回数は設定依存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6280" y="2807008"/>
            <a:ext cx="4343400" cy="27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26280" y="2807008"/>
            <a:ext cx="45000" cy="270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01280" y="2857008"/>
            <a:ext cx="4243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AT設計の課題（客観的評価）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1280" y="31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・AT純増2.4枚/Gはそこそこだが「POに到達しないと物足りない」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1280" y="34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・BB以上当選が必要なため、SBばかりではPOに行けない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01280" y="37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・「AT何回打ってもPOに行かない」という低設定体験が口コミ化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01280" y="40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・ATが短く（90G）、到達感が薄いまま終わるケースが多い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1280" y="4357008"/>
            <a:ext cx="424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・有利区間が残り少ない状態でATに入ると満足できない問題も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設計コメント：AT中のPO到達には「BB以上」という条件があり、低設定ではPOが幻になりやすい構造。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BB以上フリーズ→PO確定が最大の盛り上がりポイント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PO「パーフェクトオーダー」── 到達ルート・遊び方・恥の世紀ループ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30352"/>
            <a:ext cx="9144000" cy="450000"/>
          </a:xfrm>
          <a:prstGeom prst="rect">
            <a:avLst/>
          </a:prstGeom>
          <a:solidFill>
            <a:srgbClr val="0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PO名称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パーフェクトオーダー（PO）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純増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約5.0枚/G  ← 業界トップクラス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初期G数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3904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50G（初期保証）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ループ条件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BB以上 → POループ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594360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特殊条件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786384"/>
            <a:ext cx="169164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恥の世紀 → POループ確定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115568"/>
            <a:ext cx="3977639" cy="550000"/>
          </a:xfrm>
          <a:prstGeom prst="rect">
            <a:avLst/>
          </a:prstGeom>
          <a:solidFill>
            <a:srgbClr val="041820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1115568"/>
            <a:ext cx="45000" cy="55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32" y="1143000"/>
            <a:ext cx="387763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PO中の遊び方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32" y="1417320"/>
            <a:ext cx="3877639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純増5.0枚/Gで豪快にコインを増やす50Gを楽しむ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1735568"/>
            <a:ext cx="3977639" cy="7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1735568"/>
            <a:ext cx="40000" cy="77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032" y="1780568"/>
            <a:ext cx="3892639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 STEP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032" y="1990568"/>
            <a:ext cx="3892639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E8F4"/>
                </a:solidFill>
                <a:latin typeface="游明朝"/>
              </a:rPr>
              <a:t>50G消化スタート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032" y="2225568"/>
            <a:ext cx="38926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初期50Gを全力で消化。
純増5.0枚/Gで毎ゲーム増加。</a:t>
            </a:r>
          </a:p>
        </p:txBody>
      </p:sp>
      <p:sp>
        <p:nvSpPr>
          <p:cNvPr id="28" name="Cube 27"/>
          <p:cNvSpPr/>
          <p:nvPr/>
        </p:nvSpPr>
        <p:spPr>
          <a:xfrm>
            <a:off x="2154851" y="2513568"/>
            <a:ext cx="180000" cy="200000"/>
          </a:xfrm>
          <a:prstGeom prst="cube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555568"/>
            <a:ext cx="3977639" cy="7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2555568"/>
            <a:ext cx="40000" cy="77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032" y="2600568"/>
            <a:ext cx="3892639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 STEP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032" y="2810568"/>
            <a:ext cx="3892639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E8F4"/>
                </a:solidFill>
                <a:latin typeface="游明朝"/>
              </a:rPr>
              <a:t>PO中ボーナス抽選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032" y="3045568"/>
            <a:ext cx="38926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PO中もボーナスが抽選される。
BB以上が当選するとPOループ。</a:t>
            </a:r>
          </a:p>
        </p:txBody>
      </p:sp>
      <p:sp>
        <p:nvSpPr>
          <p:cNvPr id="34" name="Cube 33"/>
          <p:cNvSpPr/>
          <p:nvPr/>
        </p:nvSpPr>
        <p:spPr>
          <a:xfrm>
            <a:off x="2154851" y="3333568"/>
            <a:ext cx="180000" cy="200000"/>
          </a:xfrm>
          <a:prstGeom prst="cube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3375568"/>
            <a:ext cx="3977639" cy="7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3375568"/>
            <a:ext cx="40000" cy="77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032" y="3420568"/>
            <a:ext cx="3892639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PO STEP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032" y="3630568"/>
            <a:ext cx="3892639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E8F4"/>
                </a:solidFill>
                <a:latin typeface="游明朝"/>
              </a:rPr>
              <a:t>「恥の世紀」発生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1032" y="3865568"/>
            <a:ext cx="38926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特殊演出「恥の世紀」が発生すると
POループが確定する。</a:t>
            </a:r>
          </a:p>
        </p:txBody>
      </p:sp>
      <p:sp>
        <p:nvSpPr>
          <p:cNvPr id="40" name="Cube 39"/>
          <p:cNvSpPr/>
          <p:nvPr/>
        </p:nvSpPr>
        <p:spPr>
          <a:xfrm>
            <a:off x="2154851" y="4153568"/>
            <a:ext cx="180000" cy="200000"/>
          </a:xfrm>
          <a:prstGeom prst="cube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4195568"/>
            <a:ext cx="3977639" cy="7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6032" y="4195568"/>
            <a:ext cx="40000" cy="77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032" y="4240568"/>
            <a:ext cx="3892639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PO STEP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032" y="4450568"/>
            <a:ext cx="3892639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8E8F4"/>
                </a:solidFill>
                <a:latin typeface="游明朝"/>
              </a:rPr>
              <a:t>ループ継続 or 終了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032" y="4685568"/>
            <a:ext cx="3892639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AA"/>
                </a:solidFill>
                <a:latin typeface="メイリオ"/>
              </a:rPr>
              <a:t>ループするたびに純増5枚が継続。
終了すると通常ATまたは通常時へ。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1115568"/>
            <a:ext cx="4389120" cy="1800000"/>
          </a:xfrm>
          <a:prstGeom prst="rect">
            <a:avLst/>
          </a:prstGeom>
          <a:solidFill>
            <a:srgbClr val="141002"/>
          </a:solidFill>
          <a:ln w="2540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0560" y="1115568"/>
            <a:ext cx="50000" cy="180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0560" y="1143000"/>
            <a:ext cx="42791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AA22"/>
                </a:solidFill>
                <a:latin typeface="游明朝"/>
              </a:rPr>
              <a:t>「恥の世紀」── POループ確定演出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0560" y="142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00560" y="145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発生条件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0560" y="145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PO中の特定フラグで発生（設定差あり）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60560" y="171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00560" y="174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効果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0560" y="174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POループが確定する（何G継続するかは別抽選）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60560" y="200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00560" y="203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設定差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0560" y="203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高設定ほど恥の世紀発生率が高い傾向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60560" y="229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00560" y="232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体験価値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0560" y="232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「恥の世紀来た！」が最高の演出体験と評価される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60560" y="2586464"/>
            <a:ext cx="15000" cy="2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00560" y="2616464"/>
            <a:ext cx="914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視認性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0560" y="2616464"/>
            <a:ext cx="31091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テキスト・SEで明確に示されるため分かりやすい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0" y="3015568"/>
            <a:ext cx="4389120" cy="2400000"/>
          </a:xfrm>
          <a:prstGeom prst="rect">
            <a:avLst/>
          </a:prstGeom>
          <a:solidFill>
            <a:srgbClr val="041820"/>
          </a:solidFill>
          <a:ln w="2286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80560" y="3015568"/>
            <a:ext cx="50000" cy="24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60560" y="3065568"/>
            <a:ext cx="42791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純増5.0枚/G の体験価値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60560" y="33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50G × 5.0枚 ＝ 期待値 約250枚（1POあたり）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60560" y="36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恥の世紀でループ → 数百〜1000枚超えも狙える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60560" y="39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「PO中は別ゲーム」という没入感が生まれる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0560" y="42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業界水準（3〜4枚）を大きく超える純増スピード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60560" y="4565568"/>
            <a:ext cx="42791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視覚的にもコインが「バコバコ増える」実感がある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設計コメント：PO純増5.0枚は本物の体験価値を持つ。到達できたプレイヤーは高評価するが、到達できない多数が不評を形成。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「恥の世紀」が来れば最高潮 ── 問題は到達確率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【分析①】面白さの設計 ── PO体験が持つ本物のポテンシャル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300000"/>
          </a:xfrm>
          <a:prstGeom prst="rect">
            <a:avLst/>
          </a:prstGeom>
          <a:solidFill>
            <a:srgbClr val="0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685800"/>
            <a:ext cx="40705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PO「パーフェクトオーダー」が持つ本物の設計力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18368"/>
            <a:ext cx="4160520" cy="10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18368"/>
            <a:ext cx="45000" cy="10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78368"/>
            <a:ext cx="40605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DD"/>
                </a:solidFill>
                <a:latin typeface="游明朝"/>
              </a:rPr>
              <a:t>純増5.0枚/G は本物のトップスペック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36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通常AT（2.4枚）の約2倍の速度でコインが増える。
50G × 5枚 = 約250枚の期待値は、1POで十分な満足感。
業界基準（3〜4枚級）を大きく上回る数値。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38368"/>
            <a:ext cx="4160520" cy="10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38368"/>
            <a:ext cx="45000" cy="10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198368"/>
            <a:ext cx="40605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AA22"/>
                </a:solidFill>
                <a:latin typeface="游明朝"/>
              </a:rPr>
              <a:t>「恥の世紀ループ」は明確で分かりやすいゴール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48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「恥の世紀が来るかどうか」という一点に集中する緊張感。
テキスト表示で明確に確定するため達成感が明確。
ループのたびに得られる快感の連鎖設計は優秀。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258368"/>
            <a:ext cx="4160520" cy="106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258368"/>
            <a:ext cx="45000" cy="10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318368"/>
            <a:ext cx="40605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AA44"/>
                </a:solidFill>
                <a:latin typeface="游明朝"/>
              </a:rPr>
              <a:t>「到達できた人」は高評価する台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60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ネット上の高評価レビューの多くがPO到達者によるもの。
「PO中は本当に楽しい」という声は一貫している。
設計そのものは間違っておらず、問題は到達率にある。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658368"/>
            <a:ext cx="4206240" cy="210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658368"/>
            <a:ext cx="45000" cy="210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8440" y="685800"/>
            <a:ext cx="4106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游明朝"/>
              </a:rPr>
              <a:t>設計として優れている点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8440" y="96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3440" y="99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ストーリー × スロット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3440" y="99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原作ファン向けの演出統合は丁寧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8440" y="129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3440" y="132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純増スピードの差別化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3440" y="132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AT→PO の純増差が体感でも明確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38440" y="162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83440" y="165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恥の世紀の分かりやすさ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3440" y="165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ループ確定演出の明瞭さは設計の正解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38440" y="195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83440" y="198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設定差の多様性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3440" y="198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REGキャラ・PO率・恥の世紀率の3軸判別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38440" y="2280120"/>
            <a:ext cx="15000" cy="29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83440" y="2315120"/>
            <a:ext cx="13716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44DD66"/>
                </a:solidFill>
                <a:latin typeface="メイリオ"/>
              </a:rPr>
              <a:t>天井設計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3440" y="2315120"/>
            <a:ext cx="24062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概算1000G天井で最終救済ルートは存在する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858368"/>
            <a:ext cx="4206240" cy="2100000"/>
          </a:xfrm>
          <a:prstGeom prst="rect">
            <a:avLst/>
          </a:prstGeom>
          <a:solidFill>
            <a:srgbClr val="08180C"/>
          </a:solidFill>
          <a:ln w="1524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63440" y="2858368"/>
            <a:ext cx="45000" cy="21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8440" y="2908368"/>
            <a:ext cx="4106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DD"/>
                </a:solidFill>
                <a:latin typeface="游明朝"/>
              </a:rPr>
              <a:t>評価の二極化 ── PO到達者 vs 非到達者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8440" y="3228368"/>
            <a:ext cx="15000" cy="78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83440" y="3268368"/>
            <a:ext cx="4056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PO到達者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3440" y="3538368"/>
            <a:ext cx="40562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「PO中は最高」「恥の世紀が来たら神台」
「もう一度打ちたい」という肯定評価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38440" y="4068368"/>
            <a:ext cx="15000" cy="78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83440" y="4108368"/>
            <a:ext cx="4056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游明朝"/>
              </a:rPr>
              <a:t>PO非到達者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3440" y="4378368"/>
            <a:ext cx="40562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「全然当たらない」「投資がかさむだけ」
「通常時が苦行」という否定評価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設計コメント：PO体験の質は本物。問題は「体験できる割合」が低すぎる設計にあり、到達率の引き上げが解決策。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高性能POが届かない台 ── これが不評の本質的構造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【分析②】不評の構造 ── 3つの設計課題を解剖する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2788920" cy="56000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0000" cy="56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032" y="685800"/>
            <a:ext cx="2703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2222"/>
                </a:solidFill>
                <a:latin typeface="游明朝"/>
              </a:rPr>
              <a:t>課題①
通常時の渋さ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298368"/>
            <a:ext cx="2788920" cy="135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032" y="134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メイリオ"/>
              </a:rPr>
              <a:t>問題の実態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32" y="1578368"/>
            <a:ext cx="271892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・「昨今のデキレが可愛く見える」実戦報告
・弱い演出が続きCZ示唆がほぼ来ない
・レア役でもCZに入らないセッションが連続
・ゾーン狙いより天井狙いのみが有効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708368"/>
            <a:ext cx="2788920" cy="100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032" y="275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設計的原因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32" y="2988368"/>
            <a:ext cx="27189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CZ当選率が全体的に低く設定されており、
特にCZポイントの規定到達が遠い。
通常時に「何かが起きる」感覚が薄い。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768368"/>
            <a:ext cx="2788920" cy="82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032" y="381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ユーザー体験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032" y="4048368"/>
            <a:ext cx="271892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「投資が重い→回収できない→離席」
という離脱サイクルが発生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658368"/>
            <a:ext cx="2788920" cy="56000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4680" y="658368"/>
            <a:ext cx="40000" cy="56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9680" y="685800"/>
            <a:ext cx="2703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2222"/>
                </a:solidFill>
                <a:latin typeface="游明朝"/>
              </a:rPr>
              <a:t>課題②
有利区間上限問題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1298368"/>
            <a:ext cx="2788920" cy="135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4680" y="134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メイリオ"/>
              </a:rPr>
              <a:t>問題の実態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4680" y="1578368"/>
            <a:ext cx="271892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・大量獲得中に有利区間上限でエンディング強制
・「PO中に残り2000枚でエンディングは虚無」
・出玉が伸びるほど終わりが近づく矛盾体験
・AT前半で投資が嵩むと区間がほぼない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2708368"/>
            <a:ext cx="2788920" cy="100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4680" y="275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設計的原因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4680" y="2988368"/>
            <a:ext cx="27189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有利区間（最大2400枚）の管理が
出玉上限と強く連動している。
天井狙いで投資した分だけ残区間が減る。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768368"/>
            <a:ext cx="2788920" cy="82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4680" y="381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ユーザー体験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4680" y="4048368"/>
            <a:ext cx="271892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「盛り上がった瞬間に終わる」
最大の失望体験を生む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8" y="658368"/>
            <a:ext cx="2788920" cy="56000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53328" y="658368"/>
            <a:ext cx="40000" cy="56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8328" y="685800"/>
            <a:ext cx="270392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2222"/>
                </a:solidFill>
                <a:latin typeface="游明朝"/>
              </a:rPr>
              <a:t>課題③
ストーリーCZのデキレ感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53328" y="1298368"/>
            <a:ext cx="2788920" cy="135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3328" y="134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メイリオ"/>
              </a:rPr>
              <a:t>問題の実態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3328" y="1578368"/>
            <a:ext cx="271892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・シナリオ進行型でプレイヤーの自力感がない
・「どうせ負ける演出」という学習が起きる
・強い演出でも負けがあり信頼度不透明
・CZ自体への期待感が失われていく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3328" y="2708368"/>
            <a:ext cx="2788920" cy="100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3328" y="275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設計的原因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3328" y="2988368"/>
            <a:ext cx="27189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結果が先に決まってから演出が進行する
シナリオ型の構造的欠陥。
プレイヤーの能動性が排除されている。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53328" y="3768368"/>
            <a:ext cx="2788920" cy="820000"/>
          </a:xfrm>
          <a:prstGeom prst="rect">
            <a:avLst/>
          </a:prstGeom>
          <a:solidFill>
            <a:srgbClr val="08180C"/>
          </a:solidFill>
          <a:ln w="101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3328" y="3818368"/>
            <a:ext cx="27189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ユーザー体験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3328" y="4048368"/>
            <a:ext cx="271892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「やらされている感覚」が蓄積し
「打感が悪い台」として記憶される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設計コメント：3つの課題が複合的に作用し「打感の悪い台」を形成。単独では軽い課題も重なると致命的になる。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有利区間・到達率・自力感 ── 3点同時改善が必要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【まとめ】設計から学べること ── 高性能だが刺さらない台の教訓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95000"/>
          </a:xfrm>
          <a:prstGeom prst="rect">
            <a:avLst/>
          </a:prstGeom>
          <a:solidFill>
            <a:srgbClr val="082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685800"/>
            <a:ext cx="407052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DD66"/>
                </a:solidFill>
                <a:latin typeface="游明朝"/>
              </a:rPr>
              <a:t>ヨルムンガンドが示す「設計の教訓」4選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13368"/>
            <a:ext cx="4160520" cy="94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013368"/>
            <a:ext cx="45000" cy="94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68368"/>
            <a:ext cx="40605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游明朝"/>
              </a:rPr>
              <a:t>教訓①：到達できないスペックは「幻」になる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333368"/>
            <a:ext cx="406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PO純増5.0枚が本物でも、通常時の渋さで
到達できなければ存在しないも同然。
性能と到達可能性のバランスが設計の核心。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98368"/>
            <a:ext cx="4160520" cy="94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998368"/>
            <a:ext cx="45000" cy="94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053368"/>
            <a:ext cx="40605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游明朝"/>
              </a:rPr>
              <a:t>教訓②：自力感がないと打感は壊れる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318368"/>
            <a:ext cx="406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シナリオ型CZは「受け身体験」を生む。
「自分が引いた」という能動体験こそが
スロットの面白さの源泉。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983368"/>
            <a:ext cx="4160520" cy="94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2983368"/>
            <a:ext cx="45000" cy="94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038368"/>
            <a:ext cx="40605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游明朝"/>
              </a:rPr>
              <a:t>教訓③：有利区間の「見えない壁」がユーザーを離す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303368"/>
            <a:ext cx="406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大量獲得中の強制終了は最大の失望体験。
有利区間管理の透明性確保が
長期稼働の前提条件になる。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968368"/>
            <a:ext cx="4160520" cy="94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968368"/>
            <a:ext cx="45000" cy="94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023368"/>
            <a:ext cx="406052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44"/>
                </a:solidFill>
                <a:latin typeface="游明朝"/>
              </a:rPr>
              <a:t>教訓④：通常時の演出強弱が「当たる気がする台」を作る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288368"/>
            <a:ext cx="4060520" cy="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弱い演出が続くと希望が薄れ離席を招く。
通常時に「何かが起きる予感」を設計できるかが
来店継続率を左右する。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658368"/>
            <a:ext cx="4206240" cy="290000"/>
          </a:xfrm>
          <a:prstGeom prst="rect">
            <a:avLst/>
          </a:prstGeom>
          <a:solidFill>
            <a:srgbClr val="0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3440" y="685800"/>
            <a:ext cx="4116240" cy="2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4DD66"/>
                </a:solidFill>
                <a:latin typeface="游明朝"/>
              </a:rPr>
              <a:t>設計原則：次の台を作るとき意識すること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008368"/>
            <a:ext cx="20000" cy="44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440" y="108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通常時の自力感がAT到達への期待感を生む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498368"/>
            <a:ext cx="20000" cy="44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440" y="157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高性能ATは到達可能性が担保されて初めて機能する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988368"/>
            <a:ext cx="20000" cy="445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440" y="206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有利区間管理の不透明さは不信感の温床になる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478368"/>
            <a:ext cx="20000" cy="445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440" y="255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演出の強弱設計が「当たる気がする台」を作る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968368"/>
            <a:ext cx="20000" cy="445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440" y="3043368"/>
            <a:ext cx="4136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CZ突破率と通常時CZ当選率のバランスが打感を決める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538368"/>
            <a:ext cx="4206240" cy="1000000"/>
          </a:xfrm>
          <a:prstGeom prst="rect">
            <a:avLst/>
          </a:prstGeom>
          <a:solidFill>
            <a:srgbClr val="041408"/>
          </a:solidFill>
          <a:ln w="2540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8440" y="3598368"/>
            <a:ext cx="411624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4DD66"/>
                </a:solidFill>
                <a:latin typeface="游明朝"/>
              </a:rPr>
              <a:t>総括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8440" y="3868368"/>
            <a:ext cx="411624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ヨルムンガンドは「高性能だが刺さらない台」の典型例。
POの設計思想は正しい。しかし通常時の苦痛が
PO体験の価値を「見えないもの」にしてしまった。
不評の分析こそが、次の傑作への最短ルートになる。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4663440"/>
            <a:ext cx="12000" cy="48006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4690872"/>
            <a:ext cx="5943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設計コメント：不評の分析は批判ではなく学習。高性能POが輝く台を作るために、通常時設計から見直すことが鍵。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690872"/>
            <a:ext cx="28346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8888AA"/>
                </a:solidFill>
                <a:latin typeface="メイリオ"/>
              </a:rPr>
              <a:t>「高性能だが刺さらない台」── この教訓を活かせる設計者が次の傑作を生む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