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20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0"/>
            <a:ext cx="8000" cy="514350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475488"/>
            <a:ext cx="4572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A840"/>
                </a:solidFill>
                <a:latin typeface="游明朝"/>
              </a:rPr>
              <a:t>スマスロ 機種説明＋分析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896112"/>
            <a:ext cx="466344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3333"/>
                </a:solidFill>
                <a:latin typeface="游明朝"/>
              </a:rPr>
              <a:t>北斗の拳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2578608"/>
            <a:ext cx="45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0C0A0"/>
                </a:solidFill>
                <a:latin typeface="游明朝"/>
              </a:rPr>
              <a:t>── 4号機世代が帰還した伝説の一台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2926080"/>
            <a:ext cx="141732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メーカー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926080"/>
            <a:ext cx="306324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サミー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3144080"/>
            <a:ext cx="141732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導入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144080"/>
            <a:ext cx="306324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2023年4月3日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" y="3362080"/>
            <a:ext cx="141732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設定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362080"/>
            <a:ext cx="306324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1〜6段階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3580080"/>
            <a:ext cx="141732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機械割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580080"/>
            <a:ext cx="306324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設定1: 98.0%  /  設定6: 113.0%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" y="3798080"/>
            <a:ext cx="141732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天井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798080"/>
            <a:ext cx="306324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最大1268G → BB確定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4016080"/>
            <a:ext cx="141732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BB継続率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4016080"/>
            <a:ext cx="306324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66 / 79 / 84 / 89%（4段階）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4234080"/>
            <a:ext cx="141732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8888AA"/>
                </a:solidFill>
                <a:latin typeface="メイリオ"/>
              </a:rPr>
              <a:t>無想転生バトル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234080"/>
            <a:ext cx="3063240" cy="21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継続率94% / 期待2500枚以上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274320"/>
            <a:ext cx="3749039" cy="1170432"/>
          </a:xfrm>
          <a:prstGeom prst="rect">
            <a:avLst/>
          </a:prstGeom>
          <a:solidFill>
            <a:srgbClr val="0C1228"/>
          </a:solidFill>
          <a:ln w="2540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274320"/>
            <a:ext cx="55000" cy="117043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9240" y="3293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B1111"/>
                </a:solidFill>
                <a:latin typeface="游明朝"/>
              </a:rPr>
              <a:t>バトルボーナス型AT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6543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BB×継続率4段階×Vストックの
三位一体で出玉が伸びる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1645920"/>
            <a:ext cx="3749039" cy="1170432"/>
          </a:xfrm>
          <a:prstGeom prst="rect">
            <a:avLst/>
          </a:prstGeom>
          <a:solidFill>
            <a:srgbClr val="0C1228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6360" y="1645920"/>
            <a:ext cx="55000" cy="1170432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17009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8A840"/>
                </a:solidFill>
                <a:latin typeface="游明朝"/>
              </a:rPr>
              <a:t>無想転生バトル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20259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継続率94%・最大出玉の舞台
来店の最大目標として機能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3017520"/>
            <a:ext cx="3749039" cy="1170432"/>
          </a:xfrm>
          <a:prstGeom prst="rect">
            <a:avLst/>
          </a:prstGeom>
          <a:solidFill>
            <a:srgbClr val="0C1228"/>
          </a:solidFill>
          <a:ln w="2540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66360" y="3017520"/>
            <a:ext cx="55000" cy="1170432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3072520"/>
            <a:ext cx="34747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2AA99"/>
                </a:solidFill>
                <a:latin typeface="游明朝"/>
              </a:rPr>
              <a:t>IP×世代回帰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397520"/>
            <a:ext cx="347472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30〜40代休眠層がスマスロで
帰ってきた希有な事例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736592"/>
            <a:ext cx="18288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v2.0  2026.05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ゲームフロー全体図  ──  通常時 → AT → 上位ATへの全ルート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2/9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640080"/>
            <a:ext cx="1874519" cy="1536192"/>
          </a:xfrm>
          <a:prstGeom prst="rect">
            <a:avLst/>
          </a:prstGeom>
          <a:solidFill>
            <a:srgbClr val="06081C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592" y="690080"/>
            <a:ext cx="1744519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通常時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592" y="980080"/>
            <a:ext cx="1764519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チャンス役成立を待つ
中段チェリー・リーチ目は
アミババトル確定（AT直行）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1991" y="640080"/>
            <a:ext cx="1874519" cy="1536192"/>
          </a:xfrm>
          <a:prstGeom prst="rect">
            <a:avLst/>
          </a:prstGeom>
          <a:solidFill>
            <a:srgbClr val="1A0404"/>
          </a:solidFill>
          <a:ln w="2286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1991" y="690080"/>
            <a:ext cx="1744519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1111"/>
                </a:solidFill>
                <a:latin typeface="游明朝"/>
              </a:rPr>
              <a:t>宿命バトル（8G）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1991" y="980080"/>
            <a:ext cx="1764519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リプレイ→チャンス
レア役→勝利確定
8G目レア役→ユリア復活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0" y="640080"/>
            <a:ext cx="1874519" cy="1536192"/>
          </a:xfrm>
          <a:prstGeom prst="rect">
            <a:avLst/>
          </a:prstGeom>
          <a:solidFill>
            <a:srgbClr val="0A1004"/>
          </a:solidFill>
          <a:ln w="2286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9390" y="690080"/>
            <a:ext cx="1744519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CC66"/>
                </a:solidFill>
                <a:latin typeface="游明朝"/>
              </a:rPr>
              <a:t>バトルボーナス(BB)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9390" y="980080"/>
            <a:ext cx="1764519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小役パート30G
＋バトルパート8G
1セット≈110枚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6789" y="640080"/>
            <a:ext cx="1874519" cy="1536192"/>
          </a:xfrm>
          <a:prstGeom prst="rect">
            <a:avLst/>
          </a:prstGeom>
          <a:solidFill>
            <a:srgbClr val="0C1428"/>
          </a:solidFill>
          <a:ln w="2286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6789" y="690080"/>
            <a:ext cx="1744519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99"/>
                </a:solidFill>
                <a:latin typeface="游明朝"/>
              </a:rPr>
              <a:t>Vストック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6789" y="980080"/>
            <a:ext cx="1764519" cy="9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次セット継続確定
レイ/トキ協力で
ループ率UP</a:t>
            </a:r>
          </a:p>
        </p:txBody>
      </p:sp>
      <p:sp>
        <p:nvSpPr>
          <p:cNvPr id="20" name="Can 19"/>
          <p:cNvSpPr/>
          <p:nvPr/>
        </p:nvSpPr>
        <p:spPr>
          <a:xfrm>
            <a:off x="2079111" y="1318176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n 20"/>
          <p:cNvSpPr/>
          <p:nvPr/>
        </p:nvSpPr>
        <p:spPr>
          <a:xfrm>
            <a:off x="4136510" y="1318176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n 21"/>
          <p:cNvSpPr/>
          <p:nvPr/>
        </p:nvSpPr>
        <p:spPr>
          <a:xfrm>
            <a:off x="6193909" y="1318176"/>
            <a:ext cx="200000" cy="180000"/>
          </a:xfrm>
          <a:prstGeom prst="can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" y="2206272"/>
            <a:ext cx="1874519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840"/>
                </a:solidFill>
                <a:latin typeface="メイリオ"/>
              </a:rPr>
              <a:t>① チャンス役→宿命バトル
② 中段チェリー/リーチ目→アミバ確定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1308" y="1383176"/>
            <a:ext cx="50000" cy="909536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31308" y="2267712"/>
            <a:ext cx="700000" cy="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1308" y="2267712"/>
            <a:ext cx="50000" cy="653504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1308" y="1957712"/>
            <a:ext cx="59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D700"/>
                </a:solidFill>
                <a:latin typeface="メイリオ"/>
              </a:rPr>
              <a:t>継続
ループ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36789" y="2359152"/>
            <a:ext cx="1874519" cy="1024128"/>
          </a:xfrm>
          <a:prstGeom prst="rect">
            <a:avLst/>
          </a:prstGeom>
          <a:solidFill>
            <a:srgbClr val="140600"/>
          </a:solidFill>
          <a:ln w="2286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6789" y="2397152"/>
            <a:ext cx="1744519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游明朝"/>
              </a:rPr>
              <a:t>無想転生チャンス(15G)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6789" y="2664152"/>
            <a:ext cx="1764519" cy="66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BB消化後に約33%で突入
突入でBB中の神演出が発生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0" y="2359152"/>
            <a:ext cx="1874519" cy="1024128"/>
          </a:xfrm>
          <a:prstGeom prst="rect">
            <a:avLst/>
          </a:prstGeom>
          <a:solidFill>
            <a:srgbClr val="1A0202"/>
          </a:solidFill>
          <a:ln w="2286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9390" y="2397152"/>
            <a:ext cx="1744519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3333"/>
                </a:solidFill>
                <a:latin typeface="游明朝"/>
              </a:rPr>
              <a:t>無想転生バトル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9390" y="2664152"/>
            <a:ext cx="1764519" cy="66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継続率94%
期待2500枚以上
「真の頂点」体験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21991" y="2359152"/>
            <a:ext cx="1874519" cy="1024128"/>
          </a:xfrm>
          <a:prstGeom prst="rect">
            <a:avLst/>
          </a:prstGeom>
          <a:solidFill>
            <a:srgbClr val="140824"/>
          </a:solidFill>
          <a:ln w="2286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91991" y="2397152"/>
            <a:ext cx="1744519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44CC"/>
                </a:solidFill>
                <a:latin typeface="游明朝"/>
              </a:rPr>
              <a:t>修羅の国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1991" y="2664152"/>
            <a:ext cx="1764519" cy="66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高純増・高継続の
上位AT
さらに血涙の章あり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" y="2359152"/>
            <a:ext cx="1874519" cy="1024128"/>
          </a:xfrm>
          <a:prstGeom prst="rect">
            <a:avLst/>
          </a:prstGeom>
          <a:solidFill>
            <a:srgbClr val="040C04"/>
          </a:solidFill>
          <a:ln w="2286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4592" y="2397152"/>
            <a:ext cx="1744519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22CC66"/>
                </a:solidFill>
                <a:latin typeface="游明朝"/>
              </a:rPr>
              <a:t>天井（最大1268G）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592" y="2664152"/>
            <a:ext cx="1764519" cy="66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D0C0A0"/>
                </a:solidFill>
                <a:latin typeface="メイリオ"/>
              </a:rPr>
              <a:t>到達でBB確定
777G通過で
北斗揃い高確率</a:t>
            </a:r>
          </a:p>
        </p:txBody>
      </p:sp>
      <p:sp>
        <p:nvSpPr>
          <p:cNvPr id="40" name="Can 39"/>
          <p:cNvSpPr/>
          <p:nvPr/>
        </p:nvSpPr>
        <p:spPr>
          <a:xfrm rot="10800000">
            <a:off x="2089111" y="2796216"/>
            <a:ext cx="82880" cy="150000"/>
          </a:xfrm>
          <a:prstGeom prst="can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n 40"/>
          <p:cNvSpPr/>
          <p:nvPr/>
        </p:nvSpPr>
        <p:spPr>
          <a:xfrm rot="10800000">
            <a:off x="4146510" y="2796216"/>
            <a:ext cx="82880" cy="150000"/>
          </a:xfrm>
          <a:prstGeom prst="can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n 41"/>
          <p:cNvSpPr/>
          <p:nvPr/>
        </p:nvSpPr>
        <p:spPr>
          <a:xfrm rot="10800000">
            <a:off x="6203909" y="2796216"/>
            <a:ext cx="82880" cy="150000"/>
          </a:xfrm>
          <a:prstGeom prst="can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フロー設計の核心：BB継続率4段階＋Vストックが「次も続くかも」を繰り返す設計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宿命バトルで自力感→BB継続で期待感→無想転生で頂点体験。3段階の感情設計が長期稼働を支える。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通常時の遊び方  ──  2つのルートでBBを目指す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3/9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4114800" cy="3246120"/>
          </a:xfrm>
          <a:prstGeom prst="rect">
            <a:avLst/>
          </a:prstGeom>
          <a:solidFill>
            <a:srgbClr val="0C1228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324612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13232"/>
            <a:ext cx="3749039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ルート① チャンス役 → 宿命バトル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188720"/>
            <a:ext cx="50000" cy="99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216720"/>
            <a:ext cx="3657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契機となる役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483720"/>
            <a:ext cx="37490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スイカ・チャンス役が成立したら宿命バトル抽選
強レア役ほど突入しやすい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238720"/>
            <a:ext cx="50000" cy="990000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266720"/>
            <a:ext cx="3657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E8F4"/>
                </a:solidFill>
                <a:latin typeface="メイリオ"/>
              </a:rPr>
              <a:t>宿命バトルの目的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533720"/>
            <a:ext cx="37490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8Gバトル中にリプレイ・レア役を引いてケンシロウを勝利させる
→ AT（バトルボーナス）に当選！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288720"/>
            <a:ext cx="50000" cy="990000"/>
          </a:xfrm>
          <a:prstGeom prst="rect">
            <a:avLst/>
          </a:prstGeom>
          <a:solidFill>
            <a:srgbClr val="D0C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316720"/>
            <a:ext cx="3657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D0C0A0"/>
                </a:solidFill>
                <a:latin typeface="メイリオ"/>
              </a:rPr>
              <a:t>天井まで打てる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583720"/>
            <a:ext cx="37490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最大1268Gでバトルボーナス確定
777G通過で北斗揃い（高継続）の確率UP
焦らずチャンス役を引き続ける展開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658368"/>
            <a:ext cx="4343400" cy="3246120"/>
          </a:xfrm>
          <a:prstGeom prst="rect">
            <a:avLst/>
          </a:prstGeom>
          <a:solidFill>
            <a:srgbClr val="1A0404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658368"/>
            <a:ext cx="55000" cy="32461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713232"/>
            <a:ext cx="393192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333"/>
                </a:solidFill>
                <a:latin typeface="游明朝"/>
              </a:rPr>
              <a:t>ルート② 中段チェリー/リーチ目 → アミババトル確定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2" y="1188720"/>
            <a:ext cx="50000" cy="99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28032" y="1216720"/>
            <a:ext cx="3886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3333"/>
                </a:solidFill>
                <a:latin typeface="メイリオ"/>
              </a:rPr>
              <a:t>契機となる役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1483720"/>
            <a:ext cx="39776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中段チェリー・リーチ目リプレイが成立
これだけでAT当選が確定する！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2238720"/>
            <a:ext cx="50000" cy="99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2266720"/>
            <a:ext cx="3886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アミババトルとは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2533720"/>
            <a:ext cx="39776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ケンシロウがアミバと戦う特別バトル
勝利で即BBに突入するルート
宿命バトルを経由しない最速経路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3288720"/>
            <a:ext cx="50000" cy="990000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3316720"/>
            <a:ext cx="38862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8E8F4"/>
                </a:solidFill>
                <a:latin typeface="メイリオ"/>
              </a:rPr>
              <a:t>引いた瞬間の体験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3583720"/>
            <a:ext cx="3977639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「確定した」という安堵と喜びが生まれる
設置確認できたら積極的に期待してOK
リーチ目を覚えると楽しさが倍増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2272" y="658368"/>
            <a:ext cx="18000" cy="324612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1783080"/>
            <a:ext cx="32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D700"/>
                </a:solidFill>
                <a:latin typeface="游明朝"/>
              </a:rPr>
              <a:t>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通常時は「チャンス役成立の瞬間」と「中段チェリー/リーチ目の瞬間」の2段構えで楽しめる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ルート①は継続的なチャンス役を引くドキドキ感、ルート②は確定役の爽快感。どちらのルートも明確な手応えがある。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宿命バトル  ──  8Gで自分の役がケンシロウを勝たせる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4/9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4160520" cy="3246120"/>
          </a:xfrm>
          <a:prstGeom prst="rect">
            <a:avLst/>
          </a:prstGeom>
          <a:solidFill>
            <a:srgbClr val="0C1228"/>
          </a:solidFill>
          <a:ln w="190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324612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13232"/>
            <a:ext cx="3794760" cy="3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B1111"/>
                </a:solidFill>
                <a:latin typeface="游明朝"/>
              </a:rPr>
              <a:t>役が持つ意味 ── 何が起きたら何をすればいいか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188720"/>
            <a:ext cx="50000" cy="50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216720"/>
            <a:ext cx="1481328" cy="2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66"/>
                </a:solidFill>
                <a:latin typeface="メイリオ"/>
              </a:rPr>
              <a:t>ハズレ・ベル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56816" y="1216720"/>
            <a:ext cx="223113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バトル結果に変化なし
次のゲームへ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718720"/>
            <a:ext cx="50000" cy="500000"/>
          </a:xfrm>
          <a:prstGeom prst="rect">
            <a:avLst/>
          </a:prstGeom>
          <a:solidFill>
            <a:srgbClr val="D0C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746720"/>
            <a:ext cx="1481328" cy="2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D0C0A0"/>
                </a:solidFill>
                <a:latin typeface="メイリオ"/>
              </a:rPr>
              <a:t>リプレイ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6" y="1746720"/>
            <a:ext cx="223113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チャンス！
勝利への書き換え抽選が走る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248720"/>
            <a:ext cx="50000" cy="5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276720"/>
            <a:ext cx="1481328" cy="2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弱スイカ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2276720"/>
            <a:ext cx="223113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強チャンス！
対戦相手が変化しやすい（サウザーが多め）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778720"/>
            <a:ext cx="50000" cy="50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2806720"/>
            <a:ext cx="1481328" cy="2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強スイカ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6816" y="2806720"/>
            <a:ext cx="223113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高チャンス！
4回に1回の割合でウイグル以上が選択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3308720"/>
            <a:ext cx="50000" cy="50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336720"/>
            <a:ext cx="1481328" cy="2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333"/>
                </a:solidFill>
                <a:latin typeface="メイリオ"/>
              </a:rPr>
              <a:t>中段チェリー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56816" y="3336720"/>
            <a:ext cx="223113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最強役！ 28.9%でウイグル以上確定
アミバ出現＝共闘以上が濃厚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838720"/>
            <a:ext cx="50000" cy="50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866720"/>
            <a:ext cx="1481328" cy="2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D700"/>
                </a:solidFill>
                <a:latin typeface="メイリオ"/>
              </a:rPr>
              <a:t>8G目のレア役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6816" y="3866720"/>
            <a:ext cx="2231136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ユリア復活確定！
継続率84%以上が確定する最大の自力演出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658368"/>
            <a:ext cx="4343400" cy="1783080"/>
          </a:xfrm>
          <a:prstGeom prst="rect">
            <a:avLst/>
          </a:prstGeom>
          <a:solidFill>
            <a:srgbClr val="0C12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60" y="713232"/>
            <a:ext cx="402336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宿命バトルのフロー（8G）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143000"/>
            <a:ext cx="4187952" cy="233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6592" y="1173000"/>
            <a:ext cx="680000" cy="19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突入契機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6128" y="1173000"/>
            <a:ext cx="2999232" cy="19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チャンス目(1/179.6)・チェリー・スイカ成立で宿命バトル開始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45152" y="1386000"/>
            <a:ext cx="4187952" cy="233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1416000"/>
            <a:ext cx="680000" cy="19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1〜7G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96128" y="1416000"/>
            <a:ext cx="2999232" cy="19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役を引くたびに書き換え抽選 or 勝利確定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45152" y="1629000"/>
            <a:ext cx="4187952" cy="233000"/>
          </a:xfrm>
          <a:prstGeom prst="rect">
            <a:avLst/>
          </a:prstGeom>
          <a:solidFill>
            <a:srgbClr val="18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36592" y="1659000"/>
            <a:ext cx="680000" cy="19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3333"/>
                </a:solidFill>
                <a:latin typeface="メイリオ"/>
              </a:rPr>
              <a:t>8G目★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96128" y="1659000"/>
            <a:ext cx="2999232" cy="19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レア役→ユリア復活確定（継続率84%以上）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45152" y="1872000"/>
            <a:ext cx="4187952" cy="233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36592" y="1902000"/>
            <a:ext cx="680000" cy="19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22CC66"/>
                </a:solidFill>
                <a:latin typeface="メイリオ"/>
              </a:rPr>
              <a:t>勝利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96128" y="1902000"/>
            <a:ext cx="2999232" cy="19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BB（バトルボーナス）当選！ Vストック抽選も走る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45152" y="2115000"/>
            <a:ext cx="4187952" cy="233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36592" y="2145000"/>
            <a:ext cx="680000" cy="19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敗北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96128" y="2145000"/>
            <a:ext cx="2999232" cy="19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一部で復活演出あり / 通常時に戻る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0" y="2560320"/>
            <a:ext cx="4343400" cy="1344168"/>
          </a:xfrm>
          <a:prstGeom prst="rect">
            <a:avLst/>
          </a:prstGeom>
          <a:solidFill>
            <a:srgbClr val="140400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0" y="2560320"/>
            <a:ext cx="50000" cy="1344168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82312" y="2615184"/>
            <a:ext cx="393192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333"/>
                </a:solidFill>
                <a:latin typeface="游明朝"/>
              </a:rPr>
              <a:t>対戦相手5段階（出現で継続率示唆）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45152" y="2944368"/>
            <a:ext cx="822960" cy="700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45152" y="2944368"/>
            <a:ext cx="822960" cy="8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75152" y="3035808"/>
            <a:ext cx="7729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444466"/>
                </a:solidFill>
                <a:latin typeface="メイリオ"/>
              </a:rPr>
              <a:t>シン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5152" y="3227832"/>
            <a:ext cx="79296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D0C0A0"/>
                </a:solidFill>
                <a:latin typeface="メイリオ"/>
              </a:rPr>
              <a:t>弱 / 低継続率期待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78112" y="2944368"/>
            <a:ext cx="822960" cy="700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78112" y="2944368"/>
            <a:ext cx="822960" cy="80000"/>
          </a:xfrm>
          <a:prstGeom prst="rect">
            <a:avLst/>
          </a:prstGeom>
          <a:solidFill>
            <a:srgbClr val="D0C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08112" y="3035808"/>
            <a:ext cx="7729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D0C0A0"/>
                </a:solidFill>
                <a:latin typeface="メイリオ"/>
              </a:rPr>
              <a:t>サウザー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98112" y="3227832"/>
            <a:ext cx="79296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D0C0A0"/>
                </a:solidFill>
                <a:latin typeface="メイリオ"/>
              </a:rPr>
              <a:t>中 / 弱スイカ契機で多め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11072" y="2944368"/>
            <a:ext cx="822960" cy="700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11072" y="2944368"/>
            <a:ext cx="822960" cy="8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1072" y="3035808"/>
            <a:ext cx="7729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C8A840"/>
                </a:solidFill>
                <a:latin typeface="メイリオ"/>
              </a:rPr>
              <a:t>ウイグル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1072" y="3227832"/>
            <a:ext cx="79296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D0C0A0"/>
                </a:solidFill>
                <a:latin typeface="メイリオ"/>
              </a:rPr>
              <a:t>強 / 高継続率期待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44032" y="2944368"/>
            <a:ext cx="822960" cy="700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44032" y="2944368"/>
            <a:ext cx="822960" cy="8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74032" y="3035808"/>
            <a:ext cx="7729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3333"/>
                </a:solidFill>
                <a:latin typeface="メイリオ"/>
              </a:rPr>
              <a:t>ジャギ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64032" y="3227832"/>
            <a:ext cx="79296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D0C0A0"/>
                </a:solidFill>
                <a:latin typeface="メイリオ"/>
              </a:rPr>
              <a:t>強強 / 高継続確定級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76992" y="2944368"/>
            <a:ext cx="822960" cy="700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76992" y="2944368"/>
            <a:ext cx="822960" cy="8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6992" y="3035808"/>
            <a:ext cx="77296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FD700"/>
                </a:solidFill>
                <a:latin typeface="メイリオ"/>
              </a:rPr>
              <a:t>アミバ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96992" y="3227832"/>
            <a:ext cx="79296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>
                <a:solidFill>
                  <a:srgbClr val="D0C0A0"/>
                </a:solidFill>
                <a:latin typeface="メイリオ"/>
              </a:rPr>
              <a:t>出現＝共闘以上が濃厚！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宿命バトル設計の本質：役を引く自分の行動が「ケンシロウを勝たせた」能動体験になる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8G目のユリア復活が最大の自力演出。対戦相手（敵キャラ）が継続率示唆を担うことでIPの物語が機能的にゲームに溶け込む。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AT「世紀末モード（BB）」  ──  継続と上乗せの設計を理解する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5/9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3474720" cy="1536192"/>
          </a:xfrm>
          <a:prstGeom prst="rect">
            <a:avLst/>
          </a:prstGeom>
          <a:solidFill>
            <a:srgbClr val="140404"/>
          </a:solidFill>
          <a:ln w="2286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153619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880" y="713232"/>
            <a:ext cx="335472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1111"/>
                </a:solidFill>
                <a:latin typeface="游明朝"/>
              </a:rPr>
              <a:t>小役パート（30G＋α）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80" y="1078992"/>
            <a:ext cx="335472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チャンス役でVストック・継続率アップを抽選
宿命バトル（小役パート内）に勝利するとVストック獲得
Vストックがあれば次セット継続が確定する！</a:t>
            </a:r>
          </a:p>
        </p:txBody>
      </p:sp>
      <p:sp>
        <p:nvSpPr>
          <p:cNvPr id="12" name="Can 11"/>
          <p:cNvSpPr/>
          <p:nvPr/>
        </p:nvSpPr>
        <p:spPr>
          <a:xfrm>
            <a:off x="3707600" y="1336464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31920" y="658368"/>
            <a:ext cx="3474720" cy="1536192"/>
          </a:xfrm>
          <a:prstGeom prst="rect">
            <a:avLst/>
          </a:prstGeom>
          <a:solidFill>
            <a:srgbClr val="1A0202"/>
          </a:solidFill>
          <a:ln w="2286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1920" y="658368"/>
            <a:ext cx="55000" cy="1536192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1920" y="713232"/>
            <a:ext cx="335472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333"/>
                </a:solidFill>
                <a:latin typeface="游明朝"/>
              </a:rPr>
              <a:t>バトルパート（8G）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1920" y="1078992"/>
            <a:ext cx="335472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ケンシロウがラオウとバトル（＝継続判定）
レア役成立で勝利確定・8G目ユリア復活が最大演出
Vストックがあれば結果に関わらず次セットへ！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2322576"/>
            <a:ext cx="3474720" cy="1600200"/>
          </a:xfrm>
          <a:prstGeom prst="rect">
            <a:avLst/>
          </a:prstGeom>
          <a:solidFill>
            <a:srgbClr val="0C12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377440"/>
            <a:ext cx="32004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8A840"/>
                </a:solidFill>
                <a:latin typeface="游明朝"/>
              </a:rPr>
              <a:t>BBオーラ色＝継続率を「宣言」する演出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2697480"/>
            <a:ext cx="3337560" cy="245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725480"/>
            <a:ext cx="7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8888AA"/>
                </a:solidFill>
                <a:latin typeface="メイリオ"/>
              </a:rPr>
              <a:t>白オーラ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725480"/>
            <a:ext cx="56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8888AA"/>
                </a:solidFill>
                <a:latin typeface="メイリオ"/>
              </a:rPr>
              <a:t>66%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2787480"/>
            <a:ext cx="1508760" cy="90000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83080" y="2787480"/>
            <a:ext cx="2286000" cy="8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56032" y="2955480"/>
            <a:ext cx="3337560" cy="245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983480"/>
            <a:ext cx="7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E8E8F4"/>
                </a:solidFill>
                <a:latin typeface="メイリオ"/>
              </a:rPr>
              <a:t>青オーラ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2983480"/>
            <a:ext cx="56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E8E8F4"/>
                </a:solidFill>
                <a:latin typeface="メイリオ"/>
              </a:rPr>
              <a:t>79%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83080" y="3045480"/>
            <a:ext cx="1805940" cy="90000"/>
          </a:xfrm>
          <a:prstGeom prst="rect">
            <a:avLst/>
          </a:prstGeom>
          <a:solidFill>
            <a:srgbClr val="E8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783080" y="3045480"/>
            <a:ext cx="2286000" cy="8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3213480"/>
            <a:ext cx="3337560" cy="245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3241480"/>
            <a:ext cx="7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C8A840"/>
                </a:solidFill>
                <a:latin typeface="メイリオ"/>
              </a:rPr>
              <a:t>金オーラ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432" y="3241480"/>
            <a:ext cx="56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8A840"/>
                </a:solidFill>
                <a:latin typeface="メイリオ"/>
              </a:rPr>
              <a:t>84%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83080" y="3303480"/>
            <a:ext cx="1920240" cy="9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83080" y="3303480"/>
            <a:ext cx="2286000" cy="8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" y="3471480"/>
            <a:ext cx="3337560" cy="245000"/>
          </a:xfrm>
          <a:prstGeom prst="rect">
            <a:avLst/>
          </a:prstGeom>
          <a:solidFill>
            <a:srgbClr val="10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499480"/>
            <a:ext cx="7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1">
                <a:solidFill>
                  <a:srgbClr val="FF3333"/>
                </a:solidFill>
                <a:latin typeface="メイリオ"/>
              </a:rPr>
              <a:t>虹オーラ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3499480"/>
            <a:ext cx="56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3333"/>
                </a:solidFill>
                <a:latin typeface="メイリオ"/>
              </a:rPr>
              <a:t>89%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83080" y="3561480"/>
            <a:ext cx="2034540" cy="9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83080" y="3561480"/>
            <a:ext cx="2286000" cy="8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40480" y="2322576"/>
            <a:ext cx="2377440" cy="1600200"/>
          </a:xfrm>
          <a:prstGeom prst="rect">
            <a:avLst/>
          </a:prstGeom>
          <a:solidFill>
            <a:srgbClr val="0C1228"/>
          </a:solidFill>
          <a:ln w="1905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0480" y="2322576"/>
            <a:ext cx="50000" cy="16002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50791" y="2377440"/>
            <a:ext cx="205740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2AA99"/>
                </a:solidFill>
                <a:latin typeface="游明朝"/>
              </a:rPr>
              <a:t>Vストックの仕組み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50791" y="2724912"/>
            <a:ext cx="20574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宿命バトル勝利で獲得
Vストック1つ = 次セット継続確定
（バトルパートの結果に関わらない）
さらに「レイ・トキ協力」約40%で発生
ループ率12.5〜66%で連鎖する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322576"/>
            <a:ext cx="2514600" cy="1600200"/>
          </a:xfrm>
          <a:prstGeom prst="rect">
            <a:avLst/>
          </a:prstGeom>
          <a:solidFill>
            <a:srgbClr val="100A02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2322576"/>
            <a:ext cx="50000" cy="1600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1112" y="2377440"/>
            <a:ext cx="210312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D700"/>
                </a:solidFill>
                <a:latin typeface="游明朝"/>
              </a:rPr>
              <a:t>出玉を伸ばすには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1112" y="2724912"/>
            <a:ext cx="214884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① Vストックを積む
   （宿命バトルに勝ち続ける）
② BBのバトルパートで
   レア役を引いて自力で勝つ
③ 無想転生チャンスへ
   繋いで頂点へ到達！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BBで出玉が伸びる条件：バトル継続×Vストック蓄積×無想転生チャンス突入（約33%）の3段階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上乗せはBBセット継続経由のみ。レア役→宿命バトル勝利→Vストック蓄積が全行動指針。シンプルで明快な設計。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上位モード「修羅の国」  ──  無想転生バトルへの3ルートと頂点体験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6/9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8778240" cy="330000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94944"/>
            <a:ext cx="8229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44CC"/>
                </a:solidFill>
                <a:latin typeface="游明朝"/>
              </a:rPr>
              <a:t>無想転生バトルへの3つの突入ルート  ──  どのルートが来ても頂点体験へ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1051560"/>
            <a:ext cx="1965960" cy="1097280"/>
          </a:xfrm>
          <a:prstGeom prst="rect">
            <a:avLst/>
          </a:prstGeom>
          <a:solidFill>
            <a:srgbClr val="0C1228"/>
          </a:solidFill>
          <a:ln w="1905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168" y="1106424"/>
            <a:ext cx="18859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C8A840"/>
                </a:solidFill>
                <a:latin typeface="游明朝"/>
              </a:rPr>
              <a:t>無想転生チャンス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168" y="1417320"/>
            <a:ext cx="18959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BB消化後に約33%で突入
15G消化で成功率≈33%
ベル・レア役・白BAR揃いで突破抽選</a:t>
            </a:r>
          </a:p>
        </p:txBody>
      </p:sp>
      <p:sp>
        <p:nvSpPr>
          <p:cNvPr id="13" name="Can 12"/>
          <p:cNvSpPr/>
          <p:nvPr/>
        </p:nvSpPr>
        <p:spPr>
          <a:xfrm>
            <a:off x="2197128" y="1510200"/>
            <a:ext cx="200000" cy="180000"/>
          </a:xfrm>
          <a:prstGeom prst="can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8296" y="1051560"/>
            <a:ext cx="1965960" cy="1097280"/>
          </a:xfrm>
          <a:prstGeom prst="rect">
            <a:avLst/>
          </a:prstGeom>
          <a:solidFill>
            <a:srgbClr val="0C1228"/>
          </a:solidFill>
          <a:ln w="1905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8296" y="1106424"/>
            <a:ext cx="18859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3333"/>
                </a:solidFill>
                <a:latin typeface="游明朝"/>
              </a:rPr>
              <a:t>レイ・トキ昇天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296" y="1417320"/>
            <a:ext cx="18959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宿命バトル勝利後に発生
レイ/トキが共闘→昇天で
無想転生バトルへ直行</a:t>
            </a:r>
          </a:p>
        </p:txBody>
      </p:sp>
      <p:sp>
        <p:nvSpPr>
          <p:cNvPr id="17" name="Can 16"/>
          <p:cNvSpPr/>
          <p:nvPr/>
        </p:nvSpPr>
        <p:spPr>
          <a:xfrm>
            <a:off x="4364256" y="1510200"/>
            <a:ext cx="200000" cy="180000"/>
          </a:xfrm>
          <a:prstGeom prst="can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35424" y="1051560"/>
            <a:ext cx="1965960" cy="1097280"/>
          </a:xfrm>
          <a:prstGeom prst="rect">
            <a:avLst/>
          </a:prstGeom>
          <a:solidFill>
            <a:srgbClr val="0C122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5424" y="1106424"/>
            <a:ext cx="18859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FD700"/>
                </a:solidFill>
                <a:latin typeface="游明朝"/>
              </a:rPr>
              <a:t>ロングフリーズ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424" y="1417320"/>
            <a:ext cx="18959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通常時のリプレイ成立一部で
ロングフリーズ発生→白BAR揃い
無想転生バトル直行（プレミア）</a:t>
            </a:r>
          </a:p>
        </p:txBody>
      </p:sp>
      <p:sp>
        <p:nvSpPr>
          <p:cNvPr id="21" name="Can 20"/>
          <p:cNvSpPr/>
          <p:nvPr/>
        </p:nvSpPr>
        <p:spPr>
          <a:xfrm>
            <a:off x="6531384" y="1510200"/>
            <a:ext cx="200000" cy="180000"/>
          </a:xfrm>
          <a:prstGeom prst="can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02552" y="1051560"/>
            <a:ext cx="1965960" cy="1097280"/>
          </a:xfrm>
          <a:prstGeom prst="rect">
            <a:avLst/>
          </a:prstGeom>
          <a:solidFill>
            <a:srgbClr val="0C1228"/>
          </a:solidFill>
          <a:ln w="1905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2552" y="1106424"/>
            <a:ext cx="188596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44CC"/>
                </a:solidFill>
                <a:latin typeface="游明朝"/>
              </a:rPr>
              <a:t>無想転生バトル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7552" y="1417320"/>
            <a:ext cx="189596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D0C0A0"/>
                </a:solidFill>
                <a:latin typeface="メイリオ"/>
              </a:rPr>
              <a:t>継続率94%
期待獲得2500枚以上
「修羅の国」が隣に待つ頂点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2286000"/>
            <a:ext cx="4160520" cy="1645920"/>
          </a:xfrm>
          <a:prstGeom prst="rect">
            <a:avLst/>
          </a:prstGeom>
          <a:solidFill>
            <a:srgbClr val="180202"/>
          </a:solidFill>
          <a:ln w="25400">
            <a:solidFill>
              <a:srgbClr val="FF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2880" y="2286000"/>
            <a:ext cx="55000" cy="164592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340864"/>
            <a:ext cx="379476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333"/>
                </a:solidFill>
                <a:latin typeface="游明朝"/>
              </a:rPr>
              <a:t>無想転生バトル  詳細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697480"/>
            <a:ext cx="38862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・継続率94%（最高峰）
・期待獲得枚数：2500枚以上
・有利区間終了後も84%以上の高継続BBが再セット
・「終わったと思ったらまだ続く」体験が生まれる
・突入確認できたら長丁場を覚悟して楽しむ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2286000"/>
            <a:ext cx="4343400" cy="1645920"/>
          </a:xfrm>
          <a:prstGeom prst="rect">
            <a:avLst/>
          </a:prstGeom>
          <a:solidFill>
            <a:srgbClr val="100420"/>
          </a:solidFill>
          <a:ln w="25400">
            <a:solidFill>
              <a:srgbClr val="8844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0" y="2286000"/>
            <a:ext cx="55000" cy="164592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2340864"/>
            <a:ext cx="393192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44CC"/>
                </a:solidFill>
                <a:latin typeface="游明朝"/>
              </a:rPr>
              <a:t>修羅の国 ＆ 血涙の章  詳細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2697480"/>
            <a:ext cx="50000" cy="50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2727480"/>
            <a:ext cx="109728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8844CC"/>
                </a:solidFill>
                <a:latin typeface="メイリオ"/>
              </a:rPr>
              <a:t>修羅の国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61888" y="2727480"/>
            <a:ext cx="283464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無想転生バトル中から突入する上位AT
高純増かつ継続率が大幅に強化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2" y="3237480"/>
            <a:ext cx="50000" cy="50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267480"/>
            <a:ext cx="109728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F3333"/>
                </a:solidFill>
                <a:latin typeface="メイリオ"/>
              </a:rPr>
              <a:t>血涙の章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3267480"/>
            <a:ext cx="283464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修羅の国のさらに上位のモード
突入した時点で別格の出玉が約束される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45152" y="3777480"/>
            <a:ext cx="50000" cy="50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2" y="3807480"/>
            <a:ext cx="1097280" cy="22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遊び方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61888" y="3807480"/>
            <a:ext cx="283464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到達できたら「残枚数」を意識せず
とにかくバトルを見守るだけでOK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844CC"/>
                </a:solidFill>
                <a:latin typeface="メイリオ"/>
              </a:rPr>
              <a:t>修羅の国設計の核心：「到達した人だけが体験できる上位世界」として来店継続の最大動機になる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無想転生バトル→修羅の国→血涙の章という3段階のラダー設計が、初心者から上級者まで目標を分散させる。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面白さの設計  ──  なぜスマスロ北斗の拳は面白いのか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7/9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2743200" cy="3246120"/>
          </a:xfrm>
          <a:prstGeom prst="rect">
            <a:avLst/>
          </a:prstGeom>
          <a:solidFill>
            <a:srgbClr val="180202"/>
          </a:solidFill>
          <a:ln w="2540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324612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880" y="713232"/>
            <a:ext cx="251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1111"/>
                </a:solidFill>
                <a:latin typeface="游明朝"/>
              </a:rPr>
              <a:t>自力感の設計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880" y="1115568"/>
            <a:ext cx="2514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リプレイ成立→書き換えチャンス
レア役成立→勝利確定
8G目レア役→ユリア復活確定
「役を引く自分の行動」が
ケンシロウを勝たせた
と感じさせる巧みな設計
確率は変えられないのに
能動体験として記憶される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658368"/>
            <a:ext cx="2743200" cy="3246120"/>
          </a:xfrm>
          <a:prstGeom prst="rect">
            <a:avLst/>
          </a:prstGeom>
          <a:solidFill>
            <a:srgbClr val="140C02"/>
          </a:solidFill>
          <a:ln w="2540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658368"/>
            <a:ext cx="55000" cy="324612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6120" y="713232"/>
            <a:ext cx="251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継続率の4段階管理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6120" y="1115568"/>
            <a:ext cx="2514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66→79→84→89%の4段階が
BB開始時にオーラで宣言される
「今回はどの段階か」という
緊張感が生まれ、虹オーラで
「行けるかも」という確信が芽生える
Vストックが「敗北の恐怖」を
和らげる緩衝材として機能する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658368"/>
            <a:ext cx="2743200" cy="3246120"/>
          </a:xfrm>
          <a:prstGeom prst="rect">
            <a:avLst/>
          </a:prstGeom>
          <a:solidFill>
            <a:srgbClr val="021018"/>
          </a:solidFill>
          <a:ln w="2540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658368"/>
            <a:ext cx="55000" cy="324612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9360" y="713232"/>
            <a:ext cx="2514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AA99"/>
                </a:solidFill>
                <a:latin typeface="游明朝"/>
              </a:rPr>
              <a:t>IP力による世代回帰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9360" y="1115568"/>
            <a:ext cx="251460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4号機「北斗の拳」を
原体験とする30〜40代が
スマスロ版をきっかけに帰還
IPの力で「初回来店」を獲得し
実機の完成度で「リピート」を生む
「北斗あるある」が
コミュニティと会話を生み
社会現象化を後押しした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総評：「自力感×継続率精密管理×IP」の三位一体が89週連続稼働ランキング3位を支えた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どれか一つが欠けても長期稼働は実現しなかった。IP単体でも実機完成度単体でも不十分で、両方が必要だった。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良い点と課題  ──  バランス評価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8/9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4160520" cy="3246120"/>
          </a:xfrm>
          <a:prstGeom prst="rect">
            <a:avLst/>
          </a:prstGeom>
          <a:solidFill>
            <a:srgbClr val="0C1228"/>
          </a:solidFill>
          <a:ln w="25400">
            <a:solidFill>
              <a:srgbClr val="22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324612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13232"/>
            <a:ext cx="379476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CC66"/>
                </a:solidFill>
                <a:latin typeface="游明朝"/>
              </a:rPr>
              <a:t>良い点（強み）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170432"/>
            <a:ext cx="50000" cy="820000"/>
          </a:xfrm>
          <a:prstGeom prst="rect">
            <a:avLst/>
          </a:prstGeom>
          <a:solidFill>
            <a:srgbClr val="22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200432"/>
            <a:ext cx="36576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CC66"/>
                </a:solidFill>
                <a:latin typeface="メイリオ"/>
              </a:rPr>
              <a:t>設計がシンプルで分かりやすい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475432"/>
            <a:ext cx="37490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BB継続とVストックという2軸だけで
「何をすればいいか」が常に明確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40432"/>
            <a:ext cx="50000" cy="82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070432"/>
            <a:ext cx="36576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自力感と偶然性のバランス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345432"/>
            <a:ext cx="37490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役を引く行動が「自分で勝った」体験になる
同時に偶然性も保たれ理不尽感が生きる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910432"/>
            <a:ext cx="50000" cy="82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940432"/>
            <a:ext cx="36576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99"/>
                </a:solidFill>
                <a:latin typeface="メイリオ"/>
              </a:rPr>
              <a:t>89週連続の長期稼働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215432"/>
            <a:ext cx="37490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5634店設置・稼働ランキング3位維持
IPと実機完成度の両立が証明された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3780432"/>
            <a:ext cx="50000" cy="82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810432"/>
            <a:ext cx="36576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3333"/>
                </a:solidFill>
                <a:latin typeface="メイリオ"/>
              </a:rPr>
              <a:t>世代を超えたIP展開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4085432"/>
            <a:ext cx="37490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30〜40代休眠層の呼び戻しに成功
新規層との世代交流が生まれた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658368"/>
            <a:ext cx="4343400" cy="3246120"/>
          </a:xfrm>
          <a:prstGeom prst="rect">
            <a:avLst/>
          </a:prstGeom>
          <a:solidFill>
            <a:srgbClr val="160404"/>
          </a:solidFill>
          <a:ln w="2540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658368"/>
            <a:ext cx="55000" cy="324612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713232"/>
            <a:ext cx="3931920" cy="29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B1111"/>
                </a:solidFill>
                <a:latin typeface="游明朝"/>
              </a:rPr>
              <a:t>課題（改善余地）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1170432"/>
            <a:ext cx="50000" cy="82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2" y="1200432"/>
            <a:ext cx="38862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1111"/>
                </a:solidFill>
                <a:latin typeface="メイリオ"/>
              </a:rPr>
              <a:t>差枚管理の不透明さ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1475432"/>
            <a:ext cx="39776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有利区間内の差枚管理が非公開
「冷遇区間」「デキレ」論争が続く
透明性の欠如が信頼侵食リスク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45152" y="2040432"/>
            <a:ext cx="50000" cy="82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28032" y="2070432"/>
            <a:ext cx="38862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3333"/>
                </a:solidFill>
                <a:latin typeface="メイリオ"/>
              </a:rPr>
              <a:t>天然終了か冷遇か不明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2345432"/>
            <a:ext cx="39776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有利区間終了原因が判断できない
不透明さが陰謀論を育てる環境になっている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45152" y="2910432"/>
            <a:ext cx="50000" cy="82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2940432"/>
            <a:ext cx="38862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設定判別が難しい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3215432"/>
            <a:ext cx="39776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機械割差は大きいが判別要素が少ない
設定1と設定6の差を意識する来店が難しい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45152" y="3780432"/>
            <a:ext cx="50000" cy="820000"/>
          </a:xfrm>
          <a:prstGeom prst="rect">
            <a:avLst/>
          </a:prstGeom>
          <a:solidFill>
            <a:srgbClr val="44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810432"/>
            <a:ext cx="3886200" cy="2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44466"/>
                </a:solidFill>
                <a:latin typeface="メイリオ"/>
              </a:rPr>
              <a:t>IP依存リスク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28032" y="4085432"/>
            <a:ext cx="3977639" cy="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8E8F4"/>
                </a:solidFill>
                <a:latin typeface="メイリオ"/>
              </a:rPr>
              <a:t>北斗の拳が無ければ成立しない要素が多い
次世代タイトルへの応用には注意が必要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041648"/>
            <a:ext cx="8778240" cy="580000"/>
          </a:xfrm>
          <a:prstGeom prst="rect">
            <a:avLst/>
          </a:prstGeom>
          <a:solidFill>
            <a:srgbClr val="06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4041648"/>
            <a:ext cx="55000" cy="58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4087368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BB1111"/>
                </a:solidFill>
                <a:latin typeface="メイリオ"/>
              </a:rPr>
              <a:t>課題の本質：差枚管理の不透明さは設計上のリスクファクター。長期的な信頼構築には透明性が必要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389120"/>
            <a:ext cx="832104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D0C0A0"/>
                </a:solidFill>
                <a:latin typeface="メイリオ"/>
              </a:rPr>
              <a:t>良い点の多くがIPと実機完成度の掛け算。次世代設計では「透明性」と「IP不依存の自力感設計」が課題。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C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000" cy="530352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28000"/>
            <a:ext cx="7772400" cy="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8A840"/>
                </a:solidFill>
                <a:latin typeface="游明朝"/>
              </a:rPr>
              <a:t>まとめ  ──  設計から学べること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5000"/>
            <a:ext cx="9144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8888AA"/>
                </a:solidFill>
                <a:latin typeface="メイリオ"/>
              </a:rPr>
              <a:t>9/9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9144000" cy="7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658368"/>
            <a:ext cx="4160520" cy="3246120"/>
          </a:xfrm>
          <a:prstGeom prst="rect">
            <a:avLst/>
          </a:prstGeom>
          <a:solidFill>
            <a:srgbClr val="0C1228"/>
          </a:solidFill>
          <a:ln w="19050">
            <a:solidFill>
              <a:srgbClr val="8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658368"/>
            <a:ext cx="55000" cy="3246120"/>
          </a:xfrm>
          <a:prstGeom prst="rect">
            <a:avLst/>
          </a:prstGeom>
          <a:solidFill>
            <a:srgbClr val="8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13232"/>
            <a:ext cx="3794760" cy="28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89週稼働を支えた3要素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115568"/>
            <a:ext cx="3995928" cy="1020000"/>
          </a:xfrm>
          <a:prstGeom prst="rect">
            <a:avLst/>
          </a:prstGeom>
          <a:solidFill>
            <a:srgbClr val="0C1228"/>
          </a:solidFill>
          <a:ln w="1524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115568"/>
            <a:ext cx="48000" cy="102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165568"/>
            <a:ext cx="361188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1111"/>
                </a:solidFill>
                <a:latin typeface="メイリオ"/>
              </a:rPr>
              <a:t>① IP力（知名度×ノスタルジア）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430568"/>
            <a:ext cx="361188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4号機北斗を原体験とする30〜40代が
復帰する動機になった
IP単体では不十分。実機の完成度が前提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2195568"/>
            <a:ext cx="3995928" cy="1020000"/>
          </a:xfrm>
          <a:prstGeom prst="rect">
            <a:avLst/>
          </a:prstGeom>
          <a:solidFill>
            <a:srgbClr val="0C1228"/>
          </a:solidFill>
          <a:ln w="15240">
            <a:solidFill>
              <a:srgbClr val="C8A8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6032" y="2195568"/>
            <a:ext cx="48000" cy="102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245568"/>
            <a:ext cx="361188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840"/>
                </a:solidFill>
                <a:latin typeface="メイリオ"/>
              </a:rPr>
              <a:t>② BB継続率4段階×Vストック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10568"/>
            <a:ext cx="361188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66〜89%の4段階＋Vストックで
「次も続くかも」を繰り返す設計
無想転生バトル94%が来店目標として機能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" y="3275568"/>
            <a:ext cx="3995928" cy="1020000"/>
          </a:xfrm>
          <a:prstGeom prst="rect">
            <a:avLst/>
          </a:prstGeom>
          <a:solidFill>
            <a:srgbClr val="0C1228"/>
          </a:solidFill>
          <a:ln w="15240">
            <a:solidFill>
              <a:srgbClr val="22AA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6032" y="3275568"/>
            <a:ext cx="48000" cy="102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325568"/>
            <a:ext cx="361188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2AA99"/>
                </a:solidFill>
                <a:latin typeface="メイリオ"/>
              </a:rPr>
              <a:t>③ 5634店・89週の安心感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590568"/>
            <a:ext cx="361188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設置台数と稼働期間の長さが
「まだ打てる台」という消極的安心感を醸成
長期稼働自体が来店動機になる循環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658368"/>
            <a:ext cx="4343400" cy="290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2000" y="703368"/>
            <a:ext cx="42634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840"/>
                </a:solidFill>
                <a:latin typeface="游明朝"/>
              </a:rPr>
              <a:t>設計原則（次機種に活かせること）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948368"/>
            <a:ext cx="22000" cy="450000"/>
          </a:xfrm>
          <a:prstGeom prst="rect">
            <a:avLst/>
          </a:prstGeom>
          <a:solidFill>
            <a:srgbClr val="BB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7000" y="1013368"/>
            <a:ext cx="42734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BB1111"/>
                </a:solidFill>
                <a:latin typeface="メイリオ"/>
              </a:rPr>
              <a:t>強IPは「休眠層の呼び水」になる
  ── ただし実機の完成度が前提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1428368"/>
            <a:ext cx="22000" cy="450000"/>
          </a:xfrm>
          <a:prstGeom prst="rect">
            <a:avLst/>
          </a:prstGeom>
          <a:solidFill>
            <a:srgbClr val="C8A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7000" y="1493368"/>
            <a:ext cx="42734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8A840"/>
                </a:solidFill>
                <a:latin typeface="メイリオ"/>
              </a:rPr>
              <a:t>BB継続率の4段階が「次への期待感」を精密制御する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0" y="1908368"/>
            <a:ext cx="22000" cy="450000"/>
          </a:xfrm>
          <a:prstGeom prst="rect">
            <a:avLst/>
          </a:prstGeom>
          <a:solidFill>
            <a:srgbClr val="22A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7000" y="1973368"/>
            <a:ext cx="42734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2AA99"/>
                </a:solidFill>
                <a:latin typeface="メイリオ"/>
              </a:rPr>
              <a:t>Vストックが「敗北の恐怖」を和らげる緩衝材になる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388368"/>
            <a:ext cx="22000" cy="450000"/>
          </a:xfrm>
          <a:prstGeom prst="rect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7000" y="2453368"/>
            <a:ext cx="42734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3333"/>
                </a:solidFill>
                <a:latin typeface="メイリオ"/>
              </a:rPr>
              <a:t>透明性の欠如（差枚非公開）は長期的な信頼リスク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0" y="2868368"/>
            <a:ext cx="22000" cy="450000"/>
          </a:xfrm>
          <a:prstGeom prst="rect">
            <a:avLst/>
          </a:prstGeom>
          <a:solidFill>
            <a:srgbClr val="88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27000" y="2933368"/>
            <a:ext cx="4273400" cy="3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8844CC"/>
                </a:solidFill>
                <a:latin typeface="メイリオ"/>
              </a:rPr>
              <a:t>自力感×継続率×IPの三位一体が奇跡的に揃った事例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3398368"/>
            <a:ext cx="4343400" cy="835000"/>
          </a:xfrm>
          <a:prstGeom prst="rect">
            <a:avLst/>
          </a:prstGeom>
          <a:solidFill>
            <a:srgbClr val="180404"/>
          </a:solidFill>
          <a:ln w="19050">
            <a:solidFill>
              <a:srgbClr val="BB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2000" y="3448368"/>
            <a:ext cx="4263400" cy="26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B1111"/>
                </a:solidFill>
                <a:latin typeface="游明朝"/>
              </a:rPr>
              <a:t>総括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2000" y="3713368"/>
            <a:ext cx="42634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E8F4"/>
                </a:solidFill>
                <a:latin typeface="メイリオ"/>
              </a:rPr>
              <a:t>IP×BB継続率×Vストックの三位一体が奇跡的に揃った事例。
ただし差枚管理の不透明さは次世代設計で解決すべき課題。
「長く打てる台」の設計としてベンチマーク価値が高い。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919472"/>
            <a:ext cx="15544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8888AA"/>
                </a:solidFill>
                <a:latin typeface="メイリオ"/>
              </a:rPr>
              <a:t>※ネット解析情報より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