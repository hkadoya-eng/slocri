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937760" cy="5143500"/>
          </a:xfrm>
          <a:prstGeom prst="rect">
            <a:avLst/>
          </a:prstGeom>
          <a:solidFill>
            <a:srgbClr val="FA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000" cy="51435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0"/>
            <a:ext cx="8000" cy="51435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502920"/>
            <a:ext cx="4572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9620"/>
                </a:solidFill>
                <a:latin typeface="游明朝"/>
              </a:rPr>
              <a:t>機種分析資料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960120"/>
            <a:ext cx="45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880000"/>
                </a:solidFill>
                <a:latin typeface="游明朝"/>
              </a:rPr>
              <a:t>スマスロ
北斗の拳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" y="2606040"/>
            <a:ext cx="4572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55"/>
                </a:solidFill>
                <a:latin typeface="游明朝"/>
              </a:rPr>
              <a:t>── 4号機世代を呼び戻した稀有な設計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" y="3200400"/>
            <a:ext cx="44805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77"/>
                </a:solidFill>
                <a:latin typeface="メイリオ"/>
              </a:rPr>
              <a:t>メーカー：サミー　　設定数：6段階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" y="3520440"/>
            <a:ext cx="44805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77"/>
                </a:solidFill>
                <a:latin typeface="メイリオ"/>
              </a:rPr>
              <a:t>機械割：設定1 98.0% ／ 設定6 113.0%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3840480"/>
            <a:ext cx="44805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77"/>
                </a:solidFill>
                <a:latin typeface="メイリオ"/>
              </a:rPr>
              <a:t>長期稼働：89週連続 稼働ランキング3位・5634店設置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66360" y="640080"/>
            <a:ext cx="3749039" cy="1143000"/>
          </a:xfrm>
          <a:prstGeom prst="rect">
            <a:avLst/>
          </a:prstGeom>
          <a:solidFill>
            <a:srgbClr val="EEF2F8"/>
          </a:solidFill>
          <a:ln w="2540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66360" y="640080"/>
            <a:ext cx="73152" cy="1143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700080"/>
            <a:ext cx="34747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B1111"/>
                </a:solidFill>
                <a:latin typeface="游明朝"/>
              </a:rPr>
              <a:t>IP 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020080"/>
            <a:ext cx="34747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333355"/>
                </a:solidFill>
                <a:latin typeface="メイリオ"/>
              </a:rPr>
              <a:t>4号機「北斗の拳」世代の
潜在ファン層を掘り起こす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66360" y="2057400"/>
            <a:ext cx="3749039" cy="1143000"/>
          </a:xfrm>
          <a:prstGeom prst="rect">
            <a:avLst/>
          </a:prstGeom>
          <a:solidFill>
            <a:srgbClr val="EEF2F8"/>
          </a:solidFill>
          <a:ln w="25400">
            <a:solidFill>
              <a:srgbClr val="B896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66360" y="2057400"/>
            <a:ext cx="73152" cy="1143000"/>
          </a:xfrm>
          <a:prstGeom prst="rect">
            <a:avLst/>
          </a:prstGeom>
          <a:solidFill>
            <a:srgbClr val="B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9240" y="2117400"/>
            <a:ext cx="34747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89620"/>
                </a:solidFill>
                <a:latin typeface="游明朝"/>
              </a:rPr>
              <a:t>94%ループ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437400"/>
            <a:ext cx="34747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333355"/>
                </a:solidFill>
                <a:latin typeface="メイリオ"/>
              </a:rPr>
              <a:t>上位AT「無想転生」で
平均16連チャン超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66360" y="3474720"/>
            <a:ext cx="3749039" cy="1143000"/>
          </a:xfrm>
          <a:prstGeom prst="rect">
            <a:avLst/>
          </a:prstGeom>
          <a:solidFill>
            <a:srgbClr val="EEF2F8"/>
          </a:solidFill>
          <a:ln w="25400">
            <a:solidFill>
              <a:srgbClr val="2255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66360" y="3474720"/>
            <a:ext cx="73152" cy="1143000"/>
          </a:xfrm>
          <a:prstGeom prst="rect">
            <a:avLst/>
          </a:prstGeom>
          <a:solidFill>
            <a:srgbClr val="225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9240" y="3534720"/>
            <a:ext cx="34747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55BB"/>
                </a:solidFill>
                <a:latin typeface="游明朝"/>
              </a:rPr>
              <a:t>設計の透明性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3854720"/>
            <a:ext cx="34747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333355"/>
                </a:solidFill>
                <a:latin typeface="メイリオ"/>
              </a:rPr>
              <a:t>有利区間・冷遇区間への
ユーザー不満も存在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77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E2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428"/>
                </a:solidFill>
                <a:latin typeface="游明朝"/>
              </a:rPr>
              <a:t>スペック ── 基本数値と天井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77"/>
                </a:solidFill>
                <a:latin typeface="メイリオ"/>
              </a:rPr>
              <a:t>2/7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713232"/>
            <a:ext cx="4550000" cy="37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320" y="763232"/>
            <a:ext cx="500000" cy="3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メイリオ"/>
              </a:rPr>
              <a:t>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20" y="763232"/>
            <a:ext cx="950000" cy="3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メイリオ"/>
              </a:rPr>
              <a:t>機械割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4320" y="763232"/>
            <a:ext cx="1150000" cy="3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メイリオ"/>
              </a:rPr>
              <a:t>AT初当り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4320" y="763232"/>
            <a:ext cx="1050000" cy="3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メイリオ"/>
              </a:rPr>
              <a:t>設定6比 出玉率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54320" y="763232"/>
            <a:ext cx="650000" cy="3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メイリオ"/>
              </a:rPr>
              <a:t>特記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083232"/>
            <a:ext cx="4550000" cy="37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320" y="1138232"/>
            <a:ext cx="5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0A1428"/>
                </a:solidFill>
                <a:latin typeface="メイリオ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320" y="1138232"/>
            <a:ext cx="9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98.0%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4320" y="1138232"/>
            <a:ext cx="11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1/383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320" y="1138232"/>
            <a:ext cx="10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4320" y="1138232"/>
            <a:ext cx="6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453232"/>
            <a:ext cx="4550000" cy="370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320" y="1508232"/>
            <a:ext cx="5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0A1428"/>
                </a:solidFill>
                <a:latin typeface="メイリオ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320" y="1508232"/>
            <a:ext cx="9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99.0%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54320" y="1508232"/>
            <a:ext cx="11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1/360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54320" y="1508232"/>
            <a:ext cx="10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54320" y="1508232"/>
            <a:ext cx="6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1823232"/>
            <a:ext cx="4550000" cy="37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320" y="1878232"/>
            <a:ext cx="5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0A1428"/>
                </a:solidFill>
                <a:latin typeface="メイリオ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320" y="1878232"/>
            <a:ext cx="9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102.0%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54320" y="1878232"/>
            <a:ext cx="11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1/330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54320" y="1878232"/>
            <a:ext cx="10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54320" y="1878232"/>
            <a:ext cx="6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2193232"/>
            <a:ext cx="4550000" cy="370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4320" y="2248232"/>
            <a:ext cx="5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BB1111"/>
                </a:solidFill>
                <a:latin typeface="メイリオ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320" y="2248232"/>
            <a:ext cx="9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0A1428"/>
                </a:solidFill>
                <a:latin typeface="メイリオ"/>
              </a:rPr>
              <a:t>105.5%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54320" y="2248232"/>
            <a:ext cx="11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1/300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54320" y="2248232"/>
            <a:ext cx="10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B89620"/>
                </a:solidFill>
                <a:latin typeface="メイリオ"/>
              </a:rPr>
              <a:t>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54320" y="2248232"/>
            <a:ext cx="6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設定4以上でプラス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2563232"/>
            <a:ext cx="4550000" cy="37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4320" y="2618232"/>
            <a:ext cx="5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BB1111"/>
                </a:solidFill>
                <a:latin typeface="メイリオ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320" y="2618232"/>
            <a:ext cx="9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0A1428"/>
                </a:solidFill>
                <a:latin typeface="メイリオ"/>
              </a:rPr>
              <a:t>109.0%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54320" y="2618232"/>
            <a:ext cx="11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1/265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54320" y="2618232"/>
            <a:ext cx="10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B89620"/>
                </a:solidFill>
                <a:latin typeface="メイリオ"/>
              </a:rPr>
              <a:t>▲▲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54320" y="2618232"/>
            <a:ext cx="6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2933232"/>
            <a:ext cx="4550000" cy="370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04320" y="2988232"/>
            <a:ext cx="5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BB1111"/>
                </a:solidFill>
                <a:latin typeface="メイリオ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320" y="2988232"/>
            <a:ext cx="9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0A1428"/>
                </a:solidFill>
                <a:latin typeface="メイリオ"/>
              </a:rPr>
              <a:t>113.0%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54320" y="2988232"/>
            <a:ext cx="11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1/235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320" y="2988232"/>
            <a:ext cx="10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B89620"/>
                </a:solidFill>
                <a:latin typeface="メイリオ"/>
              </a:rPr>
              <a:t>◎ TOP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54320" y="2988232"/>
            <a:ext cx="6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長期稼働の核心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74920" y="713232"/>
            <a:ext cx="3749039" cy="48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074920" y="713232"/>
            <a:ext cx="40000" cy="48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44920" y="753232"/>
            <a:ext cx="34747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BB1111"/>
                </a:solidFill>
                <a:latin typeface="メイリオ"/>
              </a:rPr>
              <a:t>天井①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44920" y="953232"/>
            <a:ext cx="34747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428"/>
                </a:solidFill>
                <a:latin typeface="メイリオ"/>
              </a:rPr>
              <a:t>最大 1,268G（通常モード）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74920" y="1243232"/>
            <a:ext cx="3749039" cy="48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B896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74920" y="1243232"/>
            <a:ext cx="40000" cy="480000"/>
          </a:xfrm>
          <a:prstGeom prst="rect">
            <a:avLst/>
          </a:prstGeom>
          <a:solidFill>
            <a:srgbClr val="B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44920" y="1283232"/>
            <a:ext cx="34747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B89620"/>
                </a:solidFill>
                <a:latin typeface="メイリオ"/>
              </a:rPr>
              <a:t>天井②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44920" y="1483232"/>
            <a:ext cx="34747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428"/>
                </a:solidFill>
                <a:latin typeface="メイリオ"/>
              </a:rPr>
              <a:t>777G でほぼ北斗揃い確定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74920" y="1773232"/>
            <a:ext cx="3749039" cy="48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33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74920" y="1773232"/>
            <a:ext cx="40000" cy="480000"/>
          </a:xfrm>
          <a:prstGeom prst="rect">
            <a:avLst/>
          </a:prstGeom>
          <a:solidFill>
            <a:srgbClr val="33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44920" y="1813232"/>
            <a:ext cx="34747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33355"/>
                </a:solidFill>
                <a:latin typeface="メイリオ"/>
              </a:rPr>
              <a:t>リセット後天井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44920" y="2013232"/>
            <a:ext cx="34747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428"/>
                </a:solidFill>
                <a:latin typeface="メイリオ"/>
              </a:rPr>
              <a:t>800G+α（リセット短縮）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74920" y="2303232"/>
            <a:ext cx="3749039" cy="48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0A14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74920" y="2303232"/>
            <a:ext cx="40000" cy="480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144920" y="2343232"/>
            <a:ext cx="34747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A1428"/>
                </a:solidFill>
                <a:latin typeface="メイリオ"/>
              </a:rPr>
              <a:t>純増速度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44920" y="2543232"/>
            <a:ext cx="34747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428"/>
                </a:solidFill>
                <a:latin typeface="メイリオ"/>
              </a:rPr>
              <a:t>AT中 約3.0枚/G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74920" y="2833232"/>
            <a:ext cx="3749039" cy="48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2255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74920" y="2833232"/>
            <a:ext cx="40000" cy="480000"/>
          </a:xfrm>
          <a:prstGeom prst="rect">
            <a:avLst/>
          </a:prstGeom>
          <a:solidFill>
            <a:srgbClr val="225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44920" y="2873232"/>
            <a:ext cx="34747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55BB"/>
                </a:solidFill>
                <a:latin typeface="メイリオ"/>
              </a:rPr>
              <a:t>BB継続率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144920" y="3073232"/>
            <a:ext cx="34747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428"/>
                </a:solidFill>
                <a:latin typeface="メイリオ"/>
              </a:rPr>
              <a:t>有利区間リセット後 84%以上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74920" y="3363232"/>
            <a:ext cx="3749039" cy="48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118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074920" y="3363232"/>
            <a:ext cx="40000" cy="480000"/>
          </a:xfrm>
          <a:prstGeom prst="rect">
            <a:avLst/>
          </a:prstGeom>
          <a:solidFill>
            <a:srgbClr val="118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144920" y="3403232"/>
            <a:ext cx="34747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18844"/>
                </a:solidFill>
                <a:latin typeface="メイリオ"/>
              </a:rPr>
              <a:t>設定6勝率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44920" y="3603232"/>
            <a:ext cx="34747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428"/>
                </a:solidFill>
                <a:latin typeface="メイリオ"/>
              </a:rPr>
              <a:t>実戦データ 94.2%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77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E2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428"/>
                </a:solidFill>
                <a:latin typeface="游明朝"/>
              </a:rPr>
              <a:t>ゲームフロー ── 通常→AT→上位ATの構造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77"/>
                </a:solidFill>
                <a:latin typeface="メイリオ"/>
              </a:rPr>
              <a:t>3/7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" y="1531620"/>
            <a:ext cx="1417320" cy="1234440"/>
          </a:xfrm>
          <a:prstGeom prst="rect">
            <a:avLst/>
          </a:prstGeom>
          <a:solidFill>
            <a:srgbClr val="EEF2F8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6364" y="1611620"/>
            <a:ext cx="13373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A1428"/>
                </a:solidFill>
                <a:latin typeface="游明朝"/>
              </a:rPr>
              <a:t>通常遊技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364" y="1971620"/>
            <a:ext cx="13573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66677"/>
                </a:solidFill>
                <a:latin typeface="メイリオ"/>
              </a:rPr>
              <a:t>レア役・モード移行を積み上げ</a:t>
            </a:r>
          </a:p>
        </p:txBody>
      </p:sp>
      <p:sp>
        <p:nvSpPr>
          <p:cNvPr id="11" name="Can 10"/>
          <p:cNvSpPr/>
          <p:nvPr/>
        </p:nvSpPr>
        <p:spPr>
          <a:xfrm>
            <a:off x="2053684" y="2058840"/>
            <a:ext cx="200000" cy="180000"/>
          </a:xfrm>
          <a:prstGeom prst="can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44852" y="1531620"/>
            <a:ext cx="1417320" cy="1234440"/>
          </a:xfrm>
          <a:prstGeom prst="rect">
            <a:avLst/>
          </a:prstGeom>
          <a:solidFill>
            <a:srgbClr val="EEF2F8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4852" y="1611620"/>
            <a:ext cx="13373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A1428"/>
                </a:solidFill>
                <a:latin typeface="游明朝"/>
              </a:rPr>
              <a:t>ボーナス
(BB)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74852" y="1971620"/>
            <a:ext cx="13573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66677"/>
                </a:solidFill>
                <a:latin typeface="メイリオ"/>
              </a:rPr>
              <a:t>BB後のモードで
次の展開が決まる</a:t>
            </a:r>
          </a:p>
        </p:txBody>
      </p:sp>
      <p:sp>
        <p:nvSpPr>
          <p:cNvPr id="15" name="Can 14"/>
          <p:cNvSpPr/>
          <p:nvPr/>
        </p:nvSpPr>
        <p:spPr>
          <a:xfrm>
            <a:off x="3672172" y="2058840"/>
            <a:ext cx="200000" cy="180000"/>
          </a:xfrm>
          <a:prstGeom prst="can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63340" y="1531620"/>
            <a:ext cx="1417320" cy="1234440"/>
          </a:xfrm>
          <a:prstGeom prst="rect">
            <a:avLst/>
          </a:prstGeom>
          <a:solidFill>
            <a:srgbClr val="F0E8E8"/>
          </a:solidFill>
          <a:ln w="1905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03340" y="1611620"/>
            <a:ext cx="13373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BB1111"/>
                </a:solidFill>
                <a:latin typeface="游明朝"/>
              </a:rPr>
              <a:t>AT
天破の刻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3340" y="1971620"/>
            <a:ext cx="13573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66677"/>
                </a:solidFill>
                <a:latin typeface="メイリオ"/>
              </a:rPr>
              <a:t>基本AT
純増約3.0枚/G</a:t>
            </a:r>
          </a:p>
        </p:txBody>
      </p:sp>
      <p:sp>
        <p:nvSpPr>
          <p:cNvPr id="19" name="Can 18"/>
          <p:cNvSpPr/>
          <p:nvPr/>
        </p:nvSpPr>
        <p:spPr>
          <a:xfrm>
            <a:off x="5290660" y="2058840"/>
            <a:ext cx="200000" cy="180000"/>
          </a:xfrm>
          <a:prstGeom prst="can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1828" y="1531620"/>
            <a:ext cx="1417320" cy="1234440"/>
          </a:xfrm>
          <a:prstGeom prst="rect">
            <a:avLst/>
          </a:prstGeom>
          <a:solidFill>
            <a:srgbClr val="BB1111"/>
          </a:solidFill>
          <a:ln w="19050">
            <a:solidFill>
              <a:srgbClr val="8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1828" y="1611620"/>
            <a:ext cx="13373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游明朝"/>
              </a:rPr>
              <a:t>上位AT
無想転生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1828" y="1971620"/>
            <a:ext cx="13573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FFFFFF"/>
                </a:solidFill>
                <a:latin typeface="メイリオ"/>
              </a:rPr>
              <a:t>継続率94%
平均16.6連超</a:t>
            </a:r>
          </a:p>
        </p:txBody>
      </p:sp>
      <p:sp>
        <p:nvSpPr>
          <p:cNvPr id="23" name="Can 22"/>
          <p:cNvSpPr/>
          <p:nvPr/>
        </p:nvSpPr>
        <p:spPr>
          <a:xfrm>
            <a:off x="6909148" y="2058840"/>
            <a:ext cx="200000" cy="180000"/>
          </a:xfrm>
          <a:prstGeom prst="can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00316" y="1531620"/>
            <a:ext cx="1417320" cy="1234440"/>
          </a:xfrm>
          <a:prstGeom prst="rect">
            <a:avLst/>
          </a:prstGeom>
          <a:solidFill>
            <a:srgbClr val="E8ECF8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0316" y="1611620"/>
            <a:ext cx="13373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A1428"/>
                </a:solidFill>
                <a:latin typeface="游明朝"/>
              </a:rPr>
              <a:t>有利区間
リセット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0316" y="1971620"/>
            <a:ext cx="13573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66677"/>
                </a:solidFill>
                <a:latin typeface="メイリオ"/>
              </a:rPr>
              <a:t>→高継続BB再セット
(84%以上)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291840"/>
            <a:ext cx="2773680" cy="1508760"/>
          </a:xfrm>
          <a:prstGeom prst="rect">
            <a:avLst/>
          </a:prstGeom>
          <a:solidFill>
            <a:srgbClr val="EEF2F8"/>
          </a:solidFill>
          <a:ln w="1270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3291840"/>
            <a:ext cx="40000" cy="150876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4320" y="3341840"/>
            <a:ext cx="263652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A1428"/>
                </a:solidFill>
                <a:latin typeface="メイリオ"/>
              </a:rPr>
              <a:t>BB後のモード分岐が重要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320" y="3581840"/>
            <a:ext cx="2636520" cy="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55"/>
                </a:solidFill>
                <a:latin typeface="メイリオ"/>
              </a:rPr>
              <a:t>BBは全種類あり。その後のモードによって展開が大きく変わる。高設定ほど有利モードへの移行率が高い。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39440" y="3291840"/>
            <a:ext cx="2773680" cy="1508760"/>
          </a:xfrm>
          <a:prstGeom prst="rect">
            <a:avLst/>
          </a:prstGeom>
          <a:solidFill>
            <a:srgbClr val="EEF2F8"/>
          </a:solidFill>
          <a:ln w="1270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39440" y="3291840"/>
            <a:ext cx="40000" cy="150876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9440" y="3341840"/>
            <a:ext cx="263652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A1428"/>
                </a:solidFill>
                <a:latin typeface="メイリオ"/>
              </a:rPr>
              <a:t>有利区間リセット後も高継続で繋がる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9440" y="3581840"/>
            <a:ext cx="2636520" cy="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55"/>
                </a:solidFill>
                <a:latin typeface="メイリオ"/>
              </a:rPr>
              <a:t>差枚管理による有利区間終了後、84%以上の継続BBが自動セットされ、連チャンが途切れにくい構造。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4560" y="3291840"/>
            <a:ext cx="2773680" cy="1508760"/>
          </a:xfrm>
          <a:prstGeom prst="rect">
            <a:avLst/>
          </a:prstGeom>
          <a:solidFill>
            <a:srgbClr val="EEF2F8"/>
          </a:solidFill>
          <a:ln w="1270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4560" y="3291840"/>
            <a:ext cx="40000" cy="150876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74560" y="3341840"/>
            <a:ext cx="263652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1111"/>
                </a:solidFill>
                <a:latin typeface="メイリオ"/>
              </a:rPr>
              <a:t>無想転生 = 遊技の到達点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74560" y="3581840"/>
            <a:ext cx="2636520" cy="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55"/>
                </a:solidFill>
                <a:latin typeface="メイリオ"/>
              </a:rPr>
              <a:t>94%継続で平均16連超の爆発力。1回辿り着くと大きな出玉が期待できる、来店動機の核心。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77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E2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428"/>
                </a:solidFill>
                <a:latin typeface="游明朝"/>
              </a:rPr>
              <a:t>無想転生 ── 94%継続が生む「もう1回」の心理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77"/>
                </a:solidFill>
                <a:latin typeface="メイリオ"/>
              </a:rPr>
              <a:t>4/7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685800"/>
            <a:ext cx="4206240" cy="41148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685800"/>
            <a:ext cx="50000" cy="41148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320" y="735800"/>
            <a:ext cx="39319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B1111"/>
                </a:solidFill>
                <a:latin typeface="游明朝"/>
              </a:rPr>
              <a:t>無想転生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20" y="1025800"/>
            <a:ext cx="393192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77"/>
                </a:solidFill>
                <a:latin typeface="メイリオ"/>
              </a:rPr>
              <a:t>上位AT ── 有利区間の最終到達点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320" y="1285800"/>
            <a:ext cx="3840480" cy="6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320" y="1285800"/>
            <a:ext cx="40000" cy="68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20" y="1345800"/>
            <a:ext cx="18288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77"/>
                </a:solidFill>
                <a:latin typeface="メイリオ"/>
              </a:rPr>
              <a:t>継続率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20" y="1595800"/>
            <a:ext cx="34747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BB1111"/>
                </a:solidFill>
                <a:latin typeface="游明朝"/>
              </a:rPr>
              <a:t>94%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4320" y="2025800"/>
            <a:ext cx="3840480" cy="6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4320" y="2025800"/>
            <a:ext cx="40000" cy="680000"/>
          </a:xfrm>
          <a:prstGeom prst="rect">
            <a:avLst/>
          </a:prstGeom>
          <a:solidFill>
            <a:srgbClr val="B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20" y="2085800"/>
            <a:ext cx="18288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77"/>
                </a:solidFill>
                <a:latin typeface="メイリオ"/>
              </a:rPr>
              <a:t>平均連チャン数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20" y="2335800"/>
            <a:ext cx="34747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B89620"/>
                </a:solidFill>
                <a:latin typeface="游明朝"/>
              </a:rPr>
              <a:t>16.6連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4320" y="2765800"/>
            <a:ext cx="3840480" cy="6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320" y="2765800"/>
            <a:ext cx="40000" cy="680000"/>
          </a:xfrm>
          <a:prstGeom prst="rect">
            <a:avLst/>
          </a:prstGeom>
          <a:solidFill>
            <a:srgbClr val="225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320" y="2825800"/>
            <a:ext cx="18288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77"/>
                </a:solidFill>
                <a:latin typeface="メイリオ"/>
              </a:rPr>
              <a:t>期待獲得枚数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20" y="3075800"/>
            <a:ext cx="34747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55BB"/>
                </a:solidFill>
                <a:latin typeface="游明朝"/>
              </a:rPr>
              <a:t>約2,000枚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4320" y="3505800"/>
            <a:ext cx="3840480" cy="6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4320" y="3505800"/>
            <a:ext cx="40000" cy="680000"/>
          </a:xfrm>
          <a:prstGeom prst="rect">
            <a:avLst/>
          </a:prstGeom>
          <a:solidFill>
            <a:srgbClr val="118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20" y="3565800"/>
            <a:ext cx="18288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77"/>
                </a:solidFill>
                <a:latin typeface="メイリオ"/>
              </a:rPr>
              <a:t>有利区間後継続BB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20" y="3815800"/>
            <a:ext cx="34747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18844"/>
                </a:solidFill>
                <a:latin typeface="游明朝"/>
              </a:rPr>
              <a:t>84%以上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63440" y="685800"/>
            <a:ext cx="4206240" cy="1350000"/>
          </a:xfrm>
          <a:prstGeom prst="rect">
            <a:avLst/>
          </a:prstGeom>
          <a:solidFill>
            <a:srgbClr val="FAF5F5"/>
          </a:solidFill>
          <a:ln w="1524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685800"/>
            <a:ext cx="40000" cy="135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33440" y="735800"/>
            <a:ext cx="41162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1111"/>
                </a:solidFill>
                <a:latin typeface="メイリオ"/>
              </a:rPr>
              <a:t>「もう1回」を心理的に正当化する継続率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33440" y="1005800"/>
            <a:ext cx="4116240" cy="9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継続率94%は「外れる」より「続く」が圧倒的多数。
プレイヤーは「次も続くはず」と自然に思い込む。
ギャンブル的期待感と安心感が同時に生まれる稀有な設計。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2135800"/>
            <a:ext cx="4206240" cy="135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2135800"/>
            <a:ext cx="40000" cy="13500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33440" y="2185800"/>
            <a:ext cx="41162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A1428"/>
                </a:solidFill>
                <a:latin typeface="メイリオ"/>
              </a:rPr>
              <a:t>有利区間リセット後も繋がる「見えない安全網」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33440" y="2455800"/>
            <a:ext cx="4116240" cy="9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差枚数が上限に近づくと有利区間が強制終了するが、
その後84%以上の継続BBが自動セットされる。
「終わったと思ったらまだ続く」体験が感動を生む。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3585800"/>
            <a:ext cx="4206240" cy="135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63440" y="3585800"/>
            <a:ext cx="40000" cy="13500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33440" y="3635800"/>
            <a:ext cx="41162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A1428"/>
                </a:solidFill>
                <a:latin typeface="メイリオ"/>
              </a:rPr>
              <a:t>来店動機としての「無想転生到達」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33440" y="3905800"/>
            <a:ext cx="4116240" cy="9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"あの台で無想転生を体験したい" という具体的動機。
モンキーターンVのグランドスラムと同様の
「積み上げの最終報酬」として機能している。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77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E2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428"/>
                </a:solidFill>
                <a:latin typeface="游明朝"/>
              </a:rPr>
              <a:t>有利区間問題 ── 不透明な差枚管理への不満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77"/>
                </a:solidFill>
                <a:latin typeface="メイリオ"/>
              </a:rPr>
              <a:t>5/7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685800"/>
            <a:ext cx="4114800" cy="1330000"/>
          </a:xfrm>
          <a:prstGeom prst="rect">
            <a:avLst/>
          </a:prstGeom>
          <a:solidFill>
            <a:srgbClr val="EEF2F8"/>
          </a:solidFill>
          <a:ln w="1905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685800"/>
            <a:ext cx="45000" cy="133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320" y="735800"/>
            <a:ext cx="40148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1111"/>
                </a:solidFill>
                <a:latin typeface="メイリオ"/>
              </a:rPr>
              <a:t>差枚管理の不透明さ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20" y="995800"/>
            <a:ext cx="40148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有利区間内で差枚2000枚付近になると当選が重くなる
「冷遇区間」の存在が玄人層の間で広く語られている。
しかし公式は一切確率を公開していない。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25800"/>
            <a:ext cx="4114800" cy="1330000"/>
          </a:xfrm>
          <a:prstGeom prst="rect">
            <a:avLst/>
          </a:prstGeom>
          <a:solidFill>
            <a:srgbClr val="EEF2F8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125800"/>
            <a:ext cx="45000" cy="13300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320" y="2175800"/>
            <a:ext cx="40148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A1428"/>
                </a:solidFill>
                <a:latin typeface="メイリオ"/>
              </a:rPr>
              <a:t>天然終了と冷遇終了の区別がつかない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320" y="2435800"/>
            <a:ext cx="40148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有利区間が終了しても原因が差枚管理なのか
単純な不運なのかユーザーには判断できない。
不透明さがデキレ・冷遇議論を継続させる構造的要因。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65800"/>
            <a:ext cx="4114800" cy="1330000"/>
          </a:xfrm>
          <a:prstGeom prst="rect">
            <a:avLst/>
          </a:prstGeom>
          <a:solidFill>
            <a:srgbClr val="EEF2F8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565800"/>
            <a:ext cx="45000" cy="13300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4320" y="3615800"/>
            <a:ext cx="40148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A1428"/>
                </a:solidFill>
                <a:latin typeface="メイリオ"/>
              </a:rPr>
              <a:t>連チャン後の「壁」体験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320" y="3875800"/>
            <a:ext cx="40148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無想転生で大量獲得後、差枚上限に近づくと
急に当たらなくなる体験が「冷遇だ」と解釈される。
実際の確率変動なのか、運なのかは不明。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685800"/>
            <a:ext cx="4251960" cy="580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17720" y="685800"/>
            <a:ext cx="50000" cy="58000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7720" y="745800"/>
            <a:ext cx="41519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游明朝"/>
              </a:rPr>
              <a:t>なぜ不満が広がるのか？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7720" y="1005800"/>
            <a:ext cx="415196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DDD"/>
                </a:solidFill>
                <a:latin typeface="メイリオ"/>
              </a:rPr>
              <a:t>有利区間の「見えない壁」が信頼を侵食する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17720" y="1305800"/>
            <a:ext cx="18000" cy="5000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7720" y="1385800"/>
            <a:ext cx="419196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A1428"/>
                </a:solidFill>
                <a:latin typeface="メイリオ"/>
              </a:rPr>
              <a:t>スロット台の期待感は「公平性への信頼」が前提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17720" y="1865800"/>
            <a:ext cx="18000" cy="5000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7720" y="1945800"/>
            <a:ext cx="419196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A1428"/>
                </a:solidFill>
                <a:latin typeface="メイリオ"/>
              </a:rPr>
              <a:t>確率非公開 + 差枚管理 = 陰謀論が育つ環境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2425800"/>
            <a:ext cx="18000" cy="5000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7720" y="2505800"/>
            <a:ext cx="419196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A1428"/>
                </a:solidFill>
                <a:latin typeface="メイリオ"/>
              </a:rPr>
              <a:t>設定6でも負ける体験が「デキレ」解釈を生む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17720" y="2985800"/>
            <a:ext cx="18000" cy="5000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67720" y="3065800"/>
            <a:ext cx="419196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A1428"/>
                </a:solidFill>
                <a:latin typeface="メイリオ"/>
              </a:rPr>
              <a:t>長期稼働にはなっているが、コアユーザーの不信感は払拭されていない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17720" y="3545800"/>
            <a:ext cx="18000" cy="50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7720" y="3625800"/>
            <a:ext cx="419196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1111"/>
                </a:solidFill>
                <a:latin typeface="メイリオ"/>
              </a:rPr>
              <a:t>→ 透明性の欠如は設計上のリスクファクター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77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E2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428"/>
                </a:solidFill>
                <a:latin typeface="游明朝"/>
              </a:rPr>
              <a:t>設定判別 ── 実戦で使えるポイント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77"/>
                </a:solidFill>
                <a:latin typeface="メイリオ"/>
              </a:rPr>
              <a:t>6/7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685800"/>
            <a:ext cx="2651760" cy="37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320" y="735800"/>
            <a:ext cx="260604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</a:rPr>
              <a:t>BB後のモード移行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055800"/>
            <a:ext cx="2651760" cy="1240000"/>
          </a:xfrm>
          <a:prstGeom prst="rect">
            <a:avLst/>
          </a:prstGeom>
          <a:solidFill>
            <a:srgbClr val="EEF2F8"/>
          </a:solidFill>
          <a:ln w="635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320" y="1115800"/>
            <a:ext cx="25603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1111"/>
                </a:solidFill>
                <a:latin typeface="メイリオ"/>
              </a:rPr>
              <a:t>弱スイカ後モード移行率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320" y="1365800"/>
            <a:ext cx="256032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高設定ほどモード移行率が高い。
弱スイカ後の展開を記録しておく。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355800"/>
            <a:ext cx="2651760" cy="1240000"/>
          </a:xfrm>
          <a:prstGeom prst="rect">
            <a:avLst/>
          </a:prstGeom>
          <a:solidFill>
            <a:srgbClr val="F5F7FC"/>
          </a:solidFill>
          <a:ln w="635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320" y="2415800"/>
            <a:ext cx="25603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1111"/>
                </a:solidFill>
                <a:latin typeface="メイリオ"/>
              </a:rPr>
              <a:t>BB後天国移行率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320" y="2665800"/>
            <a:ext cx="256032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設定6はBB後に天国or上位に
移行しやすい。展開速度で判断。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55800"/>
            <a:ext cx="2651760" cy="1240000"/>
          </a:xfrm>
          <a:prstGeom prst="rect">
            <a:avLst/>
          </a:prstGeom>
          <a:solidFill>
            <a:srgbClr val="EEF2F8"/>
          </a:solidFill>
          <a:ln w="635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320" y="3715800"/>
            <a:ext cx="25603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1111"/>
                </a:solidFill>
                <a:latin typeface="メイリオ"/>
              </a:rPr>
              <a:t>通常時の当選ゲーム数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320" y="3965800"/>
            <a:ext cx="256032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当選が早い台は高モード滞在の可能性。
ゲーム数が集中するゾーンを記録。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685800"/>
            <a:ext cx="2651760" cy="370000"/>
          </a:xfrm>
          <a:prstGeom prst="rect">
            <a:avLst/>
          </a:prstGeom>
          <a:solidFill>
            <a:srgbClr val="B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0400" y="735800"/>
            <a:ext cx="260604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</a:rPr>
              <a:t>AT中の示唆演出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1055800"/>
            <a:ext cx="2651760" cy="1240000"/>
          </a:xfrm>
          <a:prstGeom prst="rect">
            <a:avLst/>
          </a:prstGeom>
          <a:solidFill>
            <a:srgbClr val="EEF2F8"/>
          </a:solidFill>
          <a:ln w="6350">
            <a:solidFill>
              <a:srgbClr val="B896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50400" y="1115800"/>
            <a:ext cx="25603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89620"/>
                </a:solidFill>
                <a:latin typeface="メイリオ"/>
              </a:rPr>
              <a:t>ケンシロウ示唆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0400" y="1365800"/>
            <a:ext cx="256032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AT中の特定演出で設定示唆。
強演出出現率に注目。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2355800"/>
            <a:ext cx="2651760" cy="1240000"/>
          </a:xfrm>
          <a:prstGeom prst="rect">
            <a:avLst/>
          </a:prstGeom>
          <a:solidFill>
            <a:srgbClr val="F5F7FC"/>
          </a:solidFill>
          <a:ln w="6350">
            <a:solidFill>
              <a:srgbClr val="B896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50400" y="2415800"/>
            <a:ext cx="25603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89620"/>
                </a:solidFill>
                <a:latin typeface="メイリオ"/>
              </a:rPr>
              <a:t>BB終了画面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50400" y="2665800"/>
            <a:ext cx="256032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BBのキャラクター・演出内容に
設定示唆が含まれることがある。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655800"/>
            <a:ext cx="2651760" cy="1240000"/>
          </a:xfrm>
          <a:prstGeom prst="rect">
            <a:avLst/>
          </a:prstGeom>
          <a:solidFill>
            <a:srgbClr val="EEF2F8"/>
          </a:solidFill>
          <a:ln w="6350">
            <a:solidFill>
              <a:srgbClr val="B896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50400" y="3715800"/>
            <a:ext cx="25603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89620"/>
                </a:solidFill>
                <a:latin typeface="メイリオ"/>
              </a:rPr>
              <a:t>AT中カットイン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50400" y="3965800"/>
            <a:ext cx="256032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強カットインの出現率が高設定ほど
高くなるとされる。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685800"/>
            <a:ext cx="2651760" cy="370000"/>
          </a:xfrm>
          <a:prstGeom prst="rect">
            <a:avLst/>
          </a:prstGeom>
          <a:solidFill>
            <a:srgbClr val="225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56480" y="735800"/>
            <a:ext cx="260604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</a:rPr>
              <a:t>実戦判別のコツ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1055800"/>
            <a:ext cx="2651760" cy="1240000"/>
          </a:xfrm>
          <a:prstGeom prst="rect">
            <a:avLst/>
          </a:prstGeom>
          <a:solidFill>
            <a:srgbClr val="EEF2F8"/>
          </a:solidFill>
          <a:ln w="6350">
            <a:solidFill>
              <a:srgbClr val="2255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6480" y="1115800"/>
            <a:ext cx="25603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55BB"/>
                </a:solidFill>
                <a:latin typeface="メイリオ"/>
              </a:rPr>
              <a:t>ホールデータと照合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6480" y="1365800"/>
            <a:ext cx="256032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公開されているホールデータと
実戦データを照合して判断。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6480" y="2355800"/>
            <a:ext cx="2651760" cy="1240000"/>
          </a:xfrm>
          <a:prstGeom prst="rect">
            <a:avLst/>
          </a:prstGeom>
          <a:solidFill>
            <a:srgbClr val="F5F7FC"/>
          </a:solidFill>
          <a:ln w="6350">
            <a:solidFill>
              <a:srgbClr val="2255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6480" y="2415800"/>
            <a:ext cx="25603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55BB"/>
                </a:solidFill>
                <a:latin typeface="メイリオ"/>
              </a:rPr>
              <a:t>複数台の平行観察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6480" y="2665800"/>
            <a:ext cx="256032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同機種の複数台を観察し、
当たりの早い台・展開の良い台を絞り込む。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3655800"/>
            <a:ext cx="2651760" cy="1240000"/>
          </a:xfrm>
          <a:prstGeom prst="rect">
            <a:avLst/>
          </a:prstGeom>
          <a:solidFill>
            <a:srgbClr val="EEF2F8"/>
          </a:solidFill>
          <a:ln w="6350">
            <a:solidFill>
              <a:srgbClr val="2255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76480" y="3715800"/>
            <a:ext cx="25603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55BB"/>
                </a:solidFill>
                <a:latin typeface="メイリオ"/>
              </a:rPr>
              <a:t>長時間実戦が前提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76480" y="3965800"/>
            <a:ext cx="256032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設定差が当選率に出るため
1000G以上の実戦データが必要。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77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E2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428"/>
                </a:solidFill>
                <a:latin typeface="游明朝"/>
              </a:rPr>
              <a:t>まとめ ── 設計から学べること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77"/>
                </a:solidFill>
                <a:latin typeface="メイリオ"/>
              </a:rPr>
              <a:t>7/7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685800"/>
            <a:ext cx="4114800" cy="34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320" y="740800"/>
            <a:ext cx="403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游明朝"/>
              </a:rPr>
              <a:t>長期稼働を支えた3要素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025800"/>
            <a:ext cx="4114800" cy="1230000"/>
          </a:xfrm>
          <a:prstGeom prst="rect">
            <a:avLst/>
          </a:prstGeom>
          <a:solidFill>
            <a:srgbClr val="EEF2F8"/>
          </a:solidFill>
          <a:ln w="1270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025800"/>
            <a:ext cx="40000" cy="123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320" y="1075800"/>
            <a:ext cx="40248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A1428"/>
                </a:solidFill>
                <a:latin typeface="メイリオ"/>
              </a:rPr>
              <a:t>① IP力（知名度×ノスタルジア）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320" y="1335800"/>
            <a:ext cx="4024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4号機「北斗の拳」を原体験とする30〜40代が
スマスロ版をきっかけにパチスロへ再入場。
IP単体では成立しないが、実機の完成度が必要。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25800"/>
            <a:ext cx="4114800" cy="1230000"/>
          </a:xfrm>
          <a:prstGeom prst="rect">
            <a:avLst/>
          </a:prstGeom>
          <a:solidFill>
            <a:srgbClr val="EEF2F8"/>
          </a:solidFill>
          <a:ln w="1270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325800"/>
            <a:ext cx="40000" cy="1230000"/>
          </a:xfrm>
          <a:prstGeom prst="rect">
            <a:avLst/>
          </a:prstGeom>
          <a:solidFill>
            <a:srgbClr val="B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4320" y="2375800"/>
            <a:ext cx="40248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A1428"/>
                </a:solidFill>
                <a:latin typeface="メイリオ"/>
              </a:rPr>
              <a:t>② 94%ループの体験価値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320" y="2635800"/>
            <a:ext cx="4024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「次も続く」という高い期待値と
達成感が同居する設計。
1回辿り着けば大きな出玉体験が約束される。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25800"/>
            <a:ext cx="4114800" cy="1230000"/>
          </a:xfrm>
          <a:prstGeom prst="rect">
            <a:avLst/>
          </a:prstGeom>
          <a:solidFill>
            <a:srgbClr val="EEF2F8"/>
          </a:solidFill>
          <a:ln w="1270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25800"/>
            <a:ext cx="40000" cy="123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320" y="3675800"/>
            <a:ext cx="40248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A1428"/>
                </a:solidFill>
                <a:latin typeface="メイリオ"/>
              </a:rPr>
              <a:t>③ 5634店・89週の安心感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320" y="3935800"/>
            <a:ext cx="4024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設置台数の多さ・稼働期間の長さが
「まだ打てる台」「選べる台」という
消極的安心感を醸成し来店動機を継続させる。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17720" y="685800"/>
            <a:ext cx="4251960" cy="300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7720" y="735800"/>
            <a:ext cx="418196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游明朝"/>
              </a:rPr>
              <a:t>設計原則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17720" y="985800"/>
            <a:ext cx="20000" cy="480000"/>
          </a:xfrm>
          <a:prstGeom prst="rect">
            <a:avLst/>
          </a:prstGeom>
          <a:solidFill>
            <a:srgbClr val="B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7720" y="1065800"/>
            <a:ext cx="419196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A1428"/>
                </a:solidFill>
                <a:latin typeface="メイリオ"/>
              </a:rPr>
              <a:t>強力なIPは「休眠層の呼び水」になる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17720" y="1515800"/>
            <a:ext cx="20000" cy="480000"/>
          </a:xfrm>
          <a:prstGeom prst="rect">
            <a:avLst/>
          </a:prstGeom>
          <a:solidFill>
            <a:srgbClr val="B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7720" y="1595800"/>
            <a:ext cx="419196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A1428"/>
                </a:solidFill>
                <a:latin typeface="メイリオ"/>
              </a:rPr>
              <a:t>継続率94%は「終わらない」と感じさせる心理的閾値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2045800"/>
            <a:ext cx="20000" cy="480000"/>
          </a:xfrm>
          <a:prstGeom prst="rect">
            <a:avLst/>
          </a:prstGeom>
          <a:solidFill>
            <a:srgbClr val="B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7720" y="2125800"/>
            <a:ext cx="419196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A1428"/>
                </a:solidFill>
                <a:latin typeface="メイリオ"/>
              </a:rPr>
              <a:t>有利区間終了後の高継続BBで体験を繋げる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17720" y="2575800"/>
            <a:ext cx="20000" cy="48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67720" y="2655800"/>
            <a:ext cx="419196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1111"/>
                </a:solidFill>
                <a:latin typeface="メイリオ"/>
              </a:rPr>
              <a:t>透明性の欠如（差枚非公開）は信頼リスクになる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17720" y="3125800"/>
            <a:ext cx="4251960" cy="750000"/>
          </a:xfrm>
          <a:prstGeom prst="rect">
            <a:avLst/>
          </a:prstGeom>
          <a:solidFill>
            <a:srgbClr val="FAF5F5"/>
          </a:solidFill>
          <a:ln w="1905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7720" y="3175800"/>
            <a:ext cx="41819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1111"/>
                </a:solidFill>
                <a:latin typeface="メイリオ"/>
              </a:rPr>
              <a:t>総括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7720" y="3445800"/>
            <a:ext cx="418196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IP×継続率94%×長期設置の三位一体が奇跡的に揃った事例。
ただし透明性不足は次世代設計で解決すべき課題。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77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