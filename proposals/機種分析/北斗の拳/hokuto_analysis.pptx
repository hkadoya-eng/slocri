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2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A840"/>
                </a:solidFill>
                <a:latin typeface="游明朝"/>
              </a:rPr>
              <a:t>機種分析資料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932688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3333"/>
                </a:solidFill>
                <a:latin typeface="游明朝"/>
              </a:rPr>
              <a:t>スマスロ
北斗の拳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651760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0C0A0"/>
                </a:solidFill>
                <a:latin typeface="游明朝"/>
              </a:rPr>
              <a:t>── 4号機世代が帰還した伝説のIP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3200400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メーカー：サミー　　導入：2023年4月3日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" y="3493008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設定：1〜6段階　　機械割：設定1 98.0% ／ 設定6 113.0%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785615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天井：最大 1,268G　　BB継続率：66〜89%（無想転生バトル 94%）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4078224"/>
            <a:ext cx="44805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AA"/>
                </a:solidFill>
                <a:latin typeface="メイリオ"/>
              </a:rPr>
              <a:t>設置：5,634店　89週連続 稼働ランキング3位（2024年時点）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640080"/>
            <a:ext cx="3749039" cy="1143000"/>
          </a:xfrm>
          <a:prstGeom prst="rect">
            <a:avLst/>
          </a:prstGeom>
          <a:solidFill>
            <a:srgbClr val="0C1228"/>
          </a:solidFill>
          <a:ln w="2540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640080"/>
            <a:ext cx="60000" cy="1143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69508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1111"/>
                </a:solidFill>
                <a:latin typeface="游明朝"/>
              </a:rPr>
              <a:t>バトルボーナス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01008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4号機の世界観を継承した
BB型ATシステム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2057400"/>
            <a:ext cx="3749039" cy="1143000"/>
          </a:xfrm>
          <a:prstGeom prst="rect">
            <a:avLst/>
          </a:prstGeom>
          <a:solidFill>
            <a:srgbClr val="0C1228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60" y="2057400"/>
            <a:ext cx="60000" cy="1143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11240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840"/>
                </a:solidFill>
                <a:latin typeface="游明朝"/>
              </a:rPr>
              <a:t>無想転生バトル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42740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BB最上位・継続率94%
平均 2,500枚以上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3474720"/>
            <a:ext cx="3749039" cy="1143000"/>
          </a:xfrm>
          <a:prstGeom prst="rect">
            <a:avLst/>
          </a:prstGeom>
          <a:solidFill>
            <a:srgbClr val="0C1228"/>
          </a:solidFill>
          <a:ln w="2540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3474720"/>
            <a:ext cx="60000" cy="1143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529720"/>
            <a:ext cx="347472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AA99"/>
                </a:solidFill>
                <a:latin typeface="游明朝"/>
              </a:rPr>
              <a:t>IP × 世代回帰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8447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30〜40代の休眠層が
スマスロで戻ってきた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スペック ── 基本数値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13232"/>
            <a:ext cx="3800000" cy="36000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320" y="758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320" y="758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機械割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4320" y="758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BB初当り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4320" y="758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特記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073232"/>
            <a:ext cx="3800000" cy="370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320" y="112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320" y="112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98.0%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4320" y="112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1/383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24320" y="112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443232"/>
            <a:ext cx="3800000" cy="370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320" y="149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320" y="149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99.0%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4320" y="149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1/360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4320" y="149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1813232"/>
            <a:ext cx="3800000" cy="370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320" y="186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20" y="186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102.0%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4320" y="186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1/330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24320" y="186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183232"/>
            <a:ext cx="3800000" cy="370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4320" y="223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3333"/>
                </a:solidFill>
                <a:latin typeface="メイリオ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20" y="223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105.5%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44320" y="223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1/300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24320" y="223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設定4以上でプラス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553232"/>
            <a:ext cx="3800000" cy="370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4320" y="260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3333"/>
                </a:solidFill>
                <a:latin typeface="メイリオ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320" y="260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109.0%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44320" y="260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1/265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4320" y="260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923232"/>
            <a:ext cx="3800000" cy="370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320" y="2973232"/>
            <a:ext cx="4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FF3333"/>
                </a:solidFill>
                <a:latin typeface="メイリオ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320" y="2973232"/>
            <a:ext cx="97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113.0%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44320" y="2973232"/>
            <a:ext cx="9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1/235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24320" y="2973232"/>
            <a:ext cx="1230000" cy="30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0">
                <a:solidFill>
                  <a:srgbClr val="E8E8F4"/>
                </a:solidFill>
                <a:latin typeface="メイリオ"/>
              </a:rPr>
              <a:t>設定6 実戦勝率 94.2%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713232"/>
            <a:ext cx="4663440" cy="485000"/>
          </a:xfrm>
          <a:prstGeom prst="rect">
            <a:avLst/>
          </a:prstGeom>
          <a:solidFill>
            <a:srgbClr val="0C1228"/>
          </a:solidFill>
          <a:ln w="1524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06240" y="713232"/>
            <a:ext cx="40000" cy="485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76240" y="75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B1111"/>
                </a:solidFill>
                <a:latin typeface="メイリオ"/>
              </a:rPr>
              <a:t>天井（通常時）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6240" y="96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最大 1,268G + α → BB確定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1243232"/>
            <a:ext cx="4663440" cy="485000"/>
          </a:xfrm>
          <a:prstGeom prst="rect">
            <a:avLst/>
          </a:prstGeom>
          <a:solidFill>
            <a:srgbClr val="0C1228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1243232"/>
            <a:ext cx="40000" cy="48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6240" y="128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840"/>
                </a:solidFill>
                <a:latin typeface="メイリオ"/>
              </a:rPr>
              <a:t>777G通過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6240" y="149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北斗揃い高確率・短縮の目安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1773232"/>
            <a:ext cx="4663440" cy="485000"/>
          </a:xfrm>
          <a:prstGeom prst="rect">
            <a:avLst/>
          </a:prstGeom>
          <a:solidFill>
            <a:srgbClr val="0C1228"/>
          </a:solidFill>
          <a:ln w="1524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6240" y="1773232"/>
            <a:ext cx="40000" cy="485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76240" y="181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2AA99"/>
                </a:solidFill>
                <a:latin typeface="メイリオ"/>
              </a:rPr>
              <a:t>天井（リセット後）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76240" y="202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800G + α に短縮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2303232"/>
            <a:ext cx="4663440" cy="485000"/>
          </a:xfrm>
          <a:prstGeom prst="rect">
            <a:avLst/>
          </a:prstGeom>
          <a:solidFill>
            <a:srgbClr val="0C1228"/>
          </a:solidFill>
          <a:ln w="15240">
            <a:solidFill>
              <a:srgbClr val="E8E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06240" y="2303232"/>
            <a:ext cx="40000" cy="485000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76240" y="234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8E8F4"/>
                </a:solidFill>
                <a:latin typeface="メイリオ"/>
              </a:rPr>
              <a:t>1セット純増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76240" y="255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約 110枚 / BB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06240" y="2833232"/>
            <a:ext cx="4663440" cy="485000"/>
          </a:xfrm>
          <a:prstGeom prst="rect">
            <a:avLst/>
          </a:prstGeom>
          <a:solidFill>
            <a:srgbClr val="0C1228"/>
          </a:solidFill>
          <a:ln w="1524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06240" y="2833232"/>
            <a:ext cx="40000" cy="4850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76240" y="287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BBバトルパート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76240" y="308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8G（+復活あり）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3363232"/>
            <a:ext cx="4663440" cy="485000"/>
          </a:xfrm>
          <a:prstGeom prst="rect">
            <a:avLst/>
          </a:prstGeom>
          <a:solidFill>
            <a:srgbClr val="0C1228"/>
          </a:solidFill>
          <a:ln w="1524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06240" y="3363232"/>
            <a:ext cx="40000" cy="4850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76240" y="3403232"/>
            <a:ext cx="22860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888AA"/>
                </a:solidFill>
                <a:latin typeface="メイリオ"/>
              </a:rPr>
              <a:t>小役パート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76240" y="3613232"/>
            <a:ext cx="420624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8E8F4"/>
                </a:solidFill>
                <a:latin typeface="メイリオ"/>
              </a:rPr>
              <a:t>30G + 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ゲームフロー ── 4モード → BB → 無想転生バトル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658368"/>
            <a:ext cx="8595360" cy="280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76656"/>
            <a:ext cx="1828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通常時 ── 4つのモード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320" y="950976"/>
            <a:ext cx="2098840" cy="700000"/>
          </a:xfrm>
          <a:prstGeom prst="rect">
            <a:avLst/>
          </a:prstGeom>
          <a:solidFill>
            <a:srgbClr val="0C1228"/>
          </a:solidFill>
          <a:ln w="1524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320" y="978408"/>
            <a:ext cx="205884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地獄モード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320" y="1234440"/>
            <a:ext cx="20588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BB当選が重い
最も厳しい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3160" y="950976"/>
            <a:ext cx="2098840" cy="700000"/>
          </a:xfrm>
          <a:prstGeom prst="rect">
            <a:avLst/>
          </a:prstGeom>
          <a:solidFill>
            <a:srgbClr val="0C1228"/>
          </a:solidFill>
          <a:ln w="1524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3160" y="978408"/>
            <a:ext cx="205884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E8E8F4"/>
                </a:solidFill>
                <a:latin typeface="メイリオ"/>
              </a:rPr>
              <a:t>通常モード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3160" y="1234440"/>
            <a:ext cx="20588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スイカでモード
アップを目指す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2000" y="950976"/>
            <a:ext cx="2098840" cy="700000"/>
          </a:xfrm>
          <a:prstGeom prst="rect">
            <a:avLst/>
          </a:prstGeom>
          <a:solidFill>
            <a:srgbClr val="0C1228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000" y="978408"/>
            <a:ext cx="205884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天国モード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000" y="1234440"/>
            <a:ext cx="20588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スイカで前兆→
BBほぼ確定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50840" y="950976"/>
            <a:ext cx="2098840" cy="700000"/>
          </a:xfrm>
          <a:prstGeom prst="rect">
            <a:avLst/>
          </a:prstGeom>
          <a:solidFill>
            <a:srgbClr val="0C1228"/>
          </a:solidFill>
          <a:ln w="1524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0840" y="978408"/>
            <a:ext cx="205884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BB1111"/>
                </a:solidFill>
                <a:latin typeface="メイリオ"/>
              </a:rPr>
              <a:t>前兆モード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0840" y="1234440"/>
            <a:ext cx="20588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最大32G以内に
BB確定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2880360"/>
            <a:ext cx="1645920" cy="1280160"/>
          </a:xfrm>
          <a:prstGeom prst="rect">
            <a:avLst/>
          </a:prstGeom>
          <a:solidFill>
            <a:srgbClr val="880000"/>
          </a:solidFill>
          <a:ln w="2286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112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3333"/>
                </a:solidFill>
                <a:latin typeface="游明朝"/>
              </a:rPr>
              <a:t>バトルボーナス
(BB)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112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小役パート30G
→バトルパート8G</a:t>
            </a:r>
          </a:p>
        </p:txBody>
      </p:sp>
      <p:sp>
        <p:nvSpPr>
          <p:cNvPr id="25" name="Can 24"/>
          <p:cNvSpPr/>
          <p:nvPr/>
        </p:nvSpPr>
        <p:spPr>
          <a:xfrm>
            <a:off x="2552032" y="3430440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98064" y="2880360"/>
            <a:ext cx="1645920" cy="1280160"/>
          </a:xfrm>
          <a:prstGeom prst="rect">
            <a:avLst/>
          </a:prstGeom>
          <a:solidFill>
            <a:srgbClr val="141C38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8064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游明朝"/>
              </a:rPr>
              <a:t>継続率
抽選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8064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66/79/84/89%
の4段階</a:t>
            </a:r>
          </a:p>
        </p:txBody>
      </p:sp>
      <p:sp>
        <p:nvSpPr>
          <p:cNvPr id="29" name="Can 28"/>
          <p:cNvSpPr/>
          <p:nvPr/>
        </p:nvSpPr>
        <p:spPr>
          <a:xfrm>
            <a:off x="4453984" y="3430440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00016" y="2880360"/>
            <a:ext cx="1645920" cy="1280160"/>
          </a:xfrm>
          <a:prstGeom prst="rect">
            <a:avLst/>
          </a:prstGeom>
          <a:solidFill>
            <a:srgbClr val="141C38"/>
          </a:solidFill>
          <a:ln w="2286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0016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2AA99"/>
                </a:solidFill>
                <a:latin typeface="游明朝"/>
              </a:rPr>
              <a:t>Vストック
（宿命バトル）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0016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次セット継続確定
レイ/トキ協力あり</a:t>
            </a:r>
          </a:p>
        </p:txBody>
      </p:sp>
      <p:sp>
        <p:nvSpPr>
          <p:cNvPr id="33" name="Can 32"/>
          <p:cNvSpPr/>
          <p:nvPr/>
        </p:nvSpPr>
        <p:spPr>
          <a:xfrm>
            <a:off x="6355936" y="3430440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01968" y="2880360"/>
            <a:ext cx="1645920" cy="1280160"/>
          </a:xfrm>
          <a:prstGeom prst="rect">
            <a:avLst/>
          </a:prstGeom>
          <a:solidFill>
            <a:srgbClr val="1A0606"/>
          </a:solidFill>
          <a:ln w="2286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1968" y="2960360"/>
            <a:ext cx="15659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3333"/>
                </a:solidFill>
                <a:latin typeface="游明朝"/>
              </a:rPr>
              <a:t>無想転生バトル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1968" y="3330360"/>
            <a:ext cx="1585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8888AA"/>
                </a:solidFill>
                <a:latin typeface="メイリオ"/>
              </a:rPr>
              <a:t>94%継続
期待2,500枚以上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190520"/>
            <a:ext cx="164592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8888AA"/>
                </a:solidFill>
                <a:latin typeface="メイリオ"/>
              </a:rPr>
              <a:t>※無想転生チャンス(15G)から約33%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バトルボーナス構成 ── 2パート × 4段継続率 × Vストック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28000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32" y="703368"/>
            <a:ext cx="404480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BB の2パート構成（1セット ≈ 110枚）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38368"/>
            <a:ext cx="4114800" cy="1040000"/>
          </a:xfrm>
          <a:prstGeom prst="rect">
            <a:avLst/>
          </a:prstGeom>
          <a:solidFill>
            <a:srgbClr val="0C1228"/>
          </a:solidFill>
          <a:ln w="1905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38368"/>
            <a:ext cx="45000" cy="104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983368"/>
            <a:ext cx="1371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99"/>
                </a:solidFill>
                <a:latin typeface="游明朝"/>
              </a:rPr>
              <a:t>小役パート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2632" y="993368"/>
            <a:ext cx="23774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A840"/>
                </a:solidFill>
                <a:latin typeface="メイリオ"/>
              </a:rPr>
              <a:t>30G + 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32" y="1238368"/>
            <a:ext cx="40048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レア役でVストックや継続率アップを抽選。
宿命バトル勝利でVストック獲得。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038368"/>
            <a:ext cx="4114800" cy="1040000"/>
          </a:xfrm>
          <a:prstGeom prst="rect">
            <a:avLst/>
          </a:prstGeom>
          <a:solidFill>
            <a:srgbClr val="0C1228"/>
          </a:solidFill>
          <a:ln w="190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2038368"/>
            <a:ext cx="45000" cy="104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32" y="2083368"/>
            <a:ext cx="1371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1111"/>
                </a:solidFill>
                <a:latin typeface="游明朝"/>
              </a:rPr>
              <a:t>バトルパート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2632" y="2093368"/>
            <a:ext cx="237744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8A840"/>
                </a:solidFill>
                <a:latin typeface="メイリオ"/>
              </a:rPr>
              <a:t>8G（復活あり）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32" y="2338368"/>
            <a:ext cx="40048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ケンシロウがラオウと戦う。
消化中のレア役→継続への書き換え抽選。
8G目レア役→ユリア復活確定（継続率84%以上が確定）。
敗北後も復活演出あり。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658368"/>
            <a:ext cx="4297680" cy="28000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2000" y="703368"/>
            <a:ext cx="422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継続率 4段階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938368"/>
            <a:ext cx="4297680" cy="540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2000" y="988368"/>
            <a:ext cx="4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AA"/>
                </a:solidFill>
                <a:latin typeface="メイリオ"/>
              </a:rPr>
              <a:t>66%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2000" y="1068368"/>
            <a:ext cx="3997680" cy="10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2000" y="1068368"/>
            <a:ext cx="2638468" cy="1000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2000" y="1188368"/>
            <a:ext cx="3997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AA"/>
                </a:solidFill>
                <a:latin typeface="メイリオ"/>
              </a:rPr>
              <a:t>最低継続率。最も脱出されやすい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508368"/>
            <a:ext cx="4297680" cy="540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2000" y="1558368"/>
            <a:ext cx="4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8F4"/>
                </a:solidFill>
                <a:latin typeface="メイリオ"/>
              </a:rPr>
              <a:t>79%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2000" y="1638368"/>
            <a:ext cx="3997680" cy="10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2000" y="1638368"/>
            <a:ext cx="3158167" cy="100000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2000" y="1758368"/>
            <a:ext cx="3997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AA"/>
                </a:solidFill>
                <a:latin typeface="メイリオ"/>
              </a:rPr>
              <a:t>中継続率。2〜3連程度が平均的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078368"/>
            <a:ext cx="4297680" cy="540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2000" y="2128368"/>
            <a:ext cx="4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メイリオ"/>
              </a:rPr>
              <a:t>84%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2000" y="2208368"/>
            <a:ext cx="3997680" cy="10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22000" y="2208368"/>
            <a:ext cx="3358051" cy="1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2000" y="2328368"/>
            <a:ext cx="3997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AA"/>
                </a:solidFill>
                <a:latin typeface="メイリオ"/>
              </a:rPr>
              <a:t>高継続率。長連チャンに期待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648368"/>
            <a:ext cx="4297680" cy="540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22000" y="2698368"/>
            <a:ext cx="45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333"/>
                </a:solidFill>
                <a:latin typeface="メイリオ"/>
              </a:rPr>
              <a:t>89%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2000" y="2778368"/>
            <a:ext cx="3997680" cy="10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22000" y="2778368"/>
            <a:ext cx="3557935" cy="10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2000" y="2898368"/>
            <a:ext cx="3997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8888AA"/>
                </a:solidFill>
                <a:latin typeface="メイリオ"/>
              </a:rPr>
              <a:t>最高継続率。北斗揃い等で確定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3401568"/>
            <a:ext cx="4114800" cy="1450000"/>
          </a:xfrm>
          <a:prstGeom prst="rect">
            <a:avLst/>
          </a:prstGeom>
          <a:solidFill>
            <a:srgbClr val="0C1228"/>
          </a:solidFill>
          <a:ln w="1905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6032" y="3401568"/>
            <a:ext cx="45000" cy="145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1032" y="34415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99"/>
                </a:solidFill>
                <a:latin typeface="游明朝"/>
              </a:rPr>
              <a:t>Vストック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032" y="3691568"/>
            <a:ext cx="4014800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宿命バトル（小役パート中）に勝利すると獲得。
Vストックがあれば次セット継続が確定。
さらにレイ／トキの協力が約40%で発生し、
協力ループ率12.5% ／ 50% ／ 66%で連鎖する。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3401568"/>
            <a:ext cx="4297680" cy="1450000"/>
          </a:xfrm>
          <a:prstGeom prst="rect">
            <a:avLst/>
          </a:prstGeom>
          <a:solidFill>
            <a:srgbClr val="1A0404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0" y="3401568"/>
            <a:ext cx="45000" cy="145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47000" y="34415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333"/>
                </a:solidFill>
                <a:latin typeface="游明朝"/>
              </a:rPr>
              <a:t>無想転生バトル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47000" y="3691568"/>
            <a:ext cx="4197680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無想転生チャンス（15G限定ゾーン）から約33%で突入。
継続率94%・期待獲得2,500枚以上。
有利区間終了後も84%以上の高継続BBが再セットされ、
「終わったと思ったらまだ続く」体験が生まれる。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ゲーム体験の核心 ── 緊張・自力感・理不尽が共存する設計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1463040" cy="1380000"/>
          </a:xfrm>
          <a:prstGeom prst="rect">
            <a:avLst/>
          </a:prstGeom>
          <a:solidFill>
            <a:srgbClr val="141C3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880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C8A840"/>
                </a:solidFill>
                <a:latin typeface="游明朝"/>
              </a:rPr>
              <a:t>BB開始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880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オーラ色が示される
継続率が「宣言」
（白〜虹の6段階）</a:t>
            </a:r>
          </a:p>
        </p:txBody>
      </p:sp>
      <p:sp>
        <p:nvSpPr>
          <p:cNvPr id="11" name="Can 10"/>
          <p:cNvSpPr/>
          <p:nvPr/>
        </p:nvSpPr>
        <p:spPr>
          <a:xfrm>
            <a:off x="1725920" y="1258368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75104" y="658368"/>
            <a:ext cx="1463040" cy="1380000"/>
          </a:xfrm>
          <a:prstGeom prst="rect">
            <a:avLst/>
          </a:prstGeom>
          <a:solidFill>
            <a:srgbClr val="140404"/>
          </a:solidFill>
          <a:ln w="190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5104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BB1111"/>
                </a:solidFill>
                <a:latin typeface="游明朝"/>
              </a:rPr>
              <a:t>小役パート
（宿命バトル）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0104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レア役を引いて勝利
→ Vストック獲得
「自力感の核心」</a:t>
            </a:r>
          </a:p>
        </p:txBody>
      </p:sp>
      <p:sp>
        <p:nvSpPr>
          <p:cNvPr id="15" name="Can 14"/>
          <p:cNvSpPr/>
          <p:nvPr/>
        </p:nvSpPr>
        <p:spPr>
          <a:xfrm>
            <a:off x="3518144" y="1258368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67328" y="658368"/>
            <a:ext cx="1463040" cy="1380000"/>
          </a:xfrm>
          <a:prstGeom prst="rect">
            <a:avLst/>
          </a:prstGeom>
          <a:solidFill>
            <a:srgbClr val="060C20"/>
          </a:solidFill>
          <a:ln w="1905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7328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AA99"/>
                </a:solidFill>
                <a:latin typeface="游明朝"/>
              </a:rPr>
              <a:t>バトルパート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2328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ケンシロウが
ラオウと戦う
勝敗は次の瞬間に</a:t>
            </a:r>
          </a:p>
        </p:txBody>
      </p:sp>
      <p:sp>
        <p:nvSpPr>
          <p:cNvPr id="19" name="Can 18"/>
          <p:cNvSpPr/>
          <p:nvPr/>
        </p:nvSpPr>
        <p:spPr>
          <a:xfrm>
            <a:off x="5310368" y="1258368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59552" y="658368"/>
            <a:ext cx="1463040" cy="1380000"/>
          </a:xfrm>
          <a:prstGeom prst="rect">
            <a:avLst/>
          </a:prstGeom>
          <a:solidFill>
            <a:srgbClr val="1A0404"/>
          </a:solidFill>
          <a:ln w="1905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99552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3333"/>
                </a:solidFill>
                <a:latin typeface="游明朝"/>
              </a:rPr>
              <a:t>第3停止を
離す瞬間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4552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この瞬間に勝敗確定
「緊張の極点」
復活演出の可能性も</a:t>
            </a:r>
          </a:p>
        </p:txBody>
      </p:sp>
      <p:sp>
        <p:nvSpPr>
          <p:cNvPr id="23" name="Can 22"/>
          <p:cNvSpPr/>
          <p:nvPr/>
        </p:nvSpPr>
        <p:spPr>
          <a:xfrm>
            <a:off x="7102592" y="1258368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51776" y="658368"/>
            <a:ext cx="1463040" cy="1380000"/>
          </a:xfrm>
          <a:prstGeom prst="rect">
            <a:avLst/>
          </a:prstGeom>
          <a:solidFill>
            <a:srgbClr val="120A02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1776" y="718368"/>
            <a:ext cx="14030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D700"/>
                </a:solidFill>
                <a:latin typeface="游明朝"/>
              </a:rPr>
              <a:t>継続 or
無想転生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6776" y="1118368"/>
            <a:ext cx="140804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E8F4"/>
                </a:solidFill>
                <a:latin typeface="メイリオ"/>
              </a:rPr>
              <a:t>継続→次セットBB
約33%で無想転生
チャンスへ突入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2158368"/>
            <a:ext cx="4114800" cy="2650000"/>
          </a:xfrm>
          <a:prstGeom prst="rect">
            <a:avLst/>
          </a:prstGeom>
          <a:solidFill>
            <a:srgbClr val="0C1228"/>
          </a:solidFill>
          <a:ln w="1905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2158368"/>
            <a:ext cx="45000" cy="265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032" y="2203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99"/>
                </a:solidFill>
                <a:latin typeface="游明朝"/>
              </a:rPr>
              <a:t>「自力感」の設計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032" y="2458368"/>
            <a:ext cx="4014800" cy="2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【宿命バトルの役どころ】
リプレイ成立 → チャンス（勝利を期待）
レア役成立   → 勝利確定
中段チェリー/リーチ目 → アミババトル確定
継続率はオーラで事前に「宣言」されるが、
宿命バトルで自分が役を引くことで
「自分が勝った」能動体験が生まれる。
【バトルパート8G目の特別仕様】
8G目にレア役→ユリア復活確定
（継続率84%以上が確定する最大の自力演出）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158368"/>
            <a:ext cx="4297680" cy="2650000"/>
          </a:xfrm>
          <a:prstGeom prst="rect">
            <a:avLst/>
          </a:prstGeom>
          <a:solidFill>
            <a:srgbClr val="160404"/>
          </a:solidFill>
          <a:ln w="1905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2158368"/>
            <a:ext cx="45000" cy="265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7000" y="2203368"/>
            <a:ext cx="4197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333"/>
                </a:solidFill>
                <a:latin typeface="游明朝"/>
              </a:rPr>
              <a:t>「理不尽」を飲み込ませる設計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7000" y="2458368"/>
            <a:ext cx="4197680" cy="2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虹オーラ（89%継続）でも11%は終了する。
これは設計的欠陥でなく「北斗の味」。
なぜ受け入れられるか？
① 「北斗あるある」という共有体験になる
   → ホールでの会話・コミュニティ形成
② 理不尽があるから連続継続の喜びが大きい
   → リスクと報酬のメリハリが生まれる
③ 4号機北斗の記憶と接続し
   「それが北斗だ」とユーザー自身が
   納得するIPの力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有利区間問題 ── 不透明な差枚管理への不満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1360000"/>
          </a:xfrm>
          <a:prstGeom prst="rect">
            <a:avLst/>
          </a:prstGeom>
          <a:solidFill>
            <a:srgbClr val="0C1228"/>
          </a:solidFill>
          <a:ln w="190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658368"/>
            <a:ext cx="45000" cy="136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032" y="70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1111"/>
                </a:solidFill>
                <a:latin typeface="メイリオ"/>
              </a:rPr>
              <a:t>差枚管理の不透明さ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032" y="963368"/>
            <a:ext cx="40148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有利区間内で差枚が上限付近（2,000枚前後）になると
当選が重くなる「冷遇区間」の存在が語られる。
公式は確率を一切公開していない。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088368"/>
            <a:ext cx="4114800" cy="1360000"/>
          </a:xfrm>
          <a:prstGeom prst="rect">
            <a:avLst/>
          </a:prstGeom>
          <a:solidFill>
            <a:srgbClr val="0C1228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088368"/>
            <a:ext cx="45000" cy="136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032" y="213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44466"/>
                </a:solidFill>
                <a:latin typeface="メイリオ"/>
              </a:rPr>
              <a:t>天然終了か冷遇終了か判断できない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032" y="2393368"/>
            <a:ext cx="40148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有利区間終了の原因が差枚管理なのか
単純な不運なのか、ユーザーには区別できない。
この不透明さがデキレ・冷遇論争を継続させる。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518368"/>
            <a:ext cx="4114800" cy="1360000"/>
          </a:xfrm>
          <a:prstGeom prst="rect">
            <a:avLst/>
          </a:prstGeom>
          <a:solidFill>
            <a:srgbClr val="0C1228"/>
          </a:solidFill>
          <a:ln w="190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3518368"/>
            <a:ext cx="45000" cy="136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032" y="3568368"/>
            <a:ext cx="4014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44466"/>
                </a:solidFill>
                <a:latin typeface="メイリオ"/>
              </a:rPr>
              <a:t>無想転生後の「壁」体験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032" y="3823368"/>
            <a:ext cx="40148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大量獲得後に急に当たらなくなる体験が
「冷遇だ」と解釈される。実際の確率変動か
運なのかは不明のまま。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658368"/>
            <a:ext cx="4297680" cy="53000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2000" y="713368"/>
            <a:ext cx="42176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なぜ議論が続くのか？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2000" y="948368"/>
            <a:ext cx="421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有利区間の「見えない壁」が信頼を侵食する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188368"/>
            <a:ext cx="18000" cy="49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2000" y="1268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スロット台への期待感は「公平性への信頼」が前提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1728368"/>
            <a:ext cx="18000" cy="49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2000" y="1808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確率非公開 + 差枚管理 = 陰謀論が育つ環境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268368"/>
            <a:ext cx="18000" cy="49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2000" y="2348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設定6でも負ける体験が「デキレ」解釈を生む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808368"/>
            <a:ext cx="18000" cy="49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2000" y="2888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長期稼働にはなっているが、コアユーザーの不信感は残る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348368"/>
            <a:ext cx="18000" cy="49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2000" y="3428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3333"/>
                </a:solidFill>
                <a:latin typeface="メイリオ"/>
              </a:rPr>
              <a:t>→ 透明性の欠如は設計上のリスクファクター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設定判別 ── 実戦で使えるポイント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2633472" cy="36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603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50818"/>
                </a:solidFill>
                <a:latin typeface="メイリオ"/>
              </a:rPr>
              <a:t>BB後モード移行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018368"/>
            <a:ext cx="2633472" cy="1210000"/>
          </a:xfrm>
          <a:prstGeom prst="rect">
            <a:avLst/>
          </a:prstGeom>
          <a:solidFill>
            <a:srgbClr val="0C1228"/>
          </a:solidFill>
          <a:ln w="63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03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B1111"/>
                </a:solidFill>
                <a:latin typeface="メイリオ"/>
              </a:rPr>
              <a:t>天国モード移行率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03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BB後に天国モード移行率が
高設定ほど高い。
複数BB後の展開速度で判断。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288368"/>
            <a:ext cx="2633472" cy="1210000"/>
          </a:xfrm>
          <a:prstGeom prst="rect">
            <a:avLst/>
          </a:prstGeom>
          <a:solidFill>
            <a:srgbClr val="101630"/>
          </a:solidFill>
          <a:ln w="63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03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B1111"/>
                </a:solidFill>
                <a:latin typeface="メイリオ"/>
              </a:rPr>
              <a:t>地獄モード率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03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低設定ほどBB後に地獄モードへ
落ちやすい。当選が遅い場合は
低設定の可能性。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3558368"/>
            <a:ext cx="2633472" cy="1210000"/>
          </a:xfrm>
          <a:prstGeom prst="rect">
            <a:avLst/>
          </a:prstGeom>
          <a:solidFill>
            <a:srgbClr val="0C1228"/>
          </a:solidFill>
          <a:ln w="63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03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B1111"/>
                </a:solidFill>
                <a:latin typeface="メイリオ"/>
              </a:rPr>
              <a:t>前兆の発生タイミング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03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天国→前兆が頻繁に発生する台は
高設定の可能性あり。
通常時のゲーム数に注目。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2112" y="658368"/>
            <a:ext cx="2633472" cy="36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211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50818"/>
                </a:solidFill>
                <a:latin typeface="メイリオ"/>
              </a:rPr>
              <a:t>特定獲得枚数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82112" y="1018368"/>
            <a:ext cx="2633472" cy="1210000"/>
          </a:xfrm>
          <a:prstGeom prst="rect">
            <a:avLst/>
          </a:prstGeom>
          <a:solidFill>
            <a:srgbClr val="0C1228"/>
          </a:solidFill>
          <a:ln w="63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211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456枚以上獲得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211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BB1回で456枚以上獲得した場合、
設定4以上が確定。
BB中の表示枚数に注目。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82112" y="2288368"/>
            <a:ext cx="2633472" cy="1210000"/>
          </a:xfrm>
          <a:prstGeom prst="rect">
            <a:avLst/>
          </a:prstGeom>
          <a:solidFill>
            <a:srgbClr val="101630"/>
          </a:solidFill>
          <a:ln w="63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211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666枚以上獲得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211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BB1回で666枚以上獲得した場合、
設定6が確定。
最強の設定確定演出。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82112" y="3558368"/>
            <a:ext cx="2633472" cy="1210000"/>
          </a:xfrm>
          <a:prstGeom prst="rect">
            <a:avLst/>
          </a:prstGeom>
          <a:solidFill>
            <a:srgbClr val="0C1228"/>
          </a:solidFill>
          <a:ln w="63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3211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複数回の確認で精度UP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211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単発では偶然もあるため、
複数BB後のデータを積み上げて
総合的に判断する。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658368"/>
            <a:ext cx="2633472" cy="36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38192" y="703368"/>
            <a:ext cx="2587752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50818"/>
                </a:solidFill>
                <a:latin typeface="メイリオ"/>
              </a:rPr>
              <a:t>BB中の演出示唆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018368"/>
            <a:ext cx="2633472" cy="1210000"/>
          </a:xfrm>
          <a:prstGeom prst="rect">
            <a:avLst/>
          </a:prstGeom>
          <a:solidFill>
            <a:srgbClr val="0C1228"/>
          </a:solidFill>
          <a:ln w="635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8192" y="107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99"/>
                </a:solidFill>
                <a:latin typeface="メイリオ"/>
              </a:rPr>
              <a:t>宿命バトル中のレア役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58192" y="132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小役パート中のレア役出現率に
設定差。高設定ほど
宿命バトルに勝ちやすい傾向。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8192" y="2288368"/>
            <a:ext cx="2633472" cy="1210000"/>
          </a:xfrm>
          <a:prstGeom prst="rect">
            <a:avLst/>
          </a:prstGeom>
          <a:solidFill>
            <a:srgbClr val="101630"/>
          </a:solidFill>
          <a:ln w="635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8192" y="234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99"/>
                </a:solidFill>
                <a:latin typeface="メイリオ"/>
              </a:rPr>
              <a:t>Vストック獲得率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8192" y="259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Vストック取得頻度が高い台は
高設定の可能性。
協力ループ発生率も参考に。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3558368"/>
            <a:ext cx="2633472" cy="1210000"/>
          </a:xfrm>
          <a:prstGeom prst="rect">
            <a:avLst/>
          </a:prstGeom>
          <a:solidFill>
            <a:srgbClr val="0C1228"/>
          </a:solidFill>
          <a:ln w="635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58192" y="3613368"/>
            <a:ext cx="2560320" cy="25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22AA99"/>
                </a:solidFill>
                <a:latin typeface="メイリオ"/>
              </a:rPr>
              <a:t>無想転生チャンス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58192" y="3863368"/>
            <a:ext cx="256032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無想転生チャンス成功率に
設定差あり。設定6ほど
突入しやすい。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まとめ ──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8/8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658368"/>
            <a:ext cx="4114800" cy="30000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6032" y="708368"/>
            <a:ext cx="40348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長期稼働を支えた3要素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958368"/>
            <a:ext cx="4114800" cy="1200000"/>
          </a:xfrm>
          <a:prstGeom prst="rect">
            <a:avLst/>
          </a:prstGeom>
          <a:solidFill>
            <a:srgbClr val="0C1228"/>
          </a:solidFill>
          <a:ln w="190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958368"/>
            <a:ext cx="45000" cy="120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32" y="100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1111"/>
                </a:solidFill>
                <a:latin typeface="メイリオ"/>
              </a:rPr>
              <a:t>① IP力（知名度×ノスタルジア）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32" y="126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4号機「北斗の拳」を原体験とする30〜40代が
スマスロ版をきっかけにパチスロを再開。
IP単独では成立しない。実機の完成度が前提。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28368"/>
            <a:ext cx="4114800" cy="1200000"/>
          </a:xfrm>
          <a:prstGeom prst="rect">
            <a:avLst/>
          </a:prstGeom>
          <a:solidFill>
            <a:srgbClr val="0C12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2228368"/>
            <a:ext cx="45000" cy="12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32" y="227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② バトルボーナス × 無想転生バトル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32" y="253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66〜89%の4段継続率＋Vストックで
「次も続くかも」を繰り返す設計。
無想転生バトル94%が来店目標として機能。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498368"/>
            <a:ext cx="4114800" cy="1200000"/>
          </a:xfrm>
          <a:prstGeom prst="rect">
            <a:avLst/>
          </a:prstGeom>
          <a:solidFill>
            <a:srgbClr val="0C1228"/>
          </a:solidFill>
          <a:ln w="1905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498368"/>
            <a:ext cx="45000" cy="120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32" y="3548368"/>
            <a:ext cx="40198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99"/>
                </a:solidFill>
                <a:latin typeface="メイリオ"/>
              </a:rPr>
              <a:t>③ 5,634店・89週の安心感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32" y="3803368"/>
            <a:ext cx="40198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設置台数と稼働期間の長さが
「まだ打てる台」という消極的安心感を醸成。
長期稼働自体が来店動機になる循環。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658368"/>
            <a:ext cx="4297680" cy="280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22000" y="703368"/>
            <a:ext cx="4227680" cy="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設計原則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938368"/>
            <a:ext cx="20000" cy="49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2000" y="101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強IPは「休眠層の呼び水」になる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478368"/>
            <a:ext cx="20000" cy="49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22000" y="155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BB継続率の4段階が「次への期待感」を精密制御する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018368"/>
            <a:ext cx="20000" cy="49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22000" y="209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Vストックが「敗北の恐怖」を和らげる緩衝材になる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2558368"/>
            <a:ext cx="20000" cy="49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22000" y="2633368"/>
            <a:ext cx="4237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3333"/>
                </a:solidFill>
                <a:latin typeface="メイリオ"/>
              </a:rPr>
              <a:t>透明性の欠如（差枚非公開）は長期的な信頼リスク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108368"/>
            <a:ext cx="4297680" cy="800000"/>
          </a:xfrm>
          <a:prstGeom prst="rect">
            <a:avLst/>
          </a:prstGeom>
          <a:solidFill>
            <a:srgbClr val="180404"/>
          </a:solidFill>
          <a:ln w="190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7000" y="3158368"/>
            <a:ext cx="4222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1111"/>
                </a:solidFill>
                <a:latin typeface="メイリオ"/>
              </a:rPr>
              <a:t>総括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7000" y="3418368"/>
            <a:ext cx="422268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IP×BB継続率設計×Vストックの三位一体が奇跡的に揃った事例。
ただし差枚管理の不透明さは次世代設計で解決すべき課題。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