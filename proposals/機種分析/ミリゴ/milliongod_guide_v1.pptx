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846320" cy="5143500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46320" y="0"/>
            <a:ext cx="10000" cy="5143500"/>
          </a:xfrm>
          <a:prstGeom prst="rect">
            <a:avLst/>
          </a:prstGeom>
          <a:solidFill>
            <a:srgbClr val="806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41148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8A840"/>
                </a:solidFill>
                <a:latin typeface="游明朝"/>
              </a:rPr>
              <a:t>スロクリ機種ガイド＋分析資料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804672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D700"/>
                </a:solidFill>
                <a:latin typeface="游明朝"/>
              </a:rPr>
              <a:t>スマスロ
ミリオンゴッド
-神々の軌跡-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670048"/>
            <a:ext cx="4572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C0A0"/>
                </a:solidFill>
                <a:latin typeface="游明朝"/>
              </a:rPr>
              <a:t>── 4号機GODの魂が7.0枚純増で甦った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3127248"/>
            <a:ext cx="44805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888AA"/>
                </a:solidFill>
                <a:latin typeface="メイリオ"/>
              </a:rPr>
              <a:t>メーカー：ユニバーサルエンターテインメント　導入：2026年4月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3364992"/>
            <a:ext cx="44805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888AA"/>
                </a:solidFill>
                <a:latin typeface="メイリオ"/>
              </a:rPr>
              <a:t>設定：1〜6段階　　AT純増：約7.0枚/G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602736"/>
            <a:ext cx="44805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888AA"/>
                </a:solidFill>
                <a:latin typeface="メイリオ"/>
              </a:rPr>
              <a:t>1セット：50G　　最大ループ率：80%　　天井：1480G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37160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この台の3ポイント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457200"/>
            <a:ext cx="3886200" cy="1298448"/>
          </a:xfrm>
          <a:prstGeom prst="rect">
            <a:avLst/>
          </a:prstGeom>
          <a:solidFill>
            <a:srgbClr val="0A0E28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4920" y="457200"/>
            <a:ext cx="55000" cy="1298448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51720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C8A840"/>
                </a:solidFill>
                <a:latin typeface="游明朝"/>
              </a:rPr>
              <a:t>GOD GAME 80%ループ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817200"/>
            <a:ext cx="356616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1セット50G×純増7.0枚/G
最大80%ループでGGを重ねる
黄7でZ-GAME突入が爆発のカギ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965960"/>
            <a:ext cx="3886200" cy="1298448"/>
          </a:xfrm>
          <a:prstGeom prst="rect">
            <a:avLst/>
          </a:prstGeom>
          <a:solidFill>
            <a:srgbClr val="0A0E28"/>
          </a:solidFill>
          <a:ln w="25400">
            <a:solidFill>
              <a:srgbClr val="CC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1965960"/>
            <a:ext cx="55000" cy="1298448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0259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CC2211"/>
                </a:solidFill>
                <a:latin typeface="游明朝"/>
              </a:rPr>
              <a:t>SGG（赤7揃い）1/6900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325960"/>
            <a:ext cx="356616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赤7で突入するセット管理型AT
75%以上ループ＋引き戻しゾーン付き
GGとは別軸の強力な出玉源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3474720"/>
            <a:ext cx="3886200" cy="1298448"/>
          </a:xfrm>
          <a:prstGeom prst="rect">
            <a:avLst/>
          </a:prstGeom>
          <a:solidFill>
            <a:srgbClr val="0A0E28"/>
          </a:solidFill>
          <a:ln w="2540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74920" y="3474720"/>
            <a:ext cx="55000" cy="1298448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353472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BB77FF"/>
                </a:solidFill>
                <a:latin typeface="游明朝"/>
              </a:rPr>
              <a:t>GOD揃い 1/16384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834720"/>
            <a:ext cx="356616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全ての上を超えるプレミアフラグ
GGストック4個以上+大量ループストック
期待枚数3000枚以上の神体験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4号機GODのIP力×現行最速クラス7.0枚純増×GG→SGG→Z-GAME多層昇格の三位一体設計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2026年4月導入のスマスロ最新作。既存GOD世代の郷愁と新規プレイヤーへの爆発力を両立した完成形。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ゲームフロー全体図 ── 通常 → GG → 上位昇格 → GOD揃いまでの全ルート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2/10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621792"/>
            <a:ext cx="8869680" cy="240000"/>
          </a:xfrm>
          <a:prstGeom prst="rect">
            <a:avLst/>
          </a:prstGeom>
          <a:solidFill>
            <a:srgbClr val="121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651792"/>
            <a:ext cx="3657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【通常時】 GG当選ルート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77824"/>
            <a:ext cx="1572768" cy="11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1168" y="937824"/>
            <a:ext cx="150776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444466"/>
                </a:solidFill>
                <a:latin typeface="游明朝"/>
              </a:rPr>
              <a:t>通常モード
(低確A/B)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68" y="1367824"/>
            <a:ext cx="1522768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6種の表モード
の最下位層
GG当選は重め</a:t>
            </a:r>
          </a:p>
        </p:txBody>
      </p:sp>
      <p:sp>
        <p:nvSpPr>
          <p:cNvPr id="13" name="Can 12"/>
          <p:cNvSpPr/>
          <p:nvPr/>
        </p:nvSpPr>
        <p:spPr>
          <a:xfrm>
            <a:off x="1783936" y="136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75104" y="877824"/>
            <a:ext cx="1572768" cy="11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5104" y="937824"/>
            <a:ext cx="150776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4422"/>
                </a:solidFill>
                <a:latin typeface="游明朝"/>
              </a:rPr>
              <a:t>チャンスモード
(通常・天国準備)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5104" y="1367824"/>
            <a:ext cx="1522768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チャンス役で
モード昇格
GG期待度UP</a:t>
            </a:r>
          </a:p>
        </p:txBody>
      </p:sp>
      <p:sp>
        <p:nvSpPr>
          <p:cNvPr id="17" name="Can 16"/>
          <p:cNvSpPr/>
          <p:nvPr/>
        </p:nvSpPr>
        <p:spPr>
          <a:xfrm>
            <a:off x="3557872" y="136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0" y="877824"/>
            <a:ext cx="1572768" cy="11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9040" y="937824"/>
            <a:ext cx="150776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游明朝"/>
              </a:rPr>
              <a:t>天国モード
(天国・超天国)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9040" y="1367824"/>
            <a:ext cx="1522768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GG当選ほぼ確定
最速でAT突入
最優先滞在を狙う</a:t>
            </a:r>
          </a:p>
        </p:txBody>
      </p:sp>
      <p:sp>
        <p:nvSpPr>
          <p:cNvPr id="21" name="Can 20"/>
          <p:cNvSpPr/>
          <p:nvPr/>
        </p:nvSpPr>
        <p:spPr>
          <a:xfrm>
            <a:off x="5331808" y="136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2976" y="877824"/>
            <a:ext cx="1572768" cy="11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976" y="937824"/>
            <a:ext cx="150776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2AA99"/>
                </a:solidFill>
                <a:latin typeface="游明朝"/>
              </a:rPr>
              <a:t>ガイアステージ
(超高確9G+α)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2976" y="1367824"/>
            <a:ext cx="1522768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奇数揃い→GG確定
0揃い→Z-ZONE突入
毎G高確率でGG抽選</a:t>
            </a:r>
          </a:p>
        </p:txBody>
      </p:sp>
      <p:sp>
        <p:nvSpPr>
          <p:cNvPr id="25" name="Can 24"/>
          <p:cNvSpPr/>
          <p:nvPr/>
        </p:nvSpPr>
        <p:spPr>
          <a:xfrm>
            <a:off x="7105744" y="136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877824"/>
            <a:ext cx="1572768" cy="11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6912" y="937824"/>
            <a:ext cx="150776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8888AA"/>
                </a:solidFill>
                <a:latin typeface="游明朝"/>
              </a:rPr>
              <a:t>天井
(1480G)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6912" y="1367824"/>
            <a:ext cx="1522768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AT間1480Gで
GGストック1個
+ループストック獲得</a:t>
            </a:r>
          </a:p>
        </p:txBody>
      </p:sp>
      <p:sp>
        <p:nvSpPr>
          <p:cNvPr id="29" name="Smiley Face 28"/>
          <p:cNvSpPr/>
          <p:nvPr/>
        </p:nvSpPr>
        <p:spPr>
          <a:xfrm>
            <a:off x="4455424" y="1997824"/>
            <a:ext cx="160000" cy="180000"/>
          </a:xfrm>
          <a:prstGeom prst="smileyFac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" y="1957824"/>
            <a:ext cx="8869680" cy="200000"/>
          </a:xfrm>
          <a:prstGeom prst="rect">
            <a:avLst/>
          </a:prstGeom>
          <a:solidFill>
            <a:srgbClr val="121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" y="1982824"/>
            <a:ext cx="457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2211"/>
                </a:solidFill>
                <a:latin typeface="メイリオ"/>
              </a:rPr>
              <a:t>【AT中】 GOD GAME → 上位昇格ルート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197824"/>
            <a:ext cx="1572768" cy="1180000"/>
          </a:xfrm>
          <a:prstGeom prst="rect">
            <a:avLst/>
          </a:prstGeom>
          <a:solidFill>
            <a:srgbClr val="121634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1168" y="2262824"/>
            <a:ext cx="1507768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8A840"/>
                </a:solidFill>
                <a:latin typeface="游明朝"/>
              </a:rPr>
              <a:t>GOD GAME
(GG)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1168" y="2707824"/>
            <a:ext cx="1522768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50G / 7.0枚/G
80%ループ
ストック積み上げ</a:t>
            </a:r>
          </a:p>
        </p:txBody>
      </p:sp>
      <p:sp>
        <p:nvSpPr>
          <p:cNvPr id="35" name="Can 34"/>
          <p:cNvSpPr/>
          <p:nvPr/>
        </p:nvSpPr>
        <p:spPr>
          <a:xfrm>
            <a:off x="1783936" y="271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75104" y="2197824"/>
            <a:ext cx="1572768" cy="1180000"/>
          </a:xfrm>
          <a:prstGeom prst="rect">
            <a:avLst/>
          </a:prstGeom>
          <a:solidFill>
            <a:srgbClr val="121634"/>
          </a:solidFill>
          <a:ln w="2286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5104" y="2262824"/>
            <a:ext cx="1507768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2AA99"/>
                </a:solidFill>
                <a:latin typeface="游明朝"/>
              </a:rPr>
              <a:t>Z-ZONE
(チャレンジ)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05104" y="2707824"/>
            <a:ext cx="1522768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0揃いで突入
5Gフルナビ
Z-GAME昇格を狙う</a:t>
            </a:r>
          </a:p>
        </p:txBody>
      </p:sp>
      <p:sp>
        <p:nvSpPr>
          <p:cNvPr id="39" name="Can 38"/>
          <p:cNvSpPr/>
          <p:nvPr/>
        </p:nvSpPr>
        <p:spPr>
          <a:xfrm>
            <a:off x="3557872" y="271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49040" y="2197824"/>
            <a:ext cx="1572768" cy="1180000"/>
          </a:xfrm>
          <a:prstGeom prst="rect">
            <a:avLst/>
          </a:prstGeom>
          <a:solidFill>
            <a:srgbClr val="141002"/>
          </a:solidFill>
          <a:ln w="228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9040" y="2262824"/>
            <a:ext cx="1507768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C00"/>
                </a:solidFill>
                <a:latin typeface="游明朝"/>
              </a:rPr>
              <a:t>Z-GAME
(上乗せ特化)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9040" y="2707824"/>
            <a:ext cx="1522768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黄7でGGストック
1/1.4で連鎖中
爆発上乗せゾーン</a:t>
            </a:r>
          </a:p>
        </p:txBody>
      </p:sp>
      <p:sp>
        <p:nvSpPr>
          <p:cNvPr id="43" name="Can 42"/>
          <p:cNvSpPr/>
          <p:nvPr/>
        </p:nvSpPr>
        <p:spPr>
          <a:xfrm>
            <a:off x="5331808" y="271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22976" y="2197824"/>
            <a:ext cx="1572768" cy="1180000"/>
          </a:xfrm>
          <a:prstGeom prst="rect">
            <a:avLst/>
          </a:prstGeom>
          <a:solidFill>
            <a:srgbClr val="200604"/>
          </a:solidFill>
          <a:ln w="22860">
            <a:solidFill>
              <a:srgbClr val="CC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976" y="2262824"/>
            <a:ext cx="1507768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C2211"/>
                </a:solidFill>
                <a:latin typeface="游明朝"/>
              </a:rPr>
              <a:t>SGG
(赤7揃い)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52976" y="2707824"/>
            <a:ext cx="1522768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1/6900で突入
75%以上ループ
10〜100G増加区間</a:t>
            </a:r>
          </a:p>
        </p:txBody>
      </p:sp>
      <p:sp>
        <p:nvSpPr>
          <p:cNvPr id="47" name="Can 46"/>
          <p:cNvSpPr/>
          <p:nvPr/>
        </p:nvSpPr>
        <p:spPr>
          <a:xfrm>
            <a:off x="7105744" y="2711324"/>
            <a:ext cx="170000" cy="153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96912" y="2197824"/>
            <a:ext cx="1572768" cy="1180000"/>
          </a:xfrm>
          <a:prstGeom prst="rect">
            <a:avLst/>
          </a:prstGeom>
          <a:solidFill>
            <a:srgbClr val="0A0418"/>
          </a:solidFill>
          <a:ln w="2286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6912" y="2262824"/>
            <a:ext cx="1507768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B77FF"/>
                </a:solidFill>
                <a:latin typeface="游明朝"/>
              </a:rPr>
              <a:t>GOD揃い
(PGG)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26912" y="2707824"/>
            <a:ext cx="1522768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1/16384
GGストック4個以上
期待3000枚以上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通常時はモード管理×ガイアステージで多様な当選ルートを提供。AT中は5つのゾーンが連鎖する多層昇格設計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モード(6種)→ガイアステージ→GG→Z-ZONE→Z-GAME/SGG→GOD揃い(PGG)という完全な階層構造を持つ。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通常時の遊び方 ── 2つのルートでGOD GAMEを目指す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3/10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4114800" cy="310000"/>
          </a:xfrm>
          <a:prstGeom prst="rect">
            <a:avLst/>
          </a:prstGeom>
          <a:solidFill>
            <a:srgbClr val="70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168" y="703368"/>
            <a:ext cx="4044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D700"/>
                </a:solidFill>
                <a:latin typeface="游明朝"/>
              </a:rPr>
              <a:t>ルート① モード昇格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968368"/>
            <a:ext cx="4114800" cy="87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968368"/>
            <a:ext cx="38000" cy="87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168" y="101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4466"/>
                </a:solidFill>
                <a:latin typeface="メイリオ"/>
              </a:rPr>
              <a:t>低確A/B（通常モード）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168" y="1268368"/>
            <a:ext cx="40248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最初の状態。成立役でのGG当選は低め。
チャンス役を引いてモード昇格を目指す。</a:t>
            </a:r>
          </a:p>
        </p:txBody>
      </p:sp>
      <p:sp>
        <p:nvSpPr>
          <p:cNvPr id="14" name="Smiley Face 13"/>
          <p:cNvSpPr/>
          <p:nvPr/>
        </p:nvSpPr>
        <p:spPr>
          <a:xfrm>
            <a:off x="2178568" y="1838368"/>
            <a:ext cx="160000" cy="180000"/>
          </a:xfrm>
          <a:prstGeom prst="smileyFac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1858368"/>
            <a:ext cx="4114800" cy="87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" y="1858368"/>
            <a:ext cx="38000" cy="870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168" y="190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22"/>
                </a:solidFill>
                <a:latin typeface="メイリオ"/>
              </a:rPr>
              <a:t>通常モード → 天国準備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168" y="2158368"/>
            <a:ext cx="40248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チャンス役が重なるとモードが上昇。
小役履歴（青7・黄7の連続）がモード示唆。</a:t>
            </a:r>
          </a:p>
        </p:txBody>
      </p:sp>
      <p:sp>
        <p:nvSpPr>
          <p:cNvPr id="19" name="Smiley Face 18"/>
          <p:cNvSpPr/>
          <p:nvPr/>
        </p:nvSpPr>
        <p:spPr>
          <a:xfrm>
            <a:off x="2178568" y="2728368"/>
            <a:ext cx="160000" cy="180000"/>
          </a:xfrm>
          <a:prstGeom prst="smileyFace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748368"/>
            <a:ext cx="4114800" cy="87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168" y="2748368"/>
            <a:ext cx="38000" cy="87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9168" y="279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天国モード（天国・超天国）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168" y="3048368"/>
            <a:ext cx="40248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GGがほぼ確定する最上位モード。
天国移行を確認したら打ち続けること。</a:t>
            </a:r>
          </a:p>
        </p:txBody>
      </p:sp>
      <p:sp>
        <p:nvSpPr>
          <p:cNvPr id="24" name="Smiley Face 23"/>
          <p:cNvSpPr/>
          <p:nvPr/>
        </p:nvSpPr>
        <p:spPr>
          <a:xfrm>
            <a:off x="2178568" y="3618368"/>
            <a:ext cx="160000" cy="180000"/>
          </a:xfrm>
          <a:prstGeom prst="smileyFac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638368"/>
            <a:ext cx="4114800" cy="87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168" y="3638368"/>
            <a:ext cx="38000" cy="87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9168" y="368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ガイアステージ（超高確）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168" y="3938368"/>
            <a:ext cx="40248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ガイアベル規定回数到達で突入(9G+α)。
毎G超高確率でGG抽選。奇数揃いでGG確定！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658368"/>
            <a:ext cx="4370832" cy="310000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2000" y="703368"/>
            <a:ext cx="430083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2AA99"/>
                </a:solidFill>
                <a:latin typeface="游明朝"/>
              </a:rPr>
              <a:t>ルート② Z-ZONEからの突入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968368"/>
            <a:ext cx="4370832" cy="116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0" y="968368"/>
            <a:ext cx="38000" cy="116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0000" y="1018368"/>
            <a:ext cx="4280832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Z-ZONEとは？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0000" y="1278368"/>
            <a:ext cx="4280832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ガイアステージ中の0揃い等で突入する
GG＋Z-GAME両睨みのチャレンジゾーン。
5G間フルナビで黄7連続成立を狙う。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2148368"/>
            <a:ext cx="4370832" cy="116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2148368"/>
            <a:ext cx="38000" cy="116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40000" y="2198368"/>
            <a:ext cx="4280832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CC00"/>
                </a:solidFill>
                <a:latin typeface="メイリオ"/>
              </a:rPr>
              <a:t>Z-ZONEの抽選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0000" y="2458368"/>
            <a:ext cx="4280832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5G中に黄7が5連続成立→Z-GAME突入確定。
途中でハズレ・青7が出るとチャレンジ終了。
黄7を引き続ける確率は約1/1.4×5G分。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3328368"/>
            <a:ext cx="4370832" cy="116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3328368"/>
            <a:ext cx="38000" cy="11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0000" y="3378368"/>
            <a:ext cx="4280832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失敗してもGG当選あり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0000" y="3638368"/>
            <a:ext cx="4280832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Z-ZONEでチャレンジ失敗でもGG当選する
ケースがある。ガイアステージ中の奇数揃いは
GG確定。Z-ZONEは「上振れ」を狙う区間。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6段階モード管理＋ガイアステージ＋Z-ZONEで通常時に「進んでいる感」を生む多軸構造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小役履歴(青7・黄7の連続)がモード示唆になるため、プレイヤーは自然と次の役に期待を持てる。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AT「GOD GAME（GG）」の遊び方 ── 役を引いてストックを積み上げる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4/10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2057400" cy="8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58368"/>
            <a:ext cx="35000" cy="8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168" y="713368"/>
            <a:ext cx="19774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純増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168" y="978368"/>
            <a:ext cx="19774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4"/>
                </a:solidFill>
                <a:latin typeface="游明朝"/>
              </a:rPr>
              <a:t>約7.0枚/G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168" y="1258368"/>
            <a:ext cx="1977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現行スマスロトップクラスの純増速度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50008" y="658368"/>
            <a:ext cx="2057400" cy="8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50008" y="658368"/>
            <a:ext cx="35000" cy="82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15008" y="713368"/>
            <a:ext cx="19774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D700"/>
                </a:solidFill>
                <a:latin typeface="メイリオ"/>
              </a:rPr>
              <a:t>1セット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5008" y="978368"/>
            <a:ext cx="19774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4"/>
                </a:solidFill>
                <a:latin typeface="游明朝"/>
              </a:rPr>
              <a:t>50G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5008" y="1258368"/>
            <a:ext cx="1977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1セット単発なら約350枚獲得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658368"/>
            <a:ext cx="2057400" cy="8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98848" y="658368"/>
            <a:ext cx="35000" cy="820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3848" y="713368"/>
            <a:ext cx="19774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4422"/>
                </a:solidFill>
                <a:latin typeface="メイリオ"/>
              </a:rPr>
              <a:t>ループ率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3848" y="978368"/>
            <a:ext cx="19774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4"/>
                </a:solidFill>
                <a:latin typeface="游明朝"/>
              </a:rPr>
              <a:t>最大80%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848" y="1258368"/>
            <a:ext cx="1977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GGストック次第で長期連戦が可能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47688" y="658368"/>
            <a:ext cx="2057400" cy="82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47688" y="658368"/>
            <a:ext cx="35000" cy="82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2688" y="713368"/>
            <a:ext cx="19774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99"/>
                </a:solidFill>
                <a:latin typeface="メイリオ"/>
              </a:rPr>
              <a:t>ストック方式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2688" y="978368"/>
            <a:ext cx="19774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4"/>
                </a:solidFill>
                <a:latin typeface="游明朝"/>
              </a:rPr>
              <a:t>セット数管理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2688" y="1258368"/>
            <a:ext cx="1977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GGストック消化でGGを重ねていく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" y="1598368"/>
            <a:ext cx="4114800" cy="260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1168" y="1598368"/>
            <a:ext cx="42000" cy="26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3168" y="1648368"/>
            <a:ext cx="4019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GG中に「何をすれば出玉が伸びる」か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168" y="1918368"/>
            <a:ext cx="4019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メイリオ"/>
              </a:rPr>
              <a:t>①  成立役でGGストック抽選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168" y="2183368"/>
            <a:ext cx="40198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GG消化中は毎ゲーム成立役に応じてGGストック抽選が行われる。
強チェリー・強スイカ等の強役ほど当選率が高い。
役を引くほどストックが積み上がり次のGGへ繋がる。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168" y="2668368"/>
            <a:ext cx="4019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メイリオ"/>
              </a:rPr>
              <a:t>②  黄7を狙えZ-ZONE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168" y="2933368"/>
            <a:ext cx="40198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GG消化中に黄7が揃うとZ-ZONE突入のチャンス。
Z-ZONEを経由してZ-GAMEへ昇格すれば上乗せ爆発。
黄7連続成立が「出玉が大きく伸びる」瞬間。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3168" y="3418368"/>
            <a:ext cx="4019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メイリオ"/>
              </a:rPr>
              <a:t>③  ループストックも確認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168" y="3683368"/>
            <a:ext cx="40198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GGには「GGストック」と「ループストック」の2種が存在。
ループストックが多いほど継続確率が上昇する。
GOD揃い・SGG発生時にまとめて獲得できる。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1598368"/>
            <a:ext cx="4370832" cy="2600000"/>
          </a:xfrm>
          <a:prstGeom prst="rect">
            <a:avLst/>
          </a:prstGeom>
          <a:solidFill>
            <a:srgbClr val="141002"/>
          </a:solidFill>
          <a:ln w="1905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0" y="1598368"/>
            <a:ext cx="42000" cy="260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44000" y="1648368"/>
            <a:ext cx="4275832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CC00"/>
                </a:solidFill>
                <a:latin typeface="游明朝"/>
              </a:rPr>
              <a:t>黄7→Z-ZONE→Z-GAMEのメカニズム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4000" y="1918368"/>
            <a:ext cx="4275832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GG消化中に黄7が揃う
          ↓
Z-ZONE突入（5Gフルナビ）
          ↓
黄7が5連続成立 → Z-GAME突入
          ↓
Z-GAME中は1/1.4で黄7が揃い続ける
          ↓
黄7が揃うたびGGストック上乗せ
          ↓
ハズレ or 青7が出るまで延々と連鎖！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GG中は「役を引く→ストック蓄積→黄7でZ-GAME連鎖」という明確な行動目標と報酬ループが設計されている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プレイヤーは常に「次の役で何かが起きる」という期待感を維持できる。強役を引いた瞬間の興奮が台離れを防ぐ。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上位AT ── SGG（赤7揃い）× Z-GAME（黄7連鎖）の突入ルートと遊び方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5/10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4114800" cy="2000000"/>
          </a:xfrm>
          <a:prstGeom prst="rect">
            <a:avLst/>
          </a:prstGeom>
          <a:solidFill>
            <a:srgbClr val="141002"/>
          </a:solidFill>
          <a:ln w="2540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58368"/>
            <a:ext cx="50000" cy="200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168" y="708368"/>
            <a:ext cx="40048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游明朝"/>
              </a:rPr>
              <a:t>Z-GAME（黄7上乗せ特化）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168" y="1018368"/>
            <a:ext cx="4004800" cy="1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【突入条件】
Z-ZONE（5Gフルナビ）中に黄7が5連続成立
【消化中の挙動】
・1/1.4の確率で黄7が揃い続ける
・黄7が揃うたびGGストック上乗せ
・ハズレまたは青7が出るまで継続
【チェーン連鎖】
Z-GAME中にZ-ZONEへ再突入することもある
→ Z-GAME→Z-ZONE→Z-GAMEの無限連鎖が爆発の正体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658368"/>
            <a:ext cx="4370832" cy="2000000"/>
          </a:xfrm>
          <a:prstGeom prst="rect">
            <a:avLst/>
          </a:prstGeom>
          <a:solidFill>
            <a:srgbClr val="200604"/>
          </a:solidFill>
          <a:ln w="25400">
            <a:solidFill>
              <a:srgbClr val="CC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658368"/>
            <a:ext cx="50000" cy="2000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2000" y="708368"/>
            <a:ext cx="42608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2211"/>
                </a:solidFill>
                <a:latin typeface="游明朝"/>
              </a:rPr>
              <a:t>SGG（スーパーGOD GAME）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2000" y="1018368"/>
            <a:ext cx="4260832" cy="1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【突入条件】
赤7揃い（確率：約1/6900）で突入
GGストック1個+ループストック獲得
【1セットの構成】
増加区間 10G〜100G（出玉増加パート）
＋ 引き戻しゾーン 3G（ループ抽選）
【ループ率・継続】
ループ率75%以上で継続
引き戻しゾーンでさらにストック獲得の可能性あり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758368"/>
            <a:ext cx="8741664" cy="1480000"/>
          </a:xfrm>
          <a:prstGeom prst="rect">
            <a:avLst/>
          </a:prstGeom>
          <a:solidFill>
            <a:srgbClr val="0A0E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08368"/>
            <a:ext cx="8229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SGG vs Z-GAME 比較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078368"/>
            <a:ext cx="14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4048" y="3108368"/>
            <a:ext cx="13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1784048" y="3078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4048" y="3108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C00"/>
                </a:solidFill>
                <a:latin typeface="メイリオ"/>
              </a:rPr>
              <a:t>Z-GAME（黄7特化）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4048" y="3078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4048" y="3108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2211"/>
                </a:solidFill>
                <a:latin typeface="メイリオ"/>
              </a:rPr>
              <a:t>SGG（赤7特化）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3374368"/>
            <a:ext cx="14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4048" y="3404368"/>
            <a:ext cx="13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突入条件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4048" y="3374368"/>
            <a:ext cx="33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4048" y="3404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Z-ZONE中に黄7×5連続成立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4048" y="3374368"/>
            <a:ext cx="33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4048" y="3404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赤7揃い（1/6900）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3670368"/>
            <a:ext cx="14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4048" y="3700368"/>
            <a:ext cx="13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消化方式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4048" y="3670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4048" y="3700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黄7が揃い続ける上乗せ型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4048" y="3670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4048" y="3700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セット数管理型（10〜100G）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3966368"/>
            <a:ext cx="14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4048" y="3996368"/>
            <a:ext cx="13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ループ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84048" y="3966368"/>
            <a:ext cx="33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14048" y="3996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1/1.4で黄7成立中は継続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84048" y="3966368"/>
            <a:ext cx="3300000" cy="276000"/>
          </a:xfrm>
          <a:prstGeom prst="rect">
            <a:avLst/>
          </a:prstGeom>
          <a:solidFill>
            <a:srgbClr val="0E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14048" y="3996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75%以上のループ率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4262368"/>
            <a:ext cx="14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4048" y="4292368"/>
            <a:ext cx="13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特徴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84048" y="4262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14048" y="4292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連鎖するほど加速・爆発的上乗せ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048" y="4262368"/>
            <a:ext cx="3300000" cy="27600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14048" y="4292368"/>
            <a:ext cx="3250000" cy="2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引き戻しゾーン付きで粘れる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SGGは「確定役の衝撃＋セット継続」、Z-GAMEは「連鎖上乗せの爆発」と、全く異なる興奮を2軸で提供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赤7揃いは頻度は低いが確実なボーナス。Z-GAMEは黄7連鎖という純粋なスキル感（運感）を最大化する設計。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GOD揃い（PGG）── 1/16384の奇跡・最高体験の設計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6/10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8741664" cy="1680000"/>
          </a:xfrm>
          <a:prstGeom prst="rect">
            <a:avLst/>
          </a:prstGeom>
          <a:solidFill>
            <a:srgbClr val="0A0418"/>
          </a:solidFill>
          <a:ln w="3175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58368"/>
            <a:ext cx="60000" cy="168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82832" y="658368"/>
            <a:ext cx="60000" cy="168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68" y="708368"/>
            <a:ext cx="8581664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B77FF"/>
                </a:solidFill>
                <a:latin typeface="游明朝"/>
              </a:rPr>
              <a:t>GOD揃い（PREMIUM GOD GAME / PGG）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168" y="1088368"/>
            <a:ext cx="2110416" cy="1100000"/>
          </a:xfrm>
          <a:prstGeom prst="rect">
            <a:avLst/>
          </a:prstGeom>
          <a:solidFill>
            <a:srgbClr val="10081C"/>
          </a:solidFill>
          <a:ln w="1905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168" y="114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BB77FF"/>
                </a:solidFill>
                <a:latin typeface="メイリオ"/>
              </a:rPr>
              <a:t>発生確率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68" y="1428368"/>
            <a:ext cx="2070416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8F4"/>
                </a:solidFill>
                <a:latin typeface="游明朝"/>
              </a:rPr>
              <a:t>1/16384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168" y="177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全設定共通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41584" y="1088368"/>
            <a:ext cx="2110416" cy="1100000"/>
          </a:xfrm>
          <a:prstGeom prst="rect">
            <a:avLst/>
          </a:prstGeom>
          <a:solidFill>
            <a:srgbClr val="10081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71584" y="114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C8A840"/>
                </a:solidFill>
                <a:latin typeface="メイリオ"/>
              </a:rPr>
              <a:t>GGストック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1584" y="1428368"/>
            <a:ext cx="2070416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8F4"/>
                </a:solidFill>
                <a:latin typeface="游明朝"/>
              </a:rPr>
              <a:t>4セット以上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1584" y="177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継続確定レベル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02000" y="1088368"/>
            <a:ext cx="2110416" cy="1100000"/>
          </a:xfrm>
          <a:prstGeom prst="rect">
            <a:avLst/>
          </a:prstGeom>
          <a:solidFill>
            <a:srgbClr val="10081C"/>
          </a:solidFill>
          <a:ln w="1905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2000" y="114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4422"/>
                </a:solidFill>
                <a:latin typeface="メイリオ"/>
              </a:rPr>
              <a:t>ループストック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2000" y="1428368"/>
            <a:ext cx="2070416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8F4"/>
                </a:solidFill>
                <a:latin typeface="游明朝"/>
              </a:rPr>
              <a:t>大量獲得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2000" y="177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高継続確率を保証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2416" y="1088368"/>
            <a:ext cx="2110416" cy="1100000"/>
          </a:xfrm>
          <a:prstGeom prst="rect">
            <a:avLst/>
          </a:prstGeom>
          <a:solidFill>
            <a:srgbClr val="10081C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2416" y="114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期待枚数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2416" y="1428368"/>
            <a:ext cx="2070416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8F4"/>
                </a:solidFill>
                <a:latin typeface="游明朝"/>
              </a:rPr>
              <a:t>3000枚以上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2416" y="1778368"/>
            <a:ext cx="2070416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単発最大クラスの恩恵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1168" y="2418368"/>
            <a:ext cx="2887221" cy="170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1168" y="2418368"/>
            <a:ext cx="42000" cy="170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168" y="2473368"/>
            <a:ext cx="2792221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77FF"/>
                </a:solidFill>
                <a:latin typeface="メイリオ"/>
              </a:rPr>
              <a:t>① 語り継がれる体験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168" y="2758368"/>
            <a:ext cx="2792221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1/16384という絶対的なレア度が
「あの日GOD揃いが出た」を
一生の話題にする。
打ち手にとって一度でも経験すれば
「この台で起きた最高の瞬間」として
記憶に刻まれる設計。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8389" y="2418368"/>
            <a:ext cx="2887221" cy="170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28389" y="2418368"/>
            <a:ext cx="42000" cy="170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389" y="2473368"/>
            <a:ext cx="2792221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② SNS・UGC生産装置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389" y="2758368"/>
            <a:ext cx="2792221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GOD揃い動画は高い確率でSNSでバズる。
① バズる動画が広告塔になる
② 「ありえる」という期待感を拡散
③ 「俺も出したい」来店動機を創出
この1フラグだけで自走するマーケティングが成立する。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45610" y="2418368"/>
            <a:ext cx="2887221" cy="170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45610" y="2418368"/>
            <a:ext cx="42000" cy="1700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17610" y="2473368"/>
            <a:ext cx="2792221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4422"/>
                </a:solidFill>
                <a:latin typeface="メイリオ"/>
              </a:rPr>
              <a:t>③ 期待値ゼロでも希望を残す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17610" y="2758368"/>
            <a:ext cx="2792221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設定1でも・ハマっていても
「次でGOD揃いが出るかもしれない」
という希望は同じ。
3000枚確定という圧倒的な恩恵が
閉店まで離席を防ぐ
最後のストッパーとして機能する。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1/16384のGOD揃いは「語り継がれる体験」「SNS拡散」「希望を残すストッパー」という3重の設計価値を持つ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この確率は狙って出せないからこそ価値がある。稀少性と恩恵の大きさが神話的体験を生む。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面白さの設計 ── なぜ「ミリオンゴッド-軌跡-」は面白いのか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7/10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1627632" cy="3800000"/>
          </a:xfrm>
          <a:prstGeom prst="rect">
            <a:avLst/>
          </a:prstGeom>
          <a:solidFill>
            <a:srgbClr val="0A0E28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58368"/>
            <a:ext cx="40000" cy="38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168" y="713368"/>
            <a:ext cx="15426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游明朝"/>
              </a:rPr>
              <a:t>① 速度の快感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168" y="1038368"/>
            <a:ext cx="1542632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7.0枚/Gという現行最速クラスの
純増スピードが「GGが続く快感」を
最大化する。
50G×7.0枚=350枚が最小単位として
常に「速く増える」体感を与える。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3956" y="658368"/>
            <a:ext cx="1627632" cy="3800000"/>
          </a:xfrm>
          <a:prstGeom prst="rect">
            <a:avLst/>
          </a:prstGeom>
          <a:solidFill>
            <a:srgbClr val="0A0E28"/>
          </a:solidFill>
          <a:ln w="228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956" y="658368"/>
            <a:ext cx="40000" cy="380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98956" y="713368"/>
            <a:ext cx="15426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C00"/>
                </a:solidFill>
                <a:latin typeface="游明朝"/>
              </a:rPr>
              <a:t>② 連鎖の爆発感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8956" y="1038368"/>
            <a:ext cx="1542632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Z-GAME黄7連鎖は
「当たり続けるほど加速する」
正のフィードバックループ。
1/1.4を何連鎖できるかという
シンプルなドキドキが設計の核心。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658368"/>
            <a:ext cx="1627632" cy="3800000"/>
          </a:xfrm>
          <a:prstGeom prst="rect">
            <a:avLst/>
          </a:prstGeom>
          <a:solidFill>
            <a:srgbClr val="0A0E28"/>
          </a:solidFill>
          <a:ln w="22860">
            <a:solidFill>
              <a:srgbClr val="CC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66744" y="658368"/>
            <a:ext cx="40000" cy="3800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1744" y="713368"/>
            <a:ext cx="15426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2211"/>
                </a:solidFill>
                <a:latin typeface="游明朝"/>
              </a:rPr>
              <a:t>③ 確定役の衝撃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1744" y="1038368"/>
            <a:ext cx="1542632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赤7揃い（1/6900）という
ひとつのレア役がSGGという
別次元のATを起動する。
「揃った瞬間の衝撃」が
台の価値を上げる設計。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9532" y="658368"/>
            <a:ext cx="1627632" cy="3800000"/>
          </a:xfrm>
          <a:prstGeom prst="rect">
            <a:avLst/>
          </a:prstGeom>
          <a:solidFill>
            <a:srgbClr val="0A0E28"/>
          </a:solidFill>
          <a:ln w="2286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99532" y="658368"/>
            <a:ext cx="40000" cy="380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4532" y="713368"/>
            <a:ext cx="15426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99"/>
                </a:solidFill>
                <a:latin typeface="游明朝"/>
              </a:rPr>
              <a:t>④ 多層の目標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532" y="1038368"/>
            <a:ext cx="1542632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GG→SGG→Z-GAME→GOD揃いという
4層の目標が常に「次がある」
希望を生む。
どの層にいても上位への
期待感が途切れない構造。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658368"/>
            <a:ext cx="1627632" cy="3800000"/>
          </a:xfrm>
          <a:prstGeom prst="rect">
            <a:avLst/>
          </a:prstGeom>
          <a:solidFill>
            <a:srgbClr val="0A0E28"/>
          </a:solidFill>
          <a:ln w="2286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658368"/>
            <a:ext cx="40000" cy="380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7320" y="713368"/>
            <a:ext cx="1542632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77FF"/>
                </a:solidFill>
                <a:latin typeface="游明朝"/>
              </a:rPr>
              <a:t>⑤ 記憶との接続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7320" y="1038368"/>
            <a:ext cx="1542632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4号機ミリオンゴッドを知る世代が
「GOD揃いをもう一度」という
動機で来店する。
記憶・郷愁がリピート来店を
促す最強のIPカード。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" y="4538368"/>
            <a:ext cx="8741664" cy="830000"/>
          </a:xfrm>
          <a:prstGeom prst="rect">
            <a:avLst/>
          </a:prstGeom>
          <a:solidFill>
            <a:srgbClr val="10080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4593368"/>
            <a:ext cx="8229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設計の本質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878368"/>
            <a:ext cx="82296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「速さ（7.0枚）× 連鎖（Z-GAME）× 衝撃（赤7/GOD揃い）× IP（4号機の記憶）」の4要素が
互いを補強し合うことで、短期体験（1セット）も長期体験（一日）も成立する完全な設計。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設計核心: 速度・連鎖・衝撃・記憶という4軸が互いを補強し合い、短期〜長期の両方の遊び方で満足感を生む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単純に「出玉が多い」だけでなく、複数の快感設計が重なった結果として長期稼働が実現している。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良い点と課題 ── プレイヤー・ホール両視点の評価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8/10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4114800" cy="34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168" y="708368"/>
            <a:ext cx="403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0618"/>
                </a:solidFill>
                <a:latin typeface="游明朝"/>
              </a:rPr>
              <a:t>良い点（Pros）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998368"/>
            <a:ext cx="4114800" cy="925000"/>
          </a:xfrm>
          <a:prstGeom prst="rect">
            <a:avLst/>
          </a:prstGeom>
          <a:solidFill>
            <a:srgbClr val="0A0E28"/>
          </a:solidFill>
          <a:ln w="1016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998368"/>
            <a:ext cx="30000" cy="925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168" y="1043368"/>
            <a:ext cx="404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7.0枚/Gの純増速度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168" y="1288368"/>
            <a:ext cx="40448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出玉の増加速度が体感として速い。
1セット50Gで約350枚という明確な数値が
「打った感」を高める。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1938368"/>
            <a:ext cx="4114800" cy="925000"/>
          </a:xfrm>
          <a:prstGeom prst="rect">
            <a:avLst/>
          </a:prstGeom>
          <a:solidFill>
            <a:srgbClr val="0E122C"/>
          </a:solidFill>
          <a:ln w="101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1938368"/>
            <a:ext cx="30000" cy="92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168" y="1983368"/>
            <a:ext cx="404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GOD揃いの神話的体験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168" y="2228368"/>
            <a:ext cx="40448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1/16384のレア度が「打ち手の間の語り草」を生む。
SNS拡散効果で新規来店促進にもなる。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878368"/>
            <a:ext cx="4114800" cy="925000"/>
          </a:xfrm>
          <a:prstGeom prst="rect">
            <a:avLst/>
          </a:prstGeom>
          <a:solidFill>
            <a:srgbClr val="0A0E28"/>
          </a:solidFill>
          <a:ln w="101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" y="2878368"/>
            <a:ext cx="30000" cy="925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168" y="2923368"/>
            <a:ext cx="404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CC00"/>
                </a:solidFill>
                <a:latin typeface="メイリオ"/>
              </a:rPr>
              <a:t>Z-GAME黄7連鎖の爆発感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168" y="3168368"/>
            <a:ext cx="40448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連鎖するほど加速する上乗せが
他機種では味わえない興奮を提供する。
正のフィードバックループの設計が優秀。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3818368"/>
            <a:ext cx="4114800" cy="925000"/>
          </a:xfrm>
          <a:prstGeom prst="rect">
            <a:avLst/>
          </a:prstGeom>
          <a:solidFill>
            <a:srgbClr val="0E122C"/>
          </a:solidFill>
          <a:ln w="10160">
            <a:solidFill>
              <a:srgbClr val="CC2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" y="3818368"/>
            <a:ext cx="30000" cy="925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168" y="3863368"/>
            <a:ext cx="404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2211"/>
                </a:solidFill>
                <a:latin typeface="メイリオ"/>
              </a:rPr>
              <a:t>4号機GODのIP継続力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168" y="4108368"/>
            <a:ext cx="40448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既存ユーザーへの訴求力が高い。
「またGOD揃いを体験したい」という
リピート動機が強力。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658368"/>
            <a:ext cx="4325112" cy="340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7720" y="708368"/>
            <a:ext cx="4245112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E8F4"/>
                </a:solidFill>
                <a:latin typeface="游明朝"/>
              </a:rPr>
              <a:t>課題（Cons）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998368"/>
            <a:ext cx="4325112" cy="925000"/>
          </a:xfrm>
          <a:prstGeom prst="rect">
            <a:avLst/>
          </a:prstGeom>
          <a:solidFill>
            <a:srgbClr val="200604"/>
          </a:solidFill>
          <a:ln w="1016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17720" y="998368"/>
            <a:ext cx="30000" cy="925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2720" y="1043368"/>
            <a:ext cx="425511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22"/>
                </a:solidFill>
                <a:latin typeface="メイリオ"/>
              </a:rPr>
              <a:t>ハマり時の待ち時間が長い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2720" y="1288368"/>
            <a:ext cx="4255112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天井1480Gは現行機の中でも深め。
低設定での長期ハマりは
プレイヤーに大きなストレスを与える。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1938368"/>
            <a:ext cx="4325112" cy="925000"/>
          </a:xfrm>
          <a:prstGeom prst="rect">
            <a:avLst/>
          </a:prstGeom>
          <a:solidFill>
            <a:srgbClr val="180604"/>
          </a:solidFill>
          <a:ln w="1016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1938368"/>
            <a:ext cx="30000" cy="925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720" y="1983368"/>
            <a:ext cx="425511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22"/>
                </a:solidFill>
                <a:latin typeface="メイリオ"/>
              </a:rPr>
              <a:t>GOD揃いへの依存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720" y="2228368"/>
            <a:ext cx="4255112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最高体験がGOD揃い（1/16384）に集中しすぎると
大多数のプレイヤーは生涯体験できない可能性。
「2番手の体験」を充実させる余地がある。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2878368"/>
            <a:ext cx="4325112" cy="925000"/>
          </a:xfrm>
          <a:prstGeom prst="rect">
            <a:avLst/>
          </a:prstGeom>
          <a:solidFill>
            <a:srgbClr val="200604"/>
          </a:solidFill>
          <a:ln w="1016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2878368"/>
            <a:ext cx="30000" cy="925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72720" y="2923368"/>
            <a:ext cx="425511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22"/>
                </a:solidFill>
                <a:latin typeface="メイリオ"/>
              </a:rPr>
              <a:t>設定差の開示が少ない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2720" y="3168368"/>
            <a:ext cx="4255112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設定6の機械割しか公表されていない。
プレイヤーが設定を判別しにくく
通い続ける理由が作りにくい。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17720" y="3818368"/>
            <a:ext cx="4325112" cy="925000"/>
          </a:xfrm>
          <a:prstGeom prst="rect">
            <a:avLst/>
          </a:prstGeom>
          <a:solidFill>
            <a:srgbClr val="180604"/>
          </a:solidFill>
          <a:ln w="10160">
            <a:solidFill>
              <a:srgbClr val="FF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17720" y="3818368"/>
            <a:ext cx="30000" cy="925000"/>
          </a:xfrm>
          <a:prstGeom prst="rect">
            <a:avLst/>
          </a:prstGeom>
          <a:solidFill>
            <a:srgbClr val="FF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2720" y="3863368"/>
            <a:ext cx="425511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22"/>
                </a:solidFill>
                <a:latin typeface="メイリオ"/>
              </a:rPr>
              <a:t>初心者には複雑すぎる可能性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2720" y="4108368"/>
            <a:ext cx="4255112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モード・ガイアステージ・Z-ZONE・Z-GAME・SGG
と覚える要素が多い。
初見プレイヤーが「何を狙えばいいか」
理解するまでに時間がかかる。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分析視点: 「出玉性能×IP力」の強みは明確。課題は天井深さと初心者導線の不足で、それを補う店舗施策が重要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強みを活かすには設定6を使った高時給の演出と、天井狙い客を取り込む台数・配置戦略がカギになる。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まとめ ── 設計から学べること・応用できる原則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9/10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58368"/>
            <a:ext cx="4114800" cy="310000"/>
          </a:xfrm>
          <a:prstGeom prst="rect">
            <a:avLst/>
          </a:prstGeom>
          <a:solidFill>
            <a:srgbClr val="70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168" y="708368"/>
            <a:ext cx="4034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長期稼働を支えた3要素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968368"/>
            <a:ext cx="4114800" cy="121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968368"/>
            <a:ext cx="42000" cy="12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168" y="1018368"/>
            <a:ext cx="4019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① 純増7.0枚の「速さ」差別化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168" y="1278368"/>
            <a:ext cx="40198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現行機トップクラスの純増速度が
「速く大きく勝つ」体験を実現。
4号機GODの「爆発力」をスマスロで再現。
速さそのものが競合との差別化ポイント。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98368"/>
            <a:ext cx="4114800" cy="121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98368"/>
            <a:ext cx="42000" cy="121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3168" y="2248368"/>
            <a:ext cx="4019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C00"/>
                </a:solidFill>
                <a:latin typeface="メイリオ"/>
              </a:rPr>
              <a:t>② GG→SGG→Z-GAMEの多層昇格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168" y="2508368"/>
            <a:ext cx="40198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常に「次がある」希望を生む4層構造。
GG中に赤7・黄7を狙い続ける
という明確な行動指針が
プレイヤーの集中を維持する。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3428368"/>
            <a:ext cx="4114800" cy="1210000"/>
          </a:xfrm>
          <a:prstGeom prst="rect">
            <a:avLst/>
          </a:prstGeom>
          <a:solidFill>
            <a:srgbClr val="0A0E28"/>
          </a:solidFill>
          <a:ln w="19050">
            <a:solidFill>
              <a:srgbClr val="BB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" y="3428368"/>
            <a:ext cx="42000" cy="121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3168" y="3478368"/>
            <a:ext cx="4019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77FF"/>
                </a:solidFill>
                <a:latin typeface="メイリオ"/>
              </a:rPr>
              <a:t>③ IP力×世代記憶の活用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168" y="3738368"/>
            <a:ext cx="40198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4号機ミリオンゴッドを知る世代が
スマスロ版で「GOD揃いを再び」と
来店する。記憶との接続が
リピート来店を促す最強の動機。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370832" cy="280000"/>
          </a:xfrm>
          <a:prstGeom prst="rect">
            <a:avLst/>
          </a:prstGeom>
          <a:solidFill>
            <a:srgbClr val="121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703368"/>
            <a:ext cx="4300832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他機種設計に応用できる原則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38368"/>
            <a:ext cx="22000" cy="4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4000" y="1008368"/>
            <a:ext cx="430583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純増速度は「体感」を最大化する武器になる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438368"/>
            <a:ext cx="22000" cy="460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4000" y="1508368"/>
            <a:ext cx="430583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Z-GAME型「連鎖上乗せ」は最も興奮度が高い形式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938368"/>
            <a:ext cx="22000" cy="460000"/>
          </a:xfrm>
          <a:prstGeom prst="rect">
            <a:avLst/>
          </a:prstGeom>
          <a:solidFill>
            <a:srgbClr val="CC2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4000" y="2008368"/>
            <a:ext cx="430583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確定役（1/6900）の衝撃は通常ループを飽きさせない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438368"/>
            <a:ext cx="22000" cy="460000"/>
          </a:xfrm>
          <a:prstGeom prst="rect">
            <a:avLst/>
          </a:prstGeom>
          <a:solidFill>
            <a:srgbClr val="BB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4000" y="2508368"/>
            <a:ext cx="430583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1/16384のGOD揃いが語り継がれる体験を生む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938368"/>
            <a:ext cx="22000" cy="46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4000" y="3008368"/>
            <a:ext cx="430583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モード管理＋ガイアステージで通常時を「進んでいる感」に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3508368"/>
            <a:ext cx="4370832" cy="870000"/>
          </a:xfrm>
          <a:prstGeom prst="rect">
            <a:avLst/>
          </a:prstGeom>
          <a:solidFill>
            <a:srgbClr val="100802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27000" y="3558368"/>
            <a:ext cx="429583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総括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7000" y="3828368"/>
            <a:ext cx="4295832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IP×純増7枚×多層昇格設計の完成形。
GOD揃い1/16384が神話的体験を生産し続ける
唯一無二のコンテンツ力を持つスマスロ機種。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0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617720"/>
            <a:ext cx="35000" cy="5257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4647720"/>
            <a:ext cx="59436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設計原則: 速度・連鎖・衝撃・記憶の4軸設計を他機種に応用するとき「それぞれの軸が互いを補強しているか」を問うべき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" y="4882720"/>
            <a:ext cx="7132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88AA"/>
                </a:solidFill>
                <a:latin typeface="メイリオ"/>
              </a:rPr>
              <a:t>ミリオンゴッド-軌跡-の成功は単一要素ではなく4つの軸が化学反応を起こした結果である。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919472"/>
            <a:ext cx="17373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