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スロット新機種　ゲーム性提案書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5A30"/>
                </a:solidFill>
              </a:rPr>
              <a:t>173週・453機種の実稼働データが示す
「長期稼働する台の設計法則」から逆算したゲーム性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11880"/>
            <a:ext cx="5486400" cy="2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307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BBCC"/>
                </a:solidFill>
              </a:rPr>
              <a:t>このゲーム性、どう思いますか？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問題意識：なぜ「3ヶ月後に誰も打っていない台」が生まれるのか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114800" cy="493776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5050"/>
                </a:solidFill>
              </a:rPr>
              <a:t>◆ よくあるパターン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64208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初週：設定6が入り、爆発的稼働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2〜4週：高評価口コミで来店急増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5〜8週：ホールが設定を下げ始める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9週〜：「あの台、最近ぜんぜん出ない」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12週〜：稼働激減、他機種に流れる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E05050"/>
                </a:solidFill>
              </a:rPr>
              <a:t>→ 設定次第の台だったから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97280"/>
            <a:ext cx="4251960" cy="493776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20700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B07A"/>
                </a:solidFill>
              </a:rPr>
              <a:t>◆ 長期稼働できた機種の共通点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664208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L東京喰種　63週、稼働率182%を維持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LモンキーターンV　124週、稼働率144%を維持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LディスクアップULTRAREMIX　65週、稼働率146%を維持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4CB07A"/>
                </a:solidFill>
              </a:rPr>
              <a:t>共通する設計の特徴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「設定が低くてもゲームが面白い」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AT演出の品質が設定に依存しない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→ ホールが設定を下げても去らない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0175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99"/>
                </a:solidFill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分析の見方：この資料で使う2つの指標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51960" cy="5029200"/>
          </a:xfrm>
          <a:prstGeom prst="rect">
            <a:avLst/>
          </a:prstGeom>
          <a:solidFill>
            <a:srgbClr val="1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85A30"/>
                </a:solidFill>
              </a:rPr>
              <a:t>指標①　稼働率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3840480" cy="22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＝  機種のアウト ÷ 全機種平均アウト ×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平均が100%。高いほど「よく打たれている台」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88920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0092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88899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029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平均と同じ稼働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55848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6784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C542"/>
                </a:solidFill>
              </a:rPr>
              <a:t>150%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698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平均の1.5倍（人気台）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922776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477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B07A"/>
                </a:solidFill>
              </a:rPr>
              <a:t>200%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367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平均の2倍（超人気台）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489704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50170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05050"/>
                </a:solidFill>
              </a:rPr>
              <a:t> 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0370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平均の半分以下（不振台）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13892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例）東京喰種の平均稼働率 = 182%
→ 常に全体平均の約1.8倍打たれていた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097280"/>
            <a:ext cx="4160520" cy="5029200"/>
          </a:xfrm>
          <a:prstGeom prst="rect">
            <a:avLst/>
          </a:prstGeom>
          <a:solidFill>
            <a:srgbClr val="1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17043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599DD"/>
                </a:solidFill>
              </a:rPr>
              <a:t>指標②　後半維持率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627632"/>
            <a:ext cx="3749039" cy="22000"/>
          </a:xfrm>
          <a:prstGeom prst="rect">
            <a:avLst/>
          </a:prstGeom>
          <a:solidFill>
            <a:srgbClr val="559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73736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＝  W13以降の平均稼働率 ÷ W1〜12の平均稼働率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33172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「人気が長続きしているか」を示す維持力
W1〜12が初期12週、W13以降が長期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92608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93808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90%以上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9400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ほぼ落ちていない（超長期型）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52044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53244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65〜90%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5344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緩やかに落ちている（長期安定）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412680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45〜65%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1288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ある程度落ちた（中期維持）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470916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472116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5050"/>
                </a:solidFill>
              </a:rPr>
              <a:t>45%未満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7231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急速に落ちた（消費が早い）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51389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例）東京喰種の後半維持率 = 73.7%
→ 長期でも初期の7割以上の稼働を維持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236208"/>
            <a:ext cx="8595360" cy="384048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29107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BBBCC"/>
                </a:solidFill>
              </a:rPr>
              <a:t>この2指標を組み合わせることで「高くて長持ちする台」と「最初だけ高くてすぐ落ちた台」を区別できる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発見した法則：変動係数（CV）と長期維持率の関係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</a:rPr>
              <a:t>n=130機種（ジャグラー系除く・30週以上）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CV（週ごとアウトの変動係数）と後半維持率の相関係数  r = -0.913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0195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変動係数（CV）＝ 週ごとアウトの標準偏差 ÷ 平均  →  「設定依存度」の代理指標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59152"/>
            <a:ext cx="180880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320" y="236915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CV値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359152"/>
            <a:ext cx="345472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88840" y="236915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意味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59152"/>
            <a:ext cx="290608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9280" y="236915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後半維持率の傾向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62072"/>
            <a:ext cx="180880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320" y="287207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CV &lt; 0.2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2862072"/>
            <a:ext cx="345472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88840" y="287207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設定に関わらず安定稼働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862072"/>
            <a:ext cx="290608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9280" y="287207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B07A"/>
                </a:solidFill>
              </a:rPr>
              <a:t>70〜90%台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64992"/>
            <a:ext cx="180880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320" y="337499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CV 0.3〜0.5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3364992"/>
            <a:ext cx="345472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88840" y="337499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設定依存が中程度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364992"/>
            <a:ext cx="290608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9280" y="337499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542"/>
                </a:solidFill>
              </a:rPr>
              <a:t>40〜65%台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67912"/>
            <a:ext cx="180880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320" y="387791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5050"/>
                </a:solidFill>
              </a:rPr>
              <a:t>CV &gt; 0.6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3867912"/>
            <a:ext cx="345472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88840" y="387791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高設定のときだけ爆発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867912"/>
            <a:ext cx="290608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09280" y="387791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5050"/>
                </a:solidFill>
              </a:rPr>
              <a:t>20〜35%台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85A30"/>
                </a:solidFill>
              </a:rPr>
              <a:t>★ r=-0.913 は「ほぼ完全な負の相関」。設定依存度を下げるほど長期稼働できる、と数値が示している。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29200"/>
            <a:ext cx="8595360" cy="1481328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102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実機データ確認（2022-2026実稼働）　※稼働率100%=全体平均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0040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東京喰種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040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稼働率182%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040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維持率73.7%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39112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69112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モンキーターンV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69112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稼働率144%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69112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維持率68.2%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58184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88184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ディスクアップ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88184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稼働率146%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8184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維持率61.9%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77256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07256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C542"/>
                </a:solidFill>
              </a:rPr>
              <a:t>北斗の拳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7256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稼働率257%→低下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07256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542"/>
                </a:solidFill>
              </a:rPr>
              <a:t>維持率42.1%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96328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6328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05050"/>
                </a:solidFill>
              </a:rPr>
              <a:t>番長４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6328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稼働率187%→低下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6328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5050"/>
                </a:solidFill>
              </a:rPr>
              <a:t>維持率29.6%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「打ちたい気持ち」と「やめにくさ」は別物だった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51960" cy="493776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4320" y="1188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5050"/>
                </a:solidFill>
              </a:rPr>
              <a:t>やめにくさ</a:t>
            </a:r>
          </a:p>
        </p:txBody>
      </p:sp>
      <p:sp>
        <p:nvSpPr>
          <p:cNvPr id="8" name="Rectangle 7"/>
          <p:cNvSpPr/>
          <p:nvPr/>
        </p:nvSpPr>
        <p:spPr>
          <a:xfrm>
            <a:off x="314320" y="1645920"/>
            <a:ext cx="3657600" cy="20000"/>
          </a:xfrm>
          <a:prstGeom prst="rect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320" y="17373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今のセッションを続けたい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・天井まであと○G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・ATが終わったらやめよう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・残ゲーム数が勿体ない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・損失回避の心理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E05050"/>
                </a:solidFill>
              </a:rPr>
              <a:t>→ ホールを出れば来週は来ない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97280"/>
            <a:ext cx="4251960" cy="493776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4880" y="1188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B07A"/>
                </a:solidFill>
              </a:rPr>
              <a:t>打ちたい気持ち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880" y="1645920"/>
            <a:ext cx="3657600" cy="2000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4880" y="17373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また来週あの台を打ちに来たい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・あの演出がもう一度見たい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・今日負けた、リベンジしたい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・ボス撃破の達成感が忘れられない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・次はもっと上手く打てる気がする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4CB07A"/>
                </a:solidFill>
              </a:rPr>
              <a:t>→ 来週の来店動機が設計で生まれる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926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99"/>
                </a:solidFill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144768"/>
            <a:ext cx="8595360" cy="502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長期稼働するのは「打ちたい気持ち」を生む機種。その源泉は「設定に依存しないゲーム体験の完成度」。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提案するゲーム性コンセプト：進化するバトル型AT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32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AT演出・バトルは設定非依存で面白い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32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32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低設定でも体験の質が変わらない設計
→ CV目標 0.20〜0.25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040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40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設定差はAT突入頻度に集中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040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040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設定が高いほど当たりやすい
でも当たったら全設定で同じ体験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648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648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毎セッションに「達成感」が生まれる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48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648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ボス撃破・上乗せの喜び
敗北→リベンジ欲求のサイクル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7091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85A30"/>
                </a:solidFill>
              </a:rPr>
              <a:t>▶ 設計根拠：東京喰種(赫眼・喰種対決)・モンキーターンV(競艇レース映像)・ディスクアップ(技術介入)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1206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いずれも「設定1でも体験できる盛り上がり」が核心。これがCV低下の理由。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96128"/>
            <a:ext cx="8595360" cy="932688"/>
          </a:xfrm>
          <a:prstGeom prst="rect">
            <a:avLst/>
          </a:prstGeom>
          <a:solidFill>
            <a:srgbClr val="1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タイプ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スマスロ（L型）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9112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単価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2.8〜3.2円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8183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機械割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8183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97.5% / 設定6: 109%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7255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純増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7255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AT中 3.8枚/G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7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7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700G / 設定6: 350G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ゲームフロー：BURST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8595360" cy="5394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07008"/>
            <a:ext cx="8275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BBBBCC"/>
                </a:solidFill>
                <a:latin typeface="MS Gothic"/>
              </a:rPr>
              <a:t>【通常時：挑戦ゾーン】
  50〜300G周期で CZ「激突バトル」（30G）へ
  失敗しても「バトルポイント（BP）」として蓄積 → 天井CZへ持ち越し
  ※ 天井は設定差あり（設定6：350G  /  設定1：700G）
          ↓ CZ突破
【AT：BURST CHAIN】  純増 3.8枚 / 1セット 40G
  ┌─ 毎G：小役でポイント蓄積 → 50ptで「上乗せ抽選」（設定差なし・自力感）
  ├─ 10G毎：バトルフェーズ（全3段階）
  │    ① ザコ戦（勝率80%以上・チュートリアル感・毎回の達成感）
  │    ② 中ボス戦（勝率60〜70%・緊張感が高まる）
  │    ③ ボス戦（勝率40〜50%・クライマックス・完全自力）
  │    ★ 勝敗は「小役成立パターン」で決定 → デキレ感ゼロ
  │    ★ バトル勝率は設定に影響されない（どの設定でも同じ体験）
  ├─ ボス撃破 → セット上乗せ（+20〜60G）＆「次も来たい」演出
  └─ ボス敗北 → セット終了、引き戻し抽選 →「悔しい…次こそ」
          ↓ ボス連続撃破 x 3回
【上位AT：CHAIN BURST MAX】  純増 5.2枚・上乗せフリー状態
  IP演出最高潮 / 全設定で同じ確率で突入可能（引き次第）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設計の核心：なぜこれが「低CV」になるのか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27100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5800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設計要素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143000"/>
            <a:ext cx="300252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6040" y="115800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設定との関係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143000"/>
            <a:ext cx="318540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9280" y="115800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プレイヤーが感じること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0312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320" y="211812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バトル勝率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10312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6040" y="211812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設定は影響しない
（小役確率で決まる）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0312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9280" y="211812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「自分が引いて勝った」
達成感が毎回残る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6324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320" y="307824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AT中の演出品質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306324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6040" y="307824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設定差なし
（全設定で同じ映像・音楽）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06324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9280" y="307824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設定1でもIP体験が
満足できる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2336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320" y="403836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上乗せ抽選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402336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6040" y="403836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設定はほぼ影響しない
（小役からの自力感）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02336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9280" y="403836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「今日は引きが良かった」
個人体験として完結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8348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320" y="499848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AT突入頻度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983480"/>
            <a:ext cx="3002520" cy="94512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6040" y="499848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5050"/>
                </a:solidFill>
              </a:rPr>
              <a:t>設定差あり
（天井G数・CZ確率に差）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98348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9280" y="499848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「今日は高設定か？」
来店・設定狙いの動機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89320"/>
            <a:ext cx="8595360" cy="65836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5332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設定差をAT頻度のみに集中させることで、「設定6は当たりやすい」「でも当たったらどの設定も同じ体験」を両立。
→ 打ち手全員に「打って良かった」体験が残り、来週の来店動機が生まれる。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近似機種との設計比較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15568"/>
            <a:ext cx="163392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3600" y="1127568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比較軸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1952" y="1115568"/>
            <a:ext cx="154248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6952" y="1127568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東京喰種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115568"/>
            <a:ext cx="167964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8008" y="1127568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モンキーターンV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21224" y="1115568"/>
            <a:ext cx="149676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6224" y="1127568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番長４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115568"/>
            <a:ext cx="1862519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1560" y="1127568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本提案（目標）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865376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600" y="1877376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設定依存度（CV）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1952" y="1865376"/>
            <a:ext cx="154248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6952" y="1877376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0.18（低）★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1865376"/>
            <a:ext cx="167964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8008" y="1877376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0.23（低）★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21224" y="1865376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6224" y="1877376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0.68（高）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865376"/>
            <a:ext cx="1862519" cy="737808"/>
          </a:xfrm>
          <a:prstGeom prst="rect">
            <a:avLst/>
          </a:prstGeom>
          <a:solidFill>
            <a:srgbClr val="28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1560" y="1877376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85A30"/>
                </a:solidFill>
              </a:rPr>
              <a:t>0.20〜0.25★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615184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600" y="2627184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AT中の設定差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01952" y="2615184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6952" y="2627184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ほぼなし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2615184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8008" y="2627184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ほぼなし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21224" y="2615184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6224" y="2627184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大きい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615184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1560" y="2627184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ほぼなし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364992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3600" y="3376992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自力感の強さ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01952" y="3364992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6952" y="3376992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◎（赫眼）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3364992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8008" y="3376992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◎（V入賞）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21224" y="3364992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46224" y="3376992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△（押し順）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364992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1560" y="3376992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◎（バトル）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14800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3600" y="4126800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後半維持率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01952" y="4114800"/>
            <a:ext cx="154248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6952" y="4126800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73.7%★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93008" y="4114800"/>
            <a:ext cx="167964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18008" y="4126800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68.2%★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21224" y="4114800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6224" y="4126800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29.6%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4114800"/>
            <a:ext cx="1862519" cy="737808"/>
          </a:xfrm>
          <a:prstGeom prst="rect">
            <a:avLst/>
          </a:prstGeom>
          <a:solidFill>
            <a:srgbClr val="28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1560" y="4126800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85A30"/>
                </a:solidFill>
              </a:rPr>
              <a:t>目標65%以上★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864608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3600" y="4876608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リベンジ欲求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01952" y="4864608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26952" y="4876608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高（赫眼外れ）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93008" y="4864608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18008" y="4876608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高（V外れ）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21224" y="4864608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46224" y="4876608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4864608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1560" y="4876608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高（ボス敗北）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5614416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3600" y="5626416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ターゲット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01952" y="5614416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26952" y="5626416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幅広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93008" y="5614416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18008" y="5626416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設定狙い〜幅広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21224" y="5614416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46224" y="5626416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ベテラン寄り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5614416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91560" y="5626416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幅広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論点と議論したい点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1528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320" y="11152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AT設定非依存への懸念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320" y="1257280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320" y="129228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設定6の魅力をどう伝えるか？
→ 「設定6は当たりやすい＝バトルを何回も楽しめる」という価値提案でどうか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097280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9159" y="111528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9159" y="11152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ボス勝率40〜50%の適切さ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9159" y="1257280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9159" y="129228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勝率が高すぎると達成感が薄い。低すぎると離脱する。
→ 段階構成（①80% / ②65% / ③45%）でどうか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47872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320" y="35658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320" y="3565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IPとの親和性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320" y="3707872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320" y="3742872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バトル系IPとの相性が良い（格闘・スポーツ・ダンジョン系）
→ どのIPが当てはまるか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3547872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9159" y="35658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9159" y="3565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セット完結型 vs ループ型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9159" y="3707872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9159" y="3742872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本提案はセット完結型（40G×複数）を採用
→ ループ型の方が「打ちたい気持ち」に有効か？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まとめ：この提案で実現したいこと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560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560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実稼働データが証明した「低CV設計」を意図的に実現する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29968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4396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43968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AT中の演出・バトルを設定非依存にすることで「どの設定でも面白い台」にする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88336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02336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2336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初週の爆発ではなく「3ヶ月後も稼働している台」を作る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46704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6070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60704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「また来週打ちに行こう」と思わせる「打ちたい気持ち」を設計で生み出す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526280"/>
            <a:ext cx="9144000" cy="3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663440"/>
            <a:ext cx="8595360" cy="190195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73168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このゲーム性、どう思いますか？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3387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DDCC"/>
                </a:solidFill>
              </a:rPr>
              <a:t>気になる点・詰めたい箇所・別案など、何でもお聞かせください。データを根拠にしているので、どの設計判断も説明できます。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FFCCAA"/>
                </a:solidFill>
              </a:rPr>
              <a:t>分析対象：実稼働データ 453機種・173週（2022〜2026）　　分析手法：変動係数（CV）× 後半維持率 相関分析 r=-0.913（n=130）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