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4937760" cy="5143500"/>
          </a:xfrm>
          <a:prstGeom prst="rect">
            <a:avLst/>
          </a:prstGeom>
          <a:solidFill>
            <a:srgbClr val="060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5000" cy="5143500"/>
          </a:xfrm>
          <a:prstGeom prst="rect">
            <a:avLst/>
          </a:prstGeom>
          <a:solidFill>
            <a:srgbClr val="CC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37760" y="0"/>
            <a:ext cx="8000" cy="5143500"/>
          </a:xfrm>
          <a:prstGeom prst="rect">
            <a:avLst/>
          </a:prstGeom>
          <a:solidFill>
            <a:srgbClr val="CC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" y="365760"/>
            <a:ext cx="4572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5511"/>
                </a:solidFill>
                <a:latin typeface="游明朝"/>
              </a:rPr>
              <a:t>機種説明＋分析 統合ガイド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" y="804672"/>
            <a:ext cx="466344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CC2200"/>
                </a:solidFill>
                <a:latin typeface="游明朝"/>
              </a:rPr>
              <a:t>炎炎ノ消防隊2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" y="2423160"/>
            <a:ext cx="4572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0D8B0"/>
                </a:solidFill>
                <a:latin typeface="游明朝"/>
              </a:rPr>
              <a:t>Lパチスロ ── 高純増×二段階天井×十字目変換の設計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" y="2852928"/>
            <a:ext cx="13716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98880"/>
                </a:solidFill>
                <a:latin typeface="メイリオ"/>
              </a:rPr>
              <a:t>メーカー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2852928"/>
            <a:ext cx="32004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0ECE8"/>
                </a:solidFill>
                <a:latin typeface="メイリオ"/>
              </a:rPr>
              <a:t>SANKYO　2026年導入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" y="3202928"/>
            <a:ext cx="13716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98880"/>
                </a:solidFill>
                <a:latin typeface="メイリオ"/>
              </a:rPr>
              <a:t>設定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8" y="3202928"/>
            <a:ext cx="32004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0ECE8"/>
                </a:solidFill>
                <a:latin typeface="メイリオ"/>
              </a:rPr>
              <a:t>1〜6段階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3552928"/>
            <a:ext cx="13716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98880"/>
                </a:solidFill>
                <a:latin typeface="メイリオ"/>
              </a:rPr>
              <a:t>AT純増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72768" y="3552928"/>
            <a:ext cx="32004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0ECE8"/>
                </a:solidFill>
                <a:latin typeface="メイリオ"/>
              </a:rPr>
              <a:t>約5.8枚/G（業界最高水準）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3902928"/>
            <a:ext cx="13716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98880"/>
                </a:solidFill>
                <a:latin typeface="メイリオ"/>
              </a:rPr>
              <a:t>設定6機械割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72768" y="3902928"/>
            <a:ext cx="32004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0ECE8"/>
                </a:solidFill>
                <a:latin typeface="メイリオ"/>
              </a:rPr>
              <a:t>114.9%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4252928"/>
            <a:ext cx="13716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98880"/>
                </a:solidFill>
                <a:latin typeface="メイリオ"/>
              </a:rPr>
              <a:t>天井①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72768" y="4252928"/>
            <a:ext cx="32004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0ECE8"/>
                </a:solidFill>
                <a:latin typeface="メイリオ"/>
              </a:rPr>
              <a:t>850G（ボーナス間）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4602928"/>
            <a:ext cx="13716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98880"/>
                </a:solidFill>
                <a:latin typeface="メイリオ"/>
              </a:rPr>
              <a:t>天井②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72768" y="4602928"/>
            <a:ext cx="32004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0ECE8"/>
                </a:solidFill>
                <a:latin typeface="メイリオ"/>
              </a:rPr>
              <a:t>2,000G（炎炎激闘間）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166360" y="502920"/>
            <a:ext cx="3749039" cy="1188720"/>
          </a:xfrm>
          <a:prstGeom prst="rect">
            <a:avLst/>
          </a:prstGeom>
          <a:solidFill>
            <a:srgbClr val="140804"/>
          </a:solidFill>
          <a:ln w="25400">
            <a:solidFill>
              <a:srgbClr val="CC2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66360" y="502920"/>
            <a:ext cx="60000" cy="1188720"/>
          </a:xfrm>
          <a:prstGeom prst="rect">
            <a:avLst/>
          </a:prstGeom>
          <a:solidFill>
            <a:srgbClr val="CC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49240" y="567920"/>
            <a:ext cx="347472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2200"/>
                </a:solidFill>
                <a:latin typeface="游明朝"/>
              </a:rPr>
              <a:t>① 十字目変換フロー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49240" y="892920"/>
            <a:ext cx="347472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ECE8"/>
                </a:solidFill>
                <a:latin typeface="メイリオ"/>
              </a:rPr>
              <a:t>リプレイ小V→PUSH→炎色変換→
伝導者決戦。緊張感ある自力感の核心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166360" y="2042920"/>
            <a:ext cx="3749039" cy="1188720"/>
          </a:xfrm>
          <a:prstGeom prst="rect">
            <a:avLst/>
          </a:prstGeom>
          <a:solidFill>
            <a:srgbClr val="140804"/>
          </a:solidFill>
          <a:ln w="25400">
            <a:solidFill>
              <a:srgbClr val="FF9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166360" y="2042920"/>
            <a:ext cx="60000" cy="1188720"/>
          </a:xfrm>
          <a:prstGeom prst="rect">
            <a:avLst/>
          </a:prstGeom>
          <a:solidFill>
            <a:srgbClr val="FF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49240" y="2107920"/>
            <a:ext cx="347472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9922"/>
                </a:solidFill>
                <a:latin typeface="游明朝"/>
              </a:rPr>
              <a:t>② 高純増5.8枚/G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49240" y="2432920"/>
            <a:ext cx="347472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ECE8"/>
                </a:solidFill>
                <a:latin typeface="メイリオ"/>
              </a:rPr>
              <a:t>炎炎大戦ループ中に爆発的出玉。
短時間で大量獲得が可能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166360" y="3582920"/>
            <a:ext cx="3749039" cy="1188720"/>
          </a:xfrm>
          <a:prstGeom prst="rect">
            <a:avLst/>
          </a:prstGeom>
          <a:solidFill>
            <a:srgbClr val="140804"/>
          </a:solidFill>
          <a:ln w="25400">
            <a:solidFill>
              <a:srgbClr val="22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166360" y="3582920"/>
            <a:ext cx="60000" cy="1188720"/>
          </a:xfrm>
          <a:prstGeom prst="rect">
            <a:avLst/>
          </a:prstGeom>
          <a:solidFill>
            <a:srgbClr val="22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49240" y="3647920"/>
            <a:ext cx="347472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2CCDD"/>
                </a:solidFill>
                <a:latin typeface="游明朝"/>
              </a:rPr>
              <a:t>③ 二段階天井設計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49240" y="3972920"/>
            <a:ext cx="347472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ECE8"/>
                </a:solidFill>
                <a:latin typeface="メイリオ"/>
              </a:rPr>
              <a:t>850G+2,000GのWセーフティで
投資計画が立てやすい安心設計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79" y="4919472"/>
            <a:ext cx="155448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998880"/>
                </a:solidFill>
                <a:latin typeface="メイリオ"/>
              </a:rPr>
              <a:t>※ネット解析情報より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4645152"/>
            <a:ext cx="9144000" cy="498348"/>
          </a:xfrm>
          <a:prstGeom prst="rect">
            <a:avLst/>
          </a:prstGeom>
          <a:solidFill>
            <a:srgbClr val="0E06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4645152"/>
            <a:ext cx="20000" cy="498348"/>
          </a:xfrm>
          <a:prstGeom prst="rect">
            <a:avLst/>
          </a:prstGeom>
          <a:solidFill>
            <a:srgbClr val="CC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64592" y="4685152"/>
            <a:ext cx="50292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9922"/>
                </a:solidFill>
                <a:latin typeface="メイリオ"/>
              </a:rPr>
              <a:t>設計の核心は「十字目変換フロー」── リプレイからPUSH、炎色判定、ボーナス抽選という緊張感の連鎖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03520" y="4685152"/>
            <a:ext cx="36576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998880"/>
                </a:solidFill>
                <a:latin typeface="メイリオ"/>
              </a:rPr>
              <a:t>3つのポイントを押さえれば台の全体像が掴める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408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000" cy="530352"/>
          </a:xfrm>
          <a:prstGeom prst="rect">
            <a:avLst/>
          </a:prstGeom>
          <a:solidFill>
            <a:srgbClr val="CC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28000"/>
            <a:ext cx="7772400" cy="4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9922"/>
                </a:solidFill>
                <a:latin typeface="游明朝"/>
              </a:rPr>
              <a:t>ゲームフロー全体図 ── 通常時→AT→上位ATの全ルート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45000"/>
            <a:ext cx="9144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98880"/>
                </a:solidFill>
                <a:latin typeface="メイリオ"/>
              </a:rPr>
              <a:t>2/9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30352"/>
            <a:ext cx="9144000" cy="7000"/>
          </a:xfrm>
          <a:prstGeom prst="rect">
            <a:avLst/>
          </a:prstGeom>
          <a:solidFill>
            <a:srgbClr val="CC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6032" y="685800"/>
            <a:ext cx="1691640" cy="1150000"/>
          </a:xfrm>
          <a:prstGeom prst="rect">
            <a:avLst/>
          </a:prstGeom>
          <a:solidFill>
            <a:srgbClr val="1C0C06"/>
          </a:solidFill>
          <a:ln w="22860">
            <a:solidFill>
              <a:srgbClr val="998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6032" y="765800"/>
            <a:ext cx="161164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998880"/>
                </a:solidFill>
                <a:latin typeface="游明朝"/>
              </a:rPr>
              <a:t>通常遊技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6032" y="1185800"/>
            <a:ext cx="1631640" cy="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98880"/>
                </a:solidFill>
                <a:latin typeface="メイリオ"/>
              </a:rPr>
              <a:t>天井: 850G
レア役でCZ/AT抽選</a:t>
            </a:r>
          </a:p>
        </p:txBody>
      </p:sp>
      <p:sp>
        <p:nvSpPr>
          <p:cNvPr id="11" name="Can 10"/>
          <p:cNvSpPr/>
          <p:nvPr/>
        </p:nvSpPr>
        <p:spPr>
          <a:xfrm>
            <a:off x="1962672" y="1170800"/>
            <a:ext cx="200000" cy="180000"/>
          </a:xfrm>
          <a:prstGeom prst="can">
            <a:avLst/>
          </a:prstGeom>
          <a:solidFill>
            <a:srgbClr val="CC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148840" y="685800"/>
            <a:ext cx="1691640" cy="1150000"/>
          </a:xfrm>
          <a:prstGeom prst="rect">
            <a:avLst/>
          </a:prstGeom>
          <a:solidFill>
            <a:srgbClr val="140804"/>
          </a:solidFill>
          <a:ln w="22860">
            <a:solidFill>
              <a:srgbClr val="FF9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88840" y="765800"/>
            <a:ext cx="161164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9922"/>
                </a:solidFill>
                <a:latin typeface="游明朝"/>
              </a:rPr>
              <a:t>CZ
(前兆)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78840" y="1185800"/>
            <a:ext cx="1631640" cy="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98880"/>
                </a:solidFill>
                <a:latin typeface="メイリオ"/>
              </a:rPr>
              <a:t>天井到達時・
レア役から突入</a:t>
            </a:r>
          </a:p>
        </p:txBody>
      </p:sp>
      <p:sp>
        <p:nvSpPr>
          <p:cNvPr id="15" name="Can 14"/>
          <p:cNvSpPr/>
          <p:nvPr/>
        </p:nvSpPr>
        <p:spPr>
          <a:xfrm>
            <a:off x="3855480" y="1170800"/>
            <a:ext cx="200000" cy="180000"/>
          </a:xfrm>
          <a:prstGeom prst="can">
            <a:avLst/>
          </a:prstGeom>
          <a:solidFill>
            <a:srgbClr val="CC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041648" y="685800"/>
            <a:ext cx="1691640" cy="1150000"/>
          </a:xfrm>
          <a:prstGeom prst="rect">
            <a:avLst/>
          </a:prstGeom>
          <a:solidFill>
            <a:srgbClr val="140804"/>
          </a:solidFill>
          <a:ln w="22860">
            <a:solidFill>
              <a:srgbClr val="CC2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81648" y="765800"/>
            <a:ext cx="161164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CC2200"/>
                </a:solidFill>
                <a:latin typeface="游明朝"/>
              </a:rPr>
              <a:t>ボーナス各種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71648" y="1185800"/>
            <a:ext cx="1631640" cy="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98880"/>
                </a:solidFill>
                <a:latin typeface="メイリオ"/>
              </a:rPr>
              <a:t>REG/炎炎ブースト
/アドラバーストなど</a:t>
            </a:r>
          </a:p>
        </p:txBody>
      </p:sp>
      <p:sp>
        <p:nvSpPr>
          <p:cNvPr id="19" name="Can 18"/>
          <p:cNvSpPr/>
          <p:nvPr/>
        </p:nvSpPr>
        <p:spPr>
          <a:xfrm>
            <a:off x="5748288" y="1170800"/>
            <a:ext cx="200000" cy="180000"/>
          </a:xfrm>
          <a:prstGeom prst="can">
            <a:avLst/>
          </a:prstGeom>
          <a:solidFill>
            <a:srgbClr val="CC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34456" y="685800"/>
            <a:ext cx="1691640" cy="1150000"/>
          </a:xfrm>
          <a:prstGeom prst="rect">
            <a:avLst/>
          </a:prstGeom>
          <a:solidFill>
            <a:srgbClr val="140804"/>
          </a:solidFill>
          <a:ln w="22860">
            <a:solidFill>
              <a:srgbClr val="FF55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74456" y="765800"/>
            <a:ext cx="161164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5511"/>
                </a:solidFill>
                <a:latin typeface="游明朝"/>
              </a:rPr>
              <a:t>炎炎激闘
(AT)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64456" y="1185800"/>
            <a:ext cx="1631640" cy="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98880"/>
                </a:solidFill>
                <a:latin typeface="メイリオ"/>
              </a:rPr>
              <a:t>1セット15G+α
ストック型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032" y="1885800"/>
            <a:ext cx="27432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22CCDD"/>
                </a:solidFill>
                <a:latin typeface="メイリオ"/>
              </a:rPr>
              <a:t>天井② 2,000G → CZ/AT保証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56032" y="2135800"/>
            <a:ext cx="3200400" cy="5000"/>
          </a:xfrm>
          <a:prstGeom prst="rect">
            <a:avLst/>
          </a:prstGeom>
          <a:solidFill>
            <a:srgbClr val="22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040880" y="685800"/>
            <a:ext cx="1874519" cy="1150000"/>
          </a:xfrm>
          <a:prstGeom prst="rect">
            <a:avLst/>
          </a:prstGeom>
          <a:solidFill>
            <a:srgbClr val="140804"/>
          </a:solidFill>
          <a:ln w="19050">
            <a:solidFill>
              <a:srgbClr val="FF55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040880" y="685800"/>
            <a:ext cx="35000" cy="1150000"/>
          </a:xfrm>
          <a:prstGeom prst="rect">
            <a:avLst/>
          </a:prstGeom>
          <a:solidFill>
            <a:srgbClr val="FF55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00880" y="740800"/>
            <a:ext cx="1794519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5511"/>
                </a:solidFill>
                <a:latin typeface="游明朝"/>
              </a:rPr>
              <a:t>ストック型ループ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00880" y="1025800"/>
            <a:ext cx="1794519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0ECE8"/>
                </a:solidFill>
                <a:latin typeface="メイリオ"/>
              </a:rPr>
              <a:t>15G終了後、ストック
あれば即再セット。
ボーナスループ率
80%以上が目標。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1901952"/>
            <a:ext cx="9144000" cy="5000"/>
          </a:xfrm>
          <a:prstGeom prst="rect">
            <a:avLst/>
          </a:prstGeom>
          <a:solidFill>
            <a:srgbClr val="441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56032" y="1965960"/>
            <a:ext cx="1691640" cy="1100000"/>
          </a:xfrm>
          <a:prstGeom prst="rect">
            <a:avLst/>
          </a:prstGeom>
          <a:solidFill>
            <a:srgbClr val="140804"/>
          </a:solidFill>
          <a:ln w="22860">
            <a:solidFill>
              <a:srgbClr val="FF55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96032" y="2045960"/>
            <a:ext cx="161164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5511"/>
                </a:solidFill>
                <a:latin typeface="游明朝"/>
              </a:rPr>
              <a:t>炎炎激闘
（AT継続）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6032" y="2465960"/>
            <a:ext cx="163164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98880"/>
                </a:solidFill>
                <a:latin typeface="メイリオ"/>
              </a:rPr>
              <a:t>十字目変換成功
→伝導者決戦</a:t>
            </a:r>
          </a:p>
        </p:txBody>
      </p:sp>
      <p:sp>
        <p:nvSpPr>
          <p:cNvPr id="33" name="Can 32"/>
          <p:cNvSpPr/>
          <p:nvPr/>
        </p:nvSpPr>
        <p:spPr>
          <a:xfrm>
            <a:off x="1962672" y="2425960"/>
            <a:ext cx="200000" cy="180000"/>
          </a:xfrm>
          <a:prstGeom prst="can">
            <a:avLst/>
          </a:prstGeom>
          <a:solidFill>
            <a:srgbClr val="CC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148840" y="1965960"/>
            <a:ext cx="1691640" cy="1100000"/>
          </a:xfrm>
          <a:prstGeom prst="rect">
            <a:avLst/>
          </a:prstGeom>
          <a:solidFill>
            <a:srgbClr val="140804"/>
          </a:solidFill>
          <a:ln w="22860">
            <a:solidFill>
              <a:srgbClr val="FF9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188840" y="2045960"/>
            <a:ext cx="161164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9922"/>
                </a:solidFill>
                <a:latin typeface="游明朝"/>
              </a:rPr>
              <a:t>アドラリンク
（上乗せ）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78840" y="2465960"/>
            <a:ext cx="163164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98880"/>
                </a:solidFill>
                <a:latin typeface="メイリオ"/>
              </a:rPr>
              <a:t>3Gロック演出
1段〜3段で期待度変化</a:t>
            </a:r>
          </a:p>
        </p:txBody>
      </p:sp>
      <p:sp>
        <p:nvSpPr>
          <p:cNvPr id="37" name="Can 36"/>
          <p:cNvSpPr/>
          <p:nvPr/>
        </p:nvSpPr>
        <p:spPr>
          <a:xfrm>
            <a:off x="3855480" y="2425960"/>
            <a:ext cx="200000" cy="180000"/>
          </a:xfrm>
          <a:prstGeom prst="can">
            <a:avLst/>
          </a:prstGeom>
          <a:solidFill>
            <a:srgbClr val="CC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041648" y="1965960"/>
            <a:ext cx="1691640" cy="1100000"/>
          </a:xfrm>
          <a:prstGeom prst="rect">
            <a:avLst/>
          </a:prstGeom>
          <a:solidFill>
            <a:srgbClr val="140804"/>
          </a:solidFill>
          <a:ln w="22860">
            <a:solidFill>
              <a:srgbClr val="FFCC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081648" y="2045960"/>
            <a:ext cx="161164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CC44"/>
                </a:solidFill>
                <a:latin typeface="游明朝"/>
              </a:rPr>
              <a:t>炎炎大戦
（上位AT）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071648" y="2465960"/>
            <a:ext cx="163164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98880"/>
                </a:solidFill>
                <a:latin typeface="メイリオ"/>
              </a:rPr>
              <a:t>ループ率80〜90%
継続で大量獲得</a:t>
            </a:r>
          </a:p>
        </p:txBody>
      </p:sp>
      <p:sp>
        <p:nvSpPr>
          <p:cNvPr id="41" name="Can 40"/>
          <p:cNvSpPr/>
          <p:nvPr/>
        </p:nvSpPr>
        <p:spPr>
          <a:xfrm>
            <a:off x="5748288" y="2425960"/>
            <a:ext cx="200000" cy="180000"/>
          </a:xfrm>
          <a:prstGeom prst="can">
            <a:avLst/>
          </a:prstGeom>
          <a:solidFill>
            <a:srgbClr val="CC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934456" y="1965960"/>
            <a:ext cx="1691640" cy="1100000"/>
          </a:xfrm>
          <a:prstGeom prst="rect">
            <a:avLst/>
          </a:prstGeom>
          <a:solidFill>
            <a:srgbClr val="180802"/>
          </a:solidFill>
          <a:ln w="22860">
            <a:solidFill>
              <a:srgbClr val="C8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974456" y="2045960"/>
            <a:ext cx="161164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C8A840"/>
                </a:solidFill>
                <a:latin typeface="游明朝"/>
              </a:rPr>
              <a:t>アドラバースト
（最上位）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64456" y="2465960"/>
            <a:ext cx="163164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98880"/>
                </a:solidFill>
                <a:latin typeface="メイリオ"/>
              </a:rPr>
              <a:t>期待約2,760枚
最強クラス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827264" y="1965960"/>
            <a:ext cx="1874519" cy="1100000"/>
          </a:xfrm>
          <a:prstGeom prst="rect">
            <a:avLst/>
          </a:prstGeom>
          <a:solidFill>
            <a:srgbClr val="1A0A00"/>
          </a:solidFill>
          <a:ln w="25400">
            <a:solidFill>
              <a:srgbClr val="C8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827264" y="1965960"/>
            <a:ext cx="35000" cy="1100000"/>
          </a:xfrm>
          <a:prstGeom prst="rect">
            <a:avLst/>
          </a:prstGeom>
          <a:solidFill>
            <a:srgbClr val="C8A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87264" y="2045960"/>
            <a:ext cx="1794519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8A840"/>
                </a:solidFill>
                <a:latin typeface="游明朝"/>
              </a:rPr>
              <a:t>超炎炎大戦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87264" y="2365960"/>
            <a:ext cx="1794519" cy="5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0ECE8"/>
                </a:solidFill>
                <a:latin typeface="メイリオ"/>
              </a:rPr>
              <a:t>最高継続率Ver.
EX BONUS:
最大3,000枚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98079" y="4919472"/>
            <a:ext cx="155448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998880"/>
                </a:solidFill>
                <a:latin typeface="メイリオ"/>
              </a:rPr>
              <a:t>※ネット解析情報より</a:t>
            </a:r>
          </a:p>
        </p:txBody>
      </p:sp>
      <p:sp>
        <p:nvSpPr>
          <p:cNvPr id="50" name="Rectangle 49"/>
          <p:cNvSpPr/>
          <p:nvPr/>
        </p:nvSpPr>
        <p:spPr>
          <a:xfrm>
            <a:off x="0" y="4645152"/>
            <a:ext cx="9144000" cy="498348"/>
          </a:xfrm>
          <a:prstGeom prst="rect">
            <a:avLst/>
          </a:prstGeom>
          <a:solidFill>
            <a:srgbClr val="0E06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0" y="4645152"/>
            <a:ext cx="20000" cy="498348"/>
          </a:xfrm>
          <a:prstGeom prst="rect">
            <a:avLst/>
          </a:prstGeom>
          <a:solidFill>
            <a:srgbClr val="CC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64592" y="4685152"/>
            <a:ext cx="50292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9922"/>
                </a:solidFill>
                <a:latin typeface="メイリオ"/>
              </a:rPr>
              <a:t>上段=通常〜AT突入ルート、下段=AT内昇格ルート。「炎炎激闘→炎炎大戦→アドラバースト」が出玉の本線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303520" y="4685152"/>
            <a:ext cx="36576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998880"/>
                </a:solidFill>
                <a:latin typeface="メイリオ"/>
              </a:rPr>
              <a:t>天井②は2,000Gというロング設計で長期狙いのセーフティ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408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000" cy="530352"/>
          </a:xfrm>
          <a:prstGeom prst="rect">
            <a:avLst/>
          </a:prstGeom>
          <a:solidFill>
            <a:srgbClr val="CC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28000"/>
            <a:ext cx="7772400" cy="4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9922"/>
                </a:solidFill>
                <a:latin typeface="游明朝"/>
              </a:rPr>
              <a:t>通常時の遊び方 ── ルート・チャンス役・天井管理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45000"/>
            <a:ext cx="9144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98880"/>
                </a:solidFill>
                <a:latin typeface="メイリオ"/>
              </a:rPr>
              <a:t>3/9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30352"/>
            <a:ext cx="9144000" cy="7000"/>
          </a:xfrm>
          <a:prstGeom prst="rect">
            <a:avLst/>
          </a:prstGeom>
          <a:solidFill>
            <a:srgbClr val="CC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6032" y="658368"/>
            <a:ext cx="4160520" cy="290000"/>
          </a:xfrm>
          <a:prstGeom prst="rect">
            <a:avLst/>
          </a:prstGeom>
          <a:solidFill>
            <a:srgbClr val="551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6032" y="713368"/>
            <a:ext cx="408052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9922"/>
                </a:solidFill>
                <a:latin typeface="メイリオ"/>
              </a:rPr>
              <a:t>通常時〜AT突入ルート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" y="948368"/>
            <a:ext cx="4160520" cy="1160000"/>
          </a:xfrm>
          <a:prstGeom prst="rect">
            <a:avLst/>
          </a:prstGeom>
          <a:solidFill>
            <a:srgbClr val="140804"/>
          </a:solidFill>
          <a:ln w="19050">
            <a:solidFill>
              <a:srgbClr val="FF55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6032" y="948368"/>
            <a:ext cx="45000" cy="1160000"/>
          </a:xfrm>
          <a:prstGeom prst="rect">
            <a:avLst/>
          </a:prstGeom>
          <a:solidFill>
            <a:srgbClr val="FF55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1032" y="1003368"/>
            <a:ext cx="406052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5511"/>
                </a:solidFill>
                <a:latin typeface="メイリオ"/>
              </a:rPr>
              <a:t>ルート①  レア役ヒット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1032" y="1278368"/>
            <a:ext cx="406052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0ECE8"/>
                </a:solidFill>
                <a:latin typeface="メイリオ"/>
              </a:rPr>
              <a:t>チェリー・スイカ・強チェリーなどで
AT直撃 or CZ（前兆）突入の抽選。
強レア役ほど期待度が高い。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" y="2178368"/>
            <a:ext cx="4160520" cy="1160000"/>
          </a:xfrm>
          <a:prstGeom prst="rect">
            <a:avLst/>
          </a:prstGeom>
          <a:solidFill>
            <a:srgbClr val="140804"/>
          </a:solidFill>
          <a:ln w="19050">
            <a:solidFill>
              <a:srgbClr val="22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6032" y="2178368"/>
            <a:ext cx="45000" cy="1160000"/>
          </a:xfrm>
          <a:prstGeom prst="rect">
            <a:avLst/>
          </a:prstGeom>
          <a:solidFill>
            <a:srgbClr val="22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1032" y="2233368"/>
            <a:ext cx="406052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CCDD"/>
                </a:solidFill>
                <a:latin typeface="メイリオ"/>
              </a:rPr>
              <a:t>ルート②  天井①到達（850G）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1032" y="2508368"/>
            <a:ext cx="406052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0ECE8"/>
                </a:solidFill>
                <a:latin typeface="メイリオ"/>
              </a:rPr>
              <a:t>ボーナス間850GでCZ/AT保証。
設定変更後は650Gに短縮。
日常的に狙える最頻出ルート。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6032" y="3408368"/>
            <a:ext cx="4160520" cy="1160000"/>
          </a:xfrm>
          <a:prstGeom prst="rect">
            <a:avLst/>
          </a:prstGeom>
          <a:solidFill>
            <a:srgbClr val="140804"/>
          </a:solidFill>
          <a:ln w="19050">
            <a:solidFill>
              <a:srgbClr val="FFCC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6032" y="3408368"/>
            <a:ext cx="45000" cy="1160000"/>
          </a:xfrm>
          <a:prstGeom prst="rect">
            <a:avLst/>
          </a:prstGeom>
          <a:solidFill>
            <a:srgbClr val="FFC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1032" y="3463368"/>
            <a:ext cx="406052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CC44"/>
                </a:solidFill>
                <a:latin typeface="メイリオ"/>
              </a:rPr>
              <a:t>ルート③  天井②到達（2,000G）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1032" y="3738368"/>
            <a:ext cx="406052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0ECE8"/>
                </a:solidFill>
                <a:latin typeface="メイリオ"/>
              </a:rPr>
              <a:t>炎炎激闘間2,000Gで発動。
リセット後は1,500G。
長期ハマりの最終出口として機能。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0" y="658368"/>
            <a:ext cx="4297680" cy="290000"/>
          </a:xfrm>
          <a:prstGeom prst="rect">
            <a:avLst/>
          </a:prstGeom>
          <a:solidFill>
            <a:srgbClr val="551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32000" y="713368"/>
            <a:ext cx="421768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9922"/>
                </a:solidFill>
                <a:latin typeface="メイリオ"/>
              </a:rPr>
              <a:t>チャンス役の見方と期待度目安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0" y="948368"/>
            <a:ext cx="4297680" cy="770000"/>
          </a:xfrm>
          <a:prstGeom prst="rect">
            <a:avLst/>
          </a:prstGeom>
          <a:solidFill>
            <a:srgbClr val="1408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0" y="948368"/>
            <a:ext cx="35000" cy="770000"/>
          </a:xfrm>
          <a:prstGeom prst="rect">
            <a:avLst/>
          </a:prstGeom>
          <a:solidFill>
            <a:srgbClr val="998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32000" y="1008368"/>
            <a:ext cx="1097280" cy="31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998880"/>
                </a:solidFill>
                <a:latin typeface="メイリオ"/>
              </a:rPr>
              <a:t>リプレイ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29280" y="1018368"/>
            <a:ext cx="3108960" cy="5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0ECE8"/>
                </a:solidFill>
                <a:latin typeface="メイリオ"/>
              </a:rPr>
              <a:t>通常遊技の基本役。
小V停止→PUSHが核心（AT中）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0" y="1718368"/>
            <a:ext cx="4297680" cy="770000"/>
          </a:xfrm>
          <a:prstGeom prst="rect">
            <a:avLst/>
          </a:prstGeom>
          <a:solidFill>
            <a:srgbClr val="180A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0" y="1718368"/>
            <a:ext cx="35000" cy="770000"/>
          </a:xfrm>
          <a:prstGeom prst="rect">
            <a:avLst/>
          </a:prstGeom>
          <a:solidFill>
            <a:srgbClr val="FF55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32000" y="1778368"/>
            <a:ext cx="1097280" cy="31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FF5511"/>
                </a:solidFill>
                <a:latin typeface="メイリオ"/>
              </a:rPr>
              <a:t>弱チェリー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29280" y="1788368"/>
            <a:ext cx="3108960" cy="5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0ECE8"/>
                </a:solidFill>
                <a:latin typeface="メイリオ"/>
              </a:rPr>
              <a:t>AT抽選あり。
前兆移行の起点になりやすい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0" y="2488368"/>
            <a:ext cx="4297680" cy="770000"/>
          </a:xfrm>
          <a:prstGeom prst="rect">
            <a:avLst/>
          </a:prstGeom>
          <a:solidFill>
            <a:srgbClr val="1408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0" y="2488368"/>
            <a:ext cx="35000" cy="770000"/>
          </a:xfrm>
          <a:prstGeom prst="rect">
            <a:avLst/>
          </a:prstGeom>
          <a:solidFill>
            <a:srgbClr val="CC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32000" y="2548368"/>
            <a:ext cx="1097280" cy="31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C2200"/>
                </a:solidFill>
                <a:latin typeface="メイリオ"/>
              </a:rPr>
              <a:t>スイカ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29280" y="2558368"/>
            <a:ext cx="3108960" cy="5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0ECE8"/>
                </a:solidFill>
                <a:latin typeface="メイリオ"/>
              </a:rPr>
              <a:t>高確率でCZ/AT抽選。
出現時は要注目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0" y="3258368"/>
            <a:ext cx="4297680" cy="770000"/>
          </a:xfrm>
          <a:prstGeom prst="rect">
            <a:avLst/>
          </a:prstGeom>
          <a:solidFill>
            <a:srgbClr val="180A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572000" y="3258368"/>
            <a:ext cx="35000" cy="770000"/>
          </a:xfrm>
          <a:prstGeom prst="rect">
            <a:avLst/>
          </a:prstGeom>
          <a:solidFill>
            <a:srgbClr val="FF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32000" y="3318368"/>
            <a:ext cx="1097280" cy="31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FF9922"/>
                </a:solidFill>
                <a:latin typeface="メイリオ"/>
              </a:rPr>
              <a:t>強チェリー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29280" y="3328368"/>
            <a:ext cx="3108960" cy="5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0ECE8"/>
                </a:solidFill>
                <a:latin typeface="メイリオ"/>
              </a:rPr>
              <a:t>高確率でAT直撃 or 上位ボーナス。
炎炎ブースト以上の期待度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0" y="4028368"/>
            <a:ext cx="4297680" cy="770000"/>
          </a:xfrm>
          <a:prstGeom prst="rect">
            <a:avLst/>
          </a:prstGeom>
          <a:solidFill>
            <a:srgbClr val="1408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572000" y="4028368"/>
            <a:ext cx="35000" cy="770000"/>
          </a:xfrm>
          <a:prstGeom prst="rect">
            <a:avLst/>
          </a:prstGeom>
          <a:solidFill>
            <a:srgbClr val="FFC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32000" y="4088368"/>
            <a:ext cx="1097280" cy="31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FFCC44"/>
                </a:solidFill>
                <a:latin typeface="メイリオ"/>
              </a:rPr>
              <a:t>7揃い系の役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729280" y="4098368"/>
            <a:ext cx="3108960" cy="5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0ECE8"/>
                </a:solidFill>
                <a:latin typeface="メイリオ"/>
              </a:rPr>
              <a:t>最重要。ボーナス確定に近い扱い。
フリーズ発生でEX BONUS等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98079" y="4919472"/>
            <a:ext cx="155448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998880"/>
                </a:solidFill>
                <a:latin typeface="メイリオ"/>
              </a:rPr>
              <a:t>※ネット解析情報より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4645152"/>
            <a:ext cx="9144000" cy="498348"/>
          </a:xfrm>
          <a:prstGeom prst="rect">
            <a:avLst/>
          </a:prstGeom>
          <a:solidFill>
            <a:srgbClr val="0E06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0" y="4645152"/>
            <a:ext cx="20000" cy="498348"/>
          </a:xfrm>
          <a:prstGeom prst="rect">
            <a:avLst/>
          </a:prstGeom>
          <a:solidFill>
            <a:srgbClr val="CC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64592" y="4685152"/>
            <a:ext cx="50292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9922"/>
                </a:solidFill>
                <a:latin typeface="メイリオ"/>
              </a:rPr>
              <a:t>通常時の基本戦略：天井①を基準にゲーム数管理しつつ、レア役チャンスを見逃さず注目する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03520" y="4685152"/>
            <a:ext cx="36576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998880"/>
                </a:solidFill>
                <a:latin typeface="メイリオ"/>
              </a:rPr>
              <a:t>天井②は長期間来店や高設定狙い時の投資上限として意識する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408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000" cy="530352"/>
          </a:xfrm>
          <a:prstGeom prst="rect">
            <a:avLst/>
          </a:prstGeom>
          <a:solidFill>
            <a:srgbClr val="CC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28000"/>
            <a:ext cx="7772400" cy="4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9922"/>
                </a:solidFill>
                <a:latin typeface="游明朝"/>
              </a:rPr>
              <a:t>AT「炎炎激闘」の遊び方 ── 十字目変換フロー詳細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45000"/>
            <a:ext cx="9144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98880"/>
                </a:solidFill>
                <a:latin typeface="メイリオ"/>
              </a:rPr>
              <a:t>4/9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30352"/>
            <a:ext cx="9144000" cy="7000"/>
          </a:xfrm>
          <a:prstGeom prst="rect">
            <a:avLst/>
          </a:prstGeom>
          <a:solidFill>
            <a:srgbClr val="CC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6032" y="658368"/>
            <a:ext cx="3977639" cy="290000"/>
          </a:xfrm>
          <a:prstGeom prst="rect">
            <a:avLst/>
          </a:prstGeom>
          <a:solidFill>
            <a:srgbClr val="551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6032" y="676656"/>
            <a:ext cx="3897639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9922"/>
                </a:solidFill>
                <a:latin typeface="メイリオ"/>
              </a:rPr>
              <a:t>核心：十字目変換フロー（AT1セット15G+α）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" y="987552"/>
            <a:ext cx="3977639" cy="620000"/>
          </a:xfrm>
          <a:prstGeom prst="rect">
            <a:avLst/>
          </a:prstGeom>
          <a:solidFill>
            <a:srgbClr val="1C0C06"/>
          </a:solidFill>
          <a:ln w="15240">
            <a:solidFill>
              <a:srgbClr val="998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6032" y="1037552"/>
            <a:ext cx="3917639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998880"/>
                </a:solidFill>
                <a:latin typeface="メイリオ"/>
              </a:rPr>
              <a:t>STEP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6032" y="1237552"/>
            <a:ext cx="3917639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0ECE8"/>
                </a:solidFill>
                <a:latin typeface="游明朝"/>
              </a:rPr>
              <a:t>リプレイ成立 → 小V停止</a:t>
            </a:r>
          </a:p>
        </p:txBody>
      </p:sp>
      <p:sp>
        <p:nvSpPr>
          <p:cNvPr id="14" name="Cube 13"/>
          <p:cNvSpPr/>
          <p:nvPr/>
        </p:nvSpPr>
        <p:spPr>
          <a:xfrm>
            <a:off x="2154851" y="1627552"/>
            <a:ext cx="180000" cy="180000"/>
          </a:xfrm>
          <a:prstGeom prst="cube">
            <a:avLst/>
          </a:prstGeom>
          <a:solidFill>
            <a:srgbClr val="CC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6032" y="1837552"/>
            <a:ext cx="3977639" cy="620000"/>
          </a:xfrm>
          <a:prstGeom prst="rect">
            <a:avLst/>
          </a:prstGeom>
          <a:solidFill>
            <a:srgbClr val="200802"/>
          </a:solidFill>
          <a:ln w="22860">
            <a:solidFill>
              <a:srgbClr val="CC2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6032" y="1837552"/>
            <a:ext cx="35000" cy="620000"/>
          </a:xfrm>
          <a:prstGeom prst="rect">
            <a:avLst/>
          </a:prstGeom>
          <a:solidFill>
            <a:srgbClr val="CC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6032" y="1887552"/>
            <a:ext cx="3897639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CC2200"/>
                </a:solidFill>
                <a:latin typeface="メイリオ"/>
              </a:rPr>
              <a:t>STEP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6032" y="2087552"/>
            <a:ext cx="3897639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5511"/>
                </a:solidFill>
                <a:latin typeface="游明朝"/>
              </a:rPr>
              <a:t>PUSHボタン → 十字目に変換！</a:t>
            </a:r>
          </a:p>
        </p:txBody>
      </p:sp>
      <p:sp>
        <p:nvSpPr>
          <p:cNvPr id="20" name="Cube 19"/>
          <p:cNvSpPr/>
          <p:nvPr/>
        </p:nvSpPr>
        <p:spPr>
          <a:xfrm>
            <a:off x="2154851" y="2477552"/>
            <a:ext cx="180000" cy="180000"/>
          </a:xfrm>
          <a:prstGeom prst="cube">
            <a:avLst/>
          </a:prstGeom>
          <a:solidFill>
            <a:srgbClr val="CC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56032" y="2687552"/>
            <a:ext cx="3977639" cy="760000"/>
          </a:xfrm>
          <a:prstGeom prst="rect">
            <a:avLst/>
          </a:prstGeom>
          <a:solidFill>
            <a:srgbClr val="220A04"/>
          </a:solidFill>
          <a:ln w="25400">
            <a:solidFill>
              <a:srgbClr val="FF9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56032" y="2687552"/>
            <a:ext cx="35000" cy="760000"/>
          </a:xfrm>
          <a:prstGeom prst="rect">
            <a:avLst/>
          </a:prstGeom>
          <a:solidFill>
            <a:srgbClr val="FF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6032" y="2742552"/>
            <a:ext cx="3897639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9922"/>
                </a:solidFill>
                <a:latin typeface="游明朝"/>
              </a:rPr>
              <a:t>STEP 3  炎の色で期待度確認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1032" y="2997552"/>
            <a:ext cx="1269213" cy="380000"/>
          </a:xfrm>
          <a:prstGeom prst="rect">
            <a:avLst/>
          </a:prstGeom>
          <a:solidFill>
            <a:srgbClr val="140804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6032" y="3027552"/>
            <a:ext cx="1264213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DDDDDD"/>
                </a:solidFill>
                <a:latin typeface="メイリオ"/>
              </a:rPr>
              <a:t>白炎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6032" y="3227552"/>
            <a:ext cx="1264213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FFCC44"/>
                </a:solidFill>
                <a:latin typeface="メイリオ"/>
              </a:rPr>
              <a:t>約20%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630245" y="2997552"/>
            <a:ext cx="1269213" cy="380000"/>
          </a:xfrm>
          <a:prstGeom prst="rect">
            <a:avLst/>
          </a:prstGeom>
          <a:solidFill>
            <a:srgbClr val="140804"/>
          </a:solidFill>
          <a:ln w="19050">
            <a:solidFill>
              <a:srgbClr val="22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635245" y="3027552"/>
            <a:ext cx="1264213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277FF"/>
                </a:solidFill>
                <a:latin typeface="メイリオ"/>
              </a:rPr>
              <a:t>青炎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35245" y="3227552"/>
            <a:ext cx="1264213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FFCC44"/>
                </a:solidFill>
                <a:latin typeface="メイリオ"/>
              </a:rPr>
              <a:t>約40%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29458" y="2997552"/>
            <a:ext cx="1269213" cy="380000"/>
          </a:xfrm>
          <a:prstGeom prst="rect">
            <a:avLst/>
          </a:prstGeom>
          <a:solidFill>
            <a:srgbClr val="140804"/>
          </a:solidFill>
          <a:ln w="19050">
            <a:solidFill>
              <a:srgbClr val="DD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934458" y="3027552"/>
            <a:ext cx="1264213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DD1111"/>
                </a:solidFill>
                <a:latin typeface="メイリオ"/>
              </a:rPr>
              <a:t>赤炎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34458" y="3227552"/>
            <a:ext cx="1264213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FFCC44"/>
                </a:solidFill>
                <a:latin typeface="メイリオ"/>
              </a:rPr>
              <a:t>確定！</a:t>
            </a:r>
          </a:p>
        </p:txBody>
      </p:sp>
      <p:sp>
        <p:nvSpPr>
          <p:cNvPr id="34" name="Cube 33"/>
          <p:cNvSpPr/>
          <p:nvPr/>
        </p:nvSpPr>
        <p:spPr>
          <a:xfrm>
            <a:off x="2154851" y="3467552"/>
            <a:ext cx="180000" cy="180000"/>
          </a:xfrm>
          <a:prstGeom prst="cube">
            <a:avLst/>
          </a:prstGeom>
          <a:solidFill>
            <a:srgbClr val="FFC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56032" y="3647552"/>
            <a:ext cx="3977639" cy="620000"/>
          </a:xfrm>
          <a:prstGeom prst="rect">
            <a:avLst/>
          </a:prstGeom>
          <a:solidFill>
            <a:srgbClr val="241000"/>
          </a:solidFill>
          <a:ln w="25400">
            <a:solidFill>
              <a:srgbClr val="FFCC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56032" y="3647552"/>
            <a:ext cx="35000" cy="620000"/>
          </a:xfrm>
          <a:prstGeom prst="rect">
            <a:avLst/>
          </a:prstGeom>
          <a:solidFill>
            <a:srgbClr val="FFC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16032" y="3697552"/>
            <a:ext cx="3897639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CC44"/>
                </a:solidFill>
                <a:latin typeface="メイリオ"/>
              </a:rPr>
              <a:t>STEP 4  変換成功！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16032" y="3902552"/>
            <a:ext cx="3897639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8A840"/>
                </a:solidFill>
                <a:latin typeface="游明朝"/>
              </a:rPr>
              <a:t>伝導者決戦 → ボーナス抽選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434840" y="658368"/>
            <a:ext cx="4480560" cy="290000"/>
          </a:xfrm>
          <a:prstGeom prst="rect">
            <a:avLst/>
          </a:prstGeom>
          <a:solidFill>
            <a:srgbClr val="551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494840" y="713368"/>
            <a:ext cx="440056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9922"/>
                </a:solidFill>
                <a:latin typeface="メイリオ"/>
              </a:rPr>
              <a:t>保険設計とセット管理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434840" y="948368"/>
            <a:ext cx="4480560" cy="1250000"/>
          </a:xfrm>
          <a:prstGeom prst="rect">
            <a:avLst/>
          </a:prstGeom>
          <a:solidFill>
            <a:srgbClr val="140804"/>
          </a:solidFill>
          <a:ln w="19050">
            <a:solidFill>
              <a:srgbClr val="DD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434840" y="948368"/>
            <a:ext cx="40000" cy="1250000"/>
          </a:xfrm>
          <a:prstGeom prst="rect">
            <a:avLst/>
          </a:prstGeom>
          <a:solidFill>
            <a:srgbClr val="DD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04840" y="1003368"/>
            <a:ext cx="439056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DD1111"/>
                </a:solidFill>
                <a:latin typeface="メイリオ"/>
              </a:rPr>
              <a:t>3回目強制成功の保険設計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04840" y="1278368"/>
            <a:ext cx="439056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ECE8"/>
                </a:solidFill>
                <a:latin typeface="メイリオ"/>
              </a:rPr>
              <a:t>2連続外れ → 3回目は必ず変換成功！
どんな状況でも最大3回のリプレイを
待てば必ず伝導者決戦に突入する。
「あと1回待てば確実」の安心感が
打ち続けるモチベーションを維持させる。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434840" y="2268368"/>
            <a:ext cx="4480560" cy="1250000"/>
          </a:xfrm>
          <a:prstGeom prst="rect">
            <a:avLst/>
          </a:prstGeom>
          <a:solidFill>
            <a:srgbClr val="140804"/>
          </a:solidFill>
          <a:ln w="19050">
            <a:solidFill>
              <a:srgbClr val="22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434840" y="2268368"/>
            <a:ext cx="40000" cy="1250000"/>
          </a:xfrm>
          <a:prstGeom prst="rect">
            <a:avLst/>
          </a:prstGeom>
          <a:solidFill>
            <a:srgbClr val="22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04840" y="2323368"/>
            <a:ext cx="439056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CCDD"/>
                </a:solidFill>
                <a:latin typeface="メイリオ"/>
              </a:rPr>
              <a:t>15G未変換 → 再セット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04840" y="2598368"/>
            <a:ext cx="439056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ECE8"/>
                </a:solidFill>
                <a:latin typeface="メイリオ"/>
              </a:rPr>
              <a:t>15G以内に一度も変換成功しなかった
場合は自動的に15G再セット。
転落なし・強制終了なしの設計で
ストレスなく遊べる保護機構。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434840" y="3588368"/>
            <a:ext cx="4480560" cy="1250000"/>
          </a:xfrm>
          <a:prstGeom prst="rect">
            <a:avLst/>
          </a:prstGeom>
          <a:solidFill>
            <a:srgbClr val="140804"/>
          </a:solidFill>
          <a:ln w="19050">
            <a:solidFill>
              <a:srgbClr val="FFCC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434840" y="3588368"/>
            <a:ext cx="40000" cy="1250000"/>
          </a:xfrm>
          <a:prstGeom prst="rect">
            <a:avLst/>
          </a:prstGeom>
          <a:solidFill>
            <a:srgbClr val="FFC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04840" y="3643368"/>
            <a:ext cx="439056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CC44"/>
                </a:solidFill>
                <a:latin typeface="メイリオ"/>
              </a:rPr>
              <a:t>ストック型AT継続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04840" y="3918368"/>
            <a:ext cx="439056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ECE8"/>
                </a:solidFill>
                <a:latin typeface="メイリオ"/>
              </a:rPr>
              <a:t>変換成功→ボーナス抽選→ストック獲得
のサイクルで枚数を積み上げる。
ストックが残る限りセット継続。
"また来る"という安堵感が重要。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98079" y="4919472"/>
            <a:ext cx="155448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998880"/>
                </a:solidFill>
                <a:latin typeface="メイリオ"/>
              </a:rPr>
              <a:t>※ネット解析情報より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4645152"/>
            <a:ext cx="9144000" cy="498348"/>
          </a:xfrm>
          <a:prstGeom prst="rect">
            <a:avLst/>
          </a:prstGeom>
          <a:solidFill>
            <a:srgbClr val="0E06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0" y="4645152"/>
            <a:ext cx="20000" cy="498348"/>
          </a:xfrm>
          <a:prstGeom prst="rect">
            <a:avLst/>
          </a:prstGeom>
          <a:solidFill>
            <a:srgbClr val="CC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64592" y="4685152"/>
            <a:ext cx="50292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9922"/>
                </a:solidFill>
                <a:latin typeface="メイリオ"/>
              </a:rPr>
              <a:t>十字目変換フローの設計核心：「必ず報われる」保険が打ち手の集中力とストレスフリーを両立する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303520" y="4685152"/>
            <a:ext cx="36576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998880"/>
                </a:solidFill>
                <a:latin typeface="メイリオ"/>
              </a:rPr>
              <a:t>3回目強制成功・15G再セットは「終わらない安心感」の設計原則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408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000" cy="530352"/>
          </a:xfrm>
          <a:prstGeom prst="rect">
            <a:avLst/>
          </a:prstGeom>
          <a:solidFill>
            <a:srgbClr val="CC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28000"/>
            <a:ext cx="7772400" cy="4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9922"/>
                </a:solidFill>
                <a:latin typeface="游明朝"/>
              </a:rPr>
              <a:t>出玉を伸ばす方法 ── 伝導者決戦・アドラリンク・上乗せ契機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45000"/>
            <a:ext cx="9144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98880"/>
                </a:solidFill>
                <a:latin typeface="メイリオ"/>
              </a:rPr>
              <a:t>5/9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30352"/>
            <a:ext cx="9144000" cy="7000"/>
          </a:xfrm>
          <a:prstGeom prst="rect">
            <a:avLst/>
          </a:prstGeom>
          <a:solidFill>
            <a:srgbClr val="CC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6032" y="658368"/>
            <a:ext cx="4114800" cy="290000"/>
          </a:xfrm>
          <a:prstGeom prst="rect">
            <a:avLst/>
          </a:prstGeom>
          <a:solidFill>
            <a:srgbClr val="551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6032" y="713368"/>
            <a:ext cx="40348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9922"/>
                </a:solidFill>
                <a:latin typeface="メイリオ"/>
              </a:rPr>
              <a:t>伝導者決戦（ボーナス抽選バトル）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" y="948368"/>
            <a:ext cx="4114800" cy="1160000"/>
          </a:xfrm>
          <a:prstGeom prst="rect">
            <a:avLst/>
          </a:prstGeom>
          <a:solidFill>
            <a:srgbClr val="140804"/>
          </a:solidFill>
          <a:ln w="19050">
            <a:solidFill>
              <a:srgbClr val="CC2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6032" y="948368"/>
            <a:ext cx="40000" cy="1160000"/>
          </a:xfrm>
          <a:prstGeom prst="rect">
            <a:avLst/>
          </a:prstGeom>
          <a:solidFill>
            <a:srgbClr val="CC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6032" y="998368"/>
            <a:ext cx="40248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C2200"/>
                </a:solidFill>
                <a:latin typeface="メイリオ"/>
              </a:rPr>
              <a:t>伝導者決戦とは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6032" y="1268368"/>
            <a:ext cx="4024800" cy="7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0ECE8"/>
                </a:solidFill>
                <a:latin typeface="メイリオ"/>
              </a:rPr>
              <a:t>十字目変換成功後に発生するボーナス抽選の
演出バトル。勝利でボーナス獲得。
炎色・演出の豪華さで期待度が変わる。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" y="2178368"/>
            <a:ext cx="4114800" cy="1160000"/>
          </a:xfrm>
          <a:prstGeom prst="rect">
            <a:avLst/>
          </a:prstGeom>
          <a:solidFill>
            <a:srgbClr val="140804"/>
          </a:solidFill>
          <a:ln w="19050">
            <a:solidFill>
              <a:srgbClr val="FFCC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6032" y="2178368"/>
            <a:ext cx="40000" cy="1160000"/>
          </a:xfrm>
          <a:prstGeom prst="rect">
            <a:avLst/>
          </a:prstGeom>
          <a:solidFill>
            <a:srgbClr val="FFC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6032" y="2228368"/>
            <a:ext cx="40248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CC44"/>
                </a:solidFill>
                <a:latin typeface="メイリオ"/>
              </a:rPr>
              <a:t>勝利でボーナス獲得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6032" y="2498368"/>
            <a:ext cx="4024800" cy="7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0ECE8"/>
                </a:solidFill>
                <a:latin typeface="メイリオ"/>
              </a:rPr>
              <a:t>REGボーナス → 設定判別の機会
炎炎ブースト → 高継続ATへ
アドラバースト → 期待2,760枚の最強ボーナス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6032" y="3408368"/>
            <a:ext cx="4114800" cy="1160000"/>
          </a:xfrm>
          <a:prstGeom prst="rect">
            <a:avLst/>
          </a:prstGeom>
          <a:solidFill>
            <a:srgbClr val="140804"/>
          </a:solidFill>
          <a:ln w="19050">
            <a:solidFill>
              <a:srgbClr val="22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6032" y="3408368"/>
            <a:ext cx="40000" cy="1160000"/>
          </a:xfrm>
          <a:prstGeom prst="rect">
            <a:avLst/>
          </a:prstGeom>
          <a:solidFill>
            <a:srgbClr val="22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6032" y="3458368"/>
            <a:ext cx="40248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CCDD"/>
                </a:solidFill>
                <a:latin typeface="メイリオ"/>
              </a:rPr>
              <a:t>パターン注目ポイント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6032" y="3728368"/>
            <a:ext cx="4024800" cy="7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0ECE8"/>
                </a:solidFill>
                <a:latin typeface="メイリオ"/>
              </a:rPr>
              <a:t>BGM・キャラ・エフェクトで継続期待度が変化。
シンラや炎柱絡みの演出は高期待度。
最後まで諦めずに見届けること。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0" y="658368"/>
            <a:ext cx="4297680" cy="290000"/>
          </a:xfrm>
          <a:prstGeom prst="rect">
            <a:avLst/>
          </a:prstGeom>
          <a:solidFill>
            <a:srgbClr val="551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32000" y="713368"/>
            <a:ext cx="421768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9922"/>
                </a:solidFill>
                <a:latin typeface="メイリオ"/>
              </a:rPr>
              <a:t>アドラリンク（上乗せ専用CZ・3G）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0" y="948368"/>
            <a:ext cx="4297680" cy="1450000"/>
          </a:xfrm>
          <a:prstGeom prst="rect">
            <a:avLst/>
          </a:prstGeom>
          <a:solidFill>
            <a:srgbClr val="140804"/>
          </a:solidFill>
          <a:ln w="22860">
            <a:solidFill>
              <a:srgbClr val="22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0" y="948368"/>
            <a:ext cx="40000" cy="1450000"/>
          </a:xfrm>
          <a:prstGeom prst="rect">
            <a:avLst/>
          </a:prstGeom>
          <a:solidFill>
            <a:srgbClr val="22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42000" y="998368"/>
            <a:ext cx="420768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2CCDD"/>
                </a:solidFill>
                <a:latin typeface="游明朝"/>
              </a:rPr>
              <a:t>アドラリンクの仕組み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42000" y="1258368"/>
            <a:ext cx="4207680" cy="10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ECE8"/>
                </a:solidFill>
                <a:latin typeface="メイリオ"/>
              </a:rPr>
              <a:t>AT中に割り込む3GのプチCZ。
ボーナスやAT上乗せを自力で掴むチャンス。
「自力で当てた」感覚を演出する重要な仕組み。
受け身でなく能動的なプレイ感を生む。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0" y="2398368"/>
            <a:ext cx="4297680" cy="290000"/>
          </a:xfrm>
          <a:prstGeom prst="rect">
            <a:avLst/>
          </a:prstGeom>
          <a:solidFill>
            <a:srgbClr val="441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32000" y="2448368"/>
            <a:ext cx="421768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9922"/>
                </a:solidFill>
                <a:latin typeface="メイリオ"/>
              </a:rPr>
              <a:t>リールロック段数で期待度を視覚化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80000" y="2688368"/>
            <a:ext cx="1416560" cy="850000"/>
          </a:xfrm>
          <a:prstGeom prst="rect">
            <a:avLst/>
          </a:prstGeom>
          <a:solidFill>
            <a:srgbClr val="140804"/>
          </a:solidFill>
          <a:ln w="19050">
            <a:solidFill>
              <a:srgbClr val="998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92000" y="2743368"/>
            <a:ext cx="140256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998880"/>
                </a:solidFill>
                <a:latin typeface="メイリオ"/>
              </a:rPr>
              <a:t>1段ロック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92000" y="2998368"/>
            <a:ext cx="140256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F0ECE8"/>
                </a:solidFill>
                <a:latin typeface="メイリオ"/>
              </a:rPr>
              <a:t>チャンス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12000" y="3258368"/>
            <a:ext cx="1352560" cy="90000"/>
          </a:xfrm>
          <a:prstGeom prst="rect">
            <a:avLst/>
          </a:prstGeom>
          <a:solidFill>
            <a:srgbClr val="554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612000" y="3258368"/>
            <a:ext cx="405768" cy="90000"/>
          </a:xfrm>
          <a:prstGeom prst="rect">
            <a:avLst/>
          </a:prstGeom>
          <a:solidFill>
            <a:srgbClr val="998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12000" y="3358368"/>
            <a:ext cx="138256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998880"/>
                </a:solidFill>
                <a:latin typeface="メイリオ"/>
              </a:rPr>
              <a:t>約30%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12560" y="2688368"/>
            <a:ext cx="1416560" cy="850000"/>
          </a:xfrm>
          <a:prstGeom prst="rect">
            <a:avLst/>
          </a:prstGeom>
          <a:solidFill>
            <a:srgbClr val="180A05"/>
          </a:solidFill>
          <a:ln w="19050">
            <a:solidFill>
              <a:srgbClr val="FF55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24560" y="2743368"/>
            <a:ext cx="140256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5511"/>
                </a:solidFill>
                <a:latin typeface="メイリオ"/>
              </a:rPr>
              <a:t>2段ロック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24560" y="2998368"/>
            <a:ext cx="140256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F0ECE8"/>
                </a:solidFill>
                <a:latin typeface="メイリオ"/>
              </a:rPr>
              <a:t>期待度大幅アップ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44560" y="3258368"/>
            <a:ext cx="1352560" cy="90000"/>
          </a:xfrm>
          <a:prstGeom prst="rect">
            <a:avLst/>
          </a:prstGeom>
          <a:solidFill>
            <a:srgbClr val="554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044560" y="3258368"/>
            <a:ext cx="811536" cy="90000"/>
          </a:xfrm>
          <a:prstGeom prst="rect">
            <a:avLst/>
          </a:prstGeom>
          <a:solidFill>
            <a:srgbClr val="FF55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044560" y="3358368"/>
            <a:ext cx="138256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FF5511"/>
                </a:solidFill>
                <a:latin typeface="メイリオ"/>
              </a:rPr>
              <a:t>約60%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45120" y="2688368"/>
            <a:ext cx="1416560" cy="850000"/>
          </a:xfrm>
          <a:prstGeom prst="rect">
            <a:avLst/>
          </a:prstGeom>
          <a:solidFill>
            <a:srgbClr val="140804"/>
          </a:solidFill>
          <a:ln w="19050">
            <a:solidFill>
              <a:srgbClr val="FFCC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457120" y="2743368"/>
            <a:ext cx="140256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CC44"/>
                </a:solidFill>
                <a:latin typeface="メイリオ"/>
              </a:rPr>
              <a:t>3段ロック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57120" y="2998368"/>
            <a:ext cx="140256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F0ECE8"/>
                </a:solidFill>
                <a:latin typeface="メイリオ"/>
              </a:rPr>
              <a:t>激アツ（当確に近い）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477120" y="3258368"/>
            <a:ext cx="1352560" cy="90000"/>
          </a:xfrm>
          <a:prstGeom prst="rect">
            <a:avLst/>
          </a:prstGeom>
          <a:solidFill>
            <a:srgbClr val="554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477120" y="3258368"/>
            <a:ext cx="1244355" cy="90000"/>
          </a:xfrm>
          <a:prstGeom prst="rect">
            <a:avLst/>
          </a:prstGeom>
          <a:solidFill>
            <a:srgbClr val="FFC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477120" y="3358368"/>
            <a:ext cx="138256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FFCC44"/>
                </a:solidFill>
                <a:latin typeface="メイリオ"/>
              </a:rPr>
              <a:t>約90%+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98079" y="4919472"/>
            <a:ext cx="155448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998880"/>
                </a:solidFill>
                <a:latin typeface="メイリオ"/>
              </a:rPr>
              <a:t>※ネット解析情報より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4645152"/>
            <a:ext cx="9144000" cy="498348"/>
          </a:xfrm>
          <a:prstGeom prst="rect">
            <a:avLst/>
          </a:prstGeom>
          <a:solidFill>
            <a:srgbClr val="0E06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0" y="4645152"/>
            <a:ext cx="20000" cy="498348"/>
          </a:xfrm>
          <a:prstGeom prst="rect">
            <a:avLst/>
          </a:prstGeom>
          <a:solidFill>
            <a:srgbClr val="CC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64592" y="4685152"/>
            <a:ext cx="50292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9922"/>
                </a:solidFill>
                <a:latin typeface="メイリオ"/>
              </a:rPr>
              <a:t>アドラリンクの3段ロック設計：段階的な視覚演出がプレイヤーの「自力感」と期待感を最大化する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303520" y="4685152"/>
            <a:ext cx="36576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998880"/>
                </a:solidFill>
                <a:latin typeface="メイリオ"/>
              </a:rPr>
              <a:t>3段ロックは「当確に近い体験」を与えることで台前から離れさせない設計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408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000" cy="530352"/>
          </a:xfrm>
          <a:prstGeom prst="rect">
            <a:avLst/>
          </a:prstGeom>
          <a:solidFill>
            <a:srgbClr val="CC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28000"/>
            <a:ext cx="7772400" cy="4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9922"/>
                </a:solidFill>
                <a:latin typeface="游明朝"/>
              </a:rPr>
              <a:t>上位モード ── (超)炎炎大戦・アドラバーストへの到達と遊び方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45000"/>
            <a:ext cx="9144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98880"/>
                </a:solidFill>
                <a:latin typeface="メイリオ"/>
              </a:rPr>
              <a:t>6/9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30352"/>
            <a:ext cx="9144000" cy="7000"/>
          </a:xfrm>
          <a:prstGeom prst="rect">
            <a:avLst/>
          </a:prstGeom>
          <a:solidFill>
            <a:srgbClr val="CC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8368"/>
            <a:ext cx="9144000" cy="290000"/>
          </a:xfrm>
          <a:prstGeom prst="rect">
            <a:avLst/>
          </a:prstGeom>
          <a:solidFill>
            <a:srgbClr val="441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694944"/>
            <a:ext cx="54864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9922"/>
                </a:solidFill>
                <a:latin typeface="メイリオ"/>
              </a:rPr>
              <a:t>上位モード到達ルート（炎炎激闘から昇格）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" y="701872"/>
            <a:ext cx="1508760" cy="1120000"/>
          </a:xfrm>
          <a:prstGeom prst="rect">
            <a:avLst/>
          </a:prstGeom>
          <a:solidFill>
            <a:srgbClr val="140804"/>
          </a:solidFill>
          <a:ln w="19050">
            <a:solidFill>
              <a:srgbClr val="FF55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6032" y="781872"/>
            <a:ext cx="145876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5511"/>
                </a:solidFill>
                <a:latin typeface="游明朝"/>
              </a:rPr>
              <a:t>炎炎激闘
（基本AT）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1032" y="1171872"/>
            <a:ext cx="146876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998880"/>
                </a:solidFill>
                <a:latin typeface="メイリオ"/>
              </a:rPr>
              <a:t>スタート地点
1セット15G+α</a:t>
            </a:r>
          </a:p>
        </p:txBody>
      </p:sp>
      <p:sp>
        <p:nvSpPr>
          <p:cNvPr id="13" name="Can 12"/>
          <p:cNvSpPr/>
          <p:nvPr/>
        </p:nvSpPr>
        <p:spPr>
          <a:xfrm>
            <a:off x="1774792" y="1171872"/>
            <a:ext cx="200000" cy="180000"/>
          </a:xfrm>
          <a:prstGeom prst="can">
            <a:avLst/>
          </a:prstGeom>
          <a:solidFill>
            <a:srgbClr val="CC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956816" y="701872"/>
            <a:ext cx="1508760" cy="1120000"/>
          </a:xfrm>
          <a:prstGeom prst="rect">
            <a:avLst/>
          </a:prstGeom>
          <a:solidFill>
            <a:srgbClr val="140804"/>
          </a:solidFill>
          <a:ln w="19050">
            <a:solidFill>
              <a:srgbClr val="FF9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86816" y="781872"/>
            <a:ext cx="145876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9922"/>
                </a:solidFill>
                <a:latin typeface="游明朝"/>
              </a:rPr>
              <a:t>ボーナス
大量ストック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81816" y="1171872"/>
            <a:ext cx="146876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998880"/>
                </a:solidFill>
                <a:latin typeface="メイリオ"/>
              </a:rPr>
              <a:t>伝導者決戦勝利
連続でストック積み上げ</a:t>
            </a:r>
          </a:p>
        </p:txBody>
      </p:sp>
      <p:sp>
        <p:nvSpPr>
          <p:cNvPr id="17" name="Can 16"/>
          <p:cNvSpPr/>
          <p:nvPr/>
        </p:nvSpPr>
        <p:spPr>
          <a:xfrm>
            <a:off x="3475576" y="1171872"/>
            <a:ext cx="200000" cy="180000"/>
          </a:xfrm>
          <a:prstGeom prst="can">
            <a:avLst/>
          </a:prstGeom>
          <a:solidFill>
            <a:srgbClr val="CC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0" y="701872"/>
            <a:ext cx="1508760" cy="1120000"/>
          </a:xfrm>
          <a:prstGeom prst="rect">
            <a:avLst/>
          </a:prstGeom>
          <a:solidFill>
            <a:srgbClr val="140804"/>
          </a:solidFill>
          <a:ln w="19050">
            <a:solidFill>
              <a:srgbClr val="FFCC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87600" y="781872"/>
            <a:ext cx="145876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CC44"/>
                </a:solidFill>
                <a:latin typeface="游明朝"/>
              </a:rPr>
              <a:t>炎炎大戦
（上位AT）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82600" y="1171872"/>
            <a:ext cx="146876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998880"/>
                </a:solidFill>
                <a:latin typeface="メイリオ"/>
              </a:rPr>
              <a:t>ループ率80〜90%
昇格で大量獲得開始</a:t>
            </a:r>
          </a:p>
        </p:txBody>
      </p:sp>
      <p:sp>
        <p:nvSpPr>
          <p:cNvPr id="21" name="Can 20"/>
          <p:cNvSpPr/>
          <p:nvPr/>
        </p:nvSpPr>
        <p:spPr>
          <a:xfrm>
            <a:off x="5176360" y="1171872"/>
            <a:ext cx="200000" cy="180000"/>
          </a:xfrm>
          <a:prstGeom prst="can">
            <a:avLst/>
          </a:prstGeom>
          <a:solidFill>
            <a:srgbClr val="CC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58384" y="701872"/>
            <a:ext cx="1508760" cy="1120000"/>
          </a:xfrm>
          <a:prstGeom prst="rect">
            <a:avLst/>
          </a:prstGeom>
          <a:solidFill>
            <a:srgbClr val="180800"/>
          </a:solidFill>
          <a:ln w="25400">
            <a:solidFill>
              <a:srgbClr val="C8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88384" y="781872"/>
            <a:ext cx="145876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C8A840"/>
                </a:solidFill>
                <a:latin typeface="游明朝"/>
              </a:rPr>
              <a:t>超炎炎大戦
（最上位）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83384" y="1171872"/>
            <a:ext cx="146876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998880"/>
                </a:solidFill>
                <a:latin typeface="メイリオ"/>
              </a:rPr>
              <a:t>最高継続率
EX BONUS等も出現</a:t>
            </a:r>
          </a:p>
        </p:txBody>
      </p:sp>
      <p:sp>
        <p:nvSpPr>
          <p:cNvPr id="25" name="Can 24"/>
          <p:cNvSpPr/>
          <p:nvPr/>
        </p:nvSpPr>
        <p:spPr>
          <a:xfrm>
            <a:off x="6877144" y="1171872"/>
            <a:ext cx="200000" cy="180000"/>
          </a:xfrm>
          <a:prstGeom prst="can">
            <a:avLst/>
          </a:prstGeom>
          <a:solidFill>
            <a:srgbClr val="CC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059168" y="701872"/>
            <a:ext cx="1508760" cy="1120000"/>
          </a:xfrm>
          <a:prstGeom prst="rect">
            <a:avLst/>
          </a:prstGeom>
          <a:solidFill>
            <a:srgbClr val="180800"/>
          </a:solidFill>
          <a:ln w="25400">
            <a:solidFill>
              <a:srgbClr val="DD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89168" y="781872"/>
            <a:ext cx="145876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DD1111"/>
                </a:solidFill>
                <a:latin typeface="游明朝"/>
              </a:rPr>
              <a:t>アドラバースト
（特殊）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84168" y="1171872"/>
            <a:ext cx="146876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998880"/>
                </a:solidFill>
                <a:latin typeface="メイリオ"/>
              </a:rPr>
              <a:t>期待約2,760枚
特別ルートで突入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1874519"/>
            <a:ext cx="9144000" cy="5000"/>
          </a:xfrm>
          <a:prstGeom prst="rect">
            <a:avLst/>
          </a:prstGeom>
          <a:solidFill>
            <a:srgbClr val="441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56032" y="1920240"/>
            <a:ext cx="4114800" cy="2600000"/>
          </a:xfrm>
          <a:prstGeom prst="rect">
            <a:avLst/>
          </a:prstGeom>
          <a:solidFill>
            <a:srgbClr val="140804"/>
          </a:solidFill>
          <a:ln w="22860">
            <a:solidFill>
              <a:srgbClr val="FFCC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56032" y="1920240"/>
            <a:ext cx="45000" cy="2600000"/>
          </a:xfrm>
          <a:prstGeom prst="rect">
            <a:avLst/>
          </a:prstGeom>
          <a:solidFill>
            <a:srgbClr val="FFC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1032" y="1975240"/>
            <a:ext cx="40198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CC44"/>
                </a:solidFill>
                <a:latin typeface="游明朝"/>
              </a:rPr>
              <a:t>(超)炎炎大戦の遊び方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1032" y="2280240"/>
            <a:ext cx="4019800" cy="2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0ECE8"/>
                </a:solidFill>
                <a:latin typeface="メイリオ"/>
              </a:rPr>
              <a:t>【ループ型の遊び方】
炎炎大戦は1セット完了後に80〜90%の
確率で再突入する高継続AT。
プレイヤーはセットが続くたびに出玉が
積み上がるのを体感する。
【超炎炎大戦の特徴】
炎炎大戦より継続率がさらに高いバージョン。
突入時の演出が派手で打ちごたえ抜群。
【EX BONUSへの期待】
超炎炎大戦中にEX BONUSが出現すると
最大3,000枚を狙えるロマンがある。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0" y="1920240"/>
            <a:ext cx="4297680" cy="2600000"/>
          </a:xfrm>
          <a:prstGeom prst="rect">
            <a:avLst/>
          </a:prstGeom>
          <a:solidFill>
            <a:srgbClr val="180800"/>
          </a:solidFill>
          <a:ln w="25400">
            <a:solidFill>
              <a:srgbClr val="C8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572000" y="1920240"/>
            <a:ext cx="45000" cy="2600000"/>
          </a:xfrm>
          <a:prstGeom prst="rect">
            <a:avLst/>
          </a:prstGeom>
          <a:solidFill>
            <a:srgbClr val="C8A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47000" y="1975240"/>
            <a:ext cx="420268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8A840"/>
                </a:solidFill>
                <a:latin typeface="游明朝"/>
              </a:rPr>
              <a:t>アドラバーストの遊び方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47000" y="2280240"/>
            <a:ext cx="4202680" cy="2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0ECE8"/>
                </a:solidFill>
                <a:latin typeface="メイリオ"/>
              </a:rPr>
              <a:t>【到達ルート】
アドラリンク成功 → 最上位ボーナスへ。
または伝導者決戦での特殊勝利パターン。
【期待枚数約2,760枚の根拠】
ボーナス消化中の獲得枚数＋炎炎大戦
ループによる出玉の合算値。
1回突入するだけで大きなプラスが見込める。
【打ち方のコツ】
アドラバースト中は演出をしっかり見届ける。
終了画面に設定示唆が出ることがある。
消化終了後もすぐに離席しないこと。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79" y="4919472"/>
            <a:ext cx="155448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998880"/>
                </a:solidFill>
                <a:latin typeface="メイリオ"/>
              </a:rPr>
              <a:t>※ネット解析情報より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4645152"/>
            <a:ext cx="9144000" cy="498348"/>
          </a:xfrm>
          <a:prstGeom prst="rect">
            <a:avLst/>
          </a:prstGeom>
          <a:solidFill>
            <a:srgbClr val="0E06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0" y="4645152"/>
            <a:ext cx="20000" cy="498348"/>
          </a:xfrm>
          <a:prstGeom prst="rect">
            <a:avLst/>
          </a:prstGeom>
          <a:solidFill>
            <a:srgbClr val="CC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64592" y="4685152"/>
            <a:ext cx="50292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9922"/>
                </a:solidFill>
                <a:latin typeface="メイリオ"/>
              </a:rPr>
              <a:t>上位モードの到達は「炎炎激闘で伝導者決戦に勝ち続ける」の延長線上にある自然な昇格設計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03520" y="4685152"/>
            <a:ext cx="36576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998880"/>
                </a:solidFill>
                <a:latin typeface="メイリオ"/>
              </a:rPr>
              <a:t>アドラバーストは期待枚数2,760枚という明確な数字が打ち手の目標設定を助ける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408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000" cy="530352"/>
          </a:xfrm>
          <a:prstGeom prst="rect">
            <a:avLst/>
          </a:prstGeom>
          <a:solidFill>
            <a:srgbClr val="CC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28000"/>
            <a:ext cx="7772400" cy="4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9922"/>
                </a:solidFill>
                <a:latin typeface="游明朝"/>
              </a:rPr>
              <a:t>面白さの設計 ── なぜ炎炎ノ消防隊2は面白いのか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45000"/>
            <a:ext cx="9144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98880"/>
                </a:solidFill>
                <a:latin typeface="メイリオ"/>
              </a:rPr>
              <a:t>7/9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30352"/>
            <a:ext cx="9144000" cy="7000"/>
          </a:xfrm>
          <a:prstGeom prst="rect">
            <a:avLst/>
          </a:prstGeom>
          <a:solidFill>
            <a:srgbClr val="CC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6032" y="658368"/>
            <a:ext cx="4160520" cy="1250000"/>
          </a:xfrm>
          <a:prstGeom prst="rect">
            <a:avLst/>
          </a:prstGeom>
          <a:solidFill>
            <a:srgbClr val="140804"/>
          </a:solidFill>
          <a:ln w="19050">
            <a:solidFill>
              <a:srgbClr val="CC2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6032" y="658368"/>
            <a:ext cx="40000" cy="1250000"/>
          </a:xfrm>
          <a:prstGeom prst="rect">
            <a:avLst/>
          </a:prstGeom>
          <a:solidFill>
            <a:srgbClr val="CC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6032" y="713368"/>
            <a:ext cx="407052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CC2200"/>
                </a:solidFill>
                <a:latin typeface="游明朝"/>
              </a:rPr>
              <a:t>① 毎ゲーム「起きるかも」のドキドキ感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6032" y="998368"/>
            <a:ext cx="4070520" cy="8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0ECE8"/>
                </a:solidFill>
                <a:latin typeface="メイリオ"/>
              </a:rPr>
              <a:t>十字目変換はリプレイが来るたびに発生チャンス。
つまりほぼ毎数ゲームにドキドキの瞬間がある。
「スロットを回す」行為そのものに意味を持たせる設計。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27448" y="658368"/>
            <a:ext cx="4160520" cy="1250000"/>
          </a:xfrm>
          <a:prstGeom prst="rect">
            <a:avLst/>
          </a:prstGeom>
          <a:solidFill>
            <a:srgbClr val="140804"/>
          </a:solidFill>
          <a:ln w="19050">
            <a:solidFill>
              <a:srgbClr val="FF55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27448" y="658368"/>
            <a:ext cx="40000" cy="1250000"/>
          </a:xfrm>
          <a:prstGeom prst="rect">
            <a:avLst/>
          </a:prstGeom>
          <a:solidFill>
            <a:srgbClr val="FF55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97448" y="713368"/>
            <a:ext cx="407052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5511"/>
                </a:solidFill>
                <a:latin typeface="游明朝"/>
              </a:rPr>
              <a:t>② 炎の色という直感的な期待度表示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97448" y="998368"/>
            <a:ext cx="4070520" cy="8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0ECE8"/>
                </a:solidFill>
                <a:latin typeface="メイリオ"/>
              </a:rPr>
              <a:t>白→青→赤という色の強さ＝期待度の高さが直感的。
説明書なしで「赤が出たら熱い」と感じられる
初心者にも優しいUX設計になっている。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6032" y="2036384"/>
            <a:ext cx="4160520" cy="1250000"/>
          </a:xfrm>
          <a:prstGeom prst="rect">
            <a:avLst/>
          </a:prstGeom>
          <a:solidFill>
            <a:srgbClr val="140804"/>
          </a:solidFill>
          <a:ln w="19050">
            <a:solidFill>
              <a:srgbClr val="FF9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6032" y="2036384"/>
            <a:ext cx="40000" cy="1250000"/>
          </a:xfrm>
          <a:prstGeom prst="rect">
            <a:avLst/>
          </a:prstGeom>
          <a:solidFill>
            <a:srgbClr val="FF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6032" y="2091384"/>
            <a:ext cx="407052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9922"/>
                </a:solidFill>
                <a:latin typeface="游明朝"/>
              </a:rPr>
              <a:t>③ 3回目必ず成功という「報われる」保証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6032" y="2376384"/>
            <a:ext cx="4070520" cy="8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0ECE8"/>
                </a:solidFill>
                <a:latin typeface="メイリオ"/>
              </a:rPr>
              <a:t>2連続外れでも3回目は必ず変換成功する保険設計。
「絶対に外れ続けない」安心感がストレスを消し
集中力を長時間維持させる巧みな心理設計。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27448" y="2036384"/>
            <a:ext cx="4160520" cy="1250000"/>
          </a:xfrm>
          <a:prstGeom prst="rect">
            <a:avLst/>
          </a:prstGeom>
          <a:solidFill>
            <a:srgbClr val="140804"/>
          </a:solidFill>
          <a:ln w="19050">
            <a:solidFill>
              <a:srgbClr val="22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727448" y="2036384"/>
            <a:ext cx="40000" cy="1250000"/>
          </a:xfrm>
          <a:prstGeom prst="rect">
            <a:avLst/>
          </a:prstGeom>
          <a:solidFill>
            <a:srgbClr val="22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97448" y="2091384"/>
            <a:ext cx="407052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22CCDD"/>
                </a:solidFill>
                <a:latin typeface="游明朝"/>
              </a:rPr>
              <a:t>④ アドラリンクによる自力感の演出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97448" y="2376384"/>
            <a:ext cx="4070520" cy="8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0ECE8"/>
                </a:solidFill>
                <a:latin typeface="メイリオ"/>
              </a:rPr>
              <a:t>打ち手が「自分でボーナスを当てた」と感じる仕掛け。
受け身のボーナス待ちでなく能動的に参加する感覚が
没入感とリピート意欲を高める核心メカニズム。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56032" y="3414400"/>
            <a:ext cx="8631936" cy="1150000"/>
          </a:xfrm>
          <a:prstGeom prst="rect">
            <a:avLst/>
          </a:prstGeom>
          <a:solidFill>
            <a:srgbClr val="140804"/>
          </a:solidFill>
          <a:ln w="19050">
            <a:solidFill>
              <a:srgbClr val="FFCC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56032" y="3414400"/>
            <a:ext cx="40000" cy="1150000"/>
          </a:xfrm>
          <a:prstGeom prst="rect">
            <a:avLst/>
          </a:prstGeom>
          <a:solidFill>
            <a:srgbClr val="FFC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6032" y="3469400"/>
            <a:ext cx="8541936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CC44"/>
                </a:solidFill>
                <a:latin typeface="游明朝"/>
              </a:rPr>
              <a:t>⑤ 常に「上」が見える多層構造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6032" y="3754400"/>
            <a:ext cx="8541936" cy="7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0ECE8"/>
                </a:solidFill>
                <a:latin typeface="メイリオ"/>
              </a:rPr>
              <a:t>炎炎激闘→炎炎大戦→超炎炎大戦→アドラバーストと
常に上位状態が存在する。"次のレベル"が見えることで
プレイヤーの目標が途切れず離席抑制につながる。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4919472"/>
            <a:ext cx="155448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998880"/>
                </a:solidFill>
                <a:latin typeface="メイリオ"/>
              </a:rPr>
              <a:t>※ネット解析情報より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4645152"/>
            <a:ext cx="9144000" cy="498348"/>
          </a:xfrm>
          <a:prstGeom prst="rect">
            <a:avLst/>
          </a:prstGeom>
          <a:solidFill>
            <a:srgbClr val="0E06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4645152"/>
            <a:ext cx="20000" cy="498348"/>
          </a:xfrm>
          <a:prstGeom prst="rect">
            <a:avLst/>
          </a:prstGeom>
          <a:solidFill>
            <a:srgbClr val="CC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4592" y="4685152"/>
            <a:ext cx="50292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9922"/>
                </a:solidFill>
                <a:latin typeface="メイリオ"/>
              </a:rPr>
              <a:t>面白さの核心：「リプレイ毎のドキドキ×直感的炎色×保険設計×自力感×多層目標」の5要素が絡み合う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03520" y="4685152"/>
            <a:ext cx="36576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998880"/>
                </a:solidFill>
                <a:latin typeface="メイリオ"/>
              </a:rPr>
              <a:t>炎の色という原作モチーフをゲーム性に昇華した点が本機の最大の設計的美しさ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408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000" cy="530352"/>
          </a:xfrm>
          <a:prstGeom prst="rect">
            <a:avLst/>
          </a:prstGeom>
          <a:solidFill>
            <a:srgbClr val="CC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28000"/>
            <a:ext cx="7772400" cy="4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9922"/>
                </a:solidFill>
                <a:latin typeface="游明朝"/>
              </a:rPr>
              <a:t>良い点と課題 ── 設計の強みと改善余地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45000"/>
            <a:ext cx="9144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98880"/>
                </a:solidFill>
                <a:latin typeface="メイリオ"/>
              </a:rPr>
              <a:t>8/9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30352"/>
            <a:ext cx="9144000" cy="7000"/>
          </a:xfrm>
          <a:prstGeom prst="rect">
            <a:avLst/>
          </a:prstGeom>
          <a:solidFill>
            <a:srgbClr val="CC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6032" y="658368"/>
            <a:ext cx="4114800" cy="290000"/>
          </a:xfrm>
          <a:prstGeom prst="rect">
            <a:avLst/>
          </a:prstGeom>
          <a:solidFill>
            <a:srgbClr val="22C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6032" y="713368"/>
            <a:ext cx="40348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A0404"/>
                </a:solidFill>
                <a:latin typeface="メイリオ"/>
              </a:rPr>
              <a:t>良い点 ── 設計的強み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" y="948368"/>
            <a:ext cx="4114800" cy="1090000"/>
          </a:xfrm>
          <a:prstGeom prst="rect">
            <a:avLst/>
          </a:prstGeom>
          <a:solidFill>
            <a:srgbClr val="140804"/>
          </a:solidFill>
          <a:ln w="15240">
            <a:solidFill>
              <a:srgbClr val="22C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6032" y="948368"/>
            <a:ext cx="35000" cy="1090000"/>
          </a:xfrm>
          <a:prstGeom prst="rect">
            <a:avLst/>
          </a:prstGeom>
          <a:solidFill>
            <a:srgbClr val="22C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6032" y="998368"/>
            <a:ext cx="40348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22CC66"/>
                </a:solidFill>
                <a:latin typeface="メイリオ"/>
              </a:rPr>
              <a:t>高純増5.8枚/Gという圧倒的スピード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6032" y="1258368"/>
            <a:ext cx="4034800" cy="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ECE8"/>
                </a:solidFill>
                <a:latin typeface="メイリオ"/>
              </a:rPr>
              <a:t>現行機で最高水準の純増速度。
炎炎大戦ループ中の出玉爆発体験が
他台との最大の差別化になっている。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" y="2108368"/>
            <a:ext cx="4114800" cy="1090000"/>
          </a:xfrm>
          <a:prstGeom prst="rect">
            <a:avLst/>
          </a:prstGeom>
          <a:solidFill>
            <a:srgbClr val="140804"/>
          </a:solidFill>
          <a:ln w="15240">
            <a:solidFill>
              <a:srgbClr val="22C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6032" y="2108368"/>
            <a:ext cx="35000" cy="1090000"/>
          </a:xfrm>
          <a:prstGeom prst="rect">
            <a:avLst/>
          </a:prstGeom>
          <a:solidFill>
            <a:srgbClr val="22C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6032" y="2158368"/>
            <a:ext cx="40348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22CC66"/>
                </a:solidFill>
                <a:latin typeface="メイリオ"/>
              </a:rPr>
              <a:t>十字目変換フローの毎G緊張感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6032" y="2418368"/>
            <a:ext cx="4034800" cy="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ECE8"/>
                </a:solidFill>
                <a:latin typeface="メイリオ"/>
              </a:rPr>
              <a:t>リプレイ毎にドキドキが発生する設計で
退屈しない遊技体験を提供。
炎色演出が初心者にも直感的でわかりやすい。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6032" y="3268368"/>
            <a:ext cx="4114800" cy="1090000"/>
          </a:xfrm>
          <a:prstGeom prst="rect">
            <a:avLst/>
          </a:prstGeom>
          <a:solidFill>
            <a:srgbClr val="140804"/>
          </a:solidFill>
          <a:ln w="15240">
            <a:solidFill>
              <a:srgbClr val="22C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6032" y="3268368"/>
            <a:ext cx="35000" cy="1090000"/>
          </a:xfrm>
          <a:prstGeom prst="rect">
            <a:avLst/>
          </a:prstGeom>
          <a:solidFill>
            <a:srgbClr val="22C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6032" y="3318368"/>
            <a:ext cx="40348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22CC66"/>
                </a:solidFill>
                <a:latin typeface="メイリオ"/>
              </a:rPr>
              <a:t>3回目強制成功という心理的安心設計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6032" y="3578368"/>
            <a:ext cx="4034800" cy="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ECE8"/>
                </a:solidFill>
                <a:latin typeface="メイリオ"/>
              </a:rPr>
              <a:t>「外れ続けない」保証が打ち手のストレスを
大幅に軽減。長時間プレイを促進する。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6032" y="4428368"/>
            <a:ext cx="4114800" cy="1090000"/>
          </a:xfrm>
          <a:prstGeom prst="rect">
            <a:avLst/>
          </a:prstGeom>
          <a:solidFill>
            <a:srgbClr val="140804"/>
          </a:solidFill>
          <a:ln w="15240">
            <a:solidFill>
              <a:srgbClr val="22C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56032" y="4428368"/>
            <a:ext cx="35000" cy="1090000"/>
          </a:xfrm>
          <a:prstGeom prst="rect">
            <a:avLst/>
          </a:prstGeom>
          <a:solidFill>
            <a:srgbClr val="22C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16032" y="4478368"/>
            <a:ext cx="40348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22CC66"/>
                </a:solidFill>
                <a:latin typeface="メイリオ"/>
              </a:rPr>
              <a:t>二段階天井で投資計画が立てやすい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6032" y="4738368"/>
            <a:ext cx="4034800" cy="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ECE8"/>
                </a:solidFill>
                <a:latin typeface="メイリオ"/>
              </a:rPr>
              <a:t>850G+2,000Gの多層保護で
ハイエナ狙いも明確。
来店計画が立てやすいホール訴求力がある。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0" y="658368"/>
            <a:ext cx="4297680" cy="290000"/>
          </a:xfrm>
          <a:prstGeom prst="rect">
            <a:avLst/>
          </a:prstGeom>
          <a:solidFill>
            <a:srgbClr val="DD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32000" y="713368"/>
            <a:ext cx="421768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0ECE8"/>
                </a:solidFill>
                <a:latin typeface="メイリオ"/>
              </a:rPr>
              <a:t>課題 ── 改善余地・注意点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0" y="948368"/>
            <a:ext cx="4297680" cy="1090000"/>
          </a:xfrm>
          <a:prstGeom prst="rect">
            <a:avLst/>
          </a:prstGeom>
          <a:solidFill>
            <a:srgbClr val="140804"/>
          </a:solidFill>
          <a:ln w="15240">
            <a:solidFill>
              <a:srgbClr val="DD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0" y="948368"/>
            <a:ext cx="35000" cy="1090000"/>
          </a:xfrm>
          <a:prstGeom prst="rect">
            <a:avLst/>
          </a:prstGeom>
          <a:solidFill>
            <a:srgbClr val="DD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32000" y="998368"/>
            <a:ext cx="421768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DD1111"/>
                </a:solidFill>
                <a:latin typeface="メイリオ"/>
              </a:rPr>
              <a:t>天井②2,000Gの投資負担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32000" y="1258368"/>
            <a:ext cx="4217680" cy="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ECE8"/>
                </a:solidFill>
                <a:latin typeface="メイリオ"/>
              </a:rPr>
              <a:t>炎炎激闘間2,000Gは非常に長い。
天井②を狙う場合は大きな投資が必要で
ライトユーザーには厳しい設定。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0" y="2108368"/>
            <a:ext cx="4297680" cy="1090000"/>
          </a:xfrm>
          <a:prstGeom prst="rect">
            <a:avLst/>
          </a:prstGeom>
          <a:solidFill>
            <a:srgbClr val="140804"/>
          </a:solidFill>
          <a:ln w="15240">
            <a:solidFill>
              <a:srgbClr val="CC2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0" y="2108368"/>
            <a:ext cx="35000" cy="1090000"/>
          </a:xfrm>
          <a:prstGeom prst="rect">
            <a:avLst/>
          </a:prstGeom>
          <a:solidFill>
            <a:srgbClr val="CC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32000" y="2158368"/>
            <a:ext cx="421768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CC2200"/>
                </a:solidFill>
                <a:latin typeface="メイリオ"/>
              </a:rPr>
              <a:t>十字目変換の連続外れ体験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32000" y="2418368"/>
            <a:ext cx="4217680" cy="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ECE8"/>
                </a:solidFill>
                <a:latin typeface="メイリオ"/>
              </a:rPr>
              <a:t>3回目保証はあるものの、2連続外れは
感情的にマイナス体験になりやすい。
保険を知らない初心者には不安を与える。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0" y="3268368"/>
            <a:ext cx="4297680" cy="1090000"/>
          </a:xfrm>
          <a:prstGeom prst="rect">
            <a:avLst/>
          </a:prstGeom>
          <a:solidFill>
            <a:srgbClr val="140804"/>
          </a:solidFill>
          <a:ln w="15240">
            <a:solidFill>
              <a:srgbClr val="FF9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572000" y="3268368"/>
            <a:ext cx="35000" cy="1090000"/>
          </a:xfrm>
          <a:prstGeom prst="rect">
            <a:avLst/>
          </a:prstGeom>
          <a:solidFill>
            <a:srgbClr val="FF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32000" y="3318368"/>
            <a:ext cx="421768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9922"/>
                </a:solidFill>
                <a:latin typeface="メイリオ"/>
              </a:rPr>
              <a:t>設定判別難易度の高さ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32000" y="3578368"/>
            <a:ext cx="4217680" cy="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ECE8"/>
                </a:solidFill>
                <a:latin typeface="メイリオ"/>
              </a:rPr>
              <a:t>REGボーナスのシナリオが最重要だが
引けなければ判別不能に近い。
高設定を確信するまでに時間がかかる。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0" y="4428368"/>
            <a:ext cx="4297680" cy="1090000"/>
          </a:xfrm>
          <a:prstGeom prst="rect">
            <a:avLst/>
          </a:prstGeom>
          <a:solidFill>
            <a:srgbClr val="140804"/>
          </a:solidFill>
          <a:ln w="15240">
            <a:solidFill>
              <a:srgbClr val="998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572000" y="4428368"/>
            <a:ext cx="35000" cy="1090000"/>
          </a:xfrm>
          <a:prstGeom prst="rect">
            <a:avLst/>
          </a:prstGeom>
          <a:solidFill>
            <a:srgbClr val="998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32000" y="4478368"/>
            <a:ext cx="421768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998880"/>
                </a:solidFill>
                <a:latin typeface="メイリオ"/>
              </a:rPr>
              <a:t>上位AT到達前の単調感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32000" y="4738368"/>
            <a:ext cx="4217680" cy="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ECE8"/>
                </a:solidFill>
                <a:latin typeface="メイリオ"/>
              </a:rPr>
              <a:t>炎炎激闘の15Gが積み重なる前の段階は
単純作業感が出やすい。
ストック数が少ない序盤は離脱リスクあり。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98079" y="4919472"/>
            <a:ext cx="155448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998880"/>
                </a:solidFill>
                <a:latin typeface="メイリオ"/>
              </a:rPr>
              <a:t>※ネット解析情報より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4645152"/>
            <a:ext cx="9144000" cy="498348"/>
          </a:xfrm>
          <a:prstGeom prst="rect">
            <a:avLst/>
          </a:prstGeom>
          <a:solidFill>
            <a:srgbClr val="0E06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0" y="4645152"/>
            <a:ext cx="20000" cy="498348"/>
          </a:xfrm>
          <a:prstGeom prst="rect">
            <a:avLst/>
          </a:prstGeom>
          <a:solidFill>
            <a:srgbClr val="CC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64592" y="4685152"/>
            <a:ext cx="50292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9922"/>
                </a:solidFill>
                <a:latin typeface="メイリオ"/>
              </a:rPr>
              <a:t>強みと課題を把握することが設計学習の要点：強みを他機種に応用し、課題を次世代機で克服する視点を持つ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03520" y="4685152"/>
            <a:ext cx="36576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998880"/>
                </a:solidFill>
                <a:latin typeface="メイリオ"/>
              </a:rPr>
              <a:t>特に天井②の長さとライトユーザー離脱リスクは導入ホール側のケアが重要な課題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408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000" cy="530352"/>
          </a:xfrm>
          <a:prstGeom prst="rect">
            <a:avLst/>
          </a:prstGeom>
          <a:solidFill>
            <a:srgbClr val="CC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28000"/>
            <a:ext cx="7772400" cy="4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9922"/>
                </a:solidFill>
                <a:latin typeface="游明朝"/>
              </a:rPr>
              <a:t>まとめ ── 設計から学べること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45000"/>
            <a:ext cx="9144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98880"/>
                </a:solidFill>
                <a:latin typeface="メイリオ"/>
              </a:rPr>
              <a:t>9/9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30352"/>
            <a:ext cx="9144000" cy="7000"/>
          </a:xfrm>
          <a:prstGeom prst="rect">
            <a:avLst/>
          </a:prstGeom>
          <a:solidFill>
            <a:srgbClr val="CC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6032" y="658368"/>
            <a:ext cx="4114800" cy="290000"/>
          </a:xfrm>
          <a:prstGeom prst="rect">
            <a:avLst/>
          </a:prstGeom>
          <a:solidFill>
            <a:srgbClr val="551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6032" y="713368"/>
            <a:ext cx="40348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9922"/>
                </a:solidFill>
                <a:latin typeface="メイリオ"/>
              </a:rPr>
              <a:t>炎炎ノ消防隊2 ── 設計的強み総括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" y="948368"/>
            <a:ext cx="4114800" cy="1210000"/>
          </a:xfrm>
          <a:prstGeom prst="rect">
            <a:avLst/>
          </a:prstGeom>
          <a:solidFill>
            <a:srgbClr val="140804"/>
          </a:solidFill>
          <a:ln w="19050">
            <a:solidFill>
              <a:srgbClr val="CC2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6032" y="948368"/>
            <a:ext cx="40000" cy="1210000"/>
          </a:xfrm>
          <a:prstGeom prst="rect">
            <a:avLst/>
          </a:prstGeom>
          <a:solidFill>
            <a:srgbClr val="CC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6032" y="1003368"/>
            <a:ext cx="40248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C2200"/>
                </a:solidFill>
                <a:latin typeface="メイリオ"/>
              </a:rPr>
              <a:t>十字目変換フローという核心設計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6032" y="1278368"/>
            <a:ext cx="4024800" cy="7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0ECE8"/>
                </a:solidFill>
                <a:latin typeface="メイリオ"/>
              </a:rPr>
              <a:t>リプレイ→小V停止→PUSH→炎色変換→伝導者決戦
という連鎖が毎Gの緊張感を生む。
3回目強制成功の保険がストレスを消す。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" y="2228368"/>
            <a:ext cx="4114800" cy="1210000"/>
          </a:xfrm>
          <a:prstGeom prst="rect">
            <a:avLst/>
          </a:prstGeom>
          <a:solidFill>
            <a:srgbClr val="140804"/>
          </a:solidFill>
          <a:ln w="19050">
            <a:solidFill>
              <a:srgbClr val="FFCC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6032" y="2228368"/>
            <a:ext cx="40000" cy="1210000"/>
          </a:xfrm>
          <a:prstGeom prst="rect">
            <a:avLst/>
          </a:prstGeom>
          <a:solidFill>
            <a:srgbClr val="FFC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6032" y="2283368"/>
            <a:ext cx="40248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CC44"/>
                </a:solidFill>
                <a:latin typeface="メイリオ"/>
              </a:rPr>
              <a:t>5.8枚/Gという出玉体験の圧倒性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6032" y="2558368"/>
            <a:ext cx="4024800" cy="7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0ECE8"/>
                </a:solidFill>
                <a:latin typeface="メイリオ"/>
              </a:rPr>
              <a:t>炎炎大戦ループ中の出玉爆発が
他台にはない「速くて大きな勝ち体験」を提供。
来店動機・リピート動機の最大要因。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6032" y="3508368"/>
            <a:ext cx="4114800" cy="1210000"/>
          </a:xfrm>
          <a:prstGeom prst="rect">
            <a:avLst/>
          </a:prstGeom>
          <a:solidFill>
            <a:srgbClr val="140804"/>
          </a:solidFill>
          <a:ln w="19050">
            <a:solidFill>
              <a:srgbClr val="22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6032" y="3508368"/>
            <a:ext cx="40000" cy="1210000"/>
          </a:xfrm>
          <a:prstGeom prst="rect">
            <a:avLst/>
          </a:prstGeom>
          <a:solidFill>
            <a:srgbClr val="22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6032" y="3563368"/>
            <a:ext cx="40248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CCDD"/>
                </a:solidFill>
                <a:latin typeface="メイリオ"/>
              </a:rPr>
              <a:t>投資計画を支援する二段階天井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6032" y="3838368"/>
            <a:ext cx="4024800" cy="7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0ECE8"/>
                </a:solidFill>
                <a:latin typeface="メイリオ"/>
              </a:rPr>
              <a:t>850G+2,000Gの多層セーフティで
プレイヤーが安心して遊べる設計。
天井狙いの立ち回りも計画しやすい。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0" y="658368"/>
            <a:ext cx="4297680" cy="290000"/>
          </a:xfrm>
          <a:prstGeom prst="rect">
            <a:avLst/>
          </a:prstGeom>
          <a:solidFill>
            <a:srgbClr val="1C0C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32000" y="713368"/>
            <a:ext cx="421768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9922"/>
                </a:solidFill>
                <a:latin typeface="游明朝"/>
              </a:rPr>
              <a:t>設計から学べる原則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0" y="948368"/>
            <a:ext cx="4297680" cy="720000"/>
          </a:xfrm>
          <a:prstGeom prst="rect">
            <a:avLst/>
          </a:prstGeom>
          <a:solidFill>
            <a:srgbClr val="140804"/>
          </a:solidFill>
          <a:ln w="12700">
            <a:solidFill>
              <a:srgbClr val="CC2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0" y="948368"/>
            <a:ext cx="30000" cy="720000"/>
          </a:xfrm>
          <a:prstGeom prst="rect">
            <a:avLst/>
          </a:prstGeom>
          <a:solidFill>
            <a:srgbClr val="CC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27000" y="998368"/>
            <a:ext cx="422268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CC2200"/>
                </a:solidFill>
                <a:latin typeface="メイリオ"/>
              </a:rPr>
              <a:t>毎Gの行動に意味を持たせよ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27000" y="1238368"/>
            <a:ext cx="422268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ECE8"/>
                </a:solidFill>
                <a:latin typeface="メイリオ"/>
              </a:rPr>
              <a:t>「リプレイを引いたら何かが起きる」という
仕組みが打ち手を能動的にする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0" y="1718368"/>
            <a:ext cx="4297680" cy="720000"/>
          </a:xfrm>
          <a:prstGeom prst="rect">
            <a:avLst/>
          </a:prstGeom>
          <a:solidFill>
            <a:srgbClr val="140804"/>
          </a:solidFill>
          <a:ln w="12700">
            <a:solidFill>
              <a:srgbClr val="FF55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0" y="1718368"/>
            <a:ext cx="30000" cy="720000"/>
          </a:xfrm>
          <a:prstGeom prst="rect">
            <a:avLst/>
          </a:prstGeom>
          <a:solidFill>
            <a:srgbClr val="FF55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27000" y="1768368"/>
            <a:ext cx="422268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5511"/>
                </a:solidFill>
                <a:latin typeface="メイリオ"/>
              </a:rPr>
              <a:t>期待度は色で直感的に伝えよ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27000" y="2008368"/>
            <a:ext cx="422268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ECE8"/>
                </a:solidFill>
                <a:latin typeface="メイリオ"/>
              </a:rPr>
              <a:t>白→青→赤という直感UXが
初心者とベテラン両方を取り込む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0" y="2488368"/>
            <a:ext cx="4297680" cy="720000"/>
          </a:xfrm>
          <a:prstGeom prst="rect">
            <a:avLst/>
          </a:prstGeom>
          <a:solidFill>
            <a:srgbClr val="140804"/>
          </a:solidFill>
          <a:ln w="12700">
            <a:solidFill>
              <a:srgbClr val="FF9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0" y="2488368"/>
            <a:ext cx="30000" cy="720000"/>
          </a:xfrm>
          <a:prstGeom prst="rect">
            <a:avLst/>
          </a:prstGeom>
          <a:solidFill>
            <a:srgbClr val="FF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27000" y="2538368"/>
            <a:ext cx="422268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9922"/>
                </a:solidFill>
                <a:latin typeface="メイリオ"/>
              </a:rPr>
              <a:t>「報われる」保証を設計に組み込め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27000" y="2778368"/>
            <a:ext cx="422268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ECE8"/>
                </a:solidFill>
                <a:latin typeface="メイリオ"/>
              </a:rPr>
              <a:t>3回目強制成功のような
安心設計がストレスを消し長時間稼働を促す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0" y="3258368"/>
            <a:ext cx="4297680" cy="720000"/>
          </a:xfrm>
          <a:prstGeom prst="rect">
            <a:avLst/>
          </a:prstGeom>
          <a:solidFill>
            <a:srgbClr val="140804"/>
          </a:solidFill>
          <a:ln w="12700">
            <a:solidFill>
              <a:srgbClr val="FFCC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572000" y="3258368"/>
            <a:ext cx="30000" cy="720000"/>
          </a:xfrm>
          <a:prstGeom prst="rect">
            <a:avLst/>
          </a:prstGeom>
          <a:solidFill>
            <a:srgbClr val="FFC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27000" y="3308368"/>
            <a:ext cx="422268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CC44"/>
                </a:solidFill>
                <a:latin typeface="メイリオ"/>
              </a:rPr>
              <a:t>常に上の目標を見せよ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27000" y="3548368"/>
            <a:ext cx="422268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ECE8"/>
                </a:solidFill>
                <a:latin typeface="メイリオ"/>
              </a:rPr>
              <a:t>多層構造の上位状態が
プレイヤーの離席を防ぎ連チャン体験を作る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0" y="4038368"/>
            <a:ext cx="4297680" cy="1000000"/>
          </a:xfrm>
          <a:prstGeom prst="rect">
            <a:avLst/>
          </a:prstGeom>
          <a:solidFill>
            <a:srgbClr val="1A0602"/>
          </a:solidFill>
          <a:ln w="25400">
            <a:solidFill>
              <a:srgbClr val="CC2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572000" y="4038368"/>
            <a:ext cx="40000" cy="1000000"/>
          </a:xfrm>
          <a:prstGeom prst="rect">
            <a:avLst/>
          </a:prstGeom>
          <a:solidFill>
            <a:srgbClr val="CC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37000" y="4088368"/>
            <a:ext cx="421268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C2200"/>
                </a:solidFill>
                <a:latin typeface="メイリオ"/>
              </a:rPr>
              <a:t>総括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37000" y="4358368"/>
            <a:ext cx="4212680" cy="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0ECE8"/>
                </a:solidFill>
                <a:latin typeface="メイリオ"/>
              </a:rPr>
              <a:t>十字目変換×高純増×二段階天井の三位一体。
原作の「炎の色」をゲーム性に昇華した
2026年導入機の中で設計完成度が高い一台。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98079" y="4919472"/>
            <a:ext cx="155448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998880"/>
                </a:solidFill>
                <a:latin typeface="メイリオ"/>
              </a:rPr>
              <a:t>※ネット解析情報より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4645152"/>
            <a:ext cx="9144000" cy="498348"/>
          </a:xfrm>
          <a:prstGeom prst="rect">
            <a:avLst/>
          </a:prstGeom>
          <a:solidFill>
            <a:srgbClr val="0E06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0" y="4645152"/>
            <a:ext cx="20000" cy="498348"/>
          </a:xfrm>
          <a:prstGeom prst="rect">
            <a:avLst/>
          </a:prstGeom>
          <a:solidFill>
            <a:srgbClr val="CC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64592" y="4685152"/>
            <a:ext cx="50292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9922"/>
                </a:solidFill>
                <a:latin typeface="メイリオ"/>
              </a:rPr>
              <a:t>本機の設計思想：「毎Gに意味・直感的期待表示・保険設計・多層目標」の4原則を次世代機設計に活用せよ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03520" y="4685152"/>
            <a:ext cx="36576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998880"/>
                </a:solidFill>
                <a:latin typeface="メイリオ"/>
              </a:rPr>
              <a:t>炎炎ノ消防隊2の十字目変換フローは現代ATの教科書的事例として参照価値が高い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