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6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365760"/>
            <a:ext cx="4572000" cy="330000"/>
          </a:xfrm>
          <a:prstGeom prst="rect">
            <a:avLst/>
          </a:prstGeom>
          <a:noFill/>
        </p:spPr>
        <p:txBody>
          <a:bodyPr wrap="square">
            <a:spAutoFit/>
          </a:bodyPr>
          <a:lstStyle/>
          <a:p>
            <a:pPr algn="l"/>
            <a:r>
              <a:rPr sz="1000" b="0">
                <a:solidFill>
                  <a:srgbClr val="FF6611"/>
                </a:solidFill>
                <a:latin typeface="游明朝"/>
              </a:rPr>
              <a:t>機種説明＋分析 統合ガイド  v2（解析情報更新版）</a:t>
            </a:r>
          </a:p>
        </p:txBody>
      </p:sp>
      <p:sp>
        <p:nvSpPr>
          <p:cNvPr id="7" name="TextBox 6"/>
          <p:cNvSpPr txBox="1"/>
          <p:nvPr/>
        </p:nvSpPr>
        <p:spPr>
          <a:xfrm>
            <a:off x="201168" y="804672"/>
            <a:ext cx="4663440" cy="900000"/>
          </a:xfrm>
          <a:prstGeom prst="rect">
            <a:avLst/>
          </a:prstGeom>
          <a:noFill/>
        </p:spPr>
        <p:txBody>
          <a:bodyPr wrap="square">
            <a:spAutoFit/>
          </a:bodyPr>
          <a:lstStyle/>
          <a:p>
            <a:pPr algn="l"/>
            <a:r>
              <a:rPr sz="3400" b="1">
                <a:solidFill>
                  <a:srgbClr val="FF4400"/>
                </a:solidFill>
                <a:latin typeface="游明朝"/>
              </a:rPr>
              <a:t>炎炎ノ消防隊2</a:t>
            </a:r>
          </a:p>
        </p:txBody>
      </p:sp>
      <p:sp>
        <p:nvSpPr>
          <p:cNvPr id="8" name="TextBox 7"/>
          <p:cNvSpPr txBox="1"/>
          <p:nvPr/>
        </p:nvSpPr>
        <p:spPr>
          <a:xfrm>
            <a:off x="201168" y="2395728"/>
            <a:ext cx="4572000" cy="280000"/>
          </a:xfrm>
          <a:prstGeom prst="rect">
            <a:avLst/>
          </a:prstGeom>
          <a:noFill/>
        </p:spPr>
        <p:txBody>
          <a:bodyPr wrap="square">
            <a:spAutoFit/>
          </a:bodyPr>
          <a:lstStyle/>
          <a:p>
            <a:pPr algn="l"/>
            <a:r>
              <a:rPr sz="900" b="0">
                <a:solidFill>
                  <a:srgbClr val="F0D8B0"/>
                </a:solidFill>
                <a:latin typeface="游明朝"/>
              </a:rPr>
              <a:t>Lパチスロ（スマスロ）── 十字目変換×ストック型ST×高純増5.8枚の設計</a:t>
            </a:r>
          </a:p>
        </p:txBody>
      </p:sp>
      <p:sp>
        <p:nvSpPr>
          <p:cNvPr id="9" name="TextBox 8"/>
          <p:cNvSpPr txBox="1"/>
          <p:nvPr/>
        </p:nvSpPr>
        <p:spPr>
          <a:xfrm>
            <a:off x="201168" y="2788920"/>
            <a:ext cx="1554480" cy="210000"/>
          </a:xfrm>
          <a:prstGeom prst="rect">
            <a:avLst/>
          </a:prstGeom>
          <a:noFill/>
        </p:spPr>
        <p:txBody>
          <a:bodyPr wrap="square">
            <a:spAutoFit/>
          </a:bodyPr>
          <a:lstStyle/>
          <a:p>
            <a:pPr algn="l"/>
            <a:r>
              <a:rPr sz="750" b="0">
                <a:solidFill>
                  <a:srgbClr val="998880"/>
                </a:solidFill>
                <a:latin typeface="メイリオ"/>
              </a:rPr>
              <a:t>メーカー</a:t>
            </a:r>
          </a:p>
        </p:txBody>
      </p:sp>
      <p:sp>
        <p:nvSpPr>
          <p:cNvPr id="10" name="TextBox 9"/>
          <p:cNvSpPr txBox="1"/>
          <p:nvPr/>
        </p:nvSpPr>
        <p:spPr>
          <a:xfrm>
            <a:off x="1755648" y="2788920"/>
            <a:ext cx="3017520" cy="210000"/>
          </a:xfrm>
          <a:prstGeom prst="rect">
            <a:avLst/>
          </a:prstGeom>
          <a:noFill/>
        </p:spPr>
        <p:txBody>
          <a:bodyPr wrap="square">
            <a:spAutoFit/>
          </a:bodyPr>
          <a:lstStyle/>
          <a:p>
            <a:pPr algn="l"/>
            <a:r>
              <a:rPr sz="750" b="1">
                <a:solidFill>
                  <a:srgbClr val="F0ECE8"/>
                </a:solidFill>
                <a:latin typeface="メイリオ"/>
              </a:rPr>
              <a:t>SANKYO　2026年2月2日導入</a:t>
            </a:r>
          </a:p>
        </p:txBody>
      </p:sp>
      <p:sp>
        <p:nvSpPr>
          <p:cNvPr id="11" name="TextBox 10"/>
          <p:cNvSpPr txBox="1"/>
          <p:nvPr/>
        </p:nvSpPr>
        <p:spPr>
          <a:xfrm>
            <a:off x="201168" y="3013920"/>
            <a:ext cx="1554480" cy="210000"/>
          </a:xfrm>
          <a:prstGeom prst="rect">
            <a:avLst/>
          </a:prstGeom>
          <a:noFill/>
        </p:spPr>
        <p:txBody>
          <a:bodyPr wrap="square">
            <a:spAutoFit/>
          </a:bodyPr>
          <a:lstStyle/>
          <a:p>
            <a:pPr algn="l"/>
            <a:r>
              <a:rPr sz="750" b="0">
                <a:solidFill>
                  <a:srgbClr val="998880"/>
                </a:solidFill>
                <a:latin typeface="メイリオ"/>
              </a:rPr>
              <a:t>設定</a:t>
            </a:r>
          </a:p>
        </p:txBody>
      </p:sp>
      <p:sp>
        <p:nvSpPr>
          <p:cNvPr id="12" name="TextBox 11"/>
          <p:cNvSpPr txBox="1"/>
          <p:nvPr/>
        </p:nvSpPr>
        <p:spPr>
          <a:xfrm>
            <a:off x="1755648" y="3013920"/>
            <a:ext cx="3017520" cy="210000"/>
          </a:xfrm>
          <a:prstGeom prst="rect">
            <a:avLst/>
          </a:prstGeom>
          <a:noFill/>
        </p:spPr>
        <p:txBody>
          <a:bodyPr wrap="square">
            <a:spAutoFit/>
          </a:bodyPr>
          <a:lstStyle/>
          <a:p>
            <a:pPr algn="l"/>
            <a:r>
              <a:rPr sz="750" b="1">
                <a:solidFill>
                  <a:srgbClr val="F0ECE8"/>
                </a:solidFill>
                <a:latin typeface="メイリオ"/>
              </a:rPr>
              <a:t>1〜6段階</a:t>
            </a:r>
          </a:p>
        </p:txBody>
      </p:sp>
      <p:sp>
        <p:nvSpPr>
          <p:cNvPr id="13" name="TextBox 12"/>
          <p:cNvSpPr txBox="1"/>
          <p:nvPr/>
        </p:nvSpPr>
        <p:spPr>
          <a:xfrm>
            <a:off x="201168" y="3238920"/>
            <a:ext cx="1554480" cy="210000"/>
          </a:xfrm>
          <a:prstGeom prst="rect">
            <a:avLst/>
          </a:prstGeom>
          <a:noFill/>
        </p:spPr>
        <p:txBody>
          <a:bodyPr wrap="square">
            <a:spAutoFit/>
          </a:bodyPr>
          <a:lstStyle/>
          <a:p>
            <a:pPr algn="l"/>
            <a:r>
              <a:rPr sz="750" b="0">
                <a:solidFill>
                  <a:srgbClr val="998880"/>
                </a:solidFill>
                <a:latin typeface="メイリオ"/>
              </a:rPr>
              <a:t>AT純増</a:t>
            </a:r>
          </a:p>
        </p:txBody>
      </p:sp>
      <p:sp>
        <p:nvSpPr>
          <p:cNvPr id="14" name="TextBox 13"/>
          <p:cNvSpPr txBox="1"/>
          <p:nvPr/>
        </p:nvSpPr>
        <p:spPr>
          <a:xfrm>
            <a:off x="1755648" y="3238920"/>
            <a:ext cx="3017520" cy="210000"/>
          </a:xfrm>
          <a:prstGeom prst="rect">
            <a:avLst/>
          </a:prstGeom>
          <a:noFill/>
        </p:spPr>
        <p:txBody>
          <a:bodyPr wrap="square">
            <a:spAutoFit/>
          </a:bodyPr>
          <a:lstStyle/>
          <a:p>
            <a:pPr algn="l"/>
            <a:r>
              <a:rPr sz="750" b="1">
                <a:solidFill>
                  <a:srgbClr val="F0ECE8"/>
                </a:solidFill>
                <a:latin typeface="メイリオ"/>
              </a:rPr>
              <a:t>約5.8枚/G（ボーナス中・AT中とも）</a:t>
            </a:r>
          </a:p>
        </p:txBody>
      </p:sp>
      <p:sp>
        <p:nvSpPr>
          <p:cNvPr id="15" name="TextBox 14"/>
          <p:cNvSpPr txBox="1"/>
          <p:nvPr/>
        </p:nvSpPr>
        <p:spPr>
          <a:xfrm>
            <a:off x="201168" y="3463920"/>
            <a:ext cx="1554480" cy="210000"/>
          </a:xfrm>
          <a:prstGeom prst="rect">
            <a:avLst/>
          </a:prstGeom>
          <a:noFill/>
        </p:spPr>
        <p:txBody>
          <a:bodyPr wrap="square">
            <a:spAutoFit/>
          </a:bodyPr>
          <a:lstStyle/>
          <a:p>
            <a:pPr algn="l"/>
            <a:r>
              <a:rPr sz="750" b="0">
                <a:solidFill>
                  <a:srgbClr val="998880"/>
                </a:solidFill>
                <a:latin typeface="メイリオ"/>
              </a:rPr>
              <a:t>設定1機械割</a:t>
            </a:r>
          </a:p>
        </p:txBody>
      </p:sp>
      <p:sp>
        <p:nvSpPr>
          <p:cNvPr id="16" name="TextBox 15"/>
          <p:cNvSpPr txBox="1"/>
          <p:nvPr/>
        </p:nvSpPr>
        <p:spPr>
          <a:xfrm>
            <a:off x="1755648" y="3463920"/>
            <a:ext cx="3017520" cy="210000"/>
          </a:xfrm>
          <a:prstGeom prst="rect">
            <a:avLst/>
          </a:prstGeom>
          <a:noFill/>
        </p:spPr>
        <p:txBody>
          <a:bodyPr wrap="square">
            <a:spAutoFit/>
          </a:bodyPr>
          <a:lstStyle/>
          <a:p>
            <a:pPr algn="l"/>
            <a:r>
              <a:rPr sz="750" b="1">
                <a:solidFill>
                  <a:srgbClr val="F0ECE8"/>
                </a:solidFill>
                <a:latin typeface="メイリオ"/>
              </a:rPr>
              <a:t>97.7%</a:t>
            </a:r>
          </a:p>
        </p:txBody>
      </p:sp>
      <p:sp>
        <p:nvSpPr>
          <p:cNvPr id="17" name="TextBox 16"/>
          <p:cNvSpPr txBox="1"/>
          <p:nvPr/>
        </p:nvSpPr>
        <p:spPr>
          <a:xfrm>
            <a:off x="201168" y="3688920"/>
            <a:ext cx="1554480" cy="210000"/>
          </a:xfrm>
          <a:prstGeom prst="rect">
            <a:avLst/>
          </a:prstGeom>
          <a:noFill/>
        </p:spPr>
        <p:txBody>
          <a:bodyPr wrap="square">
            <a:spAutoFit/>
          </a:bodyPr>
          <a:lstStyle/>
          <a:p>
            <a:pPr algn="l"/>
            <a:r>
              <a:rPr sz="750" b="0">
                <a:solidFill>
                  <a:srgbClr val="998880"/>
                </a:solidFill>
                <a:latin typeface="メイリオ"/>
              </a:rPr>
              <a:t>設定6機械割</a:t>
            </a:r>
          </a:p>
        </p:txBody>
      </p:sp>
      <p:sp>
        <p:nvSpPr>
          <p:cNvPr id="18" name="TextBox 17"/>
          <p:cNvSpPr txBox="1"/>
          <p:nvPr/>
        </p:nvSpPr>
        <p:spPr>
          <a:xfrm>
            <a:off x="1755648" y="3688920"/>
            <a:ext cx="3017520" cy="210000"/>
          </a:xfrm>
          <a:prstGeom prst="rect">
            <a:avLst/>
          </a:prstGeom>
          <a:noFill/>
        </p:spPr>
        <p:txBody>
          <a:bodyPr wrap="square">
            <a:spAutoFit/>
          </a:bodyPr>
          <a:lstStyle/>
          <a:p>
            <a:pPr algn="l"/>
            <a:r>
              <a:rPr sz="750" b="1">
                <a:solidFill>
                  <a:srgbClr val="F0ECE8"/>
                </a:solidFill>
                <a:latin typeface="メイリオ"/>
              </a:rPr>
              <a:t>114.9%</a:t>
            </a:r>
          </a:p>
        </p:txBody>
      </p:sp>
      <p:sp>
        <p:nvSpPr>
          <p:cNvPr id="19" name="TextBox 18"/>
          <p:cNvSpPr txBox="1"/>
          <p:nvPr/>
        </p:nvSpPr>
        <p:spPr>
          <a:xfrm>
            <a:off x="201168" y="3913920"/>
            <a:ext cx="1554480" cy="210000"/>
          </a:xfrm>
          <a:prstGeom prst="rect">
            <a:avLst/>
          </a:prstGeom>
          <a:noFill/>
        </p:spPr>
        <p:txBody>
          <a:bodyPr wrap="square">
            <a:spAutoFit/>
          </a:bodyPr>
          <a:lstStyle/>
          <a:p>
            <a:pPr algn="l"/>
            <a:r>
              <a:rPr sz="750" b="0">
                <a:solidFill>
                  <a:srgbClr val="998880"/>
                </a:solidFill>
                <a:latin typeface="メイリオ"/>
              </a:rPr>
              <a:t>ボーナス初当り①</a:t>
            </a:r>
          </a:p>
        </p:txBody>
      </p:sp>
      <p:sp>
        <p:nvSpPr>
          <p:cNvPr id="20" name="TextBox 19"/>
          <p:cNvSpPr txBox="1"/>
          <p:nvPr/>
        </p:nvSpPr>
        <p:spPr>
          <a:xfrm>
            <a:off x="1755648" y="3913920"/>
            <a:ext cx="3017520" cy="210000"/>
          </a:xfrm>
          <a:prstGeom prst="rect">
            <a:avLst/>
          </a:prstGeom>
          <a:noFill/>
        </p:spPr>
        <p:txBody>
          <a:bodyPr wrap="square">
            <a:spAutoFit/>
          </a:bodyPr>
          <a:lstStyle/>
          <a:p>
            <a:pPr algn="l"/>
            <a:r>
              <a:rPr sz="750" b="1">
                <a:solidFill>
                  <a:srgbClr val="F0ECE8"/>
                </a:solidFill>
                <a:latin typeface="メイリオ"/>
              </a:rPr>
              <a:t>設定1：1/272 ／ 設定6：1/227</a:t>
            </a:r>
          </a:p>
        </p:txBody>
      </p:sp>
      <p:sp>
        <p:nvSpPr>
          <p:cNvPr id="21" name="TextBox 20"/>
          <p:cNvSpPr txBox="1"/>
          <p:nvPr/>
        </p:nvSpPr>
        <p:spPr>
          <a:xfrm>
            <a:off x="201168" y="4138920"/>
            <a:ext cx="1554480" cy="210000"/>
          </a:xfrm>
          <a:prstGeom prst="rect">
            <a:avLst/>
          </a:prstGeom>
          <a:noFill/>
        </p:spPr>
        <p:txBody>
          <a:bodyPr wrap="square">
            <a:spAutoFit/>
          </a:bodyPr>
          <a:lstStyle/>
          <a:p>
            <a:pPr algn="l"/>
            <a:r>
              <a:rPr sz="750" b="0">
                <a:solidFill>
                  <a:srgbClr val="998880"/>
                </a:solidFill>
                <a:latin typeface="メイリオ"/>
              </a:rPr>
              <a:t>炎炎ループ初当り</a:t>
            </a:r>
          </a:p>
        </p:txBody>
      </p:sp>
      <p:sp>
        <p:nvSpPr>
          <p:cNvPr id="22" name="TextBox 21"/>
          <p:cNvSpPr txBox="1"/>
          <p:nvPr/>
        </p:nvSpPr>
        <p:spPr>
          <a:xfrm>
            <a:off x="1755648" y="4138920"/>
            <a:ext cx="3017520" cy="210000"/>
          </a:xfrm>
          <a:prstGeom prst="rect">
            <a:avLst/>
          </a:prstGeom>
          <a:noFill/>
        </p:spPr>
        <p:txBody>
          <a:bodyPr wrap="square">
            <a:spAutoFit/>
          </a:bodyPr>
          <a:lstStyle/>
          <a:p>
            <a:pPr algn="l"/>
            <a:r>
              <a:rPr sz="750" b="1">
                <a:solidFill>
                  <a:srgbClr val="F0ECE8"/>
                </a:solidFill>
                <a:latin typeface="メイリオ"/>
              </a:rPr>
              <a:t>設定1：1/684 ／ 設定6：1/486</a:t>
            </a:r>
          </a:p>
        </p:txBody>
      </p:sp>
      <p:sp>
        <p:nvSpPr>
          <p:cNvPr id="23" name="TextBox 22"/>
          <p:cNvSpPr txBox="1"/>
          <p:nvPr/>
        </p:nvSpPr>
        <p:spPr>
          <a:xfrm>
            <a:off x="201168" y="4363920"/>
            <a:ext cx="1554480" cy="210000"/>
          </a:xfrm>
          <a:prstGeom prst="rect">
            <a:avLst/>
          </a:prstGeom>
          <a:noFill/>
        </p:spPr>
        <p:txBody>
          <a:bodyPr wrap="square">
            <a:spAutoFit/>
          </a:bodyPr>
          <a:lstStyle/>
          <a:p>
            <a:pPr algn="l"/>
            <a:r>
              <a:rPr sz="750" b="0">
                <a:solidFill>
                  <a:srgbClr val="998880"/>
                </a:solidFill>
                <a:latin typeface="メイリオ"/>
              </a:rPr>
              <a:t>天井①</a:t>
            </a:r>
          </a:p>
        </p:txBody>
      </p:sp>
      <p:sp>
        <p:nvSpPr>
          <p:cNvPr id="24" name="TextBox 23"/>
          <p:cNvSpPr txBox="1"/>
          <p:nvPr/>
        </p:nvSpPr>
        <p:spPr>
          <a:xfrm>
            <a:off x="1755648" y="4363920"/>
            <a:ext cx="3017520" cy="210000"/>
          </a:xfrm>
          <a:prstGeom prst="rect">
            <a:avLst/>
          </a:prstGeom>
          <a:noFill/>
        </p:spPr>
        <p:txBody>
          <a:bodyPr wrap="square">
            <a:spAutoFit/>
          </a:bodyPr>
          <a:lstStyle/>
          <a:p>
            <a:pPr algn="l"/>
            <a:r>
              <a:rPr sz="750" b="1">
                <a:solidFill>
                  <a:srgbClr val="F0ECE8"/>
                </a:solidFill>
                <a:latin typeface="メイリオ"/>
              </a:rPr>
              <a:t>ボーナス間850G（SPエピソードBONUS保証）</a:t>
            </a:r>
          </a:p>
        </p:txBody>
      </p:sp>
      <p:sp>
        <p:nvSpPr>
          <p:cNvPr id="25" name="TextBox 24"/>
          <p:cNvSpPr txBox="1"/>
          <p:nvPr/>
        </p:nvSpPr>
        <p:spPr>
          <a:xfrm>
            <a:off x="201168" y="4588920"/>
            <a:ext cx="1554480" cy="210000"/>
          </a:xfrm>
          <a:prstGeom prst="rect">
            <a:avLst/>
          </a:prstGeom>
          <a:noFill/>
        </p:spPr>
        <p:txBody>
          <a:bodyPr wrap="square">
            <a:spAutoFit/>
          </a:bodyPr>
          <a:lstStyle/>
          <a:p>
            <a:pPr algn="l"/>
            <a:r>
              <a:rPr sz="750" b="0">
                <a:solidFill>
                  <a:srgbClr val="998880"/>
                </a:solidFill>
                <a:latin typeface="メイリオ"/>
              </a:rPr>
              <a:t>天井②</a:t>
            </a:r>
          </a:p>
        </p:txBody>
      </p:sp>
      <p:sp>
        <p:nvSpPr>
          <p:cNvPr id="26" name="TextBox 25"/>
          <p:cNvSpPr txBox="1"/>
          <p:nvPr/>
        </p:nvSpPr>
        <p:spPr>
          <a:xfrm>
            <a:off x="1755648" y="4588920"/>
            <a:ext cx="3017520" cy="210000"/>
          </a:xfrm>
          <a:prstGeom prst="rect">
            <a:avLst/>
          </a:prstGeom>
          <a:noFill/>
        </p:spPr>
        <p:txBody>
          <a:bodyPr wrap="square">
            <a:spAutoFit/>
          </a:bodyPr>
          <a:lstStyle/>
          <a:p>
            <a:pPr algn="l"/>
            <a:r>
              <a:rPr sz="750" b="1">
                <a:solidFill>
                  <a:srgbClr val="F0ECE8"/>
                </a:solidFill>
                <a:latin typeface="メイリオ"/>
              </a:rPr>
              <a:t>炎炎ループ間2,000G（SPエピソードBONUS保証）</a:t>
            </a:r>
          </a:p>
        </p:txBody>
      </p:sp>
      <p:sp>
        <p:nvSpPr>
          <p:cNvPr id="27" name="TextBox 26"/>
          <p:cNvSpPr txBox="1"/>
          <p:nvPr/>
        </p:nvSpPr>
        <p:spPr>
          <a:xfrm>
            <a:off x="201168" y="4813920"/>
            <a:ext cx="1554480" cy="210000"/>
          </a:xfrm>
          <a:prstGeom prst="rect">
            <a:avLst/>
          </a:prstGeom>
          <a:noFill/>
        </p:spPr>
        <p:txBody>
          <a:bodyPr wrap="square">
            <a:spAutoFit/>
          </a:bodyPr>
          <a:lstStyle/>
          <a:p>
            <a:pPr algn="l"/>
            <a:r>
              <a:rPr sz="750" b="0">
                <a:solidFill>
                  <a:srgbClr val="998880"/>
                </a:solidFill>
                <a:latin typeface="メイリオ"/>
              </a:rPr>
              <a:t>天井③</a:t>
            </a:r>
          </a:p>
        </p:txBody>
      </p:sp>
      <p:sp>
        <p:nvSpPr>
          <p:cNvPr id="28" name="TextBox 27"/>
          <p:cNvSpPr txBox="1"/>
          <p:nvPr/>
        </p:nvSpPr>
        <p:spPr>
          <a:xfrm>
            <a:off x="1755648" y="4813920"/>
            <a:ext cx="3017520" cy="210000"/>
          </a:xfrm>
          <a:prstGeom prst="rect">
            <a:avLst/>
          </a:prstGeom>
          <a:noFill/>
        </p:spPr>
        <p:txBody>
          <a:bodyPr wrap="square">
            <a:spAutoFit/>
          </a:bodyPr>
          <a:lstStyle/>
          <a:p>
            <a:pPr algn="l"/>
            <a:r>
              <a:rPr sz="750" b="1">
                <a:solidFill>
                  <a:srgbClr val="F0ECE8"/>
                </a:solidFill>
                <a:latin typeface="メイリオ"/>
              </a:rPr>
              <a:t>伝導者の罠5スルーでSPエピ確定</a:t>
            </a:r>
          </a:p>
        </p:txBody>
      </p:sp>
      <p:sp>
        <p:nvSpPr>
          <p:cNvPr id="29" name="Rectangle 28"/>
          <p:cNvSpPr/>
          <p:nvPr/>
        </p:nvSpPr>
        <p:spPr>
          <a:xfrm>
            <a:off x="5166360" y="502920"/>
            <a:ext cx="3749039" cy="1188720"/>
          </a:xfrm>
          <a:prstGeom prst="rect">
            <a:avLst/>
          </a:prstGeom>
          <a:solidFill>
            <a:srgbClr val="140804"/>
          </a:solidFill>
          <a:ln w="2540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66360" y="502920"/>
            <a:ext cx="60000" cy="118872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9240" y="567920"/>
            <a:ext cx="3474720" cy="310000"/>
          </a:xfrm>
          <a:prstGeom prst="rect">
            <a:avLst/>
          </a:prstGeom>
          <a:noFill/>
        </p:spPr>
        <p:txBody>
          <a:bodyPr wrap="square">
            <a:spAutoFit/>
          </a:bodyPr>
          <a:lstStyle/>
          <a:p>
            <a:pPr algn="l"/>
            <a:r>
              <a:rPr sz="1150" b="1">
                <a:solidFill>
                  <a:srgbClr val="FF4400"/>
                </a:solidFill>
                <a:latin typeface="游明朝"/>
              </a:rPr>
              <a:t>① 十字目変換フロー（核心）</a:t>
            </a:r>
          </a:p>
        </p:txBody>
      </p:sp>
      <p:sp>
        <p:nvSpPr>
          <p:cNvPr id="32" name="TextBox 31"/>
          <p:cNvSpPr txBox="1"/>
          <p:nvPr/>
        </p:nvSpPr>
        <p:spPr>
          <a:xfrm>
            <a:off x="5349240" y="882920"/>
            <a:ext cx="3474720" cy="450000"/>
          </a:xfrm>
          <a:prstGeom prst="rect">
            <a:avLst/>
          </a:prstGeom>
          <a:noFill/>
        </p:spPr>
        <p:txBody>
          <a:bodyPr wrap="square">
            <a:spAutoFit/>
          </a:bodyPr>
          <a:lstStyle/>
          <a:p>
            <a:pPr algn="l"/>
            <a:r>
              <a:rPr sz="850" b="0">
                <a:solidFill>
                  <a:srgbClr val="F0ECE8"/>
                </a:solidFill>
                <a:latin typeface="メイリオ"/>
              </a:rPr>
              <a:t>リプレイ小V→十字目変換→変換演出
→伝導者決戦でボーナス告知。
約1/100で発生する緊張感の連続。</a:t>
            </a:r>
          </a:p>
        </p:txBody>
      </p:sp>
      <p:sp>
        <p:nvSpPr>
          <p:cNvPr id="33" name="Rectangle 32"/>
          <p:cNvSpPr/>
          <p:nvPr/>
        </p:nvSpPr>
        <p:spPr>
          <a:xfrm>
            <a:off x="5166360" y="2042920"/>
            <a:ext cx="3749039" cy="1188720"/>
          </a:xfrm>
          <a:prstGeom prst="rect">
            <a:avLst/>
          </a:prstGeom>
          <a:solidFill>
            <a:srgbClr val="140804"/>
          </a:solidFill>
          <a:ln w="254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166360" y="2042920"/>
            <a:ext cx="60000" cy="118872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49240" y="2107920"/>
            <a:ext cx="3474720" cy="310000"/>
          </a:xfrm>
          <a:prstGeom prst="rect">
            <a:avLst/>
          </a:prstGeom>
          <a:noFill/>
        </p:spPr>
        <p:txBody>
          <a:bodyPr wrap="square">
            <a:spAutoFit/>
          </a:bodyPr>
          <a:lstStyle/>
          <a:p>
            <a:pPr algn="l"/>
            <a:r>
              <a:rPr sz="1150" b="1">
                <a:solidFill>
                  <a:srgbClr val="FF8800"/>
                </a:solidFill>
                <a:latin typeface="游明朝"/>
              </a:rPr>
              <a:t>② 高純増5.8枚/G×ループ設計</a:t>
            </a:r>
          </a:p>
        </p:txBody>
      </p:sp>
      <p:sp>
        <p:nvSpPr>
          <p:cNvPr id="36" name="TextBox 35"/>
          <p:cNvSpPr txBox="1"/>
          <p:nvPr/>
        </p:nvSpPr>
        <p:spPr>
          <a:xfrm>
            <a:off x="5349240" y="2422920"/>
            <a:ext cx="3474720" cy="450000"/>
          </a:xfrm>
          <a:prstGeom prst="rect">
            <a:avLst/>
          </a:prstGeom>
          <a:noFill/>
        </p:spPr>
        <p:txBody>
          <a:bodyPr wrap="square">
            <a:spAutoFit/>
          </a:bodyPr>
          <a:lstStyle/>
          <a:p>
            <a:pPr algn="l"/>
            <a:r>
              <a:rPr sz="850" b="0">
                <a:solidFill>
                  <a:srgbClr val="F0ECE8"/>
                </a:solidFill>
                <a:latin typeface="メイリオ"/>
              </a:rPr>
              <a:t>炎炎大戦のループ率約80%で
短時間に大量獲得が可能。
紅J大戦なら期待約2,050枚。</a:t>
            </a:r>
          </a:p>
        </p:txBody>
      </p:sp>
      <p:sp>
        <p:nvSpPr>
          <p:cNvPr id="37" name="Rectangle 36"/>
          <p:cNvSpPr/>
          <p:nvPr/>
        </p:nvSpPr>
        <p:spPr>
          <a:xfrm>
            <a:off x="5166360" y="3582920"/>
            <a:ext cx="3749039" cy="1188720"/>
          </a:xfrm>
          <a:prstGeom prst="rect">
            <a:avLst/>
          </a:prstGeom>
          <a:solidFill>
            <a:srgbClr val="140804"/>
          </a:solidFill>
          <a:ln w="2540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66360" y="3582920"/>
            <a:ext cx="60000" cy="118872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49240" y="3647920"/>
            <a:ext cx="3474720" cy="310000"/>
          </a:xfrm>
          <a:prstGeom prst="rect">
            <a:avLst/>
          </a:prstGeom>
          <a:noFill/>
        </p:spPr>
        <p:txBody>
          <a:bodyPr wrap="square">
            <a:spAutoFit/>
          </a:bodyPr>
          <a:lstStyle/>
          <a:p>
            <a:pPr algn="l"/>
            <a:r>
              <a:rPr sz="1150" b="1">
                <a:solidFill>
                  <a:srgbClr val="22CCDD"/>
                </a:solidFill>
                <a:latin typeface="游明朝"/>
              </a:rPr>
              <a:t>③ 3段階天井＋伝導者の罠スルー</a:t>
            </a:r>
          </a:p>
        </p:txBody>
      </p:sp>
      <p:sp>
        <p:nvSpPr>
          <p:cNvPr id="40" name="TextBox 39"/>
          <p:cNvSpPr txBox="1"/>
          <p:nvPr/>
        </p:nvSpPr>
        <p:spPr>
          <a:xfrm>
            <a:off x="5349240" y="3962920"/>
            <a:ext cx="3474720" cy="450000"/>
          </a:xfrm>
          <a:prstGeom prst="rect">
            <a:avLst/>
          </a:prstGeom>
          <a:noFill/>
        </p:spPr>
        <p:txBody>
          <a:bodyPr wrap="square">
            <a:spAutoFit/>
          </a:bodyPr>
          <a:lstStyle/>
          <a:p>
            <a:pPr algn="l"/>
            <a:r>
              <a:rPr sz="850" b="0">
                <a:solidFill>
                  <a:srgbClr val="F0ECE8"/>
                </a:solidFill>
                <a:latin typeface="メイリオ"/>
              </a:rPr>
              <a:t>850G天井・2,000G天井・5スルー
天井の多層セーフティで
投資計画が立てやすい安心設計。</a:t>
            </a:r>
          </a:p>
        </p:txBody>
      </p:sp>
      <p:sp>
        <p:nvSpPr>
          <p:cNvPr id="41" name="TextBox 40"/>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42" name="Rectangle 41"/>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設計核心：「十字目変換×伝導者決戦×ループ型AT」── 毎ゲーム緊張感と多層天井で安心感を両立</a:t>
            </a:r>
          </a:p>
        </p:txBody>
      </p:sp>
      <p:sp>
        <p:nvSpPr>
          <p:cNvPr id="45" name="TextBox 44"/>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純増5.8枚/Gはボーナス中・AT中ともに共通の高速出玉スペック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ゲームフロー全体図 ── 通常時→AT→上位ATの全ルート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2/9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85800"/>
            <a:ext cx="1463040" cy="1100000"/>
          </a:xfrm>
          <a:prstGeom prst="rect">
            <a:avLst/>
          </a:prstGeom>
          <a:solidFill>
            <a:srgbClr val="1C0C06"/>
          </a:solidFill>
          <a:ln w="22860">
            <a:solidFill>
              <a:srgbClr val="998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1032" y="755800"/>
            <a:ext cx="1403040" cy="360000"/>
          </a:xfrm>
          <a:prstGeom prst="rect">
            <a:avLst/>
          </a:prstGeom>
          <a:noFill/>
        </p:spPr>
        <p:txBody>
          <a:bodyPr wrap="square">
            <a:spAutoFit/>
          </a:bodyPr>
          <a:lstStyle/>
          <a:p>
            <a:pPr algn="ctr"/>
            <a:r>
              <a:rPr sz="950" b="1">
                <a:solidFill>
                  <a:srgbClr val="998880"/>
                </a:solidFill>
                <a:latin typeface="游明朝"/>
              </a:rPr>
              <a:t>通常遊技</a:t>
            </a:r>
          </a:p>
        </p:txBody>
      </p:sp>
      <p:sp>
        <p:nvSpPr>
          <p:cNvPr id="10" name="TextBox 9"/>
          <p:cNvSpPr txBox="1"/>
          <p:nvPr/>
        </p:nvSpPr>
        <p:spPr>
          <a:xfrm>
            <a:off x="281032" y="1165800"/>
            <a:ext cx="1418040" cy="520000"/>
          </a:xfrm>
          <a:prstGeom prst="rect">
            <a:avLst/>
          </a:prstGeom>
          <a:noFill/>
        </p:spPr>
        <p:txBody>
          <a:bodyPr wrap="square">
            <a:spAutoFit/>
          </a:bodyPr>
          <a:lstStyle/>
          <a:p>
            <a:pPr algn="ctr"/>
            <a:r>
              <a:rPr sz="750" b="0">
                <a:solidFill>
                  <a:srgbClr val="998880"/>
                </a:solidFill>
                <a:latin typeface="メイリオ"/>
              </a:rPr>
              <a:t>規定G数/レア役
/十字目変換で
初当り抽選</a:t>
            </a:r>
          </a:p>
        </p:txBody>
      </p:sp>
      <p:sp>
        <p:nvSpPr>
          <p:cNvPr id="11" name="Can 10"/>
          <p:cNvSpPr/>
          <p:nvPr/>
        </p:nvSpPr>
        <p:spPr>
          <a:xfrm>
            <a:off x="1729072" y="1145800"/>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685800"/>
            <a:ext cx="1463040" cy="1100000"/>
          </a:xfrm>
          <a:prstGeom prst="rect">
            <a:avLst/>
          </a:prstGeom>
          <a:solidFill>
            <a:srgbClr val="140804"/>
          </a:solidFill>
          <a:ln w="2286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09520" y="755800"/>
            <a:ext cx="1403040" cy="360000"/>
          </a:xfrm>
          <a:prstGeom prst="rect">
            <a:avLst/>
          </a:prstGeom>
          <a:noFill/>
        </p:spPr>
        <p:txBody>
          <a:bodyPr wrap="square">
            <a:spAutoFit/>
          </a:bodyPr>
          <a:lstStyle/>
          <a:p>
            <a:pPr algn="ctr"/>
            <a:r>
              <a:rPr sz="950" b="1">
                <a:solidFill>
                  <a:srgbClr val="FF6611"/>
                </a:solidFill>
                <a:latin typeface="游明朝"/>
              </a:rPr>
              <a:t>REGボーナス
(~85枚)</a:t>
            </a:r>
          </a:p>
        </p:txBody>
      </p:sp>
      <p:sp>
        <p:nvSpPr>
          <p:cNvPr id="14" name="TextBox 13"/>
          <p:cNvSpPr txBox="1"/>
          <p:nvPr/>
        </p:nvSpPr>
        <p:spPr>
          <a:xfrm>
            <a:off x="1899520" y="1165800"/>
            <a:ext cx="1418040" cy="520000"/>
          </a:xfrm>
          <a:prstGeom prst="rect">
            <a:avLst/>
          </a:prstGeom>
          <a:noFill/>
        </p:spPr>
        <p:txBody>
          <a:bodyPr wrap="square">
            <a:spAutoFit/>
          </a:bodyPr>
          <a:lstStyle/>
          <a:p>
            <a:pPr algn="ctr"/>
            <a:r>
              <a:rPr sz="750" b="0">
                <a:solidFill>
                  <a:srgbClr val="998880"/>
                </a:solidFill>
                <a:latin typeface="メイリオ"/>
              </a:rPr>
              <a:t>消化後→
伝導者の罠へ</a:t>
            </a:r>
          </a:p>
        </p:txBody>
      </p:sp>
      <p:sp>
        <p:nvSpPr>
          <p:cNvPr id="15" name="Can 14"/>
          <p:cNvSpPr/>
          <p:nvPr/>
        </p:nvSpPr>
        <p:spPr>
          <a:xfrm>
            <a:off x="3347560" y="1145800"/>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685800"/>
            <a:ext cx="1463040" cy="1100000"/>
          </a:xfrm>
          <a:prstGeom prst="rect">
            <a:avLst/>
          </a:prstGeom>
          <a:solidFill>
            <a:srgbClr val="140804"/>
          </a:solidFill>
          <a:ln w="2286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8008" y="755800"/>
            <a:ext cx="1403040" cy="360000"/>
          </a:xfrm>
          <a:prstGeom prst="rect">
            <a:avLst/>
          </a:prstGeom>
          <a:noFill/>
        </p:spPr>
        <p:txBody>
          <a:bodyPr wrap="square">
            <a:spAutoFit/>
          </a:bodyPr>
          <a:lstStyle/>
          <a:p>
            <a:pPr algn="ctr"/>
            <a:r>
              <a:rPr sz="950" b="1">
                <a:solidFill>
                  <a:srgbClr val="FF8800"/>
                </a:solidFill>
                <a:latin typeface="游明朝"/>
              </a:rPr>
              <a:t>伝導者の罠</a:t>
            </a:r>
          </a:p>
        </p:txBody>
      </p:sp>
      <p:sp>
        <p:nvSpPr>
          <p:cNvPr id="18" name="TextBox 17"/>
          <p:cNvSpPr txBox="1"/>
          <p:nvPr/>
        </p:nvSpPr>
        <p:spPr>
          <a:xfrm>
            <a:off x="3518008" y="1165800"/>
            <a:ext cx="1418040" cy="520000"/>
          </a:xfrm>
          <a:prstGeom prst="rect">
            <a:avLst/>
          </a:prstGeom>
          <a:noFill/>
        </p:spPr>
        <p:txBody>
          <a:bodyPr wrap="square">
            <a:spAutoFit/>
          </a:bodyPr>
          <a:lstStyle/>
          <a:p>
            <a:pPr algn="ctr"/>
            <a:r>
              <a:rPr sz="750" b="0">
                <a:solidFill>
                  <a:srgbClr val="998880"/>
                </a:solidFill>
                <a:latin typeface="メイリオ"/>
              </a:rPr>
              <a:t>エピソードBONUS
抽選。5スルーで
SPエピ確定</a:t>
            </a:r>
          </a:p>
        </p:txBody>
      </p:sp>
      <p:sp>
        <p:nvSpPr>
          <p:cNvPr id="19" name="Can 18"/>
          <p:cNvSpPr/>
          <p:nvPr/>
        </p:nvSpPr>
        <p:spPr>
          <a:xfrm>
            <a:off x="4966048" y="1145800"/>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1496" y="685800"/>
            <a:ext cx="1463040" cy="1100000"/>
          </a:xfrm>
          <a:prstGeom prst="rect">
            <a:avLst/>
          </a:prstGeom>
          <a:solidFill>
            <a:srgbClr val="140804"/>
          </a:solidFill>
          <a:ln w="2286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46496" y="755800"/>
            <a:ext cx="1403040" cy="360000"/>
          </a:xfrm>
          <a:prstGeom prst="rect">
            <a:avLst/>
          </a:prstGeom>
          <a:noFill/>
        </p:spPr>
        <p:txBody>
          <a:bodyPr wrap="square">
            <a:spAutoFit/>
          </a:bodyPr>
          <a:lstStyle/>
          <a:p>
            <a:pPr algn="ctr"/>
            <a:r>
              <a:rPr sz="950" b="1">
                <a:solidFill>
                  <a:srgbClr val="FF4400"/>
                </a:solidFill>
                <a:latin typeface="游明朝"/>
              </a:rPr>
              <a:t>SPエピソード
BONUS(~200枚)</a:t>
            </a:r>
          </a:p>
        </p:txBody>
      </p:sp>
      <p:sp>
        <p:nvSpPr>
          <p:cNvPr id="22" name="TextBox 21"/>
          <p:cNvSpPr txBox="1"/>
          <p:nvPr/>
        </p:nvSpPr>
        <p:spPr>
          <a:xfrm>
            <a:off x="5136496" y="1165800"/>
            <a:ext cx="1418040" cy="520000"/>
          </a:xfrm>
          <a:prstGeom prst="rect">
            <a:avLst/>
          </a:prstGeom>
          <a:noFill/>
        </p:spPr>
        <p:txBody>
          <a:bodyPr wrap="square">
            <a:spAutoFit/>
          </a:bodyPr>
          <a:lstStyle/>
          <a:p>
            <a:pPr algn="ctr"/>
            <a:r>
              <a:rPr sz="750" b="0">
                <a:solidFill>
                  <a:srgbClr val="998880"/>
                </a:solidFill>
                <a:latin typeface="メイリオ"/>
              </a:rPr>
              <a:t>直接
炎炎激闘へ</a:t>
            </a:r>
          </a:p>
        </p:txBody>
      </p:sp>
      <p:sp>
        <p:nvSpPr>
          <p:cNvPr id="23" name="Can 22"/>
          <p:cNvSpPr/>
          <p:nvPr/>
        </p:nvSpPr>
        <p:spPr>
          <a:xfrm>
            <a:off x="6584536" y="1145800"/>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29984" y="685800"/>
            <a:ext cx="1463040" cy="1100000"/>
          </a:xfrm>
          <a:prstGeom prst="rect">
            <a:avLst/>
          </a:prstGeom>
          <a:solidFill>
            <a:srgbClr val="140804"/>
          </a:solidFill>
          <a:ln w="2286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4984" y="755800"/>
            <a:ext cx="1403040" cy="360000"/>
          </a:xfrm>
          <a:prstGeom prst="rect">
            <a:avLst/>
          </a:prstGeom>
          <a:noFill/>
        </p:spPr>
        <p:txBody>
          <a:bodyPr wrap="square">
            <a:spAutoFit/>
          </a:bodyPr>
          <a:lstStyle/>
          <a:p>
            <a:pPr algn="ctr"/>
            <a:r>
              <a:rPr sz="950" b="1">
                <a:solidFill>
                  <a:srgbClr val="FFCC44"/>
                </a:solidFill>
                <a:latin typeface="游明朝"/>
              </a:rPr>
              <a:t>炎炎激闘
(メインST)</a:t>
            </a:r>
          </a:p>
        </p:txBody>
      </p:sp>
      <p:sp>
        <p:nvSpPr>
          <p:cNvPr id="26" name="TextBox 25"/>
          <p:cNvSpPr txBox="1"/>
          <p:nvPr/>
        </p:nvSpPr>
        <p:spPr>
          <a:xfrm>
            <a:off x="6754984" y="1165800"/>
            <a:ext cx="1418040" cy="520000"/>
          </a:xfrm>
          <a:prstGeom prst="rect">
            <a:avLst/>
          </a:prstGeom>
          <a:noFill/>
        </p:spPr>
        <p:txBody>
          <a:bodyPr wrap="square">
            <a:spAutoFit/>
          </a:bodyPr>
          <a:lstStyle/>
          <a:p>
            <a:pPr algn="ctr"/>
            <a:r>
              <a:rPr sz="750" b="0">
                <a:solidFill>
                  <a:srgbClr val="998880"/>
                </a:solidFill>
                <a:latin typeface="メイリオ"/>
              </a:rPr>
              <a:t>1セット15G+α
ストック型</a:t>
            </a:r>
          </a:p>
        </p:txBody>
      </p:sp>
      <p:sp>
        <p:nvSpPr>
          <p:cNvPr id="27" name="TextBox 26"/>
          <p:cNvSpPr txBox="1"/>
          <p:nvPr/>
        </p:nvSpPr>
        <p:spPr>
          <a:xfrm>
            <a:off x="256032" y="1805800"/>
            <a:ext cx="2743200" cy="260000"/>
          </a:xfrm>
          <a:prstGeom prst="rect">
            <a:avLst/>
          </a:prstGeom>
          <a:noFill/>
        </p:spPr>
        <p:txBody>
          <a:bodyPr wrap="square">
            <a:spAutoFit/>
          </a:bodyPr>
          <a:lstStyle/>
          <a:p>
            <a:pPr algn="l"/>
            <a:r>
              <a:rPr sz="750" b="0">
                <a:solidFill>
                  <a:srgbClr val="22CCDD"/>
                </a:solidFill>
                <a:latin typeface="メイリオ"/>
              </a:rPr>
              <a:t>天井①：ボーナス間850G → SPエピ確定</a:t>
            </a:r>
          </a:p>
        </p:txBody>
      </p:sp>
      <p:sp>
        <p:nvSpPr>
          <p:cNvPr id="28" name="Rectangle 27"/>
          <p:cNvSpPr/>
          <p:nvPr/>
        </p:nvSpPr>
        <p:spPr>
          <a:xfrm>
            <a:off x="256032" y="2045800"/>
            <a:ext cx="3200400" cy="5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7872" y="1805800"/>
            <a:ext cx="3200400" cy="260000"/>
          </a:xfrm>
          <a:prstGeom prst="rect">
            <a:avLst/>
          </a:prstGeom>
          <a:noFill/>
        </p:spPr>
        <p:txBody>
          <a:bodyPr wrap="square">
            <a:spAutoFit/>
          </a:bodyPr>
          <a:lstStyle/>
          <a:p>
            <a:pPr algn="l"/>
            <a:r>
              <a:rPr sz="750" b="0">
                <a:solidFill>
                  <a:srgbClr val="FF8800"/>
                </a:solidFill>
                <a:latin typeface="メイリオ"/>
              </a:rPr>
              <a:t>天井③：伝導者の罠5スルー → SPエピ確定</a:t>
            </a:r>
          </a:p>
        </p:txBody>
      </p:sp>
      <p:sp>
        <p:nvSpPr>
          <p:cNvPr id="30" name="Rectangle 29"/>
          <p:cNvSpPr/>
          <p:nvPr/>
        </p:nvSpPr>
        <p:spPr>
          <a:xfrm>
            <a:off x="0" y="1920240"/>
            <a:ext cx="9144000" cy="5000"/>
          </a:xfrm>
          <a:prstGeom prst="rect">
            <a:avLst/>
          </a:prstGeom>
          <a:solidFill>
            <a:srgbClr val="441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6032" y="1993392"/>
            <a:ext cx="1783080" cy="1080000"/>
          </a:xfrm>
          <a:prstGeom prst="rect">
            <a:avLst/>
          </a:prstGeom>
          <a:solidFill>
            <a:srgbClr val="140804"/>
          </a:solidFill>
          <a:ln w="2286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6032" y="2063392"/>
            <a:ext cx="1713080" cy="370000"/>
          </a:xfrm>
          <a:prstGeom prst="rect">
            <a:avLst/>
          </a:prstGeom>
          <a:noFill/>
        </p:spPr>
        <p:txBody>
          <a:bodyPr wrap="square">
            <a:spAutoFit/>
          </a:bodyPr>
          <a:lstStyle/>
          <a:p>
            <a:pPr algn="ctr"/>
            <a:r>
              <a:rPr sz="1000" b="1">
                <a:solidFill>
                  <a:srgbClr val="FF6611"/>
                </a:solidFill>
                <a:latin typeface="游明朝"/>
              </a:rPr>
              <a:t>炎炎激闘
（基本ST）</a:t>
            </a:r>
          </a:p>
        </p:txBody>
      </p:sp>
      <p:sp>
        <p:nvSpPr>
          <p:cNvPr id="33" name="TextBox 32"/>
          <p:cNvSpPr txBox="1"/>
          <p:nvPr/>
        </p:nvSpPr>
        <p:spPr>
          <a:xfrm>
            <a:off x="286032" y="2483392"/>
            <a:ext cx="1728080" cy="470000"/>
          </a:xfrm>
          <a:prstGeom prst="rect">
            <a:avLst/>
          </a:prstGeom>
          <a:noFill/>
        </p:spPr>
        <p:txBody>
          <a:bodyPr wrap="square">
            <a:spAutoFit/>
          </a:bodyPr>
          <a:lstStyle/>
          <a:p>
            <a:pPr algn="ctr"/>
            <a:r>
              <a:rPr sz="800" b="0">
                <a:solidFill>
                  <a:srgbClr val="998880"/>
                </a:solidFill>
                <a:latin typeface="メイリオ"/>
              </a:rPr>
              <a:t>ボーナス期待度
約57%/15G</a:t>
            </a:r>
          </a:p>
        </p:txBody>
      </p:sp>
      <p:sp>
        <p:nvSpPr>
          <p:cNvPr id="34" name="Can 33"/>
          <p:cNvSpPr/>
          <p:nvPr/>
        </p:nvSpPr>
        <p:spPr>
          <a:xfrm>
            <a:off x="2051112" y="2443392"/>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40280" y="1993392"/>
            <a:ext cx="1783080" cy="1080000"/>
          </a:xfrm>
          <a:prstGeom prst="rect">
            <a:avLst/>
          </a:prstGeom>
          <a:solidFill>
            <a:srgbClr val="140804"/>
          </a:solidFill>
          <a:ln w="2286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80280" y="2063392"/>
            <a:ext cx="1713080" cy="370000"/>
          </a:xfrm>
          <a:prstGeom prst="rect">
            <a:avLst/>
          </a:prstGeom>
          <a:noFill/>
        </p:spPr>
        <p:txBody>
          <a:bodyPr wrap="square">
            <a:spAutoFit/>
          </a:bodyPr>
          <a:lstStyle/>
          <a:p>
            <a:pPr algn="ctr"/>
            <a:r>
              <a:rPr sz="1000" b="1">
                <a:solidFill>
                  <a:srgbClr val="FF8800"/>
                </a:solidFill>
                <a:latin typeface="游明朝"/>
              </a:rPr>
              <a:t>炎炎大戦
（上位ST）</a:t>
            </a:r>
          </a:p>
        </p:txBody>
      </p:sp>
      <p:sp>
        <p:nvSpPr>
          <p:cNvPr id="37" name="TextBox 36"/>
          <p:cNvSpPr txBox="1"/>
          <p:nvPr/>
        </p:nvSpPr>
        <p:spPr>
          <a:xfrm>
            <a:off x="2270280" y="2483392"/>
            <a:ext cx="1728080" cy="470000"/>
          </a:xfrm>
          <a:prstGeom prst="rect">
            <a:avLst/>
          </a:prstGeom>
          <a:noFill/>
        </p:spPr>
        <p:txBody>
          <a:bodyPr wrap="square">
            <a:spAutoFit/>
          </a:bodyPr>
          <a:lstStyle/>
          <a:p>
            <a:pPr algn="ctr"/>
            <a:r>
              <a:rPr sz="800" b="0">
                <a:solidFill>
                  <a:srgbClr val="998880"/>
                </a:solidFill>
                <a:latin typeface="メイリオ"/>
              </a:rPr>
              <a:t>ループ率約80%
純増5.8枚/G</a:t>
            </a:r>
          </a:p>
        </p:txBody>
      </p:sp>
      <p:sp>
        <p:nvSpPr>
          <p:cNvPr id="38" name="Can 37"/>
          <p:cNvSpPr/>
          <p:nvPr/>
        </p:nvSpPr>
        <p:spPr>
          <a:xfrm>
            <a:off x="4035360" y="2443392"/>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24528" y="1993392"/>
            <a:ext cx="1783080" cy="1080000"/>
          </a:xfrm>
          <a:prstGeom prst="rect">
            <a:avLst/>
          </a:prstGeom>
          <a:solidFill>
            <a:srgbClr val="140804"/>
          </a:solidFill>
          <a:ln w="22860">
            <a:solidFill>
              <a:srgbClr val="FF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64528" y="2063392"/>
            <a:ext cx="1713080" cy="370000"/>
          </a:xfrm>
          <a:prstGeom prst="rect">
            <a:avLst/>
          </a:prstGeom>
          <a:noFill/>
        </p:spPr>
        <p:txBody>
          <a:bodyPr wrap="square">
            <a:spAutoFit/>
          </a:bodyPr>
          <a:lstStyle/>
          <a:p>
            <a:pPr algn="ctr"/>
            <a:r>
              <a:rPr sz="1000" b="1">
                <a:solidFill>
                  <a:srgbClr val="FF4488"/>
                </a:solidFill>
                <a:latin typeface="游明朝"/>
              </a:rPr>
              <a:t>紅J大戦
（特殊上位）</a:t>
            </a:r>
          </a:p>
        </p:txBody>
      </p:sp>
      <p:sp>
        <p:nvSpPr>
          <p:cNvPr id="41" name="TextBox 40"/>
          <p:cNvSpPr txBox="1"/>
          <p:nvPr/>
        </p:nvSpPr>
        <p:spPr>
          <a:xfrm>
            <a:off x="4254528" y="2483392"/>
            <a:ext cx="1728080" cy="470000"/>
          </a:xfrm>
          <a:prstGeom prst="rect">
            <a:avLst/>
          </a:prstGeom>
          <a:noFill/>
        </p:spPr>
        <p:txBody>
          <a:bodyPr wrap="square">
            <a:spAutoFit/>
          </a:bodyPr>
          <a:lstStyle/>
          <a:p>
            <a:pPr algn="ctr"/>
            <a:r>
              <a:rPr sz="800" b="0">
                <a:solidFill>
                  <a:srgbClr val="998880"/>
                </a:solidFill>
                <a:latin typeface="メイリオ"/>
              </a:rPr>
              <a:t>紅丸+J参戦
期待約2,050枚</a:t>
            </a:r>
          </a:p>
        </p:txBody>
      </p:sp>
      <p:sp>
        <p:nvSpPr>
          <p:cNvPr id="42" name="Can 41"/>
          <p:cNvSpPr/>
          <p:nvPr/>
        </p:nvSpPr>
        <p:spPr>
          <a:xfrm>
            <a:off x="6019608" y="2443392"/>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1993392"/>
            <a:ext cx="1783080" cy="1080000"/>
          </a:xfrm>
          <a:prstGeom prst="rect">
            <a:avLst/>
          </a:prstGeom>
          <a:solidFill>
            <a:srgbClr val="180802"/>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8776" y="2063392"/>
            <a:ext cx="1713080" cy="370000"/>
          </a:xfrm>
          <a:prstGeom prst="rect">
            <a:avLst/>
          </a:prstGeom>
          <a:noFill/>
        </p:spPr>
        <p:txBody>
          <a:bodyPr wrap="square">
            <a:spAutoFit/>
          </a:bodyPr>
          <a:lstStyle/>
          <a:p>
            <a:pPr algn="ctr"/>
            <a:r>
              <a:rPr sz="1000" b="1">
                <a:solidFill>
                  <a:srgbClr val="C8A840"/>
                </a:solidFill>
                <a:latin typeface="游明朝"/>
              </a:rPr>
              <a:t>アドラバースト
(穢レ無キ炎)</a:t>
            </a:r>
          </a:p>
        </p:txBody>
      </p:sp>
      <p:sp>
        <p:nvSpPr>
          <p:cNvPr id="45" name="TextBox 44"/>
          <p:cNvSpPr txBox="1"/>
          <p:nvPr/>
        </p:nvSpPr>
        <p:spPr>
          <a:xfrm>
            <a:off x="6238776" y="2483392"/>
            <a:ext cx="1728080" cy="470000"/>
          </a:xfrm>
          <a:prstGeom prst="rect">
            <a:avLst/>
          </a:prstGeom>
          <a:noFill/>
        </p:spPr>
        <p:txBody>
          <a:bodyPr wrap="square">
            <a:spAutoFit/>
          </a:bodyPr>
          <a:lstStyle/>
          <a:p>
            <a:pPr algn="ctr"/>
            <a:r>
              <a:rPr sz="800" b="0">
                <a:solidFill>
                  <a:srgbClr val="998880"/>
                </a:solidFill>
                <a:latin typeface="メイリオ"/>
              </a:rPr>
              <a:t>期待約2,760枚
森羅万象経由</a:t>
            </a:r>
          </a:p>
        </p:txBody>
      </p:sp>
      <p:sp>
        <p:nvSpPr>
          <p:cNvPr id="46" name="Rectangle 45"/>
          <p:cNvSpPr/>
          <p:nvPr/>
        </p:nvSpPr>
        <p:spPr>
          <a:xfrm>
            <a:off x="8193024" y="1993392"/>
            <a:ext cx="1417320" cy="1080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93024" y="1993392"/>
            <a:ext cx="30000" cy="108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43024" y="2063392"/>
            <a:ext cx="1188720" cy="310000"/>
          </a:xfrm>
          <a:prstGeom prst="rect">
            <a:avLst/>
          </a:prstGeom>
          <a:noFill/>
        </p:spPr>
        <p:txBody>
          <a:bodyPr wrap="square">
            <a:spAutoFit/>
          </a:bodyPr>
          <a:lstStyle/>
          <a:p>
            <a:pPr algn="ctr"/>
            <a:r>
              <a:rPr sz="900" b="1">
                <a:solidFill>
                  <a:srgbClr val="22CCDD"/>
                </a:solidFill>
                <a:latin typeface="游明朝"/>
              </a:rPr>
              <a:t>アドラ
リンク
CZ(3G)</a:t>
            </a:r>
          </a:p>
        </p:txBody>
      </p:sp>
      <p:sp>
        <p:nvSpPr>
          <p:cNvPr id="49" name="TextBox 48"/>
          <p:cNvSpPr txBox="1"/>
          <p:nvPr/>
        </p:nvSpPr>
        <p:spPr>
          <a:xfrm>
            <a:off x="8243024" y="2483392"/>
            <a:ext cx="1188720" cy="460000"/>
          </a:xfrm>
          <a:prstGeom prst="rect">
            <a:avLst/>
          </a:prstGeom>
          <a:noFill/>
        </p:spPr>
        <p:txBody>
          <a:bodyPr wrap="square">
            <a:spAutoFit/>
          </a:bodyPr>
          <a:lstStyle/>
          <a:p>
            <a:pPr algn="ctr"/>
            <a:r>
              <a:rPr sz="750" b="0">
                <a:solidFill>
                  <a:srgbClr val="F0ECE8"/>
                </a:solidFill>
                <a:latin typeface="メイリオ"/>
              </a:rPr>
              <a:t>成功率
約50%
上乗せ契機</a:t>
            </a:r>
          </a:p>
        </p:txBody>
      </p:sp>
      <p:sp>
        <p:nvSpPr>
          <p:cNvPr id="50" name="TextBox 49"/>
          <p:cNvSpPr txBox="1"/>
          <p:nvPr/>
        </p:nvSpPr>
        <p:spPr>
          <a:xfrm>
            <a:off x="256032" y="3093392"/>
            <a:ext cx="3657600" cy="260000"/>
          </a:xfrm>
          <a:prstGeom prst="rect">
            <a:avLst/>
          </a:prstGeom>
          <a:noFill/>
        </p:spPr>
        <p:txBody>
          <a:bodyPr wrap="square">
            <a:spAutoFit/>
          </a:bodyPr>
          <a:lstStyle/>
          <a:p>
            <a:pPr algn="l"/>
            <a:r>
              <a:rPr sz="750" b="0">
                <a:solidFill>
                  <a:srgbClr val="FFCC44"/>
                </a:solidFill>
                <a:latin typeface="メイリオ"/>
              </a:rPr>
              <a:t>天井②：炎炎ループ間2,000G → SPエピ確定</a:t>
            </a:r>
          </a:p>
        </p:txBody>
      </p:sp>
      <p:sp>
        <p:nvSpPr>
          <p:cNvPr id="51" name="Rectangle 50"/>
          <p:cNvSpPr/>
          <p:nvPr/>
        </p:nvSpPr>
        <p:spPr>
          <a:xfrm>
            <a:off x="256032" y="3333392"/>
            <a:ext cx="4114800" cy="5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53" name="Rectangle 52"/>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上段=通常〜炎炎激闘突入ルート（REG経由と直撃の2本）、下段=AT内昇格ルート（炎炎大戦→紅J大戦→アドラバースト）</a:t>
            </a:r>
          </a:p>
        </p:txBody>
      </p:sp>
      <p:sp>
        <p:nvSpPr>
          <p:cNvPr id="56" name="TextBox 55"/>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伝導者の罠5スルー天井という独自の第三天井が投資上限の安心感をさらに強化する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通常時の遊び方 ── 全AT突入ルート・天井管理・打ち方</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3/9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29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20000"/>
          </a:xfrm>
          <a:prstGeom prst="rect">
            <a:avLst/>
          </a:prstGeom>
          <a:noFill/>
        </p:spPr>
        <p:txBody>
          <a:bodyPr wrap="square">
            <a:spAutoFit/>
          </a:bodyPr>
          <a:lstStyle/>
          <a:p>
            <a:pPr algn="l"/>
            <a:r>
              <a:rPr sz="1000" b="1">
                <a:solidFill>
                  <a:srgbClr val="FF8800"/>
                </a:solidFill>
                <a:latin typeface="メイリオ"/>
              </a:rPr>
              <a:t>通常時〜炎炎激闘突入ルート（全3系統）</a:t>
            </a:r>
          </a:p>
        </p:txBody>
      </p:sp>
      <p:sp>
        <p:nvSpPr>
          <p:cNvPr id="10" name="Rectangle 9"/>
          <p:cNvSpPr/>
          <p:nvPr/>
        </p:nvSpPr>
        <p:spPr>
          <a:xfrm>
            <a:off x="256032" y="948368"/>
            <a:ext cx="4160520" cy="1060000"/>
          </a:xfrm>
          <a:prstGeom prst="rect">
            <a:avLst/>
          </a:prstGeom>
          <a:solidFill>
            <a:srgbClr val="140804"/>
          </a:solidFill>
          <a:ln w="1905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48368"/>
            <a:ext cx="45000" cy="1060000"/>
          </a:xfrm>
          <a:prstGeom prst="rect">
            <a:avLst/>
          </a:prstGeom>
          <a:solidFill>
            <a:srgbClr val="FF6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998368"/>
            <a:ext cx="4060520" cy="270000"/>
          </a:xfrm>
          <a:prstGeom prst="rect">
            <a:avLst/>
          </a:prstGeom>
          <a:noFill/>
        </p:spPr>
        <p:txBody>
          <a:bodyPr wrap="square">
            <a:spAutoFit/>
          </a:bodyPr>
          <a:lstStyle/>
          <a:p>
            <a:pPr algn="l"/>
            <a:r>
              <a:rPr sz="900" b="1">
                <a:solidFill>
                  <a:srgbClr val="FF6611"/>
                </a:solidFill>
                <a:latin typeface="メイリオ"/>
              </a:rPr>
              <a:t>ルート①  SPエピソードBONUS直撃</a:t>
            </a:r>
          </a:p>
        </p:txBody>
      </p:sp>
      <p:sp>
        <p:nvSpPr>
          <p:cNvPr id="13" name="TextBox 12"/>
          <p:cNvSpPr txBox="1"/>
          <p:nvPr/>
        </p:nvSpPr>
        <p:spPr>
          <a:xfrm>
            <a:off x="331032" y="1268368"/>
            <a:ext cx="4060520" cy="670000"/>
          </a:xfrm>
          <a:prstGeom prst="rect">
            <a:avLst/>
          </a:prstGeom>
          <a:noFill/>
        </p:spPr>
        <p:txBody>
          <a:bodyPr wrap="square">
            <a:spAutoFit/>
          </a:bodyPr>
          <a:lstStyle/>
          <a:p>
            <a:pPr algn="l"/>
            <a:r>
              <a:rPr sz="750" b="0">
                <a:solidFill>
                  <a:srgbClr val="F0ECE8"/>
                </a:solidFill>
                <a:latin typeface="メイリオ"/>
              </a:rPr>
              <a:t>初当りがSPエピソードBONUSなら
炎炎激闘に直行（最短ルート）。
約200枚消化→そのまま激闘へ突入。</a:t>
            </a:r>
          </a:p>
        </p:txBody>
      </p:sp>
      <p:sp>
        <p:nvSpPr>
          <p:cNvPr id="14" name="Rectangle 13"/>
          <p:cNvSpPr/>
          <p:nvPr/>
        </p:nvSpPr>
        <p:spPr>
          <a:xfrm>
            <a:off x="256032" y="2073368"/>
            <a:ext cx="4160520" cy="1060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073368"/>
            <a:ext cx="45000" cy="106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123368"/>
            <a:ext cx="4060520" cy="270000"/>
          </a:xfrm>
          <a:prstGeom prst="rect">
            <a:avLst/>
          </a:prstGeom>
          <a:noFill/>
        </p:spPr>
        <p:txBody>
          <a:bodyPr wrap="square">
            <a:spAutoFit/>
          </a:bodyPr>
          <a:lstStyle/>
          <a:p>
            <a:pPr algn="l"/>
            <a:r>
              <a:rPr sz="900" b="1">
                <a:solidFill>
                  <a:srgbClr val="FF4400"/>
                </a:solidFill>
                <a:latin typeface="メイリオ"/>
              </a:rPr>
              <a:t>ルート②  REGボーナス→伝導者の罠→炎炎激闘</a:t>
            </a:r>
          </a:p>
        </p:txBody>
      </p:sp>
      <p:sp>
        <p:nvSpPr>
          <p:cNvPr id="17" name="TextBox 16"/>
          <p:cNvSpPr txBox="1"/>
          <p:nvPr/>
        </p:nvSpPr>
        <p:spPr>
          <a:xfrm>
            <a:off x="331032" y="2393368"/>
            <a:ext cx="4060520" cy="670000"/>
          </a:xfrm>
          <a:prstGeom prst="rect">
            <a:avLst/>
          </a:prstGeom>
          <a:noFill/>
        </p:spPr>
        <p:txBody>
          <a:bodyPr wrap="square">
            <a:spAutoFit/>
          </a:bodyPr>
          <a:lstStyle/>
          <a:p>
            <a:pPr algn="l"/>
            <a:r>
              <a:rPr sz="750" b="0">
                <a:solidFill>
                  <a:srgbClr val="F0ECE8"/>
                </a:solidFill>
                <a:latin typeface="メイリオ"/>
              </a:rPr>
              <a:t>初当りがREGの場合は消化後に「伝導者の罠」へ。
罠でエピソードBONUS当選→炎炎激闘突入。
5スルーで次SPエピ確定（天井③）。</a:t>
            </a:r>
          </a:p>
        </p:txBody>
      </p:sp>
      <p:sp>
        <p:nvSpPr>
          <p:cNvPr id="18" name="Rectangle 17"/>
          <p:cNvSpPr/>
          <p:nvPr/>
        </p:nvSpPr>
        <p:spPr>
          <a:xfrm>
            <a:off x="256032" y="3198368"/>
            <a:ext cx="4160520" cy="1060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198368"/>
            <a:ext cx="45000" cy="106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248368"/>
            <a:ext cx="4060520" cy="270000"/>
          </a:xfrm>
          <a:prstGeom prst="rect">
            <a:avLst/>
          </a:prstGeom>
          <a:noFill/>
        </p:spPr>
        <p:txBody>
          <a:bodyPr wrap="square">
            <a:spAutoFit/>
          </a:bodyPr>
          <a:lstStyle/>
          <a:p>
            <a:pPr algn="l"/>
            <a:r>
              <a:rPr sz="900" b="1">
                <a:solidFill>
                  <a:srgbClr val="22CCDD"/>
                </a:solidFill>
                <a:latin typeface="メイリオ"/>
              </a:rPr>
              <a:t>ルート③  天井①（ボーナス間850G）</a:t>
            </a:r>
          </a:p>
        </p:txBody>
      </p:sp>
      <p:sp>
        <p:nvSpPr>
          <p:cNvPr id="21" name="TextBox 20"/>
          <p:cNvSpPr txBox="1"/>
          <p:nvPr/>
        </p:nvSpPr>
        <p:spPr>
          <a:xfrm>
            <a:off x="331032" y="3518368"/>
            <a:ext cx="4060520" cy="670000"/>
          </a:xfrm>
          <a:prstGeom prst="rect">
            <a:avLst/>
          </a:prstGeom>
          <a:noFill/>
        </p:spPr>
        <p:txBody>
          <a:bodyPr wrap="square">
            <a:spAutoFit/>
          </a:bodyPr>
          <a:lstStyle/>
          <a:p>
            <a:pPr algn="l"/>
            <a:r>
              <a:rPr sz="750" b="0">
                <a:solidFill>
                  <a:srgbClr val="F0ECE8"/>
                </a:solidFill>
                <a:latin typeface="メイリオ"/>
              </a:rPr>
              <a:t>ボーナス間850GでSPエピソードBONUS確定。
最も頻出の天井到達ルート。
設定変更後は短縮あり（要確認）。</a:t>
            </a:r>
          </a:p>
        </p:txBody>
      </p:sp>
      <p:sp>
        <p:nvSpPr>
          <p:cNvPr id="22" name="Rectangle 21"/>
          <p:cNvSpPr/>
          <p:nvPr/>
        </p:nvSpPr>
        <p:spPr>
          <a:xfrm>
            <a:off x="256032" y="4323368"/>
            <a:ext cx="4160520" cy="1060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4323368"/>
            <a:ext cx="45000" cy="106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032" y="4373368"/>
            <a:ext cx="4060520" cy="270000"/>
          </a:xfrm>
          <a:prstGeom prst="rect">
            <a:avLst/>
          </a:prstGeom>
          <a:noFill/>
        </p:spPr>
        <p:txBody>
          <a:bodyPr wrap="square">
            <a:spAutoFit/>
          </a:bodyPr>
          <a:lstStyle/>
          <a:p>
            <a:pPr algn="l"/>
            <a:r>
              <a:rPr sz="900" b="1">
                <a:solidFill>
                  <a:srgbClr val="FFCC44"/>
                </a:solidFill>
                <a:latin typeface="メイリオ"/>
              </a:rPr>
              <a:t>ルート④  天井②（炎炎ループ間2,000G）</a:t>
            </a:r>
          </a:p>
        </p:txBody>
      </p:sp>
      <p:sp>
        <p:nvSpPr>
          <p:cNvPr id="25" name="TextBox 24"/>
          <p:cNvSpPr txBox="1"/>
          <p:nvPr/>
        </p:nvSpPr>
        <p:spPr>
          <a:xfrm>
            <a:off x="331032" y="4643368"/>
            <a:ext cx="4060520" cy="670000"/>
          </a:xfrm>
          <a:prstGeom prst="rect">
            <a:avLst/>
          </a:prstGeom>
          <a:noFill/>
        </p:spPr>
        <p:txBody>
          <a:bodyPr wrap="square">
            <a:spAutoFit/>
          </a:bodyPr>
          <a:lstStyle/>
          <a:p>
            <a:pPr algn="l"/>
            <a:r>
              <a:rPr sz="750" b="0">
                <a:solidFill>
                  <a:srgbClr val="F0ECE8"/>
                </a:solidFill>
                <a:latin typeface="メイリオ"/>
              </a:rPr>
              <a:t>炎炎激闘（ループ）間2,000Gで発動。
SPエピソードBONUS確定。長期ハマりの出口。
天井②到達時点は大きな期待値を持つ。</a:t>
            </a:r>
          </a:p>
        </p:txBody>
      </p:sp>
      <p:sp>
        <p:nvSpPr>
          <p:cNvPr id="26" name="Rectangle 25"/>
          <p:cNvSpPr/>
          <p:nvPr/>
        </p:nvSpPr>
        <p:spPr>
          <a:xfrm>
            <a:off x="4572000" y="658368"/>
            <a:ext cx="4297680" cy="29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000" y="713368"/>
            <a:ext cx="4217680" cy="220000"/>
          </a:xfrm>
          <a:prstGeom prst="rect">
            <a:avLst/>
          </a:prstGeom>
          <a:noFill/>
        </p:spPr>
        <p:txBody>
          <a:bodyPr wrap="square">
            <a:spAutoFit/>
          </a:bodyPr>
          <a:lstStyle/>
          <a:p>
            <a:pPr algn="l"/>
            <a:r>
              <a:rPr sz="1000" b="1">
                <a:solidFill>
                  <a:srgbClr val="FF8800"/>
                </a:solidFill>
                <a:latin typeface="メイリオ"/>
              </a:rPr>
              <a:t>チャンス役の確率・期待度（全設定共通）</a:t>
            </a:r>
          </a:p>
        </p:txBody>
      </p:sp>
      <p:sp>
        <p:nvSpPr>
          <p:cNvPr id="28" name="Rectangle 27"/>
          <p:cNvSpPr/>
          <p:nvPr/>
        </p:nvSpPr>
        <p:spPr>
          <a:xfrm>
            <a:off x="4572000" y="948368"/>
            <a:ext cx="4297680" cy="690000"/>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948368"/>
            <a:ext cx="35000" cy="690000"/>
          </a:xfrm>
          <a:prstGeom prst="rect">
            <a:avLst/>
          </a:prstGeom>
          <a:solidFill>
            <a:srgbClr val="998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7000" y="1003368"/>
            <a:ext cx="914400" cy="260000"/>
          </a:xfrm>
          <a:prstGeom prst="rect">
            <a:avLst/>
          </a:prstGeom>
          <a:noFill/>
        </p:spPr>
        <p:txBody>
          <a:bodyPr wrap="none">
            <a:spAutoFit/>
          </a:bodyPr>
          <a:lstStyle/>
          <a:p>
            <a:pPr algn="l"/>
            <a:r>
              <a:rPr sz="850" b="1">
                <a:solidFill>
                  <a:srgbClr val="998880"/>
                </a:solidFill>
                <a:latin typeface="メイリオ"/>
              </a:rPr>
              <a:t>リプレイ</a:t>
            </a:r>
          </a:p>
        </p:txBody>
      </p:sp>
      <p:sp>
        <p:nvSpPr>
          <p:cNvPr id="31" name="TextBox 30"/>
          <p:cNvSpPr txBox="1"/>
          <p:nvPr/>
        </p:nvSpPr>
        <p:spPr>
          <a:xfrm>
            <a:off x="5541400" y="1008368"/>
            <a:ext cx="731520" cy="240000"/>
          </a:xfrm>
          <a:prstGeom prst="rect">
            <a:avLst/>
          </a:prstGeom>
          <a:noFill/>
        </p:spPr>
        <p:txBody>
          <a:bodyPr wrap="none">
            <a:spAutoFit/>
          </a:bodyPr>
          <a:lstStyle/>
          <a:p>
            <a:pPr algn="l"/>
            <a:r>
              <a:rPr sz="800" b="1">
                <a:solidFill>
                  <a:srgbClr val="FFCC44"/>
                </a:solidFill>
                <a:latin typeface="メイリオ"/>
              </a:rPr>
              <a:t>約1/8.6</a:t>
            </a:r>
          </a:p>
        </p:txBody>
      </p:sp>
      <p:sp>
        <p:nvSpPr>
          <p:cNvPr id="32" name="TextBox 31"/>
          <p:cNvSpPr txBox="1"/>
          <p:nvPr/>
        </p:nvSpPr>
        <p:spPr>
          <a:xfrm>
            <a:off x="4627000" y="1258368"/>
            <a:ext cx="3749040" cy="320000"/>
          </a:xfrm>
          <a:prstGeom prst="rect">
            <a:avLst/>
          </a:prstGeom>
          <a:noFill/>
        </p:spPr>
        <p:txBody>
          <a:bodyPr wrap="square">
            <a:spAutoFit/>
          </a:bodyPr>
          <a:lstStyle/>
          <a:p>
            <a:pPr algn="l"/>
            <a:r>
              <a:rPr sz="750" b="0">
                <a:solidFill>
                  <a:srgbClr val="F0ECE8"/>
                </a:solidFill>
                <a:latin typeface="メイリオ"/>
              </a:rPr>
              <a:t>小V停止でAT中に十字目変換の起点に</a:t>
            </a:r>
          </a:p>
        </p:txBody>
      </p:sp>
      <p:sp>
        <p:nvSpPr>
          <p:cNvPr id="33" name="Rectangle 32"/>
          <p:cNvSpPr/>
          <p:nvPr/>
        </p:nvSpPr>
        <p:spPr>
          <a:xfrm>
            <a:off x="4572000" y="1638368"/>
            <a:ext cx="4297680" cy="690000"/>
          </a:xfrm>
          <a:prstGeom prst="rect">
            <a:avLst/>
          </a:prstGeom>
          <a:solidFill>
            <a:srgbClr val="180A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0" y="1638368"/>
            <a:ext cx="35000" cy="690000"/>
          </a:xfrm>
          <a:prstGeom prst="rect">
            <a:avLst/>
          </a:prstGeom>
          <a:solidFill>
            <a:srgbClr val="FF6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27000" y="1693368"/>
            <a:ext cx="914400" cy="260000"/>
          </a:xfrm>
          <a:prstGeom prst="rect">
            <a:avLst/>
          </a:prstGeom>
          <a:noFill/>
        </p:spPr>
        <p:txBody>
          <a:bodyPr wrap="none">
            <a:spAutoFit/>
          </a:bodyPr>
          <a:lstStyle/>
          <a:p>
            <a:pPr algn="l"/>
            <a:r>
              <a:rPr sz="850" b="1">
                <a:solidFill>
                  <a:srgbClr val="FF6611"/>
                </a:solidFill>
                <a:latin typeface="メイリオ"/>
              </a:rPr>
              <a:t>弱チェリー</a:t>
            </a:r>
          </a:p>
        </p:txBody>
      </p:sp>
      <p:sp>
        <p:nvSpPr>
          <p:cNvPr id="36" name="TextBox 35"/>
          <p:cNvSpPr txBox="1"/>
          <p:nvPr/>
        </p:nvSpPr>
        <p:spPr>
          <a:xfrm>
            <a:off x="5541400" y="1698368"/>
            <a:ext cx="731520" cy="240000"/>
          </a:xfrm>
          <a:prstGeom prst="rect">
            <a:avLst/>
          </a:prstGeom>
          <a:noFill/>
        </p:spPr>
        <p:txBody>
          <a:bodyPr wrap="none">
            <a:spAutoFit/>
          </a:bodyPr>
          <a:lstStyle/>
          <a:p>
            <a:pPr algn="l"/>
            <a:r>
              <a:rPr sz="800" b="1">
                <a:solidFill>
                  <a:srgbClr val="FFCC44"/>
                </a:solidFill>
                <a:latin typeface="メイリオ"/>
              </a:rPr>
              <a:t>約1/80</a:t>
            </a:r>
          </a:p>
        </p:txBody>
      </p:sp>
      <p:sp>
        <p:nvSpPr>
          <p:cNvPr id="37" name="TextBox 36"/>
          <p:cNvSpPr txBox="1"/>
          <p:nvPr/>
        </p:nvSpPr>
        <p:spPr>
          <a:xfrm>
            <a:off x="4627000" y="1948368"/>
            <a:ext cx="3749040" cy="320000"/>
          </a:xfrm>
          <a:prstGeom prst="rect">
            <a:avLst/>
          </a:prstGeom>
          <a:noFill/>
        </p:spPr>
        <p:txBody>
          <a:bodyPr wrap="square">
            <a:spAutoFit/>
          </a:bodyPr>
          <a:lstStyle/>
          <a:p>
            <a:pPr algn="l"/>
            <a:r>
              <a:rPr sz="750" b="0">
                <a:solidFill>
                  <a:srgbClr val="F0ECE8"/>
                </a:solidFill>
                <a:latin typeface="メイリオ"/>
              </a:rPr>
              <a:t>十字目変換/前兆移行の抽選対象</a:t>
            </a:r>
          </a:p>
        </p:txBody>
      </p:sp>
      <p:sp>
        <p:nvSpPr>
          <p:cNvPr id="38" name="Rectangle 37"/>
          <p:cNvSpPr/>
          <p:nvPr/>
        </p:nvSpPr>
        <p:spPr>
          <a:xfrm>
            <a:off x="4572000" y="2328368"/>
            <a:ext cx="4297680" cy="690000"/>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0" y="2328368"/>
            <a:ext cx="35000" cy="69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27000" y="2383368"/>
            <a:ext cx="914400" cy="260000"/>
          </a:xfrm>
          <a:prstGeom prst="rect">
            <a:avLst/>
          </a:prstGeom>
          <a:noFill/>
        </p:spPr>
        <p:txBody>
          <a:bodyPr wrap="none">
            <a:spAutoFit/>
          </a:bodyPr>
          <a:lstStyle/>
          <a:p>
            <a:pPr algn="l"/>
            <a:r>
              <a:rPr sz="850" b="1">
                <a:solidFill>
                  <a:srgbClr val="FF4400"/>
                </a:solidFill>
                <a:latin typeface="メイリオ"/>
              </a:rPr>
              <a:t>スイカ</a:t>
            </a:r>
          </a:p>
        </p:txBody>
      </p:sp>
      <p:sp>
        <p:nvSpPr>
          <p:cNvPr id="41" name="TextBox 40"/>
          <p:cNvSpPr txBox="1"/>
          <p:nvPr/>
        </p:nvSpPr>
        <p:spPr>
          <a:xfrm>
            <a:off x="5541400" y="2388368"/>
            <a:ext cx="731520" cy="240000"/>
          </a:xfrm>
          <a:prstGeom prst="rect">
            <a:avLst/>
          </a:prstGeom>
          <a:noFill/>
        </p:spPr>
        <p:txBody>
          <a:bodyPr wrap="none">
            <a:spAutoFit/>
          </a:bodyPr>
          <a:lstStyle/>
          <a:p>
            <a:pPr algn="l"/>
            <a:r>
              <a:rPr sz="800" b="1">
                <a:solidFill>
                  <a:srgbClr val="FFCC44"/>
                </a:solidFill>
                <a:latin typeface="メイリオ"/>
              </a:rPr>
              <a:t>約1/128</a:t>
            </a:r>
          </a:p>
        </p:txBody>
      </p:sp>
      <p:sp>
        <p:nvSpPr>
          <p:cNvPr id="42" name="TextBox 41"/>
          <p:cNvSpPr txBox="1"/>
          <p:nvPr/>
        </p:nvSpPr>
        <p:spPr>
          <a:xfrm>
            <a:off x="4627000" y="2638368"/>
            <a:ext cx="3749040" cy="320000"/>
          </a:xfrm>
          <a:prstGeom prst="rect">
            <a:avLst/>
          </a:prstGeom>
          <a:noFill/>
        </p:spPr>
        <p:txBody>
          <a:bodyPr wrap="square">
            <a:spAutoFit/>
          </a:bodyPr>
          <a:lstStyle/>
          <a:p>
            <a:pPr algn="l"/>
            <a:r>
              <a:rPr sz="750" b="0">
                <a:solidFill>
                  <a:srgbClr val="F0ECE8"/>
                </a:solidFill>
                <a:latin typeface="メイリオ"/>
              </a:rPr>
              <a:t>十字目変換・ボーナス高確の抽選対象</a:t>
            </a:r>
          </a:p>
        </p:txBody>
      </p:sp>
      <p:sp>
        <p:nvSpPr>
          <p:cNvPr id="43" name="Rectangle 42"/>
          <p:cNvSpPr/>
          <p:nvPr/>
        </p:nvSpPr>
        <p:spPr>
          <a:xfrm>
            <a:off x="4572000" y="3018368"/>
            <a:ext cx="4297680" cy="690000"/>
          </a:xfrm>
          <a:prstGeom prst="rect">
            <a:avLst/>
          </a:prstGeom>
          <a:solidFill>
            <a:srgbClr val="180A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0" y="3018368"/>
            <a:ext cx="35000" cy="69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27000" y="3073368"/>
            <a:ext cx="914400" cy="260000"/>
          </a:xfrm>
          <a:prstGeom prst="rect">
            <a:avLst/>
          </a:prstGeom>
          <a:noFill/>
        </p:spPr>
        <p:txBody>
          <a:bodyPr wrap="none">
            <a:spAutoFit/>
          </a:bodyPr>
          <a:lstStyle/>
          <a:p>
            <a:pPr algn="l"/>
            <a:r>
              <a:rPr sz="850" b="1">
                <a:solidFill>
                  <a:srgbClr val="FF8800"/>
                </a:solidFill>
                <a:latin typeface="メイリオ"/>
              </a:rPr>
              <a:t>チャンス目</a:t>
            </a:r>
          </a:p>
        </p:txBody>
      </p:sp>
      <p:sp>
        <p:nvSpPr>
          <p:cNvPr id="46" name="TextBox 45"/>
          <p:cNvSpPr txBox="1"/>
          <p:nvPr/>
        </p:nvSpPr>
        <p:spPr>
          <a:xfrm>
            <a:off x="5541400" y="3078368"/>
            <a:ext cx="731520" cy="240000"/>
          </a:xfrm>
          <a:prstGeom prst="rect">
            <a:avLst/>
          </a:prstGeom>
          <a:noFill/>
        </p:spPr>
        <p:txBody>
          <a:bodyPr wrap="none">
            <a:spAutoFit/>
          </a:bodyPr>
          <a:lstStyle/>
          <a:p>
            <a:pPr algn="l"/>
            <a:r>
              <a:rPr sz="800" b="1">
                <a:solidFill>
                  <a:srgbClr val="FFCC44"/>
                </a:solidFill>
                <a:latin typeface="メイリオ"/>
              </a:rPr>
              <a:t>約1/128</a:t>
            </a:r>
          </a:p>
        </p:txBody>
      </p:sp>
      <p:sp>
        <p:nvSpPr>
          <p:cNvPr id="47" name="TextBox 46"/>
          <p:cNvSpPr txBox="1"/>
          <p:nvPr/>
        </p:nvSpPr>
        <p:spPr>
          <a:xfrm>
            <a:off x="4627000" y="3328368"/>
            <a:ext cx="3749040" cy="320000"/>
          </a:xfrm>
          <a:prstGeom prst="rect">
            <a:avLst/>
          </a:prstGeom>
          <a:noFill/>
        </p:spPr>
        <p:txBody>
          <a:bodyPr wrap="square">
            <a:spAutoFit/>
          </a:bodyPr>
          <a:lstStyle/>
          <a:p>
            <a:pPr algn="l"/>
            <a:r>
              <a:rPr sz="750" b="0">
                <a:solidFill>
                  <a:srgbClr val="F0ECE8"/>
                </a:solidFill>
                <a:latin typeface="メイリオ"/>
              </a:rPr>
              <a:t>十字目変換の抽選対象役</a:t>
            </a:r>
          </a:p>
        </p:txBody>
      </p:sp>
      <p:sp>
        <p:nvSpPr>
          <p:cNvPr id="48" name="Rectangle 47"/>
          <p:cNvSpPr/>
          <p:nvPr/>
        </p:nvSpPr>
        <p:spPr>
          <a:xfrm>
            <a:off x="4572000" y="3708368"/>
            <a:ext cx="4297680" cy="690000"/>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0" y="3708368"/>
            <a:ext cx="35000" cy="69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27000" y="3763368"/>
            <a:ext cx="914400" cy="260000"/>
          </a:xfrm>
          <a:prstGeom prst="rect">
            <a:avLst/>
          </a:prstGeom>
          <a:noFill/>
        </p:spPr>
        <p:txBody>
          <a:bodyPr wrap="none">
            <a:spAutoFit/>
          </a:bodyPr>
          <a:lstStyle/>
          <a:p>
            <a:pPr algn="l"/>
            <a:r>
              <a:rPr sz="850" b="1">
                <a:solidFill>
                  <a:srgbClr val="FFCC44"/>
                </a:solidFill>
                <a:latin typeface="メイリオ"/>
              </a:rPr>
              <a:t>十字リプレイ</a:t>
            </a:r>
          </a:p>
        </p:txBody>
      </p:sp>
      <p:sp>
        <p:nvSpPr>
          <p:cNvPr id="51" name="TextBox 50"/>
          <p:cNvSpPr txBox="1"/>
          <p:nvPr/>
        </p:nvSpPr>
        <p:spPr>
          <a:xfrm>
            <a:off x="5541400" y="3768368"/>
            <a:ext cx="731520" cy="240000"/>
          </a:xfrm>
          <a:prstGeom prst="rect">
            <a:avLst/>
          </a:prstGeom>
          <a:noFill/>
        </p:spPr>
        <p:txBody>
          <a:bodyPr wrap="none">
            <a:spAutoFit/>
          </a:bodyPr>
          <a:lstStyle/>
          <a:p>
            <a:pPr algn="l"/>
            <a:r>
              <a:rPr sz="800" b="1">
                <a:solidFill>
                  <a:srgbClr val="FFCC44"/>
                </a:solidFill>
                <a:latin typeface="メイリオ"/>
              </a:rPr>
              <a:t>約1/5000</a:t>
            </a:r>
          </a:p>
        </p:txBody>
      </p:sp>
      <p:sp>
        <p:nvSpPr>
          <p:cNvPr id="52" name="TextBox 51"/>
          <p:cNvSpPr txBox="1"/>
          <p:nvPr/>
        </p:nvSpPr>
        <p:spPr>
          <a:xfrm>
            <a:off x="4627000" y="4018368"/>
            <a:ext cx="3749040" cy="320000"/>
          </a:xfrm>
          <a:prstGeom prst="rect">
            <a:avLst/>
          </a:prstGeom>
          <a:noFill/>
        </p:spPr>
        <p:txBody>
          <a:bodyPr wrap="square">
            <a:spAutoFit/>
          </a:bodyPr>
          <a:lstStyle/>
          <a:p>
            <a:pPr algn="l"/>
            <a:r>
              <a:rPr sz="750" b="0">
                <a:solidFill>
                  <a:srgbClr val="F0ECE8"/>
                </a:solidFill>
                <a:latin typeface="メイリオ"/>
              </a:rPr>
              <a:t>アドラリンク当選濃厚・状態問わず</a:t>
            </a:r>
          </a:p>
        </p:txBody>
      </p:sp>
      <p:sp>
        <p:nvSpPr>
          <p:cNvPr id="53" name="Rectangle 52"/>
          <p:cNvSpPr/>
          <p:nvPr/>
        </p:nvSpPr>
        <p:spPr>
          <a:xfrm>
            <a:off x="4572000" y="4398368"/>
            <a:ext cx="4297680" cy="690000"/>
          </a:xfrm>
          <a:prstGeom prst="rect">
            <a:avLst/>
          </a:prstGeom>
          <a:solidFill>
            <a:srgbClr val="180A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0" y="4398368"/>
            <a:ext cx="35000" cy="69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27000" y="4453368"/>
            <a:ext cx="914400" cy="260000"/>
          </a:xfrm>
          <a:prstGeom prst="rect">
            <a:avLst/>
          </a:prstGeom>
          <a:noFill/>
        </p:spPr>
        <p:txBody>
          <a:bodyPr wrap="none">
            <a:spAutoFit/>
          </a:bodyPr>
          <a:lstStyle/>
          <a:p>
            <a:pPr algn="l"/>
            <a:r>
              <a:rPr sz="850" b="1">
                <a:solidFill>
                  <a:srgbClr val="22CCDD"/>
                </a:solidFill>
                <a:latin typeface="メイリオ"/>
              </a:rPr>
              <a:t>レア役合算</a:t>
            </a:r>
          </a:p>
        </p:txBody>
      </p:sp>
      <p:sp>
        <p:nvSpPr>
          <p:cNvPr id="56" name="TextBox 55"/>
          <p:cNvSpPr txBox="1"/>
          <p:nvPr/>
        </p:nvSpPr>
        <p:spPr>
          <a:xfrm>
            <a:off x="5541400" y="4458368"/>
            <a:ext cx="731520" cy="240000"/>
          </a:xfrm>
          <a:prstGeom prst="rect">
            <a:avLst/>
          </a:prstGeom>
          <a:noFill/>
        </p:spPr>
        <p:txBody>
          <a:bodyPr wrap="none">
            <a:spAutoFit/>
          </a:bodyPr>
          <a:lstStyle/>
          <a:p>
            <a:pPr algn="l"/>
            <a:r>
              <a:rPr sz="800" b="1">
                <a:solidFill>
                  <a:srgbClr val="FFCC44"/>
                </a:solidFill>
                <a:latin typeface="メイリオ"/>
              </a:rPr>
              <a:t>約1/35</a:t>
            </a:r>
          </a:p>
        </p:txBody>
      </p:sp>
      <p:sp>
        <p:nvSpPr>
          <p:cNvPr id="57" name="TextBox 56"/>
          <p:cNvSpPr txBox="1"/>
          <p:nvPr/>
        </p:nvSpPr>
        <p:spPr>
          <a:xfrm>
            <a:off x="4627000" y="4708368"/>
            <a:ext cx="3749040" cy="320000"/>
          </a:xfrm>
          <a:prstGeom prst="rect">
            <a:avLst/>
          </a:prstGeom>
          <a:noFill/>
        </p:spPr>
        <p:txBody>
          <a:bodyPr wrap="square">
            <a:spAutoFit/>
          </a:bodyPr>
          <a:lstStyle/>
          <a:p>
            <a:pPr algn="l"/>
            <a:r>
              <a:rPr sz="750" b="0">
                <a:solidFill>
                  <a:srgbClr val="F0ECE8"/>
                </a:solidFill>
                <a:latin typeface="メイリオ"/>
              </a:rPr>
              <a:t>チェリー・スイカ・チャンス目の合算</a:t>
            </a:r>
          </a:p>
        </p:txBody>
      </p:sp>
      <p:sp>
        <p:nvSpPr>
          <p:cNvPr id="58" name="Rectangle 57"/>
          <p:cNvSpPr/>
          <p:nvPr/>
        </p:nvSpPr>
        <p:spPr>
          <a:xfrm>
            <a:off x="4572000" y="5098368"/>
            <a:ext cx="4297680" cy="550000"/>
          </a:xfrm>
          <a:prstGeom prst="rect">
            <a:avLst/>
          </a:prstGeom>
          <a:solidFill>
            <a:srgbClr val="1C0C06"/>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32000" y="5148368"/>
            <a:ext cx="4217680" cy="200000"/>
          </a:xfrm>
          <a:prstGeom prst="rect">
            <a:avLst/>
          </a:prstGeom>
          <a:noFill/>
        </p:spPr>
        <p:txBody>
          <a:bodyPr wrap="square">
            <a:spAutoFit/>
          </a:bodyPr>
          <a:lstStyle/>
          <a:p>
            <a:pPr algn="l"/>
            <a:r>
              <a:rPr sz="850" b="1">
                <a:solidFill>
                  <a:srgbClr val="FF4400"/>
                </a:solidFill>
                <a:latin typeface="メイリオ"/>
              </a:rPr>
              <a:t>打ち方：順押しBAR狙い（左リール上段にBAR）</a:t>
            </a:r>
          </a:p>
        </p:txBody>
      </p:sp>
      <p:sp>
        <p:nvSpPr>
          <p:cNvPr id="60" name="TextBox 59"/>
          <p:cNvSpPr txBox="1"/>
          <p:nvPr/>
        </p:nvSpPr>
        <p:spPr>
          <a:xfrm>
            <a:off x="4632000" y="5358368"/>
            <a:ext cx="4217680" cy="280000"/>
          </a:xfrm>
          <a:prstGeom prst="rect">
            <a:avLst/>
          </a:prstGeom>
          <a:noFill/>
        </p:spPr>
        <p:txBody>
          <a:bodyPr wrap="square">
            <a:spAutoFit/>
          </a:bodyPr>
          <a:lstStyle/>
          <a:p>
            <a:pPr algn="l"/>
            <a:r>
              <a:rPr sz="750" b="0">
                <a:solidFill>
                  <a:srgbClr val="998880"/>
                </a:solidFill>
                <a:latin typeface="メイリオ"/>
              </a:rPr>
              <a:t>手順を守らないとペナルティあり。小V停止を見逃さないこと。</a:t>
            </a:r>
          </a:p>
        </p:txBody>
      </p:sp>
      <p:sp>
        <p:nvSpPr>
          <p:cNvPr id="61" name="TextBox 60"/>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62" name="Rectangle 61"/>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通常時の基本戦略：天井①(850G)を基準に管理し、伝導者の罠スルー回数（5スルー天井）もカウントする</a:t>
            </a:r>
          </a:p>
        </p:txBody>
      </p:sp>
      <p:sp>
        <p:nvSpPr>
          <p:cNvPr id="65" name="TextBox 64"/>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天井②(2,000G)は長期ハマり台の最終出口として機能。十字リプレイは状態問わず激アツ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AT「炎炎激闘」の核心 ── 十字目変換フロー詳細（解析値）</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4/9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023360" cy="26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676656"/>
            <a:ext cx="3943360" cy="240000"/>
          </a:xfrm>
          <a:prstGeom prst="rect">
            <a:avLst/>
          </a:prstGeom>
          <a:noFill/>
        </p:spPr>
        <p:txBody>
          <a:bodyPr wrap="square">
            <a:spAutoFit/>
          </a:bodyPr>
          <a:lstStyle/>
          <a:p>
            <a:pPr algn="l"/>
            <a:r>
              <a:rPr sz="950" b="1">
                <a:solidFill>
                  <a:srgbClr val="FF8800"/>
                </a:solidFill>
                <a:latin typeface="メイリオ"/>
              </a:rPr>
              <a:t>十字目変換フロー（AT1セット15G+α）</a:t>
            </a:r>
          </a:p>
        </p:txBody>
      </p:sp>
      <p:sp>
        <p:nvSpPr>
          <p:cNvPr id="10" name="Rectangle 9"/>
          <p:cNvSpPr/>
          <p:nvPr/>
        </p:nvSpPr>
        <p:spPr>
          <a:xfrm>
            <a:off x="256032" y="969264"/>
            <a:ext cx="4023360" cy="560000"/>
          </a:xfrm>
          <a:prstGeom prst="rect">
            <a:avLst/>
          </a:prstGeom>
          <a:solidFill>
            <a:srgbClr val="1C0C06"/>
          </a:solidFill>
          <a:ln w="15240">
            <a:solidFill>
              <a:srgbClr val="998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6032" y="1014264"/>
            <a:ext cx="3963360" cy="200000"/>
          </a:xfrm>
          <a:prstGeom prst="rect">
            <a:avLst/>
          </a:prstGeom>
          <a:noFill/>
        </p:spPr>
        <p:txBody>
          <a:bodyPr wrap="square">
            <a:spAutoFit/>
          </a:bodyPr>
          <a:lstStyle/>
          <a:p>
            <a:pPr algn="l"/>
            <a:r>
              <a:rPr sz="700" b="1">
                <a:solidFill>
                  <a:srgbClr val="998880"/>
                </a:solidFill>
                <a:latin typeface="メイリオ"/>
              </a:rPr>
              <a:t>STEP 1</a:t>
            </a:r>
          </a:p>
        </p:txBody>
      </p:sp>
      <p:sp>
        <p:nvSpPr>
          <p:cNvPr id="12" name="TextBox 11"/>
          <p:cNvSpPr txBox="1"/>
          <p:nvPr/>
        </p:nvSpPr>
        <p:spPr>
          <a:xfrm>
            <a:off x="296032" y="1209264"/>
            <a:ext cx="3963360" cy="260000"/>
          </a:xfrm>
          <a:prstGeom prst="rect">
            <a:avLst/>
          </a:prstGeom>
          <a:noFill/>
        </p:spPr>
        <p:txBody>
          <a:bodyPr wrap="square">
            <a:spAutoFit/>
          </a:bodyPr>
          <a:lstStyle/>
          <a:p>
            <a:pPr algn="l"/>
            <a:r>
              <a:rPr sz="1050" b="1">
                <a:solidFill>
                  <a:srgbClr val="F0ECE8"/>
                </a:solidFill>
                <a:latin typeface="游明朝"/>
              </a:rPr>
              <a:t>レア役 or リプレイ小V 成立</a:t>
            </a:r>
          </a:p>
        </p:txBody>
      </p:sp>
      <p:sp>
        <p:nvSpPr>
          <p:cNvPr id="13" name="Cube 12"/>
          <p:cNvSpPr/>
          <p:nvPr/>
        </p:nvSpPr>
        <p:spPr>
          <a:xfrm>
            <a:off x="2177712" y="1544264"/>
            <a:ext cx="180000" cy="180000"/>
          </a:xfrm>
          <a:prstGeom prst="cube">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 y="1744264"/>
            <a:ext cx="4023360" cy="560000"/>
          </a:xfrm>
          <a:prstGeom prst="rect">
            <a:avLst/>
          </a:prstGeom>
          <a:solidFill>
            <a:srgbClr val="200802"/>
          </a:solidFill>
          <a:ln w="2540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1744264"/>
            <a:ext cx="35000" cy="56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6032" y="1789264"/>
            <a:ext cx="3943360" cy="200000"/>
          </a:xfrm>
          <a:prstGeom prst="rect">
            <a:avLst/>
          </a:prstGeom>
          <a:noFill/>
        </p:spPr>
        <p:txBody>
          <a:bodyPr wrap="square">
            <a:spAutoFit/>
          </a:bodyPr>
          <a:lstStyle/>
          <a:p>
            <a:pPr algn="l"/>
            <a:r>
              <a:rPr sz="700" b="1">
                <a:solidFill>
                  <a:srgbClr val="FF4400"/>
                </a:solidFill>
                <a:latin typeface="メイリオ"/>
              </a:rPr>
              <a:t>STEP 2</a:t>
            </a:r>
          </a:p>
        </p:txBody>
      </p:sp>
      <p:sp>
        <p:nvSpPr>
          <p:cNvPr id="17" name="TextBox 16"/>
          <p:cNvSpPr txBox="1"/>
          <p:nvPr/>
        </p:nvSpPr>
        <p:spPr>
          <a:xfrm>
            <a:off x="316032" y="1984264"/>
            <a:ext cx="3943360" cy="260000"/>
          </a:xfrm>
          <a:prstGeom prst="rect">
            <a:avLst/>
          </a:prstGeom>
          <a:noFill/>
        </p:spPr>
        <p:txBody>
          <a:bodyPr wrap="square">
            <a:spAutoFit/>
          </a:bodyPr>
          <a:lstStyle/>
          <a:p>
            <a:pPr algn="l"/>
            <a:r>
              <a:rPr sz="1050" b="1">
                <a:solidFill>
                  <a:srgbClr val="FF6611"/>
                </a:solidFill>
                <a:latin typeface="游明朝"/>
              </a:rPr>
              <a:t>十字目変換発生！（約1/100）</a:t>
            </a:r>
          </a:p>
        </p:txBody>
      </p:sp>
      <p:sp>
        <p:nvSpPr>
          <p:cNvPr id="18" name="Cube 17"/>
          <p:cNvSpPr/>
          <p:nvPr/>
        </p:nvSpPr>
        <p:spPr>
          <a:xfrm>
            <a:off x="2177712" y="2319264"/>
            <a:ext cx="180000" cy="180000"/>
          </a:xfrm>
          <a:prstGeom prst="cube">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2519264"/>
            <a:ext cx="4023360" cy="840000"/>
          </a:xfrm>
          <a:prstGeom prst="rect">
            <a:avLst/>
          </a:prstGeom>
          <a:solidFill>
            <a:srgbClr val="220A04"/>
          </a:solidFill>
          <a:ln w="254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2519264"/>
            <a:ext cx="35000" cy="84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6032" y="2569264"/>
            <a:ext cx="3943360" cy="230000"/>
          </a:xfrm>
          <a:prstGeom prst="rect">
            <a:avLst/>
          </a:prstGeom>
          <a:noFill/>
        </p:spPr>
        <p:txBody>
          <a:bodyPr wrap="square">
            <a:spAutoFit/>
          </a:bodyPr>
          <a:lstStyle/>
          <a:p>
            <a:pPr algn="l"/>
            <a:r>
              <a:rPr sz="950" b="1">
                <a:solidFill>
                  <a:srgbClr val="FF8800"/>
                </a:solidFill>
                <a:latin typeface="游明朝"/>
              </a:rPr>
              <a:t>STEP 3  変換演出の種類で期待度確認</a:t>
            </a:r>
          </a:p>
        </p:txBody>
      </p:sp>
      <p:sp>
        <p:nvSpPr>
          <p:cNvPr id="22" name="Rectangle 21"/>
          <p:cNvSpPr/>
          <p:nvPr/>
        </p:nvSpPr>
        <p:spPr>
          <a:xfrm>
            <a:off x="314032" y="2809264"/>
            <a:ext cx="969840" cy="490000"/>
          </a:xfrm>
          <a:prstGeom prst="rect">
            <a:avLst/>
          </a:prstGeom>
          <a:solidFill>
            <a:srgbClr val="140804"/>
          </a:solidFill>
          <a:ln w="19050">
            <a:solidFill>
              <a:srgbClr val="998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1032" y="2839264"/>
            <a:ext cx="960840" cy="240000"/>
          </a:xfrm>
          <a:prstGeom prst="rect">
            <a:avLst/>
          </a:prstGeom>
          <a:noFill/>
        </p:spPr>
        <p:txBody>
          <a:bodyPr wrap="square">
            <a:spAutoFit/>
          </a:bodyPr>
          <a:lstStyle/>
          <a:p>
            <a:pPr algn="ctr"/>
            <a:r>
              <a:rPr sz="800" b="1">
                <a:solidFill>
                  <a:srgbClr val="998880"/>
                </a:solidFill>
                <a:latin typeface="メイリオ"/>
              </a:rPr>
              <a:t>十字マーク
変換</a:t>
            </a:r>
          </a:p>
        </p:txBody>
      </p:sp>
      <p:sp>
        <p:nvSpPr>
          <p:cNvPr id="24" name="TextBox 23"/>
          <p:cNvSpPr txBox="1"/>
          <p:nvPr/>
        </p:nvSpPr>
        <p:spPr>
          <a:xfrm>
            <a:off x="321032" y="3079264"/>
            <a:ext cx="960840" cy="220000"/>
          </a:xfrm>
          <a:prstGeom prst="rect">
            <a:avLst/>
          </a:prstGeom>
          <a:noFill/>
        </p:spPr>
        <p:txBody>
          <a:bodyPr wrap="square">
            <a:spAutoFit/>
          </a:bodyPr>
          <a:lstStyle/>
          <a:p>
            <a:pPr algn="ctr"/>
            <a:r>
              <a:rPr sz="750" b="1">
                <a:solidFill>
                  <a:srgbClr val="FFCC44"/>
                </a:solidFill>
                <a:latin typeface="メイリオ"/>
              </a:rPr>
              <a:t>低期待度</a:t>
            </a:r>
          </a:p>
        </p:txBody>
      </p:sp>
      <p:sp>
        <p:nvSpPr>
          <p:cNvPr id="25" name="Rectangle 24"/>
          <p:cNvSpPr/>
          <p:nvPr/>
        </p:nvSpPr>
        <p:spPr>
          <a:xfrm>
            <a:off x="1299872" y="2809264"/>
            <a:ext cx="969840" cy="490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06872" y="2839264"/>
            <a:ext cx="960840" cy="240000"/>
          </a:xfrm>
          <a:prstGeom prst="rect">
            <a:avLst/>
          </a:prstGeom>
          <a:noFill/>
        </p:spPr>
        <p:txBody>
          <a:bodyPr wrap="square">
            <a:spAutoFit/>
          </a:bodyPr>
          <a:lstStyle/>
          <a:p>
            <a:pPr algn="ctr"/>
            <a:r>
              <a:rPr sz="800" b="1">
                <a:solidFill>
                  <a:srgbClr val="22CCDD"/>
                </a:solidFill>
                <a:latin typeface="メイリオ"/>
              </a:rPr>
              <a:t>アイリス
変換</a:t>
            </a:r>
          </a:p>
        </p:txBody>
      </p:sp>
      <p:sp>
        <p:nvSpPr>
          <p:cNvPr id="27" name="TextBox 26"/>
          <p:cNvSpPr txBox="1"/>
          <p:nvPr/>
        </p:nvSpPr>
        <p:spPr>
          <a:xfrm>
            <a:off x="1306872" y="3079264"/>
            <a:ext cx="960840" cy="220000"/>
          </a:xfrm>
          <a:prstGeom prst="rect">
            <a:avLst/>
          </a:prstGeom>
          <a:noFill/>
        </p:spPr>
        <p:txBody>
          <a:bodyPr wrap="square">
            <a:spAutoFit/>
          </a:bodyPr>
          <a:lstStyle/>
          <a:p>
            <a:pPr algn="ctr"/>
            <a:r>
              <a:rPr sz="750" b="1">
                <a:solidFill>
                  <a:srgbClr val="FFCC44"/>
                </a:solidFill>
                <a:latin typeface="メイリオ"/>
              </a:rPr>
              <a:t>約50%+
(レア役時のみ)</a:t>
            </a:r>
          </a:p>
        </p:txBody>
      </p:sp>
      <p:sp>
        <p:nvSpPr>
          <p:cNvPr id="28" name="Rectangle 27"/>
          <p:cNvSpPr/>
          <p:nvPr/>
        </p:nvSpPr>
        <p:spPr>
          <a:xfrm>
            <a:off x="2285712" y="2809264"/>
            <a:ext cx="969840" cy="490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92712" y="2839264"/>
            <a:ext cx="960840" cy="240000"/>
          </a:xfrm>
          <a:prstGeom prst="rect">
            <a:avLst/>
          </a:prstGeom>
          <a:noFill/>
        </p:spPr>
        <p:txBody>
          <a:bodyPr wrap="square">
            <a:spAutoFit/>
          </a:bodyPr>
          <a:lstStyle/>
          <a:p>
            <a:pPr algn="ctr"/>
            <a:r>
              <a:rPr sz="800" b="1">
                <a:solidFill>
                  <a:srgbClr val="FF4400"/>
                </a:solidFill>
                <a:latin typeface="メイリオ"/>
              </a:rPr>
              <a:t>シンラ
変換</a:t>
            </a:r>
          </a:p>
        </p:txBody>
      </p:sp>
      <p:sp>
        <p:nvSpPr>
          <p:cNvPr id="30" name="TextBox 29"/>
          <p:cNvSpPr txBox="1"/>
          <p:nvPr/>
        </p:nvSpPr>
        <p:spPr>
          <a:xfrm>
            <a:off x="2292712" y="3079264"/>
            <a:ext cx="960840" cy="220000"/>
          </a:xfrm>
          <a:prstGeom prst="rect">
            <a:avLst/>
          </a:prstGeom>
          <a:noFill/>
        </p:spPr>
        <p:txBody>
          <a:bodyPr wrap="square">
            <a:spAutoFit/>
          </a:bodyPr>
          <a:lstStyle/>
          <a:p>
            <a:pPr algn="ctr"/>
            <a:r>
              <a:rPr sz="750" b="1">
                <a:solidFill>
                  <a:srgbClr val="FFCC44"/>
                </a:solidFill>
                <a:latin typeface="メイリオ"/>
              </a:rPr>
              <a:t>約84%</a:t>
            </a:r>
          </a:p>
        </p:txBody>
      </p:sp>
      <p:sp>
        <p:nvSpPr>
          <p:cNvPr id="31" name="Rectangle 30"/>
          <p:cNvSpPr/>
          <p:nvPr/>
        </p:nvSpPr>
        <p:spPr>
          <a:xfrm>
            <a:off x="3271552" y="2809264"/>
            <a:ext cx="969840" cy="490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78552" y="2839264"/>
            <a:ext cx="960840" cy="240000"/>
          </a:xfrm>
          <a:prstGeom prst="rect">
            <a:avLst/>
          </a:prstGeom>
          <a:noFill/>
        </p:spPr>
        <p:txBody>
          <a:bodyPr wrap="square">
            <a:spAutoFit/>
          </a:bodyPr>
          <a:lstStyle/>
          <a:p>
            <a:pPr algn="ctr"/>
            <a:r>
              <a:rPr sz="800" b="1">
                <a:solidFill>
                  <a:srgbClr val="FFCC44"/>
                </a:solidFill>
                <a:latin typeface="メイリオ"/>
              </a:rPr>
              <a:t>紅丸
変換</a:t>
            </a:r>
          </a:p>
        </p:txBody>
      </p:sp>
      <p:sp>
        <p:nvSpPr>
          <p:cNvPr id="33" name="TextBox 32"/>
          <p:cNvSpPr txBox="1"/>
          <p:nvPr/>
        </p:nvSpPr>
        <p:spPr>
          <a:xfrm>
            <a:off x="3278552" y="3079264"/>
            <a:ext cx="960840" cy="220000"/>
          </a:xfrm>
          <a:prstGeom prst="rect">
            <a:avLst/>
          </a:prstGeom>
          <a:noFill/>
        </p:spPr>
        <p:txBody>
          <a:bodyPr wrap="square">
            <a:spAutoFit/>
          </a:bodyPr>
          <a:lstStyle/>
          <a:p>
            <a:pPr algn="ctr"/>
            <a:r>
              <a:rPr sz="750" b="1">
                <a:solidFill>
                  <a:srgbClr val="FFCC44"/>
                </a:solidFill>
                <a:latin typeface="メイリオ"/>
              </a:rPr>
              <a:t>約98%</a:t>
            </a:r>
          </a:p>
        </p:txBody>
      </p:sp>
      <p:sp>
        <p:nvSpPr>
          <p:cNvPr id="34" name="Cube 33"/>
          <p:cNvSpPr/>
          <p:nvPr/>
        </p:nvSpPr>
        <p:spPr>
          <a:xfrm>
            <a:off x="2177712" y="3374264"/>
            <a:ext cx="180000" cy="180000"/>
          </a:xfrm>
          <a:prstGeom prst="cube">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6032" y="3569264"/>
            <a:ext cx="4023360" cy="560000"/>
          </a:xfrm>
          <a:prstGeom prst="rect">
            <a:avLst/>
          </a:prstGeom>
          <a:solidFill>
            <a:srgbClr val="241000"/>
          </a:solidFill>
          <a:ln w="2540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56032" y="3569264"/>
            <a:ext cx="35000" cy="56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6032" y="3614264"/>
            <a:ext cx="3943360" cy="200000"/>
          </a:xfrm>
          <a:prstGeom prst="rect">
            <a:avLst/>
          </a:prstGeom>
          <a:noFill/>
        </p:spPr>
        <p:txBody>
          <a:bodyPr wrap="square">
            <a:spAutoFit/>
          </a:bodyPr>
          <a:lstStyle/>
          <a:p>
            <a:pPr algn="l"/>
            <a:r>
              <a:rPr sz="700" b="1">
                <a:solidFill>
                  <a:srgbClr val="FFCC44"/>
                </a:solidFill>
                <a:latin typeface="メイリオ"/>
              </a:rPr>
              <a:t>STEP 4  変換成功！</a:t>
            </a:r>
          </a:p>
        </p:txBody>
      </p:sp>
      <p:sp>
        <p:nvSpPr>
          <p:cNvPr id="38" name="TextBox 37"/>
          <p:cNvSpPr txBox="1"/>
          <p:nvPr/>
        </p:nvSpPr>
        <p:spPr>
          <a:xfrm>
            <a:off x="316032" y="3809264"/>
            <a:ext cx="3943360" cy="260000"/>
          </a:xfrm>
          <a:prstGeom prst="rect">
            <a:avLst/>
          </a:prstGeom>
          <a:noFill/>
        </p:spPr>
        <p:txBody>
          <a:bodyPr wrap="square">
            <a:spAutoFit/>
          </a:bodyPr>
          <a:lstStyle/>
          <a:p>
            <a:pPr algn="l"/>
            <a:r>
              <a:rPr sz="1000" b="1">
                <a:solidFill>
                  <a:srgbClr val="C8A840"/>
                </a:solidFill>
                <a:latin typeface="游明朝"/>
              </a:rPr>
              <a:t>伝導者決戦 → ボーナス当選の告知演出</a:t>
            </a:r>
          </a:p>
        </p:txBody>
      </p:sp>
      <p:sp>
        <p:nvSpPr>
          <p:cNvPr id="39" name="Rectangle 38"/>
          <p:cNvSpPr/>
          <p:nvPr/>
        </p:nvSpPr>
        <p:spPr>
          <a:xfrm>
            <a:off x="4480560" y="658368"/>
            <a:ext cx="4434840" cy="26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40560" y="713368"/>
            <a:ext cx="4354840" cy="200000"/>
          </a:xfrm>
          <a:prstGeom prst="rect">
            <a:avLst/>
          </a:prstGeom>
          <a:noFill/>
        </p:spPr>
        <p:txBody>
          <a:bodyPr wrap="square">
            <a:spAutoFit/>
          </a:bodyPr>
          <a:lstStyle/>
          <a:p>
            <a:pPr algn="l"/>
            <a:r>
              <a:rPr sz="1000" b="1">
                <a:solidFill>
                  <a:srgbClr val="FF8800"/>
                </a:solidFill>
                <a:latin typeface="メイリオ"/>
              </a:rPr>
              <a:t>抽選の仕組み・保険設計・発生頻度</a:t>
            </a:r>
          </a:p>
        </p:txBody>
      </p:sp>
      <p:sp>
        <p:nvSpPr>
          <p:cNvPr id="41" name="Rectangle 40"/>
          <p:cNvSpPr/>
          <p:nvPr/>
        </p:nvSpPr>
        <p:spPr>
          <a:xfrm>
            <a:off x="4480560" y="918368"/>
            <a:ext cx="4434840" cy="1265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480560" y="918368"/>
            <a:ext cx="40000" cy="1265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50560" y="968368"/>
            <a:ext cx="4344840" cy="260000"/>
          </a:xfrm>
          <a:prstGeom prst="rect">
            <a:avLst/>
          </a:prstGeom>
          <a:noFill/>
        </p:spPr>
        <p:txBody>
          <a:bodyPr wrap="square">
            <a:spAutoFit/>
          </a:bodyPr>
          <a:lstStyle/>
          <a:p>
            <a:pPr algn="l"/>
            <a:r>
              <a:rPr sz="900" b="1">
                <a:solidFill>
                  <a:srgbClr val="FF4400"/>
                </a:solidFill>
                <a:latin typeface="メイリオ"/>
              </a:rPr>
              <a:t>抽選の3段階フロー（解析値）</a:t>
            </a:r>
          </a:p>
        </p:txBody>
      </p:sp>
      <p:sp>
        <p:nvSpPr>
          <p:cNvPr id="44" name="TextBox 43"/>
          <p:cNvSpPr txBox="1"/>
          <p:nvPr/>
        </p:nvSpPr>
        <p:spPr>
          <a:xfrm>
            <a:off x="4550560" y="1238368"/>
            <a:ext cx="4344840" cy="830000"/>
          </a:xfrm>
          <a:prstGeom prst="rect">
            <a:avLst/>
          </a:prstGeom>
          <a:noFill/>
        </p:spPr>
        <p:txBody>
          <a:bodyPr wrap="square">
            <a:spAutoFit/>
          </a:bodyPr>
          <a:lstStyle/>
          <a:p>
            <a:pPr algn="l"/>
            <a:r>
              <a:rPr sz="750" b="0">
                <a:solidFill>
                  <a:srgbClr val="F0ECE8"/>
                </a:solidFill>
                <a:latin typeface="メイリオ"/>
              </a:rPr>
              <a:t>① 十字目変換発生の抽選（内部状態参照）
② 十字目高確への移行抽選
③ 十字目ランクの昇格抽選
この3段階の抽選が順番に実行され、
ランクが高いほど変換演出が豪華になる。
トータル発生率：約1/100。</a:t>
            </a:r>
          </a:p>
        </p:txBody>
      </p:sp>
      <p:sp>
        <p:nvSpPr>
          <p:cNvPr id="45" name="Rectangle 44"/>
          <p:cNvSpPr/>
          <p:nvPr/>
        </p:nvSpPr>
        <p:spPr>
          <a:xfrm>
            <a:off x="4480560" y="2253368"/>
            <a:ext cx="4434840" cy="1265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480560" y="2253368"/>
            <a:ext cx="40000" cy="1265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50560" y="2303368"/>
            <a:ext cx="4344840" cy="260000"/>
          </a:xfrm>
          <a:prstGeom prst="rect">
            <a:avLst/>
          </a:prstGeom>
          <a:noFill/>
        </p:spPr>
        <p:txBody>
          <a:bodyPr wrap="square">
            <a:spAutoFit/>
          </a:bodyPr>
          <a:lstStyle/>
          <a:p>
            <a:pPr algn="l"/>
            <a:r>
              <a:rPr sz="900" b="1">
                <a:solidFill>
                  <a:srgbClr val="22CCDD"/>
                </a:solidFill>
                <a:latin typeface="メイリオ"/>
              </a:rPr>
              <a:t>内部状態と高確の概念</a:t>
            </a:r>
          </a:p>
        </p:txBody>
      </p:sp>
      <p:sp>
        <p:nvSpPr>
          <p:cNvPr id="48" name="TextBox 47"/>
          <p:cNvSpPr txBox="1"/>
          <p:nvPr/>
        </p:nvSpPr>
        <p:spPr>
          <a:xfrm>
            <a:off x="4550560" y="2573368"/>
            <a:ext cx="4344840" cy="830000"/>
          </a:xfrm>
          <a:prstGeom prst="rect">
            <a:avLst/>
          </a:prstGeom>
          <a:noFill/>
        </p:spPr>
        <p:txBody>
          <a:bodyPr wrap="square">
            <a:spAutoFit/>
          </a:bodyPr>
          <a:lstStyle/>
          <a:p>
            <a:pPr algn="l"/>
            <a:r>
              <a:rPr sz="750" b="0">
                <a:solidFill>
                  <a:srgbClr val="F0ECE8"/>
                </a:solidFill>
                <a:latin typeface="メイリオ"/>
              </a:rPr>
              <a:t>通常時は「ボーナス高確」「十字目高確」の
2つの内部状態が存在。どちらが高いかで
変換発生率・期待度が変化する。
伝導者の罠中は十字目高確の概念なし。
常に同じ当選率で抽選される。</a:t>
            </a:r>
          </a:p>
        </p:txBody>
      </p:sp>
      <p:sp>
        <p:nvSpPr>
          <p:cNvPr id="49" name="Rectangle 48"/>
          <p:cNvSpPr/>
          <p:nvPr/>
        </p:nvSpPr>
        <p:spPr>
          <a:xfrm>
            <a:off x="4480560" y="3588368"/>
            <a:ext cx="4434840" cy="1265000"/>
          </a:xfrm>
          <a:prstGeom prst="rect">
            <a:avLst/>
          </a:prstGeom>
          <a:solidFill>
            <a:srgbClr val="140804"/>
          </a:solidFill>
          <a:ln w="1905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480560" y="3588368"/>
            <a:ext cx="40000" cy="1265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50560" y="3638368"/>
            <a:ext cx="4344840" cy="260000"/>
          </a:xfrm>
          <a:prstGeom prst="rect">
            <a:avLst/>
          </a:prstGeom>
          <a:noFill/>
        </p:spPr>
        <p:txBody>
          <a:bodyPr wrap="square">
            <a:spAutoFit/>
          </a:bodyPr>
          <a:lstStyle/>
          <a:p>
            <a:pPr algn="l"/>
            <a:r>
              <a:rPr sz="900" b="1">
                <a:solidFill>
                  <a:srgbClr val="FF8800"/>
                </a:solidFill>
                <a:latin typeface="メイリオ"/>
              </a:rPr>
              <a:t>ストック型継続の仕組み</a:t>
            </a:r>
          </a:p>
        </p:txBody>
      </p:sp>
      <p:sp>
        <p:nvSpPr>
          <p:cNvPr id="52" name="TextBox 51"/>
          <p:cNvSpPr txBox="1"/>
          <p:nvPr/>
        </p:nvSpPr>
        <p:spPr>
          <a:xfrm>
            <a:off x="4550560" y="3908368"/>
            <a:ext cx="4344840" cy="830000"/>
          </a:xfrm>
          <a:prstGeom prst="rect">
            <a:avLst/>
          </a:prstGeom>
          <a:noFill/>
        </p:spPr>
        <p:txBody>
          <a:bodyPr wrap="square">
            <a:spAutoFit/>
          </a:bodyPr>
          <a:lstStyle/>
          <a:p>
            <a:pPr algn="l"/>
            <a:r>
              <a:rPr sz="750" b="0">
                <a:solidFill>
                  <a:srgbClr val="F0ECE8"/>
                </a:solidFill>
                <a:latin typeface="メイリオ"/>
              </a:rPr>
              <a:t>炎炎激闘はボーナスストックで継続管理。
ストックが残る限り15G再セット。
炎炎（ストック）ボーナス当選→ストック獲得
→セット継続のサイクルが出玉の本体。
ストック数が"残弾数"として機能。</a:t>
            </a:r>
          </a:p>
        </p:txBody>
      </p:sp>
      <p:sp>
        <p:nvSpPr>
          <p:cNvPr id="53" name="TextBox 52"/>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54" name="Rectangle 53"/>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十字目変換の設計核心：3段階内部抽選＋キャラ変換演出で「期待度の可視化」と「毎ゲームの緊張感」を両立</a:t>
            </a:r>
          </a:p>
        </p:txBody>
      </p:sp>
      <p:sp>
        <p:nvSpPr>
          <p:cNvPr id="57" name="TextBox 56"/>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紅丸変換（約98%）は実質告知演出。シンラ変換（約84%）でも十分な激アツ期待度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出玉を伸ばす方法 ── アドラリンク×伝導者決戦×上位昇格</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5/9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14800" cy="26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34800" cy="200000"/>
          </a:xfrm>
          <a:prstGeom prst="rect">
            <a:avLst/>
          </a:prstGeom>
          <a:noFill/>
        </p:spPr>
        <p:txBody>
          <a:bodyPr wrap="square">
            <a:spAutoFit/>
          </a:bodyPr>
          <a:lstStyle/>
          <a:p>
            <a:pPr algn="l"/>
            <a:r>
              <a:rPr sz="1000" b="1">
                <a:solidFill>
                  <a:srgbClr val="FF8800"/>
                </a:solidFill>
                <a:latin typeface="メイリオ"/>
              </a:rPr>
              <a:t>アドラリンク（上乗せ専用CZ・3G）</a:t>
            </a:r>
          </a:p>
        </p:txBody>
      </p:sp>
      <p:sp>
        <p:nvSpPr>
          <p:cNvPr id="10" name="Rectangle 9"/>
          <p:cNvSpPr/>
          <p:nvPr/>
        </p:nvSpPr>
        <p:spPr>
          <a:xfrm>
            <a:off x="256032" y="918368"/>
            <a:ext cx="4114800" cy="1400000"/>
          </a:xfrm>
          <a:prstGeom prst="rect">
            <a:avLst/>
          </a:prstGeom>
          <a:solidFill>
            <a:srgbClr val="140804"/>
          </a:solidFill>
          <a:ln w="2540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18368"/>
            <a:ext cx="40000" cy="140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032" y="968368"/>
            <a:ext cx="4024800" cy="260000"/>
          </a:xfrm>
          <a:prstGeom prst="rect">
            <a:avLst/>
          </a:prstGeom>
          <a:noFill/>
        </p:spPr>
        <p:txBody>
          <a:bodyPr wrap="square">
            <a:spAutoFit/>
          </a:bodyPr>
          <a:lstStyle/>
          <a:p>
            <a:pPr algn="l"/>
            <a:r>
              <a:rPr sz="1000" b="1">
                <a:solidFill>
                  <a:srgbClr val="22CCDD"/>
                </a:solidFill>
                <a:latin typeface="游明朝"/>
              </a:rPr>
              <a:t>アドラリンクの仕組み（解析値）</a:t>
            </a:r>
          </a:p>
        </p:txBody>
      </p:sp>
      <p:sp>
        <p:nvSpPr>
          <p:cNvPr id="13" name="TextBox 12"/>
          <p:cNvSpPr txBox="1"/>
          <p:nvPr/>
        </p:nvSpPr>
        <p:spPr>
          <a:xfrm>
            <a:off x="326032" y="1238368"/>
            <a:ext cx="4024800" cy="1000000"/>
          </a:xfrm>
          <a:prstGeom prst="rect">
            <a:avLst/>
          </a:prstGeom>
          <a:noFill/>
        </p:spPr>
        <p:txBody>
          <a:bodyPr wrap="square">
            <a:spAutoFit/>
          </a:bodyPr>
          <a:lstStyle/>
          <a:p>
            <a:pPr algn="l"/>
            <a:r>
              <a:rPr sz="850" b="0">
                <a:solidFill>
                  <a:srgbClr val="F0ECE8"/>
                </a:solidFill>
                <a:latin typeface="メイリオ"/>
              </a:rPr>
              <a:t>前兆中に十字目停止で発生する3GのCZ。
成功期待度：約50%。
3G間に小Vリプレイ or レア役成立→ボーナス当選。
十字リプレイ経由で発生時→紅J大戦昇格濃厚！
通常時突入率：約1/450
伝導者の罠中突入率：約1/550</a:t>
            </a:r>
          </a:p>
        </p:txBody>
      </p:sp>
      <p:sp>
        <p:nvSpPr>
          <p:cNvPr id="14" name="Rectangle 13"/>
          <p:cNvSpPr/>
          <p:nvPr/>
        </p:nvSpPr>
        <p:spPr>
          <a:xfrm>
            <a:off x="256032" y="2318368"/>
            <a:ext cx="4114800" cy="260000"/>
          </a:xfrm>
          <a:prstGeom prst="rect">
            <a:avLst/>
          </a:prstGeom>
          <a:solidFill>
            <a:srgbClr val="44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6032" y="2368368"/>
            <a:ext cx="4034800" cy="200000"/>
          </a:xfrm>
          <a:prstGeom prst="rect">
            <a:avLst/>
          </a:prstGeom>
          <a:noFill/>
        </p:spPr>
        <p:txBody>
          <a:bodyPr wrap="square">
            <a:spAutoFit/>
          </a:bodyPr>
          <a:lstStyle/>
          <a:p>
            <a:pPr algn="l"/>
            <a:r>
              <a:rPr sz="900" b="1">
                <a:solidFill>
                  <a:srgbClr val="FF8800"/>
                </a:solidFill>
                <a:latin typeface="メイリオ"/>
              </a:rPr>
              <a:t>リールロック段数で期待度を視覚的に表示</a:t>
            </a:r>
          </a:p>
        </p:txBody>
      </p:sp>
      <p:sp>
        <p:nvSpPr>
          <p:cNvPr id="16" name="Rectangle 15"/>
          <p:cNvSpPr/>
          <p:nvPr/>
        </p:nvSpPr>
        <p:spPr>
          <a:xfrm>
            <a:off x="264032" y="2578368"/>
            <a:ext cx="1355600" cy="760000"/>
          </a:xfrm>
          <a:prstGeom prst="rect">
            <a:avLst/>
          </a:prstGeom>
          <a:solidFill>
            <a:srgbClr val="140804"/>
          </a:solidFill>
          <a:ln w="19050">
            <a:solidFill>
              <a:srgbClr val="998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032" y="2628368"/>
            <a:ext cx="1346600" cy="240000"/>
          </a:xfrm>
          <a:prstGeom prst="rect">
            <a:avLst/>
          </a:prstGeom>
          <a:noFill/>
        </p:spPr>
        <p:txBody>
          <a:bodyPr wrap="none">
            <a:spAutoFit/>
          </a:bodyPr>
          <a:lstStyle/>
          <a:p>
            <a:pPr algn="ctr"/>
            <a:r>
              <a:rPr sz="850" b="1">
                <a:solidFill>
                  <a:srgbClr val="998880"/>
                </a:solidFill>
                <a:latin typeface="メイリオ"/>
              </a:rPr>
              <a:t>1段ロック</a:t>
            </a:r>
          </a:p>
        </p:txBody>
      </p:sp>
      <p:sp>
        <p:nvSpPr>
          <p:cNvPr id="18" name="TextBox 17"/>
          <p:cNvSpPr txBox="1"/>
          <p:nvPr/>
        </p:nvSpPr>
        <p:spPr>
          <a:xfrm>
            <a:off x="271032" y="2868368"/>
            <a:ext cx="1346600" cy="200000"/>
          </a:xfrm>
          <a:prstGeom prst="rect">
            <a:avLst/>
          </a:prstGeom>
          <a:noFill/>
        </p:spPr>
        <p:txBody>
          <a:bodyPr wrap="square">
            <a:spAutoFit/>
          </a:bodyPr>
          <a:lstStyle/>
          <a:p>
            <a:pPr algn="ctr"/>
            <a:r>
              <a:rPr sz="750" b="0">
                <a:solidFill>
                  <a:srgbClr val="F0ECE8"/>
                </a:solidFill>
                <a:latin typeface="メイリオ"/>
              </a:rPr>
              <a:t>チャンス</a:t>
            </a:r>
          </a:p>
        </p:txBody>
      </p:sp>
      <p:sp>
        <p:nvSpPr>
          <p:cNvPr id="19" name="Rectangle 18"/>
          <p:cNvSpPr/>
          <p:nvPr/>
        </p:nvSpPr>
        <p:spPr>
          <a:xfrm>
            <a:off x="296032" y="3078368"/>
            <a:ext cx="1291600" cy="80000"/>
          </a:xfrm>
          <a:prstGeom prst="rect">
            <a:avLst/>
          </a:prstGeom>
          <a:solidFill>
            <a:srgbClr val="554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032" y="3078368"/>
            <a:ext cx="387480" cy="80000"/>
          </a:xfrm>
          <a:prstGeom prst="rect">
            <a:avLst/>
          </a:prstGeom>
          <a:solidFill>
            <a:srgbClr val="998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6032" y="3178368"/>
            <a:ext cx="1321600" cy="180000"/>
          </a:xfrm>
          <a:prstGeom prst="rect">
            <a:avLst/>
          </a:prstGeom>
          <a:noFill/>
        </p:spPr>
        <p:txBody>
          <a:bodyPr wrap="none">
            <a:spAutoFit/>
          </a:bodyPr>
          <a:lstStyle/>
          <a:p>
            <a:pPr algn="ctr"/>
            <a:r>
              <a:rPr sz="800" b="1">
                <a:solidFill>
                  <a:srgbClr val="998880"/>
                </a:solidFill>
                <a:latin typeface="メイリオ"/>
              </a:rPr>
              <a:t>約30%</a:t>
            </a:r>
          </a:p>
        </p:txBody>
      </p:sp>
      <p:sp>
        <p:nvSpPr>
          <p:cNvPr id="22" name="Rectangle 21"/>
          <p:cNvSpPr/>
          <p:nvPr/>
        </p:nvSpPr>
        <p:spPr>
          <a:xfrm>
            <a:off x="1635632" y="2578368"/>
            <a:ext cx="1355600" cy="760000"/>
          </a:xfrm>
          <a:prstGeom prst="rect">
            <a:avLst/>
          </a:prstGeom>
          <a:solidFill>
            <a:srgbClr val="180A05"/>
          </a:solidFill>
          <a:ln w="1905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2632" y="2628368"/>
            <a:ext cx="1346600" cy="240000"/>
          </a:xfrm>
          <a:prstGeom prst="rect">
            <a:avLst/>
          </a:prstGeom>
          <a:noFill/>
        </p:spPr>
        <p:txBody>
          <a:bodyPr wrap="none">
            <a:spAutoFit/>
          </a:bodyPr>
          <a:lstStyle/>
          <a:p>
            <a:pPr algn="ctr"/>
            <a:r>
              <a:rPr sz="850" b="1">
                <a:solidFill>
                  <a:srgbClr val="FF6611"/>
                </a:solidFill>
                <a:latin typeface="メイリオ"/>
              </a:rPr>
              <a:t>2段ロック</a:t>
            </a:r>
          </a:p>
        </p:txBody>
      </p:sp>
      <p:sp>
        <p:nvSpPr>
          <p:cNvPr id="24" name="TextBox 23"/>
          <p:cNvSpPr txBox="1"/>
          <p:nvPr/>
        </p:nvSpPr>
        <p:spPr>
          <a:xfrm>
            <a:off x="1642632" y="2868368"/>
            <a:ext cx="1346600" cy="200000"/>
          </a:xfrm>
          <a:prstGeom prst="rect">
            <a:avLst/>
          </a:prstGeom>
          <a:noFill/>
        </p:spPr>
        <p:txBody>
          <a:bodyPr wrap="square">
            <a:spAutoFit/>
          </a:bodyPr>
          <a:lstStyle/>
          <a:p>
            <a:pPr algn="ctr"/>
            <a:r>
              <a:rPr sz="750" b="0">
                <a:solidFill>
                  <a:srgbClr val="F0ECE8"/>
                </a:solidFill>
                <a:latin typeface="メイリオ"/>
              </a:rPr>
              <a:t>期待大</a:t>
            </a:r>
          </a:p>
        </p:txBody>
      </p:sp>
      <p:sp>
        <p:nvSpPr>
          <p:cNvPr id="25" name="Rectangle 24"/>
          <p:cNvSpPr/>
          <p:nvPr/>
        </p:nvSpPr>
        <p:spPr>
          <a:xfrm>
            <a:off x="1667632" y="3078368"/>
            <a:ext cx="1291600" cy="80000"/>
          </a:xfrm>
          <a:prstGeom prst="rect">
            <a:avLst/>
          </a:prstGeom>
          <a:solidFill>
            <a:srgbClr val="554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67632" y="3078368"/>
            <a:ext cx="774960" cy="80000"/>
          </a:xfrm>
          <a:prstGeom prst="rect">
            <a:avLst/>
          </a:prstGeom>
          <a:solidFill>
            <a:srgbClr val="FF6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67632" y="3178368"/>
            <a:ext cx="1321600" cy="180000"/>
          </a:xfrm>
          <a:prstGeom prst="rect">
            <a:avLst/>
          </a:prstGeom>
          <a:noFill/>
        </p:spPr>
        <p:txBody>
          <a:bodyPr wrap="none">
            <a:spAutoFit/>
          </a:bodyPr>
          <a:lstStyle/>
          <a:p>
            <a:pPr algn="ctr"/>
            <a:r>
              <a:rPr sz="800" b="1">
                <a:solidFill>
                  <a:srgbClr val="FF6611"/>
                </a:solidFill>
                <a:latin typeface="メイリオ"/>
              </a:rPr>
              <a:t>約60%</a:t>
            </a:r>
          </a:p>
        </p:txBody>
      </p:sp>
      <p:sp>
        <p:nvSpPr>
          <p:cNvPr id="28" name="Rectangle 27"/>
          <p:cNvSpPr/>
          <p:nvPr/>
        </p:nvSpPr>
        <p:spPr>
          <a:xfrm>
            <a:off x="3007232" y="2578368"/>
            <a:ext cx="1355600" cy="760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4232" y="2628368"/>
            <a:ext cx="1346600" cy="240000"/>
          </a:xfrm>
          <a:prstGeom prst="rect">
            <a:avLst/>
          </a:prstGeom>
          <a:noFill/>
        </p:spPr>
        <p:txBody>
          <a:bodyPr wrap="none">
            <a:spAutoFit/>
          </a:bodyPr>
          <a:lstStyle/>
          <a:p>
            <a:pPr algn="ctr"/>
            <a:r>
              <a:rPr sz="850" b="1">
                <a:solidFill>
                  <a:srgbClr val="FFCC44"/>
                </a:solidFill>
                <a:latin typeface="メイリオ"/>
              </a:rPr>
              <a:t>3段ロック</a:t>
            </a:r>
          </a:p>
        </p:txBody>
      </p:sp>
      <p:sp>
        <p:nvSpPr>
          <p:cNvPr id="30" name="TextBox 29"/>
          <p:cNvSpPr txBox="1"/>
          <p:nvPr/>
        </p:nvSpPr>
        <p:spPr>
          <a:xfrm>
            <a:off x="3014232" y="2868368"/>
            <a:ext cx="1346600" cy="200000"/>
          </a:xfrm>
          <a:prstGeom prst="rect">
            <a:avLst/>
          </a:prstGeom>
          <a:noFill/>
        </p:spPr>
        <p:txBody>
          <a:bodyPr wrap="square">
            <a:spAutoFit/>
          </a:bodyPr>
          <a:lstStyle/>
          <a:p>
            <a:pPr algn="ctr"/>
            <a:r>
              <a:rPr sz="750" b="0">
                <a:solidFill>
                  <a:srgbClr val="F0ECE8"/>
                </a:solidFill>
                <a:latin typeface="メイリオ"/>
              </a:rPr>
              <a:t>当確に近い</a:t>
            </a:r>
          </a:p>
        </p:txBody>
      </p:sp>
      <p:sp>
        <p:nvSpPr>
          <p:cNvPr id="31" name="Rectangle 30"/>
          <p:cNvSpPr/>
          <p:nvPr/>
        </p:nvSpPr>
        <p:spPr>
          <a:xfrm>
            <a:off x="3039232" y="3078368"/>
            <a:ext cx="1291600" cy="80000"/>
          </a:xfrm>
          <a:prstGeom prst="rect">
            <a:avLst/>
          </a:prstGeom>
          <a:solidFill>
            <a:srgbClr val="554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39232" y="3078368"/>
            <a:ext cx="1188272" cy="8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39232" y="3178368"/>
            <a:ext cx="1321600" cy="180000"/>
          </a:xfrm>
          <a:prstGeom prst="rect">
            <a:avLst/>
          </a:prstGeom>
          <a:noFill/>
        </p:spPr>
        <p:txBody>
          <a:bodyPr wrap="none">
            <a:spAutoFit/>
          </a:bodyPr>
          <a:lstStyle/>
          <a:p>
            <a:pPr algn="ctr"/>
            <a:r>
              <a:rPr sz="800" b="1">
                <a:solidFill>
                  <a:srgbClr val="FFCC44"/>
                </a:solidFill>
                <a:latin typeface="メイリオ"/>
              </a:rPr>
              <a:t>約90%+</a:t>
            </a:r>
          </a:p>
        </p:txBody>
      </p:sp>
      <p:sp>
        <p:nvSpPr>
          <p:cNvPr id="34" name="Rectangle 33"/>
          <p:cNvSpPr/>
          <p:nvPr/>
        </p:nvSpPr>
        <p:spPr>
          <a:xfrm>
            <a:off x="4572000" y="658368"/>
            <a:ext cx="4297680" cy="26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32000" y="713368"/>
            <a:ext cx="4217680" cy="200000"/>
          </a:xfrm>
          <a:prstGeom prst="rect">
            <a:avLst/>
          </a:prstGeom>
          <a:noFill/>
        </p:spPr>
        <p:txBody>
          <a:bodyPr wrap="square">
            <a:spAutoFit/>
          </a:bodyPr>
          <a:lstStyle/>
          <a:p>
            <a:pPr algn="l"/>
            <a:r>
              <a:rPr sz="1000" b="1">
                <a:solidFill>
                  <a:srgbClr val="FF8800"/>
                </a:solidFill>
                <a:latin typeface="メイリオ"/>
              </a:rPr>
              <a:t>伝導者決戦と各ボーナスの出玉役割</a:t>
            </a:r>
          </a:p>
        </p:txBody>
      </p:sp>
      <p:sp>
        <p:nvSpPr>
          <p:cNvPr id="36" name="Rectangle 35"/>
          <p:cNvSpPr/>
          <p:nvPr/>
        </p:nvSpPr>
        <p:spPr>
          <a:xfrm>
            <a:off x="4572000" y="918368"/>
            <a:ext cx="4297680" cy="1275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918368"/>
            <a:ext cx="40000" cy="1275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42000" y="968368"/>
            <a:ext cx="4207680" cy="260000"/>
          </a:xfrm>
          <a:prstGeom prst="rect">
            <a:avLst/>
          </a:prstGeom>
          <a:noFill/>
        </p:spPr>
        <p:txBody>
          <a:bodyPr wrap="square">
            <a:spAutoFit/>
          </a:bodyPr>
          <a:lstStyle/>
          <a:p>
            <a:pPr algn="l"/>
            <a:r>
              <a:rPr sz="850" b="1">
                <a:solidFill>
                  <a:srgbClr val="FF4400"/>
                </a:solidFill>
                <a:latin typeface="メイリオ"/>
              </a:rPr>
              <a:t>伝導者決戦（ボーナス告知バトル演出）</a:t>
            </a:r>
          </a:p>
        </p:txBody>
      </p:sp>
      <p:sp>
        <p:nvSpPr>
          <p:cNvPr id="39" name="TextBox 38"/>
          <p:cNvSpPr txBox="1"/>
          <p:nvPr/>
        </p:nvSpPr>
        <p:spPr>
          <a:xfrm>
            <a:off x="4642000" y="1238368"/>
            <a:ext cx="4207680" cy="850000"/>
          </a:xfrm>
          <a:prstGeom prst="rect">
            <a:avLst/>
          </a:prstGeom>
          <a:noFill/>
        </p:spPr>
        <p:txBody>
          <a:bodyPr wrap="square">
            <a:spAutoFit/>
          </a:bodyPr>
          <a:lstStyle/>
          <a:p>
            <a:pPr algn="l"/>
            <a:r>
              <a:rPr sz="750" b="0">
                <a:solidFill>
                  <a:srgbClr val="F0ECE8"/>
                </a:solidFill>
                <a:latin typeface="メイリオ"/>
              </a:rPr>
              <a:t>十字目変換成功後に発生するバトル演出。
勝利でボーナス当選が告知される。
演出豪華さ・BGM・キャラ登場で期待度が変化。
シンラ/炎柱絡み演出は高期待度。</a:t>
            </a:r>
          </a:p>
        </p:txBody>
      </p:sp>
      <p:sp>
        <p:nvSpPr>
          <p:cNvPr id="40" name="Rectangle 39"/>
          <p:cNvSpPr/>
          <p:nvPr/>
        </p:nvSpPr>
        <p:spPr>
          <a:xfrm>
            <a:off x="4572000" y="2263368"/>
            <a:ext cx="4297680" cy="1275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2263368"/>
            <a:ext cx="40000" cy="1275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42000" y="2313368"/>
            <a:ext cx="4207680" cy="260000"/>
          </a:xfrm>
          <a:prstGeom prst="rect">
            <a:avLst/>
          </a:prstGeom>
          <a:noFill/>
        </p:spPr>
        <p:txBody>
          <a:bodyPr wrap="square">
            <a:spAutoFit/>
          </a:bodyPr>
          <a:lstStyle/>
          <a:p>
            <a:pPr algn="l"/>
            <a:r>
              <a:rPr sz="850" b="1">
                <a:solidFill>
                  <a:srgbClr val="FFCC44"/>
                </a:solidFill>
                <a:latin typeface="メイリオ"/>
              </a:rPr>
              <a:t>ボーナス種類と出玉・役割</a:t>
            </a:r>
          </a:p>
        </p:txBody>
      </p:sp>
      <p:sp>
        <p:nvSpPr>
          <p:cNvPr id="43" name="TextBox 42"/>
          <p:cNvSpPr txBox="1"/>
          <p:nvPr/>
        </p:nvSpPr>
        <p:spPr>
          <a:xfrm>
            <a:off x="4642000" y="2583368"/>
            <a:ext cx="4207680" cy="850000"/>
          </a:xfrm>
          <a:prstGeom prst="rect">
            <a:avLst/>
          </a:prstGeom>
          <a:noFill/>
        </p:spPr>
        <p:txBody>
          <a:bodyPr wrap="square">
            <a:spAutoFit/>
          </a:bodyPr>
          <a:lstStyle/>
          <a:p>
            <a:pPr algn="l"/>
            <a:r>
              <a:rPr sz="750" b="0">
                <a:solidFill>
                  <a:srgbClr val="F0ECE8"/>
                </a:solidFill>
                <a:latin typeface="メイリオ"/>
              </a:rPr>
              <a:t>REGボーナス（~85枚）：設定判別チャンス
   →消化後に伝導者の罠へ
SPエピソードBONUS（~200枚）：炎炎激闘直行
炎炎ボーナス（~200枚）：激闘内ストック獲得
炎炎BSTボーナス：ループ率90%・期待約550枚
紅J大戦直撃：期待約2,050枚</a:t>
            </a:r>
          </a:p>
        </p:txBody>
      </p:sp>
      <p:sp>
        <p:nvSpPr>
          <p:cNvPr id="44" name="Rectangle 43"/>
          <p:cNvSpPr/>
          <p:nvPr/>
        </p:nvSpPr>
        <p:spPr>
          <a:xfrm>
            <a:off x="4572000" y="3608368"/>
            <a:ext cx="4297680" cy="1275000"/>
          </a:xfrm>
          <a:prstGeom prst="rect">
            <a:avLst/>
          </a:prstGeom>
          <a:solidFill>
            <a:srgbClr val="140804"/>
          </a:solidFill>
          <a:ln w="1905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0" y="3608368"/>
            <a:ext cx="40000" cy="1275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42000" y="3658368"/>
            <a:ext cx="4207680" cy="260000"/>
          </a:xfrm>
          <a:prstGeom prst="rect">
            <a:avLst/>
          </a:prstGeom>
          <a:noFill/>
        </p:spPr>
        <p:txBody>
          <a:bodyPr wrap="square">
            <a:spAutoFit/>
          </a:bodyPr>
          <a:lstStyle/>
          <a:p>
            <a:pPr algn="l"/>
            <a:r>
              <a:rPr sz="850" b="1">
                <a:solidFill>
                  <a:srgbClr val="FF8800"/>
                </a:solidFill>
                <a:latin typeface="メイリオ"/>
              </a:rPr>
              <a:t>森羅万象CZ → アドラバースト（最強）</a:t>
            </a:r>
          </a:p>
        </p:txBody>
      </p:sp>
      <p:sp>
        <p:nvSpPr>
          <p:cNvPr id="47" name="TextBox 46"/>
          <p:cNvSpPr txBox="1"/>
          <p:nvPr/>
        </p:nvSpPr>
        <p:spPr>
          <a:xfrm>
            <a:off x="4642000" y="3928368"/>
            <a:ext cx="4207680" cy="850000"/>
          </a:xfrm>
          <a:prstGeom prst="rect">
            <a:avLst/>
          </a:prstGeom>
          <a:noFill/>
        </p:spPr>
        <p:txBody>
          <a:bodyPr wrap="square">
            <a:spAutoFit/>
          </a:bodyPr>
          <a:lstStyle/>
          <a:p>
            <a:pPr algn="l"/>
            <a:r>
              <a:rPr sz="750" b="0">
                <a:solidFill>
                  <a:srgbClr val="F0ECE8"/>
                </a:solidFill>
                <a:latin typeface="メイリオ"/>
              </a:rPr>
              <a:t>ボーナス消化中に突入する隠しCZ。
成功でアドラバースト（穢レ無キ炎）確定。
アドラチャレンジ成功でも到達可能。
期待獲得枚数：約2,760枚（シリーズ最強）。</a:t>
            </a:r>
          </a:p>
        </p:txBody>
      </p:sp>
      <p:sp>
        <p:nvSpPr>
          <p:cNvPr id="48" name="TextBox 47"/>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49" name="Rectangle 48"/>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出玉を伸ばす鍵：アドラリンクの3段ロック演出＋十字リプレイ経由での紅J大戦昇格狙いが最大の上振れルート</a:t>
            </a:r>
          </a:p>
        </p:txBody>
      </p:sp>
      <p:sp>
        <p:nvSpPr>
          <p:cNvPr id="52" name="TextBox 51"/>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森羅万象CZ（ボーナス中）→アドラバーストは約2,760枚の最終到達点。終了画面まで要注目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上位モード ── 炎炎大戦・紅J大戦・アドラバーストへの到達と遊び方</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6/9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
            <a:ext cx="9144000" cy="260000"/>
          </a:xfrm>
          <a:prstGeom prst="rect">
            <a:avLst/>
          </a:prstGeom>
          <a:solidFill>
            <a:srgbClr val="44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90372"/>
            <a:ext cx="8229600" cy="210000"/>
          </a:xfrm>
          <a:prstGeom prst="rect">
            <a:avLst/>
          </a:prstGeom>
          <a:noFill/>
        </p:spPr>
        <p:txBody>
          <a:bodyPr wrap="square">
            <a:spAutoFit/>
          </a:bodyPr>
          <a:lstStyle/>
          <a:p>
            <a:pPr algn="l"/>
            <a:r>
              <a:rPr sz="900" b="1">
                <a:solidFill>
                  <a:srgbClr val="FF8800"/>
                </a:solidFill>
                <a:latin typeface="メイリオ"/>
              </a:rPr>
              <a:t>上位モード到達ルート（炎炎激闘からの昇格階層）</a:t>
            </a:r>
          </a:p>
        </p:txBody>
      </p:sp>
      <p:sp>
        <p:nvSpPr>
          <p:cNvPr id="10" name="Rectangle 9"/>
          <p:cNvSpPr/>
          <p:nvPr/>
        </p:nvSpPr>
        <p:spPr>
          <a:xfrm>
            <a:off x="320040" y="748448"/>
            <a:ext cx="1920240" cy="1100000"/>
          </a:xfrm>
          <a:prstGeom prst="rect">
            <a:avLst/>
          </a:prstGeom>
          <a:solidFill>
            <a:srgbClr val="140804"/>
          </a:solidFill>
          <a:ln w="1905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040" y="818448"/>
            <a:ext cx="1865240" cy="370000"/>
          </a:xfrm>
          <a:prstGeom prst="rect">
            <a:avLst/>
          </a:prstGeom>
          <a:noFill/>
        </p:spPr>
        <p:txBody>
          <a:bodyPr wrap="square">
            <a:spAutoFit/>
          </a:bodyPr>
          <a:lstStyle/>
          <a:p>
            <a:pPr algn="ctr"/>
            <a:r>
              <a:rPr sz="1000" b="1">
                <a:solidFill>
                  <a:srgbClr val="FF6611"/>
                </a:solidFill>
                <a:latin typeface="游明朝"/>
              </a:rPr>
              <a:t>炎炎激闘
（基本ST）</a:t>
            </a:r>
          </a:p>
        </p:txBody>
      </p:sp>
      <p:sp>
        <p:nvSpPr>
          <p:cNvPr id="12" name="TextBox 11"/>
          <p:cNvSpPr txBox="1"/>
          <p:nvPr/>
        </p:nvSpPr>
        <p:spPr>
          <a:xfrm>
            <a:off x="350040" y="1208448"/>
            <a:ext cx="1875240" cy="480000"/>
          </a:xfrm>
          <a:prstGeom prst="rect">
            <a:avLst/>
          </a:prstGeom>
          <a:noFill/>
        </p:spPr>
        <p:txBody>
          <a:bodyPr wrap="square">
            <a:spAutoFit/>
          </a:bodyPr>
          <a:lstStyle/>
          <a:p>
            <a:pPr algn="ctr"/>
            <a:r>
              <a:rPr sz="750" b="0">
                <a:solidFill>
                  <a:srgbClr val="998880"/>
                </a:solidFill>
                <a:latin typeface="メイリオ"/>
              </a:rPr>
              <a:t>ボーナス期待度
約57%/15G
スタート地点</a:t>
            </a:r>
          </a:p>
        </p:txBody>
      </p:sp>
      <p:sp>
        <p:nvSpPr>
          <p:cNvPr id="13" name="Can 12"/>
          <p:cNvSpPr/>
          <p:nvPr/>
        </p:nvSpPr>
        <p:spPr>
          <a:xfrm>
            <a:off x="2252280" y="1208448"/>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78024" y="748448"/>
            <a:ext cx="1920240" cy="1100000"/>
          </a:xfrm>
          <a:prstGeom prst="rect">
            <a:avLst/>
          </a:prstGeom>
          <a:solidFill>
            <a:srgbClr val="140804"/>
          </a:solidFill>
          <a:ln w="1905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3024" y="818448"/>
            <a:ext cx="1865240" cy="370000"/>
          </a:xfrm>
          <a:prstGeom prst="rect">
            <a:avLst/>
          </a:prstGeom>
          <a:noFill/>
        </p:spPr>
        <p:txBody>
          <a:bodyPr wrap="square">
            <a:spAutoFit/>
          </a:bodyPr>
          <a:lstStyle/>
          <a:p>
            <a:pPr algn="ctr"/>
            <a:r>
              <a:rPr sz="1000" b="1">
                <a:solidFill>
                  <a:srgbClr val="FF8800"/>
                </a:solidFill>
                <a:latin typeface="游明朝"/>
              </a:rPr>
              <a:t>炎炎大戦
（上位ST）</a:t>
            </a:r>
          </a:p>
        </p:txBody>
      </p:sp>
      <p:sp>
        <p:nvSpPr>
          <p:cNvPr id="16" name="TextBox 15"/>
          <p:cNvSpPr txBox="1"/>
          <p:nvPr/>
        </p:nvSpPr>
        <p:spPr>
          <a:xfrm>
            <a:off x="2508024" y="1208448"/>
            <a:ext cx="1875240" cy="480000"/>
          </a:xfrm>
          <a:prstGeom prst="rect">
            <a:avLst/>
          </a:prstGeom>
          <a:noFill/>
        </p:spPr>
        <p:txBody>
          <a:bodyPr wrap="square">
            <a:spAutoFit/>
          </a:bodyPr>
          <a:lstStyle/>
          <a:p>
            <a:pPr algn="ctr"/>
            <a:r>
              <a:rPr sz="750" b="0">
                <a:solidFill>
                  <a:srgbClr val="998880"/>
                </a:solidFill>
                <a:latin typeface="メイリオ"/>
              </a:rPr>
              <a:t>ループ率約80%
純増5.8枚/G
主軸出玉ゾーン</a:t>
            </a:r>
          </a:p>
        </p:txBody>
      </p:sp>
      <p:sp>
        <p:nvSpPr>
          <p:cNvPr id="17" name="Can 16"/>
          <p:cNvSpPr/>
          <p:nvPr/>
        </p:nvSpPr>
        <p:spPr>
          <a:xfrm>
            <a:off x="4410264" y="1208448"/>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36008" y="748448"/>
            <a:ext cx="1920240" cy="1100000"/>
          </a:xfrm>
          <a:prstGeom prst="rect">
            <a:avLst/>
          </a:prstGeom>
          <a:solidFill>
            <a:srgbClr val="180800"/>
          </a:solidFill>
          <a:ln w="25400">
            <a:solidFill>
              <a:srgbClr val="FF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1008" y="818448"/>
            <a:ext cx="1865240" cy="370000"/>
          </a:xfrm>
          <a:prstGeom prst="rect">
            <a:avLst/>
          </a:prstGeom>
          <a:noFill/>
        </p:spPr>
        <p:txBody>
          <a:bodyPr wrap="square">
            <a:spAutoFit/>
          </a:bodyPr>
          <a:lstStyle/>
          <a:p>
            <a:pPr algn="ctr"/>
            <a:r>
              <a:rPr sz="1000" b="1">
                <a:solidFill>
                  <a:srgbClr val="FF4488"/>
                </a:solidFill>
                <a:latin typeface="游明朝"/>
              </a:rPr>
              <a:t>紅J大戦
（特殊上位ST）</a:t>
            </a:r>
          </a:p>
        </p:txBody>
      </p:sp>
      <p:sp>
        <p:nvSpPr>
          <p:cNvPr id="20" name="TextBox 19"/>
          <p:cNvSpPr txBox="1"/>
          <p:nvPr/>
        </p:nvSpPr>
        <p:spPr>
          <a:xfrm>
            <a:off x="4666008" y="1208448"/>
            <a:ext cx="1875240" cy="480000"/>
          </a:xfrm>
          <a:prstGeom prst="rect">
            <a:avLst/>
          </a:prstGeom>
          <a:noFill/>
        </p:spPr>
        <p:txBody>
          <a:bodyPr wrap="square">
            <a:spAutoFit/>
          </a:bodyPr>
          <a:lstStyle/>
          <a:p>
            <a:pPr algn="ctr"/>
            <a:r>
              <a:rPr sz="750" b="0">
                <a:solidFill>
                  <a:srgbClr val="998880"/>
                </a:solidFill>
                <a:latin typeface="メイリオ"/>
              </a:rPr>
              <a:t>紅丸+J参戦
期待約2,050枚
アドラリンク経由</a:t>
            </a:r>
          </a:p>
        </p:txBody>
      </p:sp>
      <p:sp>
        <p:nvSpPr>
          <p:cNvPr id="21" name="Can 20"/>
          <p:cNvSpPr/>
          <p:nvPr/>
        </p:nvSpPr>
        <p:spPr>
          <a:xfrm>
            <a:off x="6568248" y="1208448"/>
            <a:ext cx="200000" cy="180000"/>
          </a:xfrm>
          <a:prstGeom prst="can">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93992" y="748448"/>
            <a:ext cx="1920240" cy="1100000"/>
          </a:xfrm>
          <a:prstGeom prst="rect">
            <a:avLst/>
          </a:prstGeom>
          <a:solidFill>
            <a:srgbClr val="180800"/>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28992" y="818448"/>
            <a:ext cx="1865240" cy="370000"/>
          </a:xfrm>
          <a:prstGeom prst="rect">
            <a:avLst/>
          </a:prstGeom>
          <a:noFill/>
        </p:spPr>
        <p:txBody>
          <a:bodyPr wrap="square">
            <a:spAutoFit/>
          </a:bodyPr>
          <a:lstStyle/>
          <a:p>
            <a:pPr algn="ctr"/>
            <a:r>
              <a:rPr sz="1000" b="1">
                <a:solidFill>
                  <a:srgbClr val="C8A840"/>
                </a:solidFill>
                <a:latin typeface="游明朝"/>
              </a:rPr>
              <a:t>アドラバースト
(穢レ無キ炎)</a:t>
            </a:r>
          </a:p>
        </p:txBody>
      </p:sp>
      <p:sp>
        <p:nvSpPr>
          <p:cNvPr id="24" name="TextBox 23"/>
          <p:cNvSpPr txBox="1"/>
          <p:nvPr/>
        </p:nvSpPr>
        <p:spPr>
          <a:xfrm>
            <a:off x="6823992" y="1208448"/>
            <a:ext cx="1875240" cy="480000"/>
          </a:xfrm>
          <a:prstGeom prst="rect">
            <a:avLst/>
          </a:prstGeom>
          <a:noFill/>
        </p:spPr>
        <p:txBody>
          <a:bodyPr wrap="square">
            <a:spAutoFit/>
          </a:bodyPr>
          <a:lstStyle/>
          <a:p>
            <a:pPr algn="ctr"/>
            <a:r>
              <a:rPr sz="750" b="0">
                <a:solidFill>
                  <a:srgbClr val="998880"/>
                </a:solidFill>
                <a:latin typeface="メイリオ"/>
              </a:rPr>
              <a:t>森羅万象CZ
期待約2,760枚
最強フィナーレ</a:t>
            </a:r>
          </a:p>
        </p:txBody>
      </p:sp>
      <p:sp>
        <p:nvSpPr>
          <p:cNvPr id="25" name="Rectangle 24"/>
          <p:cNvSpPr/>
          <p:nvPr/>
        </p:nvSpPr>
        <p:spPr>
          <a:xfrm>
            <a:off x="0" y="1883664"/>
            <a:ext cx="9144000" cy="5000"/>
          </a:xfrm>
          <a:prstGeom prst="rect">
            <a:avLst/>
          </a:prstGeom>
          <a:solidFill>
            <a:srgbClr val="441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1938528"/>
            <a:ext cx="4160520" cy="2620000"/>
          </a:xfrm>
          <a:prstGeom prst="rect">
            <a:avLst/>
          </a:prstGeom>
          <a:solidFill>
            <a:srgbClr val="140804"/>
          </a:solidFill>
          <a:ln w="2286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1938528"/>
            <a:ext cx="45000" cy="262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032" y="1988528"/>
            <a:ext cx="4065520" cy="270000"/>
          </a:xfrm>
          <a:prstGeom prst="rect">
            <a:avLst/>
          </a:prstGeom>
          <a:noFill/>
        </p:spPr>
        <p:txBody>
          <a:bodyPr wrap="square">
            <a:spAutoFit/>
          </a:bodyPr>
          <a:lstStyle/>
          <a:p>
            <a:pPr algn="l"/>
            <a:r>
              <a:rPr sz="1100" b="1">
                <a:solidFill>
                  <a:srgbClr val="FF8800"/>
                </a:solidFill>
                <a:latin typeface="游明朝"/>
              </a:rPr>
              <a:t>炎炎大戦・紅J大戦の遊び方</a:t>
            </a:r>
          </a:p>
        </p:txBody>
      </p:sp>
      <p:sp>
        <p:nvSpPr>
          <p:cNvPr id="29" name="TextBox 28"/>
          <p:cNvSpPr txBox="1"/>
          <p:nvPr/>
        </p:nvSpPr>
        <p:spPr>
          <a:xfrm>
            <a:off x="331032" y="2278528"/>
            <a:ext cx="4065520" cy="2220000"/>
          </a:xfrm>
          <a:prstGeom prst="rect">
            <a:avLst/>
          </a:prstGeom>
          <a:noFill/>
        </p:spPr>
        <p:txBody>
          <a:bodyPr wrap="square">
            <a:spAutoFit/>
          </a:bodyPr>
          <a:lstStyle/>
          <a:p>
            <a:pPr algn="l"/>
            <a:r>
              <a:rPr sz="800" b="0">
                <a:solidFill>
                  <a:srgbClr val="F0ECE8"/>
                </a:solidFill>
                <a:latin typeface="メイリオ"/>
              </a:rPr>
              <a:t>【炎炎大戦（上位ST）】
炎炎激闘の一部で突入。純増5.8枚/Gは変わらず
ボーナス期待度が約80%に跳ね上がる。
15G+α消化後も高確率でループ継続。
ボーナス当選時は通常時を経由せず炎炎大戦に復帰。
【昇格条件】
小Vリプレイ・レア役で炎炎大戦への昇格を抽選。
昇格後はさらに紅J大戦への昇格も抽選される。
【紅J大戦（特殊上位ST）】
紅丸とジョーカーが参戦する特殊バージョン。
期待獲得枚数は約2,050枚。
アドラリンクで十字リプレイ経由→昇格濃厚。</a:t>
            </a:r>
          </a:p>
        </p:txBody>
      </p:sp>
      <p:sp>
        <p:nvSpPr>
          <p:cNvPr id="30" name="Rectangle 29"/>
          <p:cNvSpPr/>
          <p:nvPr/>
        </p:nvSpPr>
        <p:spPr>
          <a:xfrm>
            <a:off x="4617720" y="1938528"/>
            <a:ext cx="4251960" cy="2620000"/>
          </a:xfrm>
          <a:prstGeom prst="rect">
            <a:avLst/>
          </a:prstGeom>
          <a:solidFill>
            <a:srgbClr val="180800"/>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17720" y="1938528"/>
            <a:ext cx="45000" cy="262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92720" y="1988528"/>
            <a:ext cx="4156960" cy="270000"/>
          </a:xfrm>
          <a:prstGeom prst="rect">
            <a:avLst/>
          </a:prstGeom>
          <a:noFill/>
        </p:spPr>
        <p:txBody>
          <a:bodyPr wrap="square">
            <a:spAutoFit/>
          </a:bodyPr>
          <a:lstStyle/>
          <a:p>
            <a:pPr algn="l"/>
            <a:r>
              <a:rPr sz="1100" b="1">
                <a:solidFill>
                  <a:srgbClr val="C8A840"/>
                </a:solidFill>
                <a:latin typeface="游明朝"/>
              </a:rPr>
              <a:t>アドラバースト（穢レ無キ炎）の遊び方</a:t>
            </a:r>
          </a:p>
        </p:txBody>
      </p:sp>
      <p:sp>
        <p:nvSpPr>
          <p:cNvPr id="33" name="TextBox 32"/>
          <p:cNvSpPr txBox="1"/>
          <p:nvPr/>
        </p:nvSpPr>
        <p:spPr>
          <a:xfrm>
            <a:off x="4692720" y="2278528"/>
            <a:ext cx="4156960" cy="2220000"/>
          </a:xfrm>
          <a:prstGeom prst="rect">
            <a:avLst/>
          </a:prstGeom>
          <a:noFill/>
        </p:spPr>
        <p:txBody>
          <a:bodyPr wrap="square">
            <a:spAutoFit/>
          </a:bodyPr>
          <a:lstStyle/>
          <a:p>
            <a:pPr algn="l"/>
            <a:r>
              <a:rPr sz="800" b="0">
                <a:solidFill>
                  <a:srgbClr val="F0ECE8"/>
                </a:solidFill>
                <a:latin typeface="メイリオ"/>
              </a:rPr>
              <a:t>【到達ルート】
① ボーナス消化中の森羅万象CZ成功
② アドラチャレンジ（別途CZ）成功
【期待枚数約2,760枚の内訳】
ボーナス消化中の獲得枚数＋炎炎大戦ループ
による出玉の合算。JACゲームとの組み合わせで
大量獲得が実現する構造。
【打ち方・注意点】
アドラバースト突入時は演出を最後まで確認。
終了画面に設定示唆が表示される場合がある。
消化中は離席厳禁。JACゲーム中の役把握も重要。</a:t>
            </a:r>
          </a:p>
        </p:txBody>
      </p:sp>
      <p:sp>
        <p:nvSpPr>
          <p:cNvPr id="34" name="TextBox 33"/>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35" name="Rectangle 34"/>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上位モードの階層：炎炎激闘→炎炎大戦（ループ率80%）→紅J大戦（2,050枚）→アドラバースト（2,760枚）</a:t>
            </a:r>
          </a:p>
        </p:txBody>
      </p:sp>
      <p:sp>
        <p:nvSpPr>
          <p:cNvPr id="38" name="TextBox 37"/>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アドラリンクで十字リプレイを引けた場合は紅J大戦昇格濃厚。これが最大の出玉上振れルート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面白さの設計 ── なぜ炎炎ノ消防隊2は面白いのか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7/9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1200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0000" cy="120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032" y="708368"/>
            <a:ext cx="4070520" cy="260000"/>
          </a:xfrm>
          <a:prstGeom prst="rect">
            <a:avLst/>
          </a:prstGeom>
          <a:noFill/>
        </p:spPr>
        <p:txBody>
          <a:bodyPr wrap="square">
            <a:spAutoFit/>
          </a:bodyPr>
          <a:lstStyle/>
          <a:p>
            <a:pPr algn="l"/>
            <a:r>
              <a:rPr sz="950" b="1">
                <a:solidFill>
                  <a:srgbClr val="FF4400"/>
                </a:solidFill>
                <a:latin typeface="游明朝"/>
              </a:rPr>
              <a:t>① 毎ゲーム「起きるかも」の緊張感</a:t>
            </a:r>
          </a:p>
        </p:txBody>
      </p:sp>
      <p:sp>
        <p:nvSpPr>
          <p:cNvPr id="11" name="TextBox 10"/>
          <p:cNvSpPr txBox="1"/>
          <p:nvPr/>
        </p:nvSpPr>
        <p:spPr>
          <a:xfrm>
            <a:off x="326032" y="988368"/>
            <a:ext cx="4070520" cy="810000"/>
          </a:xfrm>
          <a:prstGeom prst="rect">
            <a:avLst/>
          </a:prstGeom>
          <a:noFill/>
        </p:spPr>
        <p:txBody>
          <a:bodyPr wrap="square">
            <a:spAutoFit/>
          </a:bodyPr>
          <a:lstStyle/>
          <a:p>
            <a:pPr algn="l"/>
            <a:r>
              <a:rPr sz="800" b="0">
                <a:solidFill>
                  <a:srgbClr val="F0ECE8"/>
                </a:solidFill>
                <a:latin typeface="メイリオ"/>
              </a:rPr>
              <a:t>十字目変換は約1/100と頻繁に発生。
リプレイを引くたびに「変換するか？」の
ドキドキが生まれる。スロットを回す行為
そのものに意味を持たせる設計。</a:t>
            </a:r>
          </a:p>
        </p:txBody>
      </p:sp>
      <p:sp>
        <p:nvSpPr>
          <p:cNvPr id="12" name="Rectangle 11"/>
          <p:cNvSpPr/>
          <p:nvPr/>
        </p:nvSpPr>
        <p:spPr>
          <a:xfrm>
            <a:off x="4727448" y="658368"/>
            <a:ext cx="4160520" cy="1200000"/>
          </a:xfrm>
          <a:prstGeom prst="rect">
            <a:avLst/>
          </a:prstGeom>
          <a:solidFill>
            <a:srgbClr val="140804"/>
          </a:solidFill>
          <a:ln w="1905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7448" y="658368"/>
            <a:ext cx="40000" cy="1200000"/>
          </a:xfrm>
          <a:prstGeom prst="rect">
            <a:avLst/>
          </a:prstGeom>
          <a:solidFill>
            <a:srgbClr val="FF6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97448" y="708368"/>
            <a:ext cx="4070520" cy="260000"/>
          </a:xfrm>
          <a:prstGeom prst="rect">
            <a:avLst/>
          </a:prstGeom>
          <a:noFill/>
        </p:spPr>
        <p:txBody>
          <a:bodyPr wrap="square">
            <a:spAutoFit/>
          </a:bodyPr>
          <a:lstStyle/>
          <a:p>
            <a:pPr algn="l"/>
            <a:r>
              <a:rPr sz="950" b="1">
                <a:solidFill>
                  <a:srgbClr val="FF6611"/>
                </a:solidFill>
                <a:latin typeface="游明朝"/>
              </a:rPr>
              <a:t>② キャラ変換演出という直感的期待度表示</a:t>
            </a:r>
          </a:p>
        </p:txBody>
      </p:sp>
      <p:sp>
        <p:nvSpPr>
          <p:cNvPr id="15" name="TextBox 14"/>
          <p:cNvSpPr txBox="1"/>
          <p:nvPr/>
        </p:nvSpPr>
        <p:spPr>
          <a:xfrm>
            <a:off x="4797448" y="988368"/>
            <a:ext cx="4070520" cy="810000"/>
          </a:xfrm>
          <a:prstGeom prst="rect">
            <a:avLst/>
          </a:prstGeom>
          <a:noFill/>
        </p:spPr>
        <p:txBody>
          <a:bodyPr wrap="square">
            <a:spAutoFit/>
          </a:bodyPr>
          <a:lstStyle/>
          <a:p>
            <a:pPr algn="l"/>
            <a:r>
              <a:rPr sz="800" b="0">
                <a:solidFill>
                  <a:srgbClr val="F0ECE8"/>
                </a:solidFill>
                <a:latin typeface="メイリオ"/>
              </a:rPr>
              <a:t>十字マーク→アイリス→シンラ→紅丸と
キャラの格で期待度が直感でわかる。
原作ファンには感情移入を促す二重設計。
初心者もベテランも楽しめるUX。</a:t>
            </a:r>
          </a:p>
        </p:txBody>
      </p:sp>
      <p:sp>
        <p:nvSpPr>
          <p:cNvPr id="16" name="Rectangle 15"/>
          <p:cNvSpPr/>
          <p:nvPr/>
        </p:nvSpPr>
        <p:spPr>
          <a:xfrm>
            <a:off x="256032" y="1949808"/>
            <a:ext cx="4160520" cy="1200000"/>
          </a:xfrm>
          <a:prstGeom prst="rect">
            <a:avLst/>
          </a:prstGeom>
          <a:solidFill>
            <a:srgbClr val="140804"/>
          </a:solidFill>
          <a:ln w="1905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949808"/>
            <a:ext cx="40000" cy="120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6032" y="1999808"/>
            <a:ext cx="4070520" cy="260000"/>
          </a:xfrm>
          <a:prstGeom prst="rect">
            <a:avLst/>
          </a:prstGeom>
          <a:noFill/>
        </p:spPr>
        <p:txBody>
          <a:bodyPr wrap="square">
            <a:spAutoFit/>
          </a:bodyPr>
          <a:lstStyle/>
          <a:p>
            <a:pPr algn="l"/>
            <a:r>
              <a:rPr sz="950" b="1">
                <a:solidFill>
                  <a:srgbClr val="FF8800"/>
                </a:solidFill>
                <a:latin typeface="游明朝"/>
              </a:rPr>
              <a:t>③ ストック型継続という「残弾数」の安心感</a:t>
            </a:r>
          </a:p>
        </p:txBody>
      </p:sp>
      <p:sp>
        <p:nvSpPr>
          <p:cNvPr id="19" name="TextBox 18"/>
          <p:cNvSpPr txBox="1"/>
          <p:nvPr/>
        </p:nvSpPr>
        <p:spPr>
          <a:xfrm>
            <a:off x="326032" y="2279808"/>
            <a:ext cx="4070520" cy="810000"/>
          </a:xfrm>
          <a:prstGeom prst="rect">
            <a:avLst/>
          </a:prstGeom>
          <a:noFill/>
        </p:spPr>
        <p:txBody>
          <a:bodyPr wrap="square">
            <a:spAutoFit/>
          </a:bodyPr>
          <a:lstStyle/>
          <a:p>
            <a:pPr algn="l"/>
            <a:r>
              <a:rPr sz="800" b="0">
                <a:solidFill>
                  <a:srgbClr val="F0ECE8"/>
                </a:solidFill>
                <a:latin typeface="メイリオ"/>
              </a:rPr>
              <a:t>ストックが残る限りセットが続く設計。
「あと何セット確定している」という
残弾数感覚が離席を防ぎ継続プレイを促す。
15G再セットも含めたストレスフリー設計。</a:t>
            </a:r>
          </a:p>
        </p:txBody>
      </p:sp>
      <p:sp>
        <p:nvSpPr>
          <p:cNvPr id="20" name="Rectangle 19"/>
          <p:cNvSpPr/>
          <p:nvPr/>
        </p:nvSpPr>
        <p:spPr>
          <a:xfrm>
            <a:off x="4727448" y="1949808"/>
            <a:ext cx="4160520" cy="1200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27448" y="1949808"/>
            <a:ext cx="40000" cy="120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97448" y="1999808"/>
            <a:ext cx="4070520" cy="260000"/>
          </a:xfrm>
          <a:prstGeom prst="rect">
            <a:avLst/>
          </a:prstGeom>
          <a:noFill/>
        </p:spPr>
        <p:txBody>
          <a:bodyPr wrap="square">
            <a:spAutoFit/>
          </a:bodyPr>
          <a:lstStyle/>
          <a:p>
            <a:pPr algn="l"/>
            <a:r>
              <a:rPr sz="950" b="1">
                <a:solidFill>
                  <a:srgbClr val="22CCDD"/>
                </a:solidFill>
                <a:latin typeface="游明朝"/>
              </a:rPr>
              <a:t>④ アドラリンクによる自力感の演出</a:t>
            </a:r>
          </a:p>
        </p:txBody>
      </p:sp>
      <p:sp>
        <p:nvSpPr>
          <p:cNvPr id="23" name="TextBox 22"/>
          <p:cNvSpPr txBox="1"/>
          <p:nvPr/>
        </p:nvSpPr>
        <p:spPr>
          <a:xfrm>
            <a:off x="4797448" y="2279808"/>
            <a:ext cx="4070520" cy="810000"/>
          </a:xfrm>
          <a:prstGeom prst="rect">
            <a:avLst/>
          </a:prstGeom>
          <a:noFill/>
        </p:spPr>
        <p:txBody>
          <a:bodyPr wrap="square">
            <a:spAutoFit/>
          </a:bodyPr>
          <a:lstStyle/>
          <a:p>
            <a:pPr algn="l"/>
            <a:r>
              <a:rPr sz="800" b="0">
                <a:solidFill>
                  <a:srgbClr val="F0ECE8"/>
                </a:solidFill>
                <a:latin typeface="メイリオ"/>
              </a:rPr>
              <a:t>前兆中に割り込む3GのCZ。打ち手が
「自分でボーナスを引いた」と感じる仕組み。
3段ロックの視覚演出が期待感を段階的に
高め、没入感とリピート意欲を生む。</a:t>
            </a:r>
          </a:p>
        </p:txBody>
      </p:sp>
      <p:sp>
        <p:nvSpPr>
          <p:cNvPr id="24" name="Rectangle 23"/>
          <p:cNvSpPr/>
          <p:nvPr/>
        </p:nvSpPr>
        <p:spPr>
          <a:xfrm>
            <a:off x="256032" y="3241248"/>
            <a:ext cx="8631936" cy="1100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6032" y="3241248"/>
            <a:ext cx="40000" cy="110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032" y="3291248"/>
            <a:ext cx="8541936" cy="260000"/>
          </a:xfrm>
          <a:prstGeom prst="rect">
            <a:avLst/>
          </a:prstGeom>
          <a:noFill/>
        </p:spPr>
        <p:txBody>
          <a:bodyPr wrap="square">
            <a:spAutoFit/>
          </a:bodyPr>
          <a:lstStyle/>
          <a:p>
            <a:pPr algn="l"/>
            <a:r>
              <a:rPr sz="950" b="1">
                <a:solidFill>
                  <a:srgbClr val="FFCC44"/>
                </a:solidFill>
                <a:latin typeface="游明朝"/>
              </a:rPr>
              <a:t>⑤ 常に「上のレベル」が見える多層構造</a:t>
            </a:r>
          </a:p>
        </p:txBody>
      </p:sp>
      <p:sp>
        <p:nvSpPr>
          <p:cNvPr id="27" name="TextBox 26"/>
          <p:cNvSpPr txBox="1"/>
          <p:nvPr/>
        </p:nvSpPr>
        <p:spPr>
          <a:xfrm>
            <a:off x="326032" y="3571248"/>
            <a:ext cx="8541936" cy="710000"/>
          </a:xfrm>
          <a:prstGeom prst="rect">
            <a:avLst/>
          </a:prstGeom>
          <a:noFill/>
        </p:spPr>
        <p:txBody>
          <a:bodyPr wrap="square">
            <a:spAutoFit/>
          </a:bodyPr>
          <a:lstStyle/>
          <a:p>
            <a:pPr algn="l"/>
            <a:r>
              <a:rPr sz="800" b="0">
                <a:solidFill>
                  <a:srgbClr val="F0ECE8"/>
                </a:solidFill>
                <a:latin typeface="メイリオ"/>
              </a:rPr>
              <a:t>炎炎激闘→炎炎大戦→紅J大戦→アドラバースト
と常に上位状態が存在し続ける。
"次のステージ"への目標が途切れず
プレイヤーの離席抑制につながる設計。</a:t>
            </a:r>
          </a:p>
        </p:txBody>
      </p:sp>
      <p:sp>
        <p:nvSpPr>
          <p:cNvPr id="28" name="TextBox 27"/>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29" name="Rectangle 28"/>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面白さの核心：「1/100の十字目変換×キャラ期待度演出×ストック残弾感×自力感×多層目標」の5要素連鎖</a:t>
            </a:r>
          </a:p>
        </p:txBody>
      </p:sp>
      <p:sp>
        <p:nvSpPr>
          <p:cNvPr id="32" name="TextBox 31"/>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炎（原作モチーフ）をキャラ変換演出のランク指標に昇華した点が本機の設計的美しさの真骨頂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良い点と課題 ── 設計の強みと改善余地</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8/9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14800" cy="26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34800" cy="200000"/>
          </a:xfrm>
          <a:prstGeom prst="rect">
            <a:avLst/>
          </a:prstGeom>
          <a:noFill/>
        </p:spPr>
        <p:txBody>
          <a:bodyPr wrap="square">
            <a:spAutoFit/>
          </a:bodyPr>
          <a:lstStyle/>
          <a:p>
            <a:pPr algn="l"/>
            <a:r>
              <a:rPr sz="1000" b="1">
                <a:solidFill>
                  <a:srgbClr val="0A0404"/>
                </a:solidFill>
                <a:latin typeface="メイリオ"/>
              </a:rPr>
              <a:t>良い点 ── 設計的強み</a:t>
            </a:r>
          </a:p>
        </p:txBody>
      </p:sp>
      <p:sp>
        <p:nvSpPr>
          <p:cNvPr id="10" name="Rectangle 9"/>
          <p:cNvSpPr/>
          <p:nvPr/>
        </p:nvSpPr>
        <p:spPr>
          <a:xfrm>
            <a:off x="256032" y="918368"/>
            <a:ext cx="4114800" cy="1070000"/>
          </a:xfrm>
          <a:prstGeom prst="rect">
            <a:avLst/>
          </a:prstGeom>
          <a:solidFill>
            <a:srgbClr val="14080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18368"/>
            <a:ext cx="35000" cy="107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6032" y="966368"/>
            <a:ext cx="4034800" cy="250000"/>
          </a:xfrm>
          <a:prstGeom prst="rect">
            <a:avLst/>
          </a:prstGeom>
          <a:noFill/>
        </p:spPr>
        <p:txBody>
          <a:bodyPr wrap="square">
            <a:spAutoFit/>
          </a:bodyPr>
          <a:lstStyle/>
          <a:p>
            <a:pPr algn="l"/>
            <a:r>
              <a:rPr sz="850" b="1">
                <a:solidFill>
                  <a:srgbClr val="22CC66"/>
                </a:solidFill>
                <a:latin typeface="メイリオ"/>
              </a:rPr>
              <a:t>高純増5.8枚/G×ボーナス中も共通</a:t>
            </a:r>
          </a:p>
        </p:txBody>
      </p:sp>
      <p:sp>
        <p:nvSpPr>
          <p:cNvPr id="13" name="TextBox 12"/>
          <p:cNvSpPr txBox="1"/>
          <p:nvPr/>
        </p:nvSpPr>
        <p:spPr>
          <a:xfrm>
            <a:off x="316032" y="1218368"/>
            <a:ext cx="4034800" cy="660000"/>
          </a:xfrm>
          <a:prstGeom prst="rect">
            <a:avLst/>
          </a:prstGeom>
          <a:noFill/>
        </p:spPr>
        <p:txBody>
          <a:bodyPr wrap="square">
            <a:spAutoFit/>
          </a:bodyPr>
          <a:lstStyle/>
          <a:p>
            <a:pPr algn="l"/>
            <a:r>
              <a:rPr sz="750" b="0">
                <a:solidFill>
                  <a:srgbClr val="F0ECE8"/>
                </a:solidFill>
                <a:latin typeface="メイリオ"/>
              </a:rPr>
              <a:t>ボーナス消化中・AT中ともに純増5.8枚で
出玉速度が統一されている。ループ中の
体感出玉スピードが圧倒的。</a:t>
            </a:r>
          </a:p>
        </p:txBody>
      </p:sp>
      <p:sp>
        <p:nvSpPr>
          <p:cNvPr id="14" name="Rectangle 13"/>
          <p:cNvSpPr/>
          <p:nvPr/>
        </p:nvSpPr>
        <p:spPr>
          <a:xfrm>
            <a:off x="256032" y="2058368"/>
            <a:ext cx="4114800" cy="1070000"/>
          </a:xfrm>
          <a:prstGeom prst="rect">
            <a:avLst/>
          </a:prstGeom>
          <a:solidFill>
            <a:srgbClr val="14080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058368"/>
            <a:ext cx="35000" cy="107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6032" y="2106368"/>
            <a:ext cx="4034800" cy="250000"/>
          </a:xfrm>
          <a:prstGeom prst="rect">
            <a:avLst/>
          </a:prstGeom>
          <a:noFill/>
        </p:spPr>
        <p:txBody>
          <a:bodyPr wrap="square">
            <a:spAutoFit/>
          </a:bodyPr>
          <a:lstStyle/>
          <a:p>
            <a:pPr algn="l"/>
            <a:r>
              <a:rPr sz="850" b="1">
                <a:solidFill>
                  <a:srgbClr val="22CC66"/>
                </a:solidFill>
                <a:latin typeface="メイリオ"/>
              </a:rPr>
              <a:t>キャラ変換演出による直感的期待度設計</a:t>
            </a:r>
          </a:p>
        </p:txBody>
      </p:sp>
      <p:sp>
        <p:nvSpPr>
          <p:cNvPr id="17" name="TextBox 16"/>
          <p:cNvSpPr txBox="1"/>
          <p:nvPr/>
        </p:nvSpPr>
        <p:spPr>
          <a:xfrm>
            <a:off x="316032" y="2358368"/>
            <a:ext cx="4034800" cy="660000"/>
          </a:xfrm>
          <a:prstGeom prst="rect">
            <a:avLst/>
          </a:prstGeom>
          <a:noFill/>
        </p:spPr>
        <p:txBody>
          <a:bodyPr wrap="square">
            <a:spAutoFit/>
          </a:bodyPr>
          <a:lstStyle/>
          <a:p>
            <a:pPr algn="l"/>
            <a:r>
              <a:rPr sz="750" b="0">
                <a:solidFill>
                  <a:srgbClr val="F0ECE8"/>
                </a:solidFill>
                <a:latin typeface="メイリオ"/>
              </a:rPr>
              <a:t>アイリス・シンラ・紅丸という原作キャラの
格が期待度順。原作ファン以外も
画面を見ただけで期待感を直感できる。</a:t>
            </a:r>
          </a:p>
        </p:txBody>
      </p:sp>
      <p:sp>
        <p:nvSpPr>
          <p:cNvPr id="18" name="Rectangle 17"/>
          <p:cNvSpPr/>
          <p:nvPr/>
        </p:nvSpPr>
        <p:spPr>
          <a:xfrm>
            <a:off x="256032" y="3198368"/>
            <a:ext cx="4114800" cy="1070000"/>
          </a:xfrm>
          <a:prstGeom prst="rect">
            <a:avLst/>
          </a:prstGeom>
          <a:solidFill>
            <a:srgbClr val="14080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198368"/>
            <a:ext cx="35000" cy="107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6032" y="3246368"/>
            <a:ext cx="4034800" cy="250000"/>
          </a:xfrm>
          <a:prstGeom prst="rect">
            <a:avLst/>
          </a:prstGeom>
          <a:noFill/>
        </p:spPr>
        <p:txBody>
          <a:bodyPr wrap="square">
            <a:spAutoFit/>
          </a:bodyPr>
          <a:lstStyle/>
          <a:p>
            <a:pPr algn="l"/>
            <a:r>
              <a:rPr sz="850" b="1">
                <a:solidFill>
                  <a:srgbClr val="22CC66"/>
                </a:solidFill>
                <a:latin typeface="メイリオ"/>
              </a:rPr>
              <a:t>3段階天井＋スルー天井の多層セーフティ</a:t>
            </a:r>
          </a:p>
        </p:txBody>
      </p:sp>
      <p:sp>
        <p:nvSpPr>
          <p:cNvPr id="21" name="TextBox 20"/>
          <p:cNvSpPr txBox="1"/>
          <p:nvPr/>
        </p:nvSpPr>
        <p:spPr>
          <a:xfrm>
            <a:off x="316032" y="3498368"/>
            <a:ext cx="4034800" cy="660000"/>
          </a:xfrm>
          <a:prstGeom prst="rect">
            <a:avLst/>
          </a:prstGeom>
          <a:noFill/>
        </p:spPr>
        <p:txBody>
          <a:bodyPr wrap="square">
            <a:spAutoFit/>
          </a:bodyPr>
          <a:lstStyle/>
          <a:p>
            <a:pPr algn="l"/>
            <a:r>
              <a:rPr sz="750" b="0">
                <a:solidFill>
                  <a:srgbClr val="F0ECE8"/>
                </a:solidFill>
                <a:latin typeface="メイリオ"/>
              </a:rPr>
              <a:t>850G天井・2,000G天井・5スルー天井で
ハイエナ立ち回りも計画しやすい。
投資上限が明確で安心感が高い。</a:t>
            </a:r>
          </a:p>
        </p:txBody>
      </p:sp>
      <p:sp>
        <p:nvSpPr>
          <p:cNvPr id="22" name="Rectangle 21"/>
          <p:cNvSpPr/>
          <p:nvPr/>
        </p:nvSpPr>
        <p:spPr>
          <a:xfrm>
            <a:off x="256032" y="4338368"/>
            <a:ext cx="4114800" cy="1070000"/>
          </a:xfrm>
          <a:prstGeom prst="rect">
            <a:avLst/>
          </a:prstGeom>
          <a:solidFill>
            <a:srgbClr val="140804"/>
          </a:solidFill>
          <a:ln w="1524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 y="4338368"/>
            <a:ext cx="35000" cy="107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032" y="4386368"/>
            <a:ext cx="4034800" cy="250000"/>
          </a:xfrm>
          <a:prstGeom prst="rect">
            <a:avLst/>
          </a:prstGeom>
          <a:noFill/>
        </p:spPr>
        <p:txBody>
          <a:bodyPr wrap="square">
            <a:spAutoFit/>
          </a:bodyPr>
          <a:lstStyle/>
          <a:p>
            <a:pPr algn="l"/>
            <a:r>
              <a:rPr sz="850" b="1">
                <a:solidFill>
                  <a:srgbClr val="22CC66"/>
                </a:solidFill>
                <a:latin typeface="メイリオ"/>
              </a:rPr>
              <a:t>ストック型×ループ型の複合AT設計</a:t>
            </a:r>
          </a:p>
        </p:txBody>
      </p:sp>
      <p:sp>
        <p:nvSpPr>
          <p:cNvPr id="25" name="TextBox 24"/>
          <p:cNvSpPr txBox="1"/>
          <p:nvPr/>
        </p:nvSpPr>
        <p:spPr>
          <a:xfrm>
            <a:off x="316032" y="4638368"/>
            <a:ext cx="4034800" cy="660000"/>
          </a:xfrm>
          <a:prstGeom prst="rect">
            <a:avLst/>
          </a:prstGeom>
          <a:noFill/>
        </p:spPr>
        <p:txBody>
          <a:bodyPr wrap="square">
            <a:spAutoFit/>
          </a:bodyPr>
          <a:lstStyle/>
          <a:p>
            <a:pPr algn="l"/>
            <a:r>
              <a:rPr sz="750" b="0">
                <a:solidFill>
                  <a:srgbClr val="F0ECE8"/>
                </a:solidFill>
                <a:latin typeface="メイリオ"/>
              </a:rPr>
              <a:t>炎炎激闘（ストック管理）と炎炎大戦
（ループ型）の2層構造が出玉の
予測感と意外性を同時に提供する。</a:t>
            </a:r>
          </a:p>
        </p:txBody>
      </p:sp>
      <p:sp>
        <p:nvSpPr>
          <p:cNvPr id="26" name="Rectangle 25"/>
          <p:cNvSpPr/>
          <p:nvPr/>
        </p:nvSpPr>
        <p:spPr>
          <a:xfrm>
            <a:off x="4572000" y="658368"/>
            <a:ext cx="4297680" cy="260000"/>
          </a:xfrm>
          <a:prstGeom prst="rect">
            <a:avLst/>
          </a:prstGeom>
          <a:solidFill>
            <a:srgbClr val="DD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000" y="713368"/>
            <a:ext cx="4217680" cy="200000"/>
          </a:xfrm>
          <a:prstGeom prst="rect">
            <a:avLst/>
          </a:prstGeom>
          <a:noFill/>
        </p:spPr>
        <p:txBody>
          <a:bodyPr wrap="square">
            <a:spAutoFit/>
          </a:bodyPr>
          <a:lstStyle/>
          <a:p>
            <a:pPr algn="l"/>
            <a:r>
              <a:rPr sz="1000" b="1">
                <a:solidFill>
                  <a:srgbClr val="F0ECE8"/>
                </a:solidFill>
                <a:latin typeface="メイリオ"/>
              </a:rPr>
              <a:t>課題 ── 改善余地・注意点</a:t>
            </a:r>
          </a:p>
        </p:txBody>
      </p:sp>
      <p:sp>
        <p:nvSpPr>
          <p:cNvPr id="28" name="Rectangle 27"/>
          <p:cNvSpPr/>
          <p:nvPr/>
        </p:nvSpPr>
        <p:spPr>
          <a:xfrm>
            <a:off x="4572000" y="918368"/>
            <a:ext cx="4297680" cy="1070000"/>
          </a:xfrm>
          <a:prstGeom prst="rect">
            <a:avLst/>
          </a:prstGeom>
          <a:solidFill>
            <a:srgbClr val="140804"/>
          </a:solidFill>
          <a:ln w="15240">
            <a:solidFill>
              <a:srgbClr val="DD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918368"/>
            <a:ext cx="35000" cy="1070000"/>
          </a:xfrm>
          <a:prstGeom prst="rect">
            <a:avLst/>
          </a:prstGeom>
          <a:solidFill>
            <a:srgbClr val="DD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32000" y="966368"/>
            <a:ext cx="4217680" cy="250000"/>
          </a:xfrm>
          <a:prstGeom prst="rect">
            <a:avLst/>
          </a:prstGeom>
          <a:noFill/>
        </p:spPr>
        <p:txBody>
          <a:bodyPr wrap="square">
            <a:spAutoFit/>
          </a:bodyPr>
          <a:lstStyle/>
          <a:p>
            <a:pPr algn="l"/>
            <a:r>
              <a:rPr sz="850" b="1">
                <a:solidFill>
                  <a:srgbClr val="DD1111"/>
                </a:solidFill>
                <a:latin typeface="メイリオ"/>
              </a:rPr>
              <a:t>天井②（2,000G）の投資負担の大きさ</a:t>
            </a:r>
          </a:p>
        </p:txBody>
      </p:sp>
      <p:sp>
        <p:nvSpPr>
          <p:cNvPr id="31" name="TextBox 30"/>
          <p:cNvSpPr txBox="1"/>
          <p:nvPr/>
        </p:nvSpPr>
        <p:spPr>
          <a:xfrm>
            <a:off x="4632000" y="1218368"/>
            <a:ext cx="4217680" cy="660000"/>
          </a:xfrm>
          <a:prstGeom prst="rect">
            <a:avLst/>
          </a:prstGeom>
          <a:noFill/>
        </p:spPr>
        <p:txBody>
          <a:bodyPr wrap="square">
            <a:spAutoFit/>
          </a:bodyPr>
          <a:lstStyle/>
          <a:p>
            <a:pPr algn="l"/>
            <a:r>
              <a:rPr sz="750" b="0">
                <a:solidFill>
                  <a:srgbClr val="F0ECE8"/>
                </a:solidFill>
                <a:latin typeface="メイリオ"/>
              </a:rPr>
              <a:t>炎炎ループ間2,000Gは非常に長い設定。
天井②を狙う際は大きな投資が必要で
ライトユーザーには敷居が高い。</a:t>
            </a:r>
          </a:p>
        </p:txBody>
      </p:sp>
      <p:sp>
        <p:nvSpPr>
          <p:cNvPr id="32" name="Rectangle 31"/>
          <p:cNvSpPr/>
          <p:nvPr/>
        </p:nvSpPr>
        <p:spPr>
          <a:xfrm>
            <a:off x="4572000" y="2058368"/>
            <a:ext cx="4297680" cy="1070000"/>
          </a:xfrm>
          <a:prstGeom prst="rect">
            <a:avLst/>
          </a:prstGeom>
          <a:solidFill>
            <a:srgbClr val="140804"/>
          </a:solidFill>
          <a:ln w="1524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2058368"/>
            <a:ext cx="35000" cy="107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32000" y="2106368"/>
            <a:ext cx="4217680" cy="250000"/>
          </a:xfrm>
          <a:prstGeom prst="rect">
            <a:avLst/>
          </a:prstGeom>
          <a:noFill/>
        </p:spPr>
        <p:txBody>
          <a:bodyPr wrap="square">
            <a:spAutoFit/>
          </a:bodyPr>
          <a:lstStyle/>
          <a:p>
            <a:pPr algn="l"/>
            <a:r>
              <a:rPr sz="850" b="1">
                <a:solidFill>
                  <a:srgbClr val="FF4400"/>
                </a:solidFill>
                <a:latin typeface="メイリオ"/>
              </a:rPr>
              <a:t>伝導者の罠スルー天井の複雑さ</a:t>
            </a:r>
          </a:p>
        </p:txBody>
      </p:sp>
      <p:sp>
        <p:nvSpPr>
          <p:cNvPr id="35" name="TextBox 34"/>
          <p:cNvSpPr txBox="1"/>
          <p:nvPr/>
        </p:nvSpPr>
        <p:spPr>
          <a:xfrm>
            <a:off x="4632000" y="2358368"/>
            <a:ext cx="4217680" cy="660000"/>
          </a:xfrm>
          <a:prstGeom prst="rect">
            <a:avLst/>
          </a:prstGeom>
          <a:noFill/>
        </p:spPr>
        <p:txBody>
          <a:bodyPr wrap="square">
            <a:spAutoFit/>
          </a:bodyPr>
          <a:lstStyle/>
          <a:p>
            <a:pPr algn="l"/>
            <a:r>
              <a:rPr sz="750" b="0">
                <a:solidFill>
                  <a:srgbClr val="F0ECE8"/>
                </a:solidFill>
                <a:latin typeface="メイリオ"/>
              </a:rPr>
              <a:t>5スルー天井という独自カウント概念が
初心者には理解しにくい。
カウント方法を知らないと損をする場面も。</a:t>
            </a:r>
          </a:p>
        </p:txBody>
      </p:sp>
      <p:sp>
        <p:nvSpPr>
          <p:cNvPr id="36" name="Rectangle 35"/>
          <p:cNvSpPr/>
          <p:nvPr/>
        </p:nvSpPr>
        <p:spPr>
          <a:xfrm>
            <a:off x="4572000" y="3198368"/>
            <a:ext cx="4297680" cy="1070000"/>
          </a:xfrm>
          <a:prstGeom prst="rect">
            <a:avLst/>
          </a:prstGeom>
          <a:solidFill>
            <a:srgbClr val="140804"/>
          </a:solidFill>
          <a:ln w="1524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3198368"/>
            <a:ext cx="35000" cy="107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32000" y="3246368"/>
            <a:ext cx="4217680" cy="250000"/>
          </a:xfrm>
          <a:prstGeom prst="rect">
            <a:avLst/>
          </a:prstGeom>
          <a:noFill/>
        </p:spPr>
        <p:txBody>
          <a:bodyPr wrap="square">
            <a:spAutoFit/>
          </a:bodyPr>
          <a:lstStyle/>
          <a:p>
            <a:pPr algn="l"/>
            <a:r>
              <a:rPr sz="850" b="1">
                <a:solidFill>
                  <a:srgbClr val="FF8800"/>
                </a:solidFill>
                <a:latin typeface="メイリオ"/>
              </a:rPr>
              <a:t>設定判別難易度の高さ</a:t>
            </a:r>
          </a:p>
        </p:txBody>
      </p:sp>
      <p:sp>
        <p:nvSpPr>
          <p:cNvPr id="39" name="TextBox 38"/>
          <p:cNvSpPr txBox="1"/>
          <p:nvPr/>
        </p:nvSpPr>
        <p:spPr>
          <a:xfrm>
            <a:off x="4632000" y="3498368"/>
            <a:ext cx="4217680" cy="660000"/>
          </a:xfrm>
          <a:prstGeom prst="rect">
            <a:avLst/>
          </a:prstGeom>
          <a:noFill/>
        </p:spPr>
        <p:txBody>
          <a:bodyPr wrap="square">
            <a:spAutoFit/>
          </a:bodyPr>
          <a:lstStyle/>
          <a:p>
            <a:pPr algn="l"/>
            <a:r>
              <a:rPr sz="750" b="0">
                <a:solidFill>
                  <a:srgbClr val="F0ECE8"/>
                </a:solidFill>
                <a:latin typeface="メイリオ"/>
              </a:rPr>
              <a:t>REGボーナスのシナリオが設定差の主軸だが
引けなければ判別不能に近い。
高設定確信まで時間とゲーム数が必要。</a:t>
            </a:r>
          </a:p>
        </p:txBody>
      </p:sp>
      <p:sp>
        <p:nvSpPr>
          <p:cNvPr id="40" name="Rectangle 39"/>
          <p:cNvSpPr/>
          <p:nvPr/>
        </p:nvSpPr>
        <p:spPr>
          <a:xfrm>
            <a:off x="4572000" y="4338368"/>
            <a:ext cx="4297680" cy="1070000"/>
          </a:xfrm>
          <a:prstGeom prst="rect">
            <a:avLst/>
          </a:prstGeom>
          <a:solidFill>
            <a:srgbClr val="140804"/>
          </a:solidFill>
          <a:ln w="15240">
            <a:solidFill>
              <a:srgbClr val="998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4338368"/>
            <a:ext cx="35000" cy="1070000"/>
          </a:xfrm>
          <a:prstGeom prst="rect">
            <a:avLst/>
          </a:prstGeom>
          <a:solidFill>
            <a:srgbClr val="998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2000" y="4386368"/>
            <a:ext cx="4217680" cy="250000"/>
          </a:xfrm>
          <a:prstGeom prst="rect">
            <a:avLst/>
          </a:prstGeom>
          <a:noFill/>
        </p:spPr>
        <p:txBody>
          <a:bodyPr wrap="square">
            <a:spAutoFit/>
          </a:bodyPr>
          <a:lstStyle/>
          <a:p>
            <a:pPr algn="l"/>
            <a:r>
              <a:rPr sz="850" b="1">
                <a:solidFill>
                  <a:srgbClr val="998880"/>
                </a:solidFill>
                <a:latin typeface="メイリオ"/>
              </a:rPr>
              <a:t>炎炎激闘序盤の単調感</a:t>
            </a:r>
          </a:p>
        </p:txBody>
      </p:sp>
      <p:sp>
        <p:nvSpPr>
          <p:cNvPr id="43" name="TextBox 42"/>
          <p:cNvSpPr txBox="1"/>
          <p:nvPr/>
        </p:nvSpPr>
        <p:spPr>
          <a:xfrm>
            <a:off x="4632000" y="4638368"/>
            <a:ext cx="4217680" cy="660000"/>
          </a:xfrm>
          <a:prstGeom prst="rect">
            <a:avLst/>
          </a:prstGeom>
          <a:noFill/>
        </p:spPr>
        <p:txBody>
          <a:bodyPr wrap="square">
            <a:spAutoFit/>
          </a:bodyPr>
          <a:lstStyle/>
          <a:p>
            <a:pPr algn="l"/>
            <a:r>
              <a:rPr sz="750" b="0">
                <a:solidFill>
                  <a:srgbClr val="F0ECE8"/>
                </a:solidFill>
                <a:latin typeface="メイリオ"/>
              </a:rPr>
              <a:t>ストック数が少ない序盤は15G×数セットの
繰り返しで単純作業感が出やすい。
炎炎大戦に乗るまでの我慢が必要。</a:t>
            </a:r>
          </a:p>
        </p:txBody>
      </p:sp>
      <p:sp>
        <p:nvSpPr>
          <p:cNvPr id="44" name="TextBox 43"/>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45" name="Rectangle 44"/>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強みと課題の両面把握が設計学習の本質：強みを他機種に応用し、課題を次世代設計で克服する視点を持つ</a:t>
            </a:r>
          </a:p>
        </p:txBody>
      </p:sp>
      <p:sp>
        <p:nvSpPr>
          <p:cNvPr id="48" name="TextBox 47"/>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伝導者の罠スルー天井の複雑さはゲームセンター的な深みでもあり、ヘビーユーザーには魅力になり得る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14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FF8800"/>
                </a:solidFill>
                <a:latin typeface="游明朝"/>
              </a:rPr>
              <a:t>まとめ ── 設計から学べること</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998880"/>
                </a:solidFill>
                <a:latin typeface="メイリオ"/>
              </a:rPr>
              <a:t>9/9</a:t>
            </a:r>
          </a:p>
        </p:txBody>
      </p:sp>
      <p:sp>
        <p:nvSpPr>
          <p:cNvPr id="7" name="Rectangle 6"/>
          <p:cNvSpPr/>
          <p:nvPr/>
        </p:nvSpPr>
        <p:spPr>
          <a:xfrm>
            <a:off x="0" y="530352"/>
            <a:ext cx="9144000" cy="7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14800" cy="260000"/>
          </a:xfrm>
          <a:prstGeom prst="rect">
            <a:avLst/>
          </a:prstGeom>
          <a:solidFill>
            <a:srgbClr val="55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34800" cy="200000"/>
          </a:xfrm>
          <a:prstGeom prst="rect">
            <a:avLst/>
          </a:prstGeom>
          <a:noFill/>
        </p:spPr>
        <p:txBody>
          <a:bodyPr wrap="square">
            <a:spAutoFit/>
          </a:bodyPr>
          <a:lstStyle/>
          <a:p>
            <a:pPr algn="l"/>
            <a:r>
              <a:rPr sz="1000" b="1">
                <a:solidFill>
                  <a:srgbClr val="FF8800"/>
                </a:solidFill>
                <a:latin typeface="メイリオ"/>
              </a:rPr>
              <a:t>炎炎ノ消防隊2 ── 設計的強み総括</a:t>
            </a:r>
          </a:p>
        </p:txBody>
      </p:sp>
      <p:sp>
        <p:nvSpPr>
          <p:cNvPr id="10" name="Rectangle 9"/>
          <p:cNvSpPr/>
          <p:nvPr/>
        </p:nvSpPr>
        <p:spPr>
          <a:xfrm>
            <a:off x="256032" y="918368"/>
            <a:ext cx="4114800" cy="1210000"/>
          </a:xfrm>
          <a:prstGeom prst="rect">
            <a:avLst/>
          </a:prstGeom>
          <a:solidFill>
            <a:srgbClr val="140804"/>
          </a:solidFill>
          <a:ln w="1905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18368"/>
            <a:ext cx="40000" cy="121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032" y="968368"/>
            <a:ext cx="4024800" cy="260000"/>
          </a:xfrm>
          <a:prstGeom prst="rect">
            <a:avLst/>
          </a:prstGeom>
          <a:noFill/>
        </p:spPr>
        <p:txBody>
          <a:bodyPr wrap="square">
            <a:spAutoFit/>
          </a:bodyPr>
          <a:lstStyle/>
          <a:p>
            <a:pPr algn="l"/>
            <a:r>
              <a:rPr sz="900" b="1">
                <a:solidFill>
                  <a:srgbClr val="FF4400"/>
                </a:solidFill>
                <a:latin typeface="メイリオ"/>
              </a:rPr>
              <a:t>十字目変換フローという核心設計</a:t>
            </a:r>
          </a:p>
        </p:txBody>
      </p:sp>
      <p:sp>
        <p:nvSpPr>
          <p:cNvPr id="13" name="TextBox 12"/>
          <p:cNvSpPr txBox="1"/>
          <p:nvPr/>
        </p:nvSpPr>
        <p:spPr>
          <a:xfrm>
            <a:off x="326032" y="1243368"/>
            <a:ext cx="4024800" cy="780000"/>
          </a:xfrm>
          <a:prstGeom prst="rect">
            <a:avLst/>
          </a:prstGeom>
          <a:noFill/>
        </p:spPr>
        <p:txBody>
          <a:bodyPr wrap="square">
            <a:spAutoFit/>
          </a:bodyPr>
          <a:lstStyle/>
          <a:p>
            <a:pPr algn="l"/>
            <a:r>
              <a:rPr sz="800" b="0">
                <a:solidFill>
                  <a:srgbClr val="F0ECE8"/>
                </a:solidFill>
                <a:latin typeface="メイリオ"/>
              </a:rPr>
              <a:t>レア役→1/100で十字目変換発生→
キャラ変換演出で期待度可視化→伝導者決戦
という緊張感の連鎖が毎Gを意味ある時間にする。</a:t>
            </a:r>
          </a:p>
        </p:txBody>
      </p:sp>
      <p:sp>
        <p:nvSpPr>
          <p:cNvPr id="14" name="Rectangle 13"/>
          <p:cNvSpPr/>
          <p:nvPr/>
        </p:nvSpPr>
        <p:spPr>
          <a:xfrm>
            <a:off x="256032" y="2198368"/>
            <a:ext cx="4114800" cy="1210000"/>
          </a:xfrm>
          <a:prstGeom prst="rect">
            <a:avLst/>
          </a:prstGeom>
          <a:solidFill>
            <a:srgbClr val="140804"/>
          </a:solidFill>
          <a:ln w="1905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198368"/>
            <a:ext cx="40000" cy="121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032" y="2248368"/>
            <a:ext cx="4024800" cy="260000"/>
          </a:xfrm>
          <a:prstGeom prst="rect">
            <a:avLst/>
          </a:prstGeom>
          <a:noFill/>
        </p:spPr>
        <p:txBody>
          <a:bodyPr wrap="square">
            <a:spAutoFit/>
          </a:bodyPr>
          <a:lstStyle/>
          <a:p>
            <a:pPr algn="l"/>
            <a:r>
              <a:rPr sz="900" b="1">
                <a:solidFill>
                  <a:srgbClr val="FFCC44"/>
                </a:solidFill>
                <a:latin typeface="メイリオ"/>
              </a:rPr>
              <a:t>5.8枚/G×ループ型ATの出玉体験</a:t>
            </a:r>
          </a:p>
        </p:txBody>
      </p:sp>
      <p:sp>
        <p:nvSpPr>
          <p:cNvPr id="17" name="TextBox 16"/>
          <p:cNvSpPr txBox="1"/>
          <p:nvPr/>
        </p:nvSpPr>
        <p:spPr>
          <a:xfrm>
            <a:off x="326032" y="2523368"/>
            <a:ext cx="4024800" cy="780000"/>
          </a:xfrm>
          <a:prstGeom prst="rect">
            <a:avLst/>
          </a:prstGeom>
          <a:noFill/>
        </p:spPr>
        <p:txBody>
          <a:bodyPr wrap="square">
            <a:spAutoFit/>
          </a:bodyPr>
          <a:lstStyle/>
          <a:p>
            <a:pPr algn="l"/>
            <a:r>
              <a:rPr sz="800" b="0">
                <a:solidFill>
                  <a:srgbClr val="F0ECE8"/>
                </a:solidFill>
                <a:latin typeface="メイリオ"/>
              </a:rPr>
              <a:t>炎炎大戦ループ率80%×純増5.8枚/Gが
他台にない「速くて大きな勝ち体験」を提供。
紅J大戦・アドラバーストが夢として機能。</a:t>
            </a:r>
          </a:p>
        </p:txBody>
      </p:sp>
      <p:sp>
        <p:nvSpPr>
          <p:cNvPr id="18" name="Rectangle 17"/>
          <p:cNvSpPr/>
          <p:nvPr/>
        </p:nvSpPr>
        <p:spPr>
          <a:xfrm>
            <a:off x="256032" y="3478368"/>
            <a:ext cx="4114800" cy="1210000"/>
          </a:xfrm>
          <a:prstGeom prst="rect">
            <a:avLst/>
          </a:prstGeom>
          <a:solidFill>
            <a:srgbClr val="140804"/>
          </a:solidFill>
          <a:ln w="19050">
            <a:solidFill>
              <a:srgbClr val="22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478368"/>
            <a:ext cx="40000" cy="1210000"/>
          </a:xfrm>
          <a:prstGeom prst="rect">
            <a:avLst/>
          </a:prstGeom>
          <a:solidFill>
            <a:srgbClr val="22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032" y="3528368"/>
            <a:ext cx="4024800" cy="260000"/>
          </a:xfrm>
          <a:prstGeom prst="rect">
            <a:avLst/>
          </a:prstGeom>
          <a:noFill/>
        </p:spPr>
        <p:txBody>
          <a:bodyPr wrap="square">
            <a:spAutoFit/>
          </a:bodyPr>
          <a:lstStyle/>
          <a:p>
            <a:pPr algn="l"/>
            <a:r>
              <a:rPr sz="900" b="1">
                <a:solidFill>
                  <a:srgbClr val="22CCDD"/>
                </a:solidFill>
                <a:latin typeface="メイリオ"/>
              </a:rPr>
              <a:t>3段階天井＋スルー天井の安心設計</a:t>
            </a:r>
          </a:p>
        </p:txBody>
      </p:sp>
      <p:sp>
        <p:nvSpPr>
          <p:cNvPr id="21" name="TextBox 20"/>
          <p:cNvSpPr txBox="1"/>
          <p:nvPr/>
        </p:nvSpPr>
        <p:spPr>
          <a:xfrm>
            <a:off x="326032" y="3803368"/>
            <a:ext cx="4024800" cy="780000"/>
          </a:xfrm>
          <a:prstGeom prst="rect">
            <a:avLst/>
          </a:prstGeom>
          <a:noFill/>
        </p:spPr>
        <p:txBody>
          <a:bodyPr wrap="square">
            <a:spAutoFit/>
          </a:bodyPr>
          <a:lstStyle/>
          <a:p>
            <a:pPr algn="l"/>
            <a:r>
              <a:rPr sz="800" b="0">
                <a:solidFill>
                  <a:srgbClr val="F0ECE8"/>
                </a:solidFill>
                <a:latin typeface="メイリオ"/>
              </a:rPr>
              <a:t>850G・2,000G・5スルー天井の多層構造で
投資計画が立てやすく来店動機になる。
ハイエナ立ち回りの明確な指標にもなる。</a:t>
            </a:r>
          </a:p>
        </p:txBody>
      </p:sp>
      <p:sp>
        <p:nvSpPr>
          <p:cNvPr id="22" name="Rectangle 21"/>
          <p:cNvSpPr/>
          <p:nvPr/>
        </p:nvSpPr>
        <p:spPr>
          <a:xfrm>
            <a:off x="4572000" y="658368"/>
            <a:ext cx="4297680" cy="260000"/>
          </a:xfrm>
          <a:prstGeom prst="rect">
            <a:avLst/>
          </a:prstGeom>
          <a:solidFill>
            <a:srgbClr val="1C0C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2000" y="713368"/>
            <a:ext cx="4217680" cy="200000"/>
          </a:xfrm>
          <a:prstGeom prst="rect">
            <a:avLst/>
          </a:prstGeom>
          <a:noFill/>
        </p:spPr>
        <p:txBody>
          <a:bodyPr wrap="square">
            <a:spAutoFit/>
          </a:bodyPr>
          <a:lstStyle/>
          <a:p>
            <a:pPr algn="l"/>
            <a:r>
              <a:rPr sz="1000" b="1">
                <a:solidFill>
                  <a:srgbClr val="FF8800"/>
                </a:solidFill>
                <a:latin typeface="游明朝"/>
              </a:rPr>
              <a:t>設計から学べる原則</a:t>
            </a:r>
          </a:p>
        </p:txBody>
      </p:sp>
      <p:sp>
        <p:nvSpPr>
          <p:cNvPr id="24" name="Rectangle 23"/>
          <p:cNvSpPr/>
          <p:nvPr/>
        </p:nvSpPr>
        <p:spPr>
          <a:xfrm>
            <a:off x="4572000" y="918368"/>
            <a:ext cx="4297680" cy="710000"/>
          </a:xfrm>
          <a:prstGeom prst="rect">
            <a:avLst/>
          </a:prstGeom>
          <a:solidFill>
            <a:srgbClr val="140804"/>
          </a:solidFill>
          <a:ln w="1270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918368"/>
            <a:ext cx="30000" cy="71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7000" y="966368"/>
            <a:ext cx="4222680" cy="230000"/>
          </a:xfrm>
          <a:prstGeom prst="rect">
            <a:avLst/>
          </a:prstGeom>
          <a:noFill/>
        </p:spPr>
        <p:txBody>
          <a:bodyPr wrap="square">
            <a:spAutoFit/>
          </a:bodyPr>
          <a:lstStyle/>
          <a:p>
            <a:pPr algn="l"/>
            <a:r>
              <a:rPr sz="850" b="1">
                <a:solidFill>
                  <a:srgbClr val="FF4400"/>
                </a:solidFill>
                <a:latin typeface="メイリオ"/>
              </a:rPr>
              <a:t>毎Gの行動に意味を持たせよ</a:t>
            </a:r>
          </a:p>
        </p:txBody>
      </p:sp>
      <p:sp>
        <p:nvSpPr>
          <p:cNvPr id="27" name="TextBox 26"/>
          <p:cNvSpPr txBox="1"/>
          <p:nvPr/>
        </p:nvSpPr>
        <p:spPr>
          <a:xfrm>
            <a:off x="4627000" y="1203368"/>
            <a:ext cx="4222680" cy="350000"/>
          </a:xfrm>
          <a:prstGeom prst="rect">
            <a:avLst/>
          </a:prstGeom>
          <a:noFill/>
        </p:spPr>
        <p:txBody>
          <a:bodyPr wrap="square">
            <a:spAutoFit/>
          </a:bodyPr>
          <a:lstStyle/>
          <a:p>
            <a:pPr algn="l"/>
            <a:r>
              <a:rPr sz="750" b="0">
                <a:solidFill>
                  <a:srgbClr val="F0ECE8"/>
                </a:solidFill>
                <a:latin typeface="メイリオ"/>
              </a:rPr>
              <a:t>1/100の変換チャンスが打ち手を
能動的にし、回し続けるモチベーションを生む</a:t>
            </a:r>
          </a:p>
        </p:txBody>
      </p:sp>
      <p:sp>
        <p:nvSpPr>
          <p:cNvPr id="28" name="Rectangle 27"/>
          <p:cNvSpPr/>
          <p:nvPr/>
        </p:nvSpPr>
        <p:spPr>
          <a:xfrm>
            <a:off x="4572000" y="1678368"/>
            <a:ext cx="4297680" cy="710000"/>
          </a:xfrm>
          <a:prstGeom prst="rect">
            <a:avLst/>
          </a:prstGeom>
          <a:solidFill>
            <a:srgbClr val="140804"/>
          </a:solidFill>
          <a:ln w="12700">
            <a:solidFill>
              <a:srgbClr val="FF66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1678368"/>
            <a:ext cx="30000" cy="710000"/>
          </a:xfrm>
          <a:prstGeom prst="rect">
            <a:avLst/>
          </a:prstGeom>
          <a:solidFill>
            <a:srgbClr val="FF6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7000" y="1726368"/>
            <a:ext cx="4222680" cy="230000"/>
          </a:xfrm>
          <a:prstGeom prst="rect">
            <a:avLst/>
          </a:prstGeom>
          <a:noFill/>
        </p:spPr>
        <p:txBody>
          <a:bodyPr wrap="square">
            <a:spAutoFit/>
          </a:bodyPr>
          <a:lstStyle/>
          <a:p>
            <a:pPr algn="l"/>
            <a:r>
              <a:rPr sz="850" b="1">
                <a:solidFill>
                  <a:srgbClr val="FF6611"/>
                </a:solidFill>
                <a:latin typeface="メイリオ"/>
              </a:rPr>
              <a:t>期待度はキャラの格で直感的に伝えよ</a:t>
            </a:r>
          </a:p>
        </p:txBody>
      </p:sp>
      <p:sp>
        <p:nvSpPr>
          <p:cNvPr id="31" name="TextBox 30"/>
          <p:cNvSpPr txBox="1"/>
          <p:nvPr/>
        </p:nvSpPr>
        <p:spPr>
          <a:xfrm>
            <a:off x="4627000" y="1963368"/>
            <a:ext cx="4222680" cy="350000"/>
          </a:xfrm>
          <a:prstGeom prst="rect">
            <a:avLst/>
          </a:prstGeom>
          <a:noFill/>
        </p:spPr>
        <p:txBody>
          <a:bodyPr wrap="square">
            <a:spAutoFit/>
          </a:bodyPr>
          <a:lstStyle/>
          <a:p>
            <a:pPr algn="l"/>
            <a:r>
              <a:rPr sz="750" b="0">
                <a:solidFill>
                  <a:srgbClr val="F0ECE8"/>
                </a:solidFill>
                <a:latin typeface="メイリオ"/>
              </a:rPr>
              <a:t>アイリス&lt;シンラ&lt;紅丸という
原作序列＝期待度がUXと物語を融合させる</a:t>
            </a:r>
          </a:p>
        </p:txBody>
      </p:sp>
      <p:sp>
        <p:nvSpPr>
          <p:cNvPr id="32" name="Rectangle 31"/>
          <p:cNvSpPr/>
          <p:nvPr/>
        </p:nvSpPr>
        <p:spPr>
          <a:xfrm>
            <a:off x="4572000" y="2438368"/>
            <a:ext cx="4297680" cy="710000"/>
          </a:xfrm>
          <a:prstGeom prst="rect">
            <a:avLst/>
          </a:prstGeom>
          <a:solidFill>
            <a:srgbClr val="140804"/>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2438368"/>
            <a:ext cx="30000" cy="710000"/>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7000" y="2486368"/>
            <a:ext cx="4222680" cy="230000"/>
          </a:xfrm>
          <a:prstGeom prst="rect">
            <a:avLst/>
          </a:prstGeom>
          <a:noFill/>
        </p:spPr>
        <p:txBody>
          <a:bodyPr wrap="square">
            <a:spAutoFit/>
          </a:bodyPr>
          <a:lstStyle/>
          <a:p>
            <a:pPr algn="l"/>
            <a:r>
              <a:rPr sz="850" b="1">
                <a:solidFill>
                  <a:srgbClr val="FF8800"/>
                </a:solidFill>
                <a:latin typeface="メイリオ"/>
              </a:rPr>
              <a:t>「残弾数」で安心感を設計せよ</a:t>
            </a:r>
          </a:p>
        </p:txBody>
      </p:sp>
      <p:sp>
        <p:nvSpPr>
          <p:cNvPr id="35" name="TextBox 34"/>
          <p:cNvSpPr txBox="1"/>
          <p:nvPr/>
        </p:nvSpPr>
        <p:spPr>
          <a:xfrm>
            <a:off x="4627000" y="2723368"/>
            <a:ext cx="4222680" cy="350000"/>
          </a:xfrm>
          <a:prstGeom prst="rect">
            <a:avLst/>
          </a:prstGeom>
          <a:noFill/>
        </p:spPr>
        <p:txBody>
          <a:bodyPr wrap="square">
            <a:spAutoFit/>
          </a:bodyPr>
          <a:lstStyle/>
          <a:p>
            <a:pPr algn="l"/>
            <a:r>
              <a:rPr sz="750" b="0">
                <a:solidFill>
                  <a:srgbClr val="F0ECE8"/>
                </a:solidFill>
                <a:latin typeface="メイリオ"/>
              </a:rPr>
              <a:t>ストック型のセット継続保証が
ストレスを消し長時間稼働を促す</a:t>
            </a:r>
          </a:p>
        </p:txBody>
      </p:sp>
      <p:sp>
        <p:nvSpPr>
          <p:cNvPr id="36" name="Rectangle 35"/>
          <p:cNvSpPr/>
          <p:nvPr/>
        </p:nvSpPr>
        <p:spPr>
          <a:xfrm>
            <a:off x="4572000" y="3198368"/>
            <a:ext cx="4297680" cy="710000"/>
          </a:xfrm>
          <a:prstGeom prst="rect">
            <a:avLst/>
          </a:prstGeom>
          <a:solidFill>
            <a:srgbClr val="140804"/>
          </a:solidFill>
          <a:ln w="12700">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3198368"/>
            <a:ext cx="30000" cy="710000"/>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27000" y="3246368"/>
            <a:ext cx="4222680" cy="230000"/>
          </a:xfrm>
          <a:prstGeom prst="rect">
            <a:avLst/>
          </a:prstGeom>
          <a:noFill/>
        </p:spPr>
        <p:txBody>
          <a:bodyPr wrap="square">
            <a:spAutoFit/>
          </a:bodyPr>
          <a:lstStyle/>
          <a:p>
            <a:pPr algn="l"/>
            <a:r>
              <a:rPr sz="850" b="1">
                <a:solidFill>
                  <a:srgbClr val="FFCC44"/>
                </a:solidFill>
                <a:latin typeface="メイリオ"/>
              </a:rPr>
              <a:t>常に上の目標を見せよ</a:t>
            </a:r>
          </a:p>
        </p:txBody>
      </p:sp>
      <p:sp>
        <p:nvSpPr>
          <p:cNvPr id="39" name="TextBox 38"/>
          <p:cNvSpPr txBox="1"/>
          <p:nvPr/>
        </p:nvSpPr>
        <p:spPr>
          <a:xfrm>
            <a:off x="4627000" y="3483368"/>
            <a:ext cx="4222680" cy="350000"/>
          </a:xfrm>
          <a:prstGeom prst="rect">
            <a:avLst/>
          </a:prstGeom>
          <a:noFill/>
        </p:spPr>
        <p:txBody>
          <a:bodyPr wrap="square">
            <a:spAutoFit/>
          </a:bodyPr>
          <a:lstStyle/>
          <a:p>
            <a:pPr algn="l"/>
            <a:r>
              <a:rPr sz="750" b="0">
                <a:solidFill>
                  <a:srgbClr val="F0ECE8"/>
                </a:solidFill>
                <a:latin typeface="メイリオ"/>
              </a:rPr>
              <a:t>多層の上位ATが"次のステージ"を
常に提示し離席を防ぐ設計の鉄則</a:t>
            </a:r>
          </a:p>
        </p:txBody>
      </p:sp>
      <p:sp>
        <p:nvSpPr>
          <p:cNvPr id="40" name="Rectangle 39"/>
          <p:cNvSpPr/>
          <p:nvPr/>
        </p:nvSpPr>
        <p:spPr>
          <a:xfrm>
            <a:off x="4572000" y="3968368"/>
            <a:ext cx="4297680" cy="1060000"/>
          </a:xfrm>
          <a:prstGeom prst="rect">
            <a:avLst/>
          </a:prstGeom>
          <a:solidFill>
            <a:srgbClr val="1A0602"/>
          </a:solidFill>
          <a:ln w="25400">
            <a:solidFill>
              <a:srgbClr val="FF4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3968368"/>
            <a:ext cx="40000" cy="1060000"/>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7000" y="4018368"/>
            <a:ext cx="4212680" cy="250000"/>
          </a:xfrm>
          <a:prstGeom prst="rect">
            <a:avLst/>
          </a:prstGeom>
          <a:noFill/>
        </p:spPr>
        <p:txBody>
          <a:bodyPr wrap="square">
            <a:spAutoFit/>
          </a:bodyPr>
          <a:lstStyle/>
          <a:p>
            <a:pPr algn="l"/>
            <a:r>
              <a:rPr sz="900" b="1">
                <a:solidFill>
                  <a:srgbClr val="FF4400"/>
                </a:solidFill>
                <a:latin typeface="メイリオ"/>
              </a:rPr>
              <a:t>総括</a:t>
            </a:r>
          </a:p>
        </p:txBody>
      </p:sp>
      <p:sp>
        <p:nvSpPr>
          <p:cNvPr id="43" name="TextBox 42"/>
          <p:cNvSpPr txBox="1"/>
          <p:nvPr/>
        </p:nvSpPr>
        <p:spPr>
          <a:xfrm>
            <a:off x="4637000" y="4278368"/>
            <a:ext cx="4212680" cy="690000"/>
          </a:xfrm>
          <a:prstGeom prst="rect">
            <a:avLst/>
          </a:prstGeom>
          <a:noFill/>
        </p:spPr>
        <p:txBody>
          <a:bodyPr wrap="square">
            <a:spAutoFit/>
          </a:bodyPr>
          <a:lstStyle/>
          <a:p>
            <a:pPr algn="l"/>
            <a:r>
              <a:rPr sz="800" b="0">
                <a:solidFill>
                  <a:srgbClr val="F0ECE8"/>
                </a:solidFill>
                <a:latin typeface="メイリオ"/>
              </a:rPr>
              <a:t>十字目変換×キャラ期待度演出×3段階天井×ループ型AT
という4要素の統合設計。
原作「炎」の世界観をゲーム性に昇華した
2026年導入機の中で設計完成度が高い一台。</a:t>
            </a:r>
          </a:p>
        </p:txBody>
      </p:sp>
      <p:sp>
        <p:nvSpPr>
          <p:cNvPr id="44" name="TextBox 43"/>
          <p:cNvSpPr txBox="1"/>
          <p:nvPr/>
        </p:nvSpPr>
        <p:spPr>
          <a:xfrm>
            <a:off x="7132320" y="4919472"/>
            <a:ext cx="1920240" cy="180000"/>
          </a:xfrm>
          <a:prstGeom prst="rect">
            <a:avLst/>
          </a:prstGeom>
          <a:noFill/>
        </p:spPr>
        <p:txBody>
          <a:bodyPr wrap="square">
            <a:spAutoFit/>
          </a:bodyPr>
          <a:lstStyle/>
          <a:p>
            <a:pPr algn="r"/>
            <a:r>
              <a:rPr sz="650" b="0">
                <a:solidFill>
                  <a:srgbClr val="998880"/>
                </a:solidFill>
                <a:latin typeface="メイリオ"/>
              </a:rPr>
              <a:t>※ネット解析情報より（なな徹・ちょんぼりすた・一撃）</a:t>
            </a:r>
          </a:p>
        </p:txBody>
      </p:sp>
      <p:sp>
        <p:nvSpPr>
          <p:cNvPr id="45" name="Rectangle 44"/>
          <p:cNvSpPr/>
          <p:nvPr/>
        </p:nvSpPr>
        <p:spPr>
          <a:xfrm>
            <a:off x="0" y="4645152"/>
            <a:ext cx="9144000" cy="498348"/>
          </a:xfrm>
          <a:prstGeom prst="rect">
            <a:avLst/>
          </a:prstGeom>
          <a:solidFill>
            <a:srgbClr val="0E0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645152"/>
            <a:ext cx="20000" cy="498348"/>
          </a:xfrm>
          <a:prstGeom prst="rect">
            <a:avLst/>
          </a:prstGeom>
          <a:solidFill>
            <a:srgbClr val="FF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4592" y="4685152"/>
            <a:ext cx="5029200" cy="340000"/>
          </a:xfrm>
          <a:prstGeom prst="rect">
            <a:avLst/>
          </a:prstGeom>
          <a:noFill/>
        </p:spPr>
        <p:txBody>
          <a:bodyPr wrap="square">
            <a:spAutoFit/>
          </a:bodyPr>
          <a:lstStyle/>
          <a:p>
            <a:pPr algn="l"/>
            <a:r>
              <a:rPr sz="750" b="1">
                <a:solidFill>
                  <a:srgbClr val="FF8800"/>
                </a:solidFill>
                <a:latin typeface="メイリオ"/>
              </a:rPr>
              <a:t>本機の設計思想：「毎G意味付け・キャラ期待度演出・残弾安心感・多層目標」の4原則を次世代機設計に活用せよ</a:t>
            </a:r>
          </a:p>
        </p:txBody>
      </p:sp>
      <p:sp>
        <p:nvSpPr>
          <p:cNvPr id="48" name="TextBox 47"/>
          <p:cNvSpPr txBox="1"/>
          <p:nvPr/>
        </p:nvSpPr>
        <p:spPr>
          <a:xfrm>
            <a:off x="5303520" y="4685152"/>
            <a:ext cx="3657600" cy="340000"/>
          </a:xfrm>
          <a:prstGeom prst="rect">
            <a:avLst/>
          </a:prstGeom>
          <a:noFill/>
        </p:spPr>
        <p:txBody>
          <a:bodyPr wrap="square">
            <a:spAutoFit/>
          </a:bodyPr>
          <a:lstStyle/>
          <a:p>
            <a:pPr algn="r"/>
            <a:r>
              <a:rPr sz="700" b="0">
                <a:solidFill>
                  <a:srgbClr val="998880"/>
                </a:solidFill>
                <a:latin typeface="メイリオ"/>
              </a:rPr>
              <a:t>十字目変換フロー＋キャラ変換演出の組み合わせは現代ATの教科書的事例として参照価値が高い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