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937760" cy="5143500"/>
          </a:xfrm>
          <a:prstGeom prst="rect">
            <a:avLst/>
          </a:prstGeom>
          <a:solidFill>
            <a:srgbClr val="FA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000" cy="51435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0"/>
            <a:ext cx="8000" cy="51435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502920"/>
            <a:ext cx="4572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8811"/>
                </a:solidFill>
                <a:latin typeface="游明朝"/>
              </a:rPr>
              <a:t>機種分析資料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960120"/>
            <a:ext cx="45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C3300"/>
                </a:solidFill>
                <a:latin typeface="游明朝"/>
              </a:rPr>
              <a:t>炎炎ノ消防隊2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2514600"/>
            <a:ext cx="4572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55"/>
                </a:solidFill>
                <a:latin typeface="游明朝"/>
              </a:rPr>
              <a:t>── 高純増×二段階天井の現代型設計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" y="3127248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メーカー：SANKYO　　設定数：6段階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" y="3447288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機械割：設定6 114.9%（トップクラス）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3767328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純増速度：約5.8枚/G（業界最高水準）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" y="4087368"/>
            <a:ext cx="44805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77"/>
                </a:solidFill>
                <a:latin typeface="メイリオ"/>
              </a:rPr>
              <a:t>2026年導入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64008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60" y="640080"/>
            <a:ext cx="73152" cy="1143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70008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D5500"/>
                </a:solidFill>
                <a:latin typeface="游明朝"/>
              </a:rPr>
              <a:t>5.8枚/G 純増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02008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業界トップクラスの高速出玉。
短時間で大量獲得が可能。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205740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057400"/>
            <a:ext cx="73152" cy="1143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11740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44BB"/>
                </a:solidFill>
                <a:latin typeface="游明朝"/>
              </a:rPr>
              <a:t>二段階天井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243740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850G + 2000Gの二重セーフティ。
天井狙いの選択肢が広がる。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66360" y="3474720"/>
            <a:ext cx="3749039" cy="1143000"/>
          </a:xfrm>
          <a:prstGeom prst="rect">
            <a:avLst/>
          </a:prstGeom>
          <a:solidFill>
            <a:srgbClr val="EEF2F8"/>
          </a:solidFill>
          <a:ln w="2540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3474720"/>
            <a:ext cx="73152" cy="1143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3534720"/>
            <a:ext cx="34747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8844"/>
                </a:solidFill>
                <a:latin typeface="游明朝"/>
              </a:rPr>
              <a:t>炎炎ループ80%+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854720"/>
            <a:ext cx="34747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333355"/>
                </a:solidFill>
                <a:latin typeface="メイリオ"/>
              </a:rPr>
              <a:t>上位AT継続率80%超。
強い連チャン体験を提供。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スペック ── 基本数値と天井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2/7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3750000" cy="37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320" y="763232"/>
            <a:ext cx="4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320" y="763232"/>
            <a:ext cx="100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機械割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320" y="763232"/>
            <a:ext cx="10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AT初当り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4320" y="763232"/>
            <a:ext cx="1050000" cy="31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メイリオ"/>
              </a:rPr>
              <a:t>特記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83232"/>
            <a:ext cx="37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320" y="113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320" y="113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54320" y="113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4320" y="113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453232"/>
            <a:ext cx="37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4320" y="150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320" y="150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54320" y="150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4320" y="150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1823232"/>
            <a:ext cx="37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320" y="187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320" y="187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320" y="187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4320" y="187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193232"/>
            <a:ext cx="37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4320" y="224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320" y="224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54320" y="224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4320" y="224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2563232"/>
            <a:ext cx="37500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4320" y="261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320" y="261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54320" y="261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▲▲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54320" y="261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933232"/>
            <a:ext cx="37500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4320" y="2988232"/>
            <a:ext cx="4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DD5500"/>
                </a:solidFill>
                <a:latin typeface="メイリオ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320" y="2988232"/>
            <a:ext cx="10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0A1428"/>
                </a:solidFill>
                <a:latin typeface="メイリオ"/>
              </a:rPr>
              <a:t>114.9%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54320" y="298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FF8811"/>
                </a:solidFill>
                <a:latin typeface="メイリオ"/>
              </a:rPr>
              <a:t>◎ TOP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4320" y="2988232"/>
            <a:ext cx="105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>
                <a:solidFill>
                  <a:srgbClr val="0A1428"/>
                </a:solidFill>
                <a:latin typeface="メイリオ"/>
              </a:rPr>
              <a:t>業界最高水準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0" y="71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40480" y="713232"/>
            <a:ext cx="40000" cy="48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10480" y="75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DD5500"/>
                </a:solidFill>
                <a:latin typeface="メイリオ"/>
              </a:rPr>
              <a:t>第1天井（ボーナス間）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0480" y="95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最大 850G → リセット後 650G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0" y="124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0" y="1243232"/>
            <a:ext cx="40000" cy="48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10480" y="128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144BB"/>
                </a:solidFill>
                <a:latin typeface="メイリオ"/>
              </a:rPr>
              <a:t>第2天井（炎炎ループ間）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10480" y="148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最大 2,000G → リセット後 1,500G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0" y="177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FF88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840480" y="1773232"/>
            <a:ext cx="40000" cy="480000"/>
          </a:xfrm>
          <a:prstGeom prst="rect">
            <a:avLst/>
          </a:prstGeom>
          <a:solidFill>
            <a:srgbClr val="FF8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10480" y="181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8811"/>
                </a:solidFill>
                <a:latin typeface="メイリオ"/>
              </a:rPr>
              <a:t>純増速度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10480" y="201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約 5.8枚/G（業界最高水準）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0" y="230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840480" y="2303232"/>
            <a:ext cx="40000" cy="48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910480" y="234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18844"/>
                </a:solidFill>
                <a:latin typeface="メイリオ"/>
              </a:rPr>
              <a:t>炎炎大戦 継続率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0480" y="254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80%以上（上位AT）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40480" y="283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840480" y="2833232"/>
            <a:ext cx="4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10480" y="287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B89620"/>
                </a:solidFill>
                <a:latin typeface="メイリオ"/>
              </a:rPr>
              <a:t>1ループ期待獲得枚数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0480" y="307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約 1,200枚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0" y="3363232"/>
            <a:ext cx="5029200" cy="48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66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840480" y="3363232"/>
            <a:ext cx="40000" cy="480000"/>
          </a:xfrm>
          <a:prstGeom prst="rect">
            <a:avLst/>
          </a:prstGeom>
          <a:solidFill>
            <a:srgbClr val="66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10480" y="3403232"/>
            <a:ext cx="25603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666677"/>
                </a:solidFill>
                <a:latin typeface="メイリオ"/>
              </a:rPr>
              <a:t>ベース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10480" y="3603232"/>
            <a:ext cx="466344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約 33.1G／50枚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ゲームフロー ── 炎炎大戦から炎炎ループへ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3/7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463040"/>
            <a:ext cx="1691640" cy="128016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7240" y="1553040"/>
            <a:ext cx="16116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428"/>
                </a:solidFill>
                <a:latin typeface="游明朝"/>
              </a:rPr>
              <a:t>通常遊技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240" y="1913040"/>
            <a:ext cx="16316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レア役・天井で
ボーナス当選</a:t>
            </a:r>
          </a:p>
        </p:txBody>
      </p:sp>
      <p:sp>
        <p:nvSpPr>
          <p:cNvPr id="11" name="Can 10"/>
          <p:cNvSpPr/>
          <p:nvPr/>
        </p:nvSpPr>
        <p:spPr>
          <a:xfrm>
            <a:off x="2483880" y="201312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463040"/>
            <a:ext cx="1691640" cy="1280160"/>
          </a:xfrm>
          <a:prstGeom prst="rect">
            <a:avLst/>
          </a:prstGeom>
          <a:solidFill>
            <a:srgbClr val="EEF2F8"/>
          </a:solidFill>
          <a:ln w="1905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3200" y="1553040"/>
            <a:ext cx="16116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A1428"/>
                </a:solidFill>
                <a:latin typeface="游明朝"/>
              </a:rPr>
              <a:t>ボーナス
(炎炎系)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3200" y="1913040"/>
            <a:ext cx="16316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Fire Bonus等
でAT突入</a:t>
            </a:r>
          </a:p>
        </p:txBody>
      </p:sp>
      <p:sp>
        <p:nvSpPr>
          <p:cNvPr id="15" name="Can 14"/>
          <p:cNvSpPr/>
          <p:nvPr/>
        </p:nvSpPr>
        <p:spPr>
          <a:xfrm>
            <a:off x="4449840" y="201312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60" y="1463040"/>
            <a:ext cx="1691640" cy="1280160"/>
          </a:xfrm>
          <a:prstGeom prst="rect">
            <a:avLst/>
          </a:prstGeom>
          <a:solidFill>
            <a:srgbClr val="FEF0E8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9160" y="1553040"/>
            <a:ext cx="16116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D5500"/>
                </a:solidFill>
                <a:latin typeface="游明朝"/>
              </a:rPr>
              <a:t>AT
炎炎大戦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9160" y="1913040"/>
            <a:ext cx="16316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666677"/>
                </a:solidFill>
                <a:latin typeface="メイリオ"/>
              </a:rPr>
              <a:t>基本AT
純増5.8枚/G</a:t>
            </a:r>
          </a:p>
        </p:txBody>
      </p:sp>
      <p:sp>
        <p:nvSpPr>
          <p:cNvPr id="19" name="Can 18"/>
          <p:cNvSpPr/>
          <p:nvPr/>
        </p:nvSpPr>
        <p:spPr>
          <a:xfrm>
            <a:off x="6415800" y="2013120"/>
            <a:ext cx="200000" cy="180000"/>
          </a:xfrm>
          <a:prstGeom prst="can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0" y="1463040"/>
            <a:ext cx="1691640" cy="1280160"/>
          </a:xfrm>
          <a:prstGeom prst="rect">
            <a:avLst/>
          </a:prstGeom>
          <a:solidFill>
            <a:srgbClr val="DD5500"/>
          </a:solidFill>
          <a:ln w="19050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5120" y="1553040"/>
            <a:ext cx="16116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游明朝"/>
              </a:rPr>
              <a:t>上位AT
炎炎ループ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120" y="1913040"/>
            <a:ext cx="16316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FFFFFF"/>
                </a:solidFill>
                <a:latin typeface="メイリオ"/>
              </a:rPr>
              <a:t>継続率80%以上
期待1,200枚/周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291840"/>
            <a:ext cx="40000" cy="150876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32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高純増5.8枚/Gの衝撃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320" y="3581840"/>
            <a:ext cx="26365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通常の3倍近い出玉スピード。
同じ時間でより多くの出玉体験ができる。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3944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39440" y="3291840"/>
            <a:ext cx="40000" cy="150876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944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炎炎ループ80%+で連チャン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9440" y="3581840"/>
            <a:ext cx="26365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上位AT突入後は80%以上で継続。
期待1,200枚×連チャン数が積み上がる。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04560" y="3291840"/>
            <a:ext cx="2773680" cy="1508760"/>
          </a:xfrm>
          <a:prstGeom prst="rect">
            <a:avLst/>
          </a:prstGeom>
          <a:solidFill>
            <a:srgbClr val="EEF2F8"/>
          </a:solidFill>
          <a:ln w="12700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04560" y="3291840"/>
            <a:ext cx="40000" cy="150876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4560" y="3341840"/>
            <a:ext cx="26365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0A1428"/>
                </a:solidFill>
                <a:latin typeface="メイリオ"/>
              </a:rPr>
              <a:t>二段階天井で安心感を担保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74560" y="3581840"/>
            <a:ext cx="263652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333355"/>
                </a:solidFill>
                <a:latin typeface="メイリオ"/>
              </a:rPr>
              <a:t>850G + 2000Gの二重セーフティ。
長期ハマり時も出口が見える設計。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二段階天井 ── 850G + 2,000Gの多層セーフティ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114800" cy="32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320" y="735800"/>
            <a:ext cx="4034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2種類の天井が存在する意義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0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005800"/>
            <a:ext cx="45000" cy="120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20" y="105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第1天井：ボーナス間 850G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20" y="130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通常遊技でボーナスが850G引けない場合に発動。
リセット後は650Gに短縮される。
日常的に使いやすい「狙い目の下限」として機能。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8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85800"/>
            <a:ext cx="45000" cy="120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320" y="233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144BB"/>
                </a:solidFill>
                <a:latin typeface="メイリオ"/>
              </a:rPr>
              <a:t>第2天井：炎炎ループ間 2,000G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320" y="258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炎炎ループ（上位AT）が2,000G引けない場合に発動。
リセット後は1,500Gに短縮される。
長期ハマり時の最後の砦として機能。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6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565800"/>
            <a:ext cx="45000" cy="120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320" y="361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18844"/>
                </a:solidFill>
                <a:latin typeface="メイリオ"/>
              </a:rPr>
              <a:t>二段階の相乗効果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320" y="386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第1天井で短期保険、第2天井で長期保険。
プレイヤーは「いずれか近い方の天井」を目標に
設定できるため、投資計画が立てやすい。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685800"/>
            <a:ext cx="4251960" cy="30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7720" y="735800"/>
            <a:ext cx="418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天井狙い：どの台を選ぶか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985800"/>
            <a:ext cx="4251960" cy="125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17720" y="985800"/>
            <a:ext cx="40000" cy="125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7720" y="1025800"/>
            <a:ext cx="41619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第1天井狙い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720" y="1255800"/>
            <a:ext cx="416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550G〜（リセット後 400G〜）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720" y="1465800"/>
            <a:ext cx="416196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最もオーソドックスな狙い方。
期待値が出やすく回転率も高い。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17720" y="2295800"/>
            <a:ext cx="4251960" cy="125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17720" y="2295800"/>
            <a:ext cx="40000" cy="125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7720" y="2335800"/>
            <a:ext cx="41619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144BB"/>
                </a:solidFill>
                <a:latin typeface="メイリオ"/>
              </a:rPr>
              <a:t>第2天井狙い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720" y="2565800"/>
            <a:ext cx="416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1,500G〜（リセット後 1,200G〜）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720" y="2775800"/>
            <a:ext cx="416196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投資は大きいが発動時の出玉が
大きく期待収支もプラスになりやすい。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3605800"/>
            <a:ext cx="4251960" cy="125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17720" y="3605800"/>
            <a:ext cx="40000" cy="125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7720" y="3645800"/>
            <a:ext cx="41619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89620"/>
                </a:solidFill>
                <a:latin typeface="メイリオ"/>
              </a:rPr>
              <a:t>両天井複合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87720" y="3875800"/>
            <a:ext cx="416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77"/>
                </a:solidFill>
                <a:latin typeface="メイリオ"/>
              </a:rPr>
              <a:t>ゾーン計算が必要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87720" y="4085800"/>
            <a:ext cx="416196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第1・第2天井の両方を意識した
高度な立ち回りが必要。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設定差の構造 ── 炎炎ループ初当たりに集中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5/7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114800" cy="34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320" y="740800"/>
            <a:ext cx="393192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炎炎ループ初当たり確率（設定差の核心）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25800"/>
            <a:ext cx="4114800" cy="300000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320" y="1080800"/>
            <a:ext cx="1828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A1428"/>
                </a:solidFill>
                <a:latin typeface="メイリオ"/>
              </a:rPr>
              <a:t>設定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4320" y="1080800"/>
            <a:ext cx="1828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A1428"/>
                </a:solidFill>
                <a:latin typeface="メイリオ"/>
              </a:rPr>
              <a:t>ループ初当たり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25800"/>
            <a:ext cx="41148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325800"/>
            <a:ext cx="20000" cy="37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4320" y="138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設定1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4320" y="138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77"/>
                </a:solidFill>
                <a:latin typeface="メイリオ"/>
              </a:rPr>
              <a:t>1/684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695800"/>
            <a:ext cx="41148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695800"/>
            <a:ext cx="20000" cy="37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4320" y="175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設定2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4320" y="175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77"/>
                </a:solidFill>
                <a:latin typeface="メイリオ"/>
              </a:rPr>
              <a:t>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65800"/>
            <a:ext cx="41148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065800"/>
            <a:ext cx="20000" cy="37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320" y="212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設定3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74320" y="212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77"/>
                </a:solidFill>
                <a:latin typeface="メイリオ"/>
              </a:rPr>
              <a:t>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435800"/>
            <a:ext cx="4114800" cy="370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2435800"/>
            <a:ext cx="20000" cy="37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4320" y="249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設定4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74320" y="249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55"/>
                </a:solidFill>
                <a:latin typeface="メイリオ"/>
              </a:rPr>
              <a:t>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805800"/>
            <a:ext cx="4114800" cy="37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2805800"/>
            <a:ext cx="20000" cy="37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320" y="286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A1428"/>
                </a:solidFill>
                <a:latin typeface="メイリオ"/>
              </a:rPr>
              <a:t>設定5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74320" y="286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55"/>
                </a:solidFill>
                <a:latin typeface="メイリオ"/>
              </a:rPr>
              <a:t>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175800"/>
            <a:ext cx="4114800" cy="370000"/>
          </a:xfrm>
          <a:prstGeom prst="rect">
            <a:avLst/>
          </a:prstGeom>
          <a:solidFill>
            <a:srgbClr val="FF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175800"/>
            <a:ext cx="20000" cy="37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320" y="3230800"/>
            <a:ext cx="18288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設定6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74320" y="3230800"/>
            <a:ext cx="2286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D5500"/>
                </a:solidFill>
                <a:latin typeface="メイリオ"/>
              </a:rPr>
              <a:t>1/486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595800"/>
            <a:ext cx="4114800" cy="480000"/>
          </a:xfrm>
          <a:prstGeom prst="rect">
            <a:avLst/>
          </a:prstGeom>
          <a:solidFill>
            <a:srgbClr val="FFF4EE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320" y="3655800"/>
            <a:ext cx="38404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設定1 vs 設定6：約1.4倍の差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4320" y="3880800"/>
            <a:ext cx="384048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長時間実戦で大きく差が開く構造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17720" y="685800"/>
            <a:ext cx="4251960" cy="30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7720" y="735800"/>
            <a:ext cx="418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設計のポイント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17720" y="985800"/>
            <a:ext cx="4251960" cy="127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17720" y="985800"/>
            <a:ext cx="40000" cy="127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7720" y="1035800"/>
            <a:ext cx="41619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炎炎ループに設定差を集中させた意図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7720" y="1290800"/>
            <a:ext cx="4161960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通常AT（炎炎大戦）はすべての設定でほぼ同じ体験。
差を炎炎ループ初当たりに集約することで
「高設定ほど上位ATに行ける」という明快な差別化。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17720" y="2325800"/>
            <a:ext cx="4251960" cy="127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617720" y="2325800"/>
            <a:ext cx="40000" cy="127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87720" y="2375800"/>
            <a:ext cx="41619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144BB"/>
                </a:solidFill>
                <a:latin typeface="メイリオ"/>
              </a:rPr>
              <a:t>プレイヤーが実感しやすい設定差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720" y="2630800"/>
            <a:ext cx="4161960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1/684 vs 1/486 という1.4倍差は、
数百ゲームの実戦で感じられるレベル。
「この台は炎炎ループに入りやすい」と体感できる。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17720" y="3665800"/>
            <a:ext cx="4251960" cy="1270000"/>
          </a:xfrm>
          <a:prstGeom prst="rect">
            <a:avLst/>
          </a:prstGeom>
          <a:solidFill>
            <a:srgbClr val="EEF2F8"/>
          </a:solidFill>
          <a:ln w="1524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17720" y="3665800"/>
            <a:ext cx="40000" cy="127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87720" y="3715800"/>
            <a:ext cx="41619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18844"/>
                </a:solidFill>
                <a:latin typeface="メイリオ"/>
              </a:rPr>
              <a:t>ホールが設定を入れやすい構造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7720" y="3970800"/>
            <a:ext cx="4161960" cy="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設定6の機械割 114.9%は利益ラインを確保しながら
十分な期待値をプレイヤーに提供。
高設定を使う店が増えやすい設計。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設定判別 ── 終了画面と演出示唆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6/7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8595360" cy="32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320" y="735800"/>
            <a:ext cx="85253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設定示唆が出る終了画面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05800"/>
            <a:ext cx="2118840" cy="750000"/>
          </a:xfrm>
          <a:prstGeom prst="rect">
            <a:avLst/>
          </a:prstGeom>
          <a:solidFill>
            <a:srgbClr val="EEF2F8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320" y="1045800"/>
            <a:ext cx="20888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DD5500"/>
                </a:solidFill>
                <a:latin typeface="メイリオ"/>
              </a:rPr>
              <a:t>Normal
REG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320" y="1335800"/>
            <a:ext cx="20888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33355"/>
                </a:solidFill>
                <a:latin typeface="メイリオ"/>
              </a:rPr>
              <a:t>最も出現頻度が高く
判別数が集まりやすい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1005800"/>
            <a:ext cx="2118840" cy="750000"/>
          </a:xfrm>
          <a:prstGeom prst="rect">
            <a:avLst/>
          </a:prstGeom>
          <a:solidFill>
            <a:srgbClr val="F5F7FC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3160" y="1045800"/>
            <a:ext cx="20888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DD5500"/>
                </a:solidFill>
                <a:latin typeface="メイリオ"/>
              </a:rPr>
              <a:t>Fire
Bonus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3160" y="1335800"/>
            <a:ext cx="20888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33355"/>
                </a:solidFill>
                <a:latin typeface="メイリオ"/>
              </a:rPr>
              <a:t>設定差が比較的大きい
重要な判別ポイント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005800"/>
            <a:ext cx="2118840" cy="750000"/>
          </a:xfrm>
          <a:prstGeom prst="rect">
            <a:avLst/>
          </a:prstGeom>
          <a:solidFill>
            <a:srgbClr val="EEF2F8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2000" y="1045800"/>
            <a:ext cx="20888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DD5500"/>
                </a:solidFill>
                <a:latin typeface="メイリオ"/>
              </a:rPr>
              <a:t>Accel
Bonus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2000" y="1335800"/>
            <a:ext cx="20888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33355"/>
                </a:solidFill>
                <a:latin typeface="メイリオ"/>
              </a:rPr>
              <a:t>出現時の演出内容で
設定を推測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1005800"/>
            <a:ext cx="2118840" cy="750000"/>
          </a:xfrm>
          <a:prstGeom prst="rect">
            <a:avLst/>
          </a:prstGeom>
          <a:solidFill>
            <a:srgbClr val="F5F7FC"/>
          </a:solidFill>
          <a:ln w="63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50840" y="1045800"/>
            <a:ext cx="20888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DD5500"/>
                </a:solidFill>
                <a:latin typeface="メイリオ"/>
              </a:rPr>
              <a:t>Ash
Bonus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840" y="1335800"/>
            <a:ext cx="20888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33355"/>
                </a:solidFill>
                <a:latin typeface="メイリオ"/>
              </a:rPr>
              <a:t>レア演出。出現時は
高設定を強示唆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815800"/>
            <a:ext cx="8595360" cy="28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4320" y="1860800"/>
            <a:ext cx="85253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游明朝"/>
              </a:rPr>
              <a:t>強設定示唆演出（確認できたら高設定確定or濃厚）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095800"/>
            <a:ext cx="2825120" cy="2800000"/>
          </a:xfrm>
          <a:prstGeom prst="rect">
            <a:avLst/>
          </a:prstGeom>
          <a:solidFill>
            <a:srgbClr val="FFF8F4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095800"/>
            <a:ext cx="45000" cy="280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320" y="2145800"/>
            <a:ext cx="27451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D5500"/>
                </a:solidFill>
                <a:latin typeface="游明朝"/>
              </a:rPr>
              <a:t>全員集合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320" y="2425800"/>
            <a:ext cx="274512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33355"/>
                </a:solidFill>
                <a:latin typeface="メイリオ"/>
              </a:rPr>
              <a:t>第8特殊消防隊の
全メンバー集合演出。
高設定濃厚。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4320" y="3095800"/>
            <a:ext cx="2745120" cy="6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4320" y="3095800"/>
            <a:ext cx="2470608" cy="6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320" y="3175800"/>
            <a:ext cx="2745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DD5500"/>
                </a:solidFill>
                <a:latin typeface="メイリオ"/>
              </a:rPr>
              <a:t>高設定 濃厚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39440" y="2095800"/>
            <a:ext cx="2825120" cy="28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FF88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39440" y="2095800"/>
            <a:ext cx="45000" cy="2800000"/>
          </a:xfrm>
          <a:prstGeom prst="rect">
            <a:avLst/>
          </a:prstGeom>
          <a:solidFill>
            <a:srgbClr val="FF8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19440" y="2145800"/>
            <a:ext cx="27451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8811"/>
                </a:solidFill>
                <a:latin typeface="游明朝"/>
              </a:rPr>
              <a:t>赤枠 × 9人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9440" y="2425800"/>
            <a:ext cx="274512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33355"/>
                </a:solidFill>
                <a:latin typeface="メイリオ"/>
              </a:rPr>
              <a:t>赤枠演出と
9人キャラの組み合わせ。
設定5以上の可能性大。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19440" y="3095800"/>
            <a:ext cx="2745120" cy="6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19440" y="3095800"/>
            <a:ext cx="2058840" cy="60000"/>
          </a:xfrm>
          <a:prstGeom prst="rect">
            <a:avLst/>
          </a:prstGeom>
          <a:solidFill>
            <a:srgbClr val="FF88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19440" y="3175800"/>
            <a:ext cx="2745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8811"/>
                </a:solidFill>
                <a:latin typeface="メイリオ"/>
              </a:rPr>
              <a:t>設定5+ 濃厚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4560" y="2095800"/>
            <a:ext cx="2825120" cy="28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B89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04560" y="2095800"/>
            <a:ext cx="45000" cy="280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4560" y="2145800"/>
            <a:ext cx="27451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9620"/>
                </a:solidFill>
                <a:latin typeface="游明朝"/>
              </a:rPr>
              <a:t>金枠演出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4560" y="2425800"/>
            <a:ext cx="274512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333355"/>
                </a:solidFill>
                <a:latin typeface="メイリオ"/>
              </a:rPr>
              <a:t>金枠キャラ出現。
シナリオ次第で
設定6確定もあり。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4560" y="3095800"/>
            <a:ext cx="2745120" cy="60000"/>
          </a:xfrm>
          <a:prstGeom prst="rect">
            <a:avLst/>
          </a:prstGeom>
          <a:solidFill>
            <a:srgbClr val="CCC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84560" y="3095800"/>
            <a:ext cx="2745120" cy="6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4560" y="3175800"/>
            <a:ext cx="274512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B89620"/>
                </a:solidFill>
                <a:latin typeface="メイリオ"/>
              </a:rPr>
              <a:t>設定6確定あり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E2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000" cy="530352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28000"/>
            <a:ext cx="77724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428"/>
                </a:solidFill>
                <a:latin typeface="游明朝"/>
              </a:rPr>
              <a:t>まとめ ── 設計から学べること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5000"/>
            <a:ext cx="914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66677"/>
                </a:solidFill>
                <a:latin typeface="メイリオ"/>
              </a:rPr>
              <a:t>7/7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"/>
            <a:ext cx="9144000" cy="7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85800"/>
            <a:ext cx="4114800" cy="32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320" y="740800"/>
            <a:ext cx="40348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炎炎ノ消防隊2の設計的強み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00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005800"/>
            <a:ext cx="45000" cy="120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20" y="105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DD5500"/>
                </a:solidFill>
                <a:latin typeface="メイリオ"/>
              </a:rPr>
              <a:t>5.8枚/G という圧倒的な出玉体験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20" y="130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短時間で大量獲得できる高純増は
「勝った実感」を最大化する。
リピート来店の動機になりやすい。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8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1144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85800"/>
            <a:ext cx="45000" cy="120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320" y="233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144BB"/>
                </a:solidFill>
                <a:latin typeface="メイリオ"/>
              </a:rPr>
              <a:t>二段階天井による投資計画の立てやすさ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320" y="258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850G + 2000Gのダブルセーフティで
プレイヤーが「どこまで投資するか」を
事前計画しやすい安心設計。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65800"/>
            <a:ext cx="4114800" cy="1200000"/>
          </a:xfrm>
          <a:prstGeom prst="rect">
            <a:avLst/>
          </a:prstGeom>
          <a:solidFill>
            <a:srgbClr val="EEF2F8"/>
          </a:solidFill>
          <a:ln w="19050">
            <a:solidFill>
              <a:srgbClr val="118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565800"/>
            <a:ext cx="45000" cy="120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320" y="3615800"/>
            <a:ext cx="40148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18844"/>
                </a:solidFill>
                <a:latin typeface="メイリオ"/>
              </a:rPr>
              <a:t>設定差が炎炎ループに集中した明快さ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320" y="3865800"/>
            <a:ext cx="40148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「高設定ほどループに入れる」という
シンプルな設定差は分かりやすく
ホールが高設定を使う動機になる。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685800"/>
            <a:ext cx="4251960" cy="300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7720" y="735800"/>
            <a:ext cx="418196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游明朝"/>
              </a:rPr>
              <a:t>設計原則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985800"/>
            <a:ext cx="20000" cy="480000"/>
          </a:xfrm>
          <a:prstGeom prst="rect">
            <a:avLst/>
          </a:prstGeom>
          <a:solidFill>
            <a:srgbClr val="DD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7720" y="106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純増5.8枚は「速い出玉体験」を武器にする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1515800"/>
            <a:ext cx="20000" cy="480000"/>
          </a:xfrm>
          <a:prstGeom prst="rect">
            <a:avLst/>
          </a:prstGeom>
          <a:solidFill>
            <a:srgbClr val="1144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7720" y="159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二段階天井は「投資計画の見える化」につながる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2045800"/>
            <a:ext cx="20000" cy="480000"/>
          </a:xfrm>
          <a:prstGeom prst="rect">
            <a:avLst/>
          </a:prstGeom>
          <a:solidFill>
            <a:srgbClr val="118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7720" y="212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設定差の集中で「高設定の価値」が伝わりやすい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17720" y="2575800"/>
            <a:ext cx="20000" cy="480000"/>
          </a:xfrm>
          <a:prstGeom prst="rect">
            <a:avLst/>
          </a:prstGeom>
          <a:solidFill>
            <a:srgbClr val="B89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7720" y="2655800"/>
            <a:ext cx="419196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A1428"/>
                </a:solidFill>
                <a:latin typeface="メイリオ"/>
              </a:rPr>
              <a:t>強示唆演出は「発見の喜び」として機能する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3125800"/>
            <a:ext cx="4251960" cy="800000"/>
          </a:xfrm>
          <a:prstGeom prst="rect">
            <a:avLst/>
          </a:prstGeom>
          <a:solidFill>
            <a:srgbClr val="FFF6EE"/>
          </a:solidFill>
          <a:ln w="19050">
            <a:solidFill>
              <a:srgbClr val="DD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7720" y="3175800"/>
            <a:ext cx="41819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5500"/>
                </a:solidFill>
                <a:latin typeface="メイリオ"/>
              </a:rPr>
              <a:t>総括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7720" y="3425800"/>
            <a:ext cx="418196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3355"/>
                </a:solidFill>
                <a:latin typeface="メイリオ"/>
              </a:rPr>
              <a:t>高純増×二段階天井×明快な設定差の三位一体で
2026年の代表作になりうる現代型設計。
設定判別の明確さがホールとの相性も良い。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666677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