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4937760" cy="5143500"/>
          </a:xfrm>
          <a:prstGeom prst="rect">
            <a:avLst/>
          </a:prstGeom>
          <a:solidFill>
            <a:srgbClr val="0407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5000" cy="5143500"/>
          </a:xfrm>
          <a:prstGeom prst="rect">
            <a:avLst/>
          </a:prstGeom>
          <a:solidFill>
            <a:srgbClr val="DD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0"/>
            <a:ext cx="8000" cy="5143500"/>
          </a:xfrm>
          <a:prstGeom prst="rect">
            <a:avLst/>
          </a:prstGeom>
          <a:solidFill>
            <a:srgbClr val="DD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" y="475488"/>
            <a:ext cx="4572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8822"/>
                </a:solidFill>
                <a:latin typeface="游明朝"/>
              </a:rPr>
              <a:t>機種分析資料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" y="932688"/>
            <a:ext cx="466344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DD5500"/>
                </a:solidFill>
                <a:latin typeface="游明朝"/>
              </a:rPr>
              <a:t>炎炎ノ消防隊2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" y="2651760"/>
            <a:ext cx="4572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0D8B0"/>
                </a:solidFill>
                <a:latin typeface="游明朝"/>
              </a:rPr>
              <a:t>── 高純増×二段階天井の現代型AT設計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" y="3200400"/>
            <a:ext cx="448056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888AA"/>
                </a:solidFill>
                <a:latin typeface="メイリオ"/>
              </a:rPr>
              <a:t>メーカー：SANKYO　　導入：2026年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" y="3493008"/>
            <a:ext cx="448056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888AA"/>
                </a:solidFill>
                <a:latin typeface="メイリオ"/>
              </a:rPr>
              <a:t>設定：1〜6段階　　設定6機械割：114.9%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" y="3785615"/>
            <a:ext cx="448056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888AA"/>
                </a:solidFill>
                <a:latin typeface="メイリオ"/>
              </a:rPr>
              <a:t>AT純増：約5.8枚/G（業界最高水準）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" y="4078224"/>
            <a:ext cx="448056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888AA"/>
                </a:solidFill>
                <a:latin typeface="メイリオ"/>
              </a:rPr>
              <a:t>天井：850G（ボーナス間）／2,000G（炎炎激闘間）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66360" y="640080"/>
            <a:ext cx="3749039" cy="1143000"/>
          </a:xfrm>
          <a:prstGeom prst="rect">
            <a:avLst/>
          </a:prstGeom>
          <a:solidFill>
            <a:srgbClr val="0C122C"/>
          </a:solidFill>
          <a:ln w="25400">
            <a:solidFill>
              <a:srgbClr val="DD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66360" y="640080"/>
            <a:ext cx="60000" cy="1143000"/>
          </a:xfrm>
          <a:prstGeom prst="rect">
            <a:avLst/>
          </a:prstGeom>
          <a:solidFill>
            <a:srgbClr val="DD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9240" y="695080"/>
            <a:ext cx="347472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D5500"/>
                </a:solidFill>
                <a:latin typeface="游明朝"/>
              </a:rPr>
              <a:t>炎炎激闘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40" y="1010080"/>
            <a:ext cx="34747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CFF"/>
                </a:solidFill>
                <a:latin typeface="メイリオ"/>
              </a:rPr>
              <a:t>基本AT（1セット15G+α）
ストック型で連チャンを積み上げる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66360" y="2057400"/>
            <a:ext cx="3749039" cy="1143000"/>
          </a:xfrm>
          <a:prstGeom prst="rect">
            <a:avLst/>
          </a:prstGeom>
          <a:solidFill>
            <a:srgbClr val="0C122C"/>
          </a:solidFill>
          <a:ln w="25400">
            <a:solidFill>
              <a:srgbClr val="FFB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66360" y="2057400"/>
            <a:ext cx="60000" cy="1143000"/>
          </a:xfrm>
          <a:prstGeom prst="rect">
            <a:avLst/>
          </a:prstGeom>
          <a:solidFill>
            <a:srgbClr val="FFB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49240" y="2112400"/>
            <a:ext cx="347472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BB44"/>
                </a:solidFill>
                <a:latin typeface="游明朝"/>
              </a:rPr>
              <a:t>(超)炎炎大戦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9240" y="2427400"/>
            <a:ext cx="34747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CFF"/>
                </a:solidFill>
                <a:latin typeface="メイリオ"/>
              </a:rPr>
              <a:t>上位AT・ループ率80〜90%
期待枚数2,760枚以上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66360" y="3474720"/>
            <a:ext cx="3749039" cy="1143000"/>
          </a:xfrm>
          <a:prstGeom prst="rect">
            <a:avLst/>
          </a:prstGeom>
          <a:solidFill>
            <a:srgbClr val="0C122C"/>
          </a:solidFill>
          <a:ln w="25400">
            <a:solidFill>
              <a:srgbClr val="22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66360" y="3474720"/>
            <a:ext cx="60000" cy="1143000"/>
          </a:xfrm>
          <a:prstGeom prst="rect">
            <a:avLst/>
          </a:prstGeom>
          <a:solidFill>
            <a:srgbClr val="22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49240" y="3529720"/>
            <a:ext cx="347472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77FF"/>
                </a:solidFill>
                <a:latin typeface="游明朝"/>
              </a:rPr>
              <a:t>二段階天井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49240" y="3844720"/>
            <a:ext cx="34747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CFF"/>
                </a:solidFill>
                <a:latin typeface="メイリオ"/>
              </a:rPr>
              <a:t>850G+2,000Gの多層設計
天井狙いの計画が立てやすい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79" y="4919472"/>
            <a:ext cx="155448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AA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0C1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DD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BB44"/>
                </a:solidFill>
                <a:latin typeface="游明朝"/>
              </a:rPr>
              <a:t>スペック ── 基本数値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888AA"/>
                </a:solidFill>
                <a:latin typeface="メイリオ"/>
              </a:rPr>
              <a:t>2/7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DD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713232"/>
            <a:ext cx="3600000" cy="360000"/>
          </a:xfrm>
          <a:prstGeom prst="rect">
            <a:avLst/>
          </a:prstGeom>
          <a:solidFill>
            <a:srgbClr val="993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6032" y="758232"/>
            <a:ext cx="430000" cy="30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FBB44"/>
                </a:solidFill>
                <a:latin typeface="メイリオ"/>
              </a:rPr>
              <a:t>設定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6032" y="758232"/>
            <a:ext cx="910000" cy="30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FBB44"/>
                </a:solidFill>
                <a:latin typeface="メイリオ"/>
              </a:rPr>
              <a:t>機械割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26032" y="758232"/>
            <a:ext cx="910000" cy="30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FBB44"/>
                </a:solidFill>
                <a:latin typeface="メイリオ"/>
              </a:rPr>
              <a:t>ボーナス確率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86032" y="758232"/>
            <a:ext cx="1150000" cy="30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FBB44"/>
                </a:solidFill>
                <a:latin typeface="メイリオ"/>
              </a:rPr>
              <a:t>特記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6032" y="1073232"/>
            <a:ext cx="3600000" cy="370000"/>
          </a:xfrm>
          <a:prstGeom prst="rect">
            <a:avLst/>
          </a:prstGeom>
          <a:solidFill>
            <a:srgbClr val="0C1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6032" y="1123232"/>
            <a:ext cx="430000" cy="30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E8ECFF"/>
                </a:solidFill>
                <a:latin typeface="メイリオ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6032" y="1123232"/>
            <a:ext cx="910000" cy="30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E8ECFF"/>
                </a:solidFill>
                <a:latin typeface="メイリオ"/>
              </a:rPr>
              <a:t>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26032" y="1123232"/>
            <a:ext cx="910000" cy="30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E8ECFF"/>
                </a:solidFill>
                <a:latin typeface="メイリオ"/>
              </a:rPr>
              <a:t>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86032" y="1123232"/>
            <a:ext cx="1150000" cy="30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E8ECFF"/>
                </a:solidFill>
                <a:latin typeface="メイリオ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" y="1443232"/>
            <a:ext cx="3600000" cy="370000"/>
          </a:xfrm>
          <a:prstGeom prst="rect">
            <a:avLst/>
          </a:prstGeom>
          <a:solidFill>
            <a:srgbClr val="101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6032" y="1493232"/>
            <a:ext cx="430000" cy="30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E8ECFF"/>
                </a:solidFill>
                <a:latin typeface="メイリオ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6032" y="1493232"/>
            <a:ext cx="910000" cy="30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E8ECFF"/>
                </a:solidFill>
                <a:latin typeface="メイリオ"/>
              </a:rPr>
              <a:t>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26032" y="1493232"/>
            <a:ext cx="910000" cy="30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E8ECFF"/>
                </a:solidFill>
                <a:latin typeface="メイリオ"/>
              </a:rPr>
              <a:t>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86032" y="1493232"/>
            <a:ext cx="1150000" cy="30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E8ECFF"/>
                </a:solidFill>
                <a:latin typeface="メイリオ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56032" y="1813232"/>
            <a:ext cx="3600000" cy="370000"/>
          </a:xfrm>
          <a:prstGeom prst="rect">
            <a:avLst/>
          </a:prstGeom>
          <a:solidFill>
            <a:srgbClr val="0C1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6032" y="1863232"/>
            <a:ext cx="430000" cy="30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E8ECFF"/>
                </a:solidFill>
                <a:latin typeface="メイリオ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6032" y="1863232"/>
            <a:ext cx="910000" cy="30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E8ECFF"/>
                </a:solidFill>
                <a:latin typeface="メイリオ"/>
              </a:rPr>
              <a:t>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26032" y="1863232"/>
            <a:ext cx="910000" cy="30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E8ECFF"/>
                </a:solidFill>
                <a:latin typeface="メイリオ"/>
              </a:rPr>
              <a:t>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86032" y="1863232"/>
            <a:ext cx="1150000" cy="30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E8ECFF"/>
                </a:solidFill>
                <a:latin typeface="メイリオ"/>
              </a:rPr>
              <a:t/>
            </a:r>
          </a:p>
        </p:txBody>
      </p:sp>
      <p:sp>
        <p:nvSpPr>
          <p:cNvPr id="28" name="Rectangle 27"/>
          <p:cNvSpPr/>
          <p:nvPr/>
        </p:nvSpPr>
        <p:spPr>
          <a:xfrm>
            <a:off x="256032" y="2183232"/>
            <a:ext cx="3600000" cy="370000"/>
          </a:xfrm>
          <a:prstGeom prst="rect">
            <a:avLst/>
          </a:prstGeom>
          <a:solidFill>
            <a:srgbClr val="101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6032" y="2233232"/>
            <a:ext cx="430000" cy="30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E8ECFF"/>
                </a:solidFill>
                <a:latin typeface="メイリオ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6032" y="2233232"/>
            <a:ext cx="910000" cy="30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E8ECFF"/>
                </a:solidFill>
                <a:latin typeface="メイリオ"/>
              </a:rPr>
              <a:t>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26032" y="2233232"/>
            <a:ext cx="910000" cy="30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E8ECFF"/>
                </a:solidFill>
                <a:latin typeface="メイリオ"/>
              </a:rPr>
              <a:t>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86032" y="2233232"/>
            <a:ext cx="1150000" cy="30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E8ECFF"/>
                </a:solidFill>
                <a:latin typeface="メイリオ"/>
              </a:rPr>
              <a:t>設定4以上でプラスと推定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56032" y="2553232"/>
            <a:ext cx="3600000" cy="370000"/>
          </a:xfrm>
          <a:prstGeom prst="rect">
            <a:avLst/>
          </a:prstGeom>
          <a:solidFill>
            <a:srgbClr val="0C1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86032" y="2603232"/>
            <a:ext cx="430000" cy="30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E8ECFF"/>
                </a:solidFill>
                <a:latin typeface="メイリオ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6032" y="2603232"/>
            <a:ext cx="910000" cy="30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E8ECFF"/>
                </a:solidFill>
                <a:latin typeface="メイリオ"/>
              </a:rPr>
              <a:t>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26032" y="2603232"/>
            <a:ext cx="910000" cy="30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E8ECFF"/>
                </a:solidFill>
                <a:latin typeface="メイリオ"/>
              </a:rPr>
              <a:t>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86032" y="2603232"/>
            <a:ext cx="1150000" cy="30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E8ECFF"/>
                </a:solidFill>
                <a:latin typeface="メイリオ"/>
              </a:rPr>
              <a:t/>
            </a:r>
          </a:p>
        </p:txBody>
      </p:sp>
      <p:sp>
        <p:nvSpPr>
          <p:cNvPr id="38" name="Rectangle 37"/>
          <p:cNvSpPr/>
          <p:nvPr/>
        </p:nvSpPr>
        <p:spPr>
          <a:xfrm>
            <a:off x="256032" y="2923232"/>
            <a:ext cx="3600000" cy="370000"/>
          </a:xfrm>
          <a:prstGeom prst="rect">
            <a:avLst/>
          </a:prstGeom>
          <a:solidFill>
            <a:srgbClr val="101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86032" y="2973232"/>
            <a:ext cx="430000" cy="30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DD5500"/>
                </a:solidFill>
                <a:latin typeface="メイリオ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6032" y="2973232"/>
            <a:ext cx="910000" cy="30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FBB44"/>
                </a:solidFill>
                <a:latin typeface="メイリオ"/>
              </a:rPr>
              <a:t>114.9%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26032" y="2973232"/>
            <a:ext cx="910000" cy="30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E8ECFF"/>
                </a:solidFill>
                <a:latin typeface="メイリオ"/>
              </a:rPr>
              <a:t>◎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86032" y="2973232"/>
            <a:ext cx="1150000" cy="30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E8ECFF"/>
                </a:solidFill>
                <a:latin typeface="メイリオ"/>
              </a:rPr>
              <a:t>業界最高水準（公式発表）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206240" y="713232"/>
            <a:ext cx="4681728" cy="485000"/>
          </a:xfrm>
          <a:prstGeom prst="rect">
            <a:avLst/>
          </a:prstGeom>
          <a:solidFill>
            <a:srgbClr val="0C122C"/>
          </a:solidFill>
          <a:ln w="15240">
            <a:solidFill>
              <a:srgbClr val="DD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206240" y="713232"/>
            <a:ext cx="40000" cy="485000"/>
          </a:xfrm>
          <a:prstGeom prst="rect">
            <a:avLst/>
          </a:prstGeom>
          <a:solidFill>
            <a:srgbClr val="DD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76240" y="753232"/>
            <a:ext cx="2286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DD5500"/>
                </a:solidFill>
                <a:latin typeface="メイリオ"/>
              </a:rPr>
              <a:t>AT純増速度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76240" y="963232"/>
            <a:ext cx="420624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8ECFF"/>
                </a:solidFill>
                <a:latin typeface="メイリオ"/>
              </a:rPr>
              <a:t>約5.8枚/G（業界最高水準）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06240" y="1243232"/>
            <a:ext cx="4681728" cy="485000"/>
          </a:xfrm>
          <a:prstGeom prst="rect">
            <a:avLst/>
          </a:prstGeom>
          <a:solidFill>
            <a:srgbClr val="0C122C"/>
          </a:solidFill>
          <a:ln w="15240">
            <a:solidFill>
              <a:srgbClr val="FF88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206240" y="1243232"/>
            <a:ext cx="40000" cy="485000"/>
          </a:xfrm>
          <a:prstGeom prst="rect">
            <a:avLst/>
          </a:prstGeom>
          <a:solidFill>
            <a:srgbClr val="FF88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76240" y="1283232"/>
            <a:ext cx="2286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8822"/>
                </a:solidFill>
                <a:latin typeface="メイリオ"/>
              </a:rPr>
              <a:t>天井①（ボーナス間）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76240" y="1493232"/>
            <a:ext cx="420624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8ECFF"/>
                </a:solidFill>
                <a:latin typeface="メイリオ"/>
              </a:rPr>
              <a:t>最大850G → リセット後650G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206240" y="1773232"/>
            <a:ext cx="4681728" cy="485000"/>
          </a:xfrm>
          <a:prstGeom prst="rect">
            <a:avLst/>
          </a:prstGeom>
          <a:solidFill>
            <a:srgbClr val="0C122C"/>
          </a:solidFill>
          <a:ln w="15240">
            <a:solidFill>
              <a:srgbClr val="22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206240" y="1773232"/>
            <a:ext cx="40000" cy="485000"/>
          </a:xfrm>
          <a:prstGeom prst="rect">
            <a:avLst/>
          </a:prstGeom>
          <a:solidFill>
            <a:srgbClr val="22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276240" y="1813232"/>
            <a:ext cx="2286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2277FF"/>
                </a:solidFill>
                <a:latin typeface="メイリオ"/>
              </a:rPr>
              <a:t>天井②（炎炎激闘間）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276240" y="2023232"/>
            <a:ext cx="420624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8ECFF"/>
                </a:solidFill>
                <a:latin typeface="メイリオ"/>
              </a:rPr>
              <a:t>最大2,000G → リセット後1,500G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206240" y="2303232"/>
            <a:ext cx="4681728" cy="485000"/>
          </a:xfrm>
          <a:prstGeom prst="rect">
            <a:avLst/>
          </a:prstGeom>
          <a:solidFill>
            <a:srgbClr val="0C122C"/>
          </a:solidFill>
          <a:ln w="15240">
            <a:solidFill>
              <a:srgbClr val="FFB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206240" y="2303232"/>
            <a:ext cx="40000" cy="485000"/>
          </a:xfrm>
          <a:prstGeom prst="rect">
            <a:avLst/>
          </a:prstGeom>
          <a:solidFill>
            <a:srgbClr val="FFB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276240" y="2343232"/>
            <a:ext cx="2286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BB44"/>
                </a:solidFill>
                <a:latin typeface="メイリオ"/>
              </a:rPr>
              <a:t>炎炎激闘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6240" y="2553232"/>
            <a:ext cx="420624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8ECFF"/>
                </a:solidFill>
                <a:latin typeface="メイリオ"/>
              </a:rPr>
              <a:t>1セット15G+α（ストック型）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206240" y="2833232"/>
            <a:ext cx="4681728" cy="485000"/>
          </a:xfrm>
          <a:prstGeom prst="rect">
            <a:avLst/>
          </a:prstGeom>
          <a:solidFill>
            <a:srgbClr val="0C122C"/>
          </a:solidFill>
          <a:ln w="15240">
            <a:solidFill>
              <a:srgbClr val="22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206240" y="2833232"/>
            <a:ext cx="40000" cy="485000"/>
          </a:xfrm>
          <a:prstGeom prst="rect">
            <a:avLst/>
          </a:prstGeom>
          <a:solidFill>
            <a:srgbClr val="22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276240" y="2873232"/>
            <a:ext cx="2286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22CCDD"/>
                </a:solidFill>
                <a:latin typeface="メイリオ"/>
              </a:rPr>
              <a:t>(超)炎炎大戦 ループ率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76240" y="3083232"/>
            <a:ext cx="420624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8ECFF"/>
                </a:solidFill>
                <a:latin typeface="メイリオ"/>
              </a:rPr>
              <a:t>約80〜90%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06240" y="3363232"/>
            <a:ext cx="4681728" cy="485000"/>
          </a:xfrm>
          <a:prstGeom prst="rect">
            <a:avLst/>
          </a:prstGeom>
          <a:solidFill>
            <a:srgbClr val="0C122C"/>
          </a:solidFill>
          <a:ln w="1524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206240" y="3363232"/>
            <a:ext cx="40000" cy="485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276240" y="3403232"/>
            <a:ext cx="2286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C8A840"/>
                </a:solidFill>
                <a:latin typeface="メイリオ"/>
              </a:rPr>
              <a:t>アドラバースト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76240" y="3613232"/>
            <a:ext cx="420624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8ECFF"/>
                </a:solidFill>
                <a:latin typeface="メイリオ"/>
              </a:rPr>
              <a:t>期待枚数約2,760枚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498079" y="4919472"/>
            <a:ext cx="155448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AA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0C1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DD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BB44"/>
                </a:solidFill>
                <a:latin typeface="游明朝"/>
              </a:rPr>
              <a:t>ゲームフロー ── ボーナス → 炎炎激闘 → (超)炎炎大戦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888AA"/>
                </a:solidFill>
                <a:latin typeface="メイリオ"/>
              </a:rPr>
              <a:t>3/7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DD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658368"/>
            <a:ext cx="8631936" cy="280000"/>
          </a:xfrm>
          <a:prstGeom prst="rect">
            <a:avLst/>
          </a:prstGeom>
          <a:solidFill>
            <a:srgbClr val="141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" y="676656"/>
            <a:ext cx="27432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BB44"/>
                </a:solidFill>
                <a:latin typeface="メイリオ"/>
              </a:rPr>
              <a:t>ボーナス種類（AT契機）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6032" y="950976"/>
            <a:ext cx="2122984" cy="700000"/>
          </a:xfrm>
          <a:prstGeom prst="rect">
            <a:avLst/>
          </a:prstGeom>
          <a:solidFill>
            <a:srgbClr val="0C122C"/>
          </a:solidFill>
          <a:ln w="16510">
            <a:solidFill>
              <a:srgbClr val="DD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6032" y="978408"/>
            <a:ext cx="2087984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DD5500"/>
                </a:solidFill>
                <a:latin typeface="メイリオ"/>
              </a:rPr>
              <a:t>REGボーナス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032" y="1234440"/>
            <a:ext cx="2087984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8888AA"/>
                </a:solidFill>
                <a:latin typeface="メイリオ"/>
              </a:rPr>
              <a:t>設定判別に使う
最重要ボーナス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34016" y="950976"/>
            <a:ext cx="2122984" cy="700000"/>
          </a:xfrm>
          <a:prstGeom prst="rect">
            <a:avLst/>
          </a:prstGeom>
          <a:solidFill>
            <a:srgbClr val="0C122C"/>
          </a:solidFill>
          <a:ln w="16510">
            <a:solidFill>
              <a:srgbClr val="FF88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4016" y="978408"/>
            <a:ext cx="2087984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F8822"/>
                </a:solidFill>
                <a:latin typeface="メイリオ"/>
              </a:rPr>
              <a:t>炎炎ブースト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4016" y="1234440"/>
            <a:ext cx="2087984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8888AA"/>
                </a:solidFill>
                <a:latin typeface="メイリオ"/>
              </a:rPr>
              <a:t>継続率90%
AT高継続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92000" y="950976"/>
            <a:ext cx="2122984" cy="700000"/>
          </a:xfrm>
          <a:prstGeom prst="rect">
            <a:avLst/>
          </a:prstGeom>
          <a:solidFill>
            <a:srgbClr val="0C122C"/>
          </a:solidFill>
          <a:ln w="16510">
            <a:solidFill>
              <a:srgbClr val="FFB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22000" y="978408"/>
            <a:ext cx="2087984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FBB44"/>
                </a:solidFill>
                <a:latin typeface="メイリオ"/>
              </a:rPr>
              <a:t>アドラバースト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2000" y="1234440"/>
            <a:ext cx="2087984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8888AA"/>
                </a:solidFill>
                <a:latin typeface="メイリオ"/>
              </a:rPr>
              <a:t>期待約2,760枚
最強クラス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49984" y="950976"/>
            <a:ext cx="2122984" cy="700000"/>
          </a:xfrm>
          <a:prstGeom prst="rect">
            <a:avLst/>
          </a:prstGeom>
          <a:solidFill>
            <a:srgbClr val="0C122C"/>
          </a:solidFill>
          <a:ln w="1651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79984" y="978408"/>
            <a:ext cx="2087984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C8A840"/>
                </a:solidFill>
                <a:latin typeface="メイリオ"/>
              </a:rPr>
              <a:t>EX BONUS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79984" y="1234440"/>
            <a:ext cx="2087984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8888AA"/>
                </a:solidFill>
                <a:latin typeface="メイリオ"/>
              </a:rPr>
              <a:t>最大3,000枚
超レア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6112" y="2880360"/>
            <a:ext cx="1645920" cy="1280160"/>
          </a:xfrm>
          <a:prstGeom prst="rect">
            <a:avLst/>
          </a:prstGeom>
          <a:solidFill>
            <a:srgbClr val="141C3C"/>
          </a:solidFill>
          <a:ln w="22860">
            <a:solidFill>
              <a:srgbClr val="FF88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6112" y="2960360"/>
            <a:ext cx="156592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8822"/>
                </a:solidFill>
                <a:latin typeface="游明朝"/>
              </a:rPr>
              <a:t>通常遊技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112" y="3330360"/>
            <a:ext cx="158592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8888AA"/>
                </a:solidFill>
                <a:latin typeface="メイリオ"/>
              </a:rPr>
              <a:t>十字目変換で
ボーナス抽選</a:t>
            </a:r>
          </a:p>
        </p:txBody>
      </p:sp>
      <p:sp>
        <p:nvSpPr>
          <p:cNvPr id="25" name="Can 24"/>
          <p:cNvSpPr/>
          <p:nvPr/>
        </p:nvSpPr>
        <p:spPr>
          <a:xfrm>
            <a:off x="2552032" y="3430440"/>
            <a:ext cx="200000" cy="180000"/>
          </a:xfrm>
          <a:prstGeom prst="can">
            <a:avLst/>
          </a:prstGeom>
          <a:solidFill>
            <a:srgbClr val="DD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98064" y="2880360"/>
            <a:ext cx="1645920" cy="1280160"/>
          </a:xfrm>
          <a:prstGeom prst="rect">
            <a:avLst/>
          </a:prstGeom>
          <a:solidFill>
            <a:srgbClr val="180802"/>
          </a:solidFill>
          <a:ln w="22860">
            <a:solidFill>
              <a:srgbClr val="DD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38064" y="2960360"/>
            <a:ext cx="156592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DD5500"/>
                </a:solidFill>
                <a:latin typeface="游明朝"/>
              </a:rPr>
              <a:t>ボーナス
各種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28064" y="3330360"/>
            <a:ext cx="158592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8888AA"/>
                </a:solidFill>
                <a:latin typeface="メイリオ"/>
              </a:rPr>
              <a:t>REG/炎炎ブースト
/アドラバースト</a:t>
            </a:r>
          </a:p>
        </p:txBody>
      </p:sp>
      <p:sp>
        <p:nvSpPr>
          <p:cNvPr id="29" name="Can 28"/>
          <p:cNvSpPr/>
          <p:nvPr/>
        </p:nvSpPr>
        <p:spPr>
          <a:xfrm>
            <a:off x="4453984" y="3430440"/>
            <a:ext cx="200000" cy="180000"/>
          </a:xfrm>
          <a:prstGeom prst="can">
            <a:avLst/>
          </a:prstGeom>
          <a:solidFill>
            <a:srgbClr val="DD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700016" y="2880360"/>
            <a:ext cx="1645920" cy="1280160"/>
          </a:xfrm>
          <a:prstGeom prst="rect">
            <a:avLst/>
          </a:prstGeom>
          <a:solidFill>
            <a:srgbClr val="10142C"/>
          </a:solidFill>
          <a:ln w="22860">
            <a:solidFill>
              <a:srgbClr val="22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40016" y="2960360"/>
            <a:ext cx="156592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22CCDD"/>
                </a:solidFill>
                <a:latin typeface="游明朝"/>
              </a:rPr>
              <a:t>炎炎激闘
(基本AT)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30016" y="3330360"/>
            <a:ext cx="158592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8888AA"/>
                </a:solidFill>
                <a:latin typeface="メイリオ"/>
              </a:rPr>
              <a:t>15G+α
ストック型ST</a:t>
            </a:r>
          </a:p>
        </p:txBody>
      </p:sp>
      <p:sp>
        <p:nvSpPr>
          <p:cNvPr id="33" name="Can 32"/>
          <p:cNvSpPr/>
          <p:nvPr/>
        </p:nvSpPr>
        <p:spPr>
          <a:xfrm>
            <a:off x="6355936" y="3430440"/>
            <a:ext cx="200000" cy="180000"/>
          </a:xfrm>
          <a:prstGeom prst="can">
            <a:avLst/>
          </a:prstGeom>
          <a:solidFill>
            <a:srgbClr val="DD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601968" y="2880360"/>
            <a:ext cx="1645920" cy="1280160"/>
          </a:xfrm>
          <a:prstGeom prst="rect">
            <a:avLst/>
          </a:prstGeom>
          <a:solidFill>
            <a:srgbClr val="1A0802"/>
          </a:solidFill>
          <a:ln w="22860">
            <a:solidFill>
              <a:srgbClr val="FFB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41968" y="2960360"/>
            <a:ext cx="156592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BB44"/>
                </a:solidFill>
                <a:latin typeface="游明朝"/>
              </a:rPr>
              <a:t>(超)炎炎大戦
(上位AT)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31968" y="3330360"/>
            <a:ext cx="158592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8888AA"/>
                </a:solidFill>
                <a:latin typeface="メイリオ"/>
              </a:rPr>
              <a:t>ループ80〜90%
期待2,760枚以上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79" y="4919472"/>
            <a:ext cx="155448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AA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0C1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DD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BB44"/>
                </a:solidFill>
                <a:latin typeface="游明朝"/>
              </a:rPr>
              <a:t>AT構成 ── 炎炎激闘 × (超)炎炎大戦 × アドラバースト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888AA"/>
                </a:solidFill>
                <a:latin typeface="メイリオ"/>
              </a:rPr>
              <a:t>4/7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DD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658368"/>
            <a:ext cx="4114800" cy="280000"/>
          </a:xfrm>
          <a:prstGeom prst="rect">
            <a:avLst/>
          </a:prstGeom>
          <a:solidFill>
            <a:srgbClr val="993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32" y="703368"/>
            <a:ext cx="40448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BB44"/>
                </a:solidFill>
                <a:latin typeface="メイリオ"/>
              </a:rPr>
              <a:t>炎炎激闘（基本AT）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" y="938368"/>
            <a:ext cx="4114800" cy="1060000"/>
          </a:xfrm>
          <a:prstGeom prst="rect">
            <a:avLst/>
          </a:prstGeom>
          <a:solidFill>
            <a:srgbClr val="0C122C"/>
          </a:solidFill>
          <a:ln w="19050">
            <a:solidFill>
              <a:srgbClr val="DD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" y="938368"/>
            <a:ext cx="45000" cy="1060000"/>
          </a:xfrm>
          <a:prstGeom prst="rect">
            <a:avLst/>
          </a:prstGeom>
          <a:solidFill>
            <a:srgbClr val="DD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032" y="983368"/>
            <a:ext cx="16459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DD5500"/>
                </a:solidFill>
                <a:latin typeface="游明朝"/>
              </a:rPr>
              <a:t>炎炎激闘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76952" y="993368"/>
            <a:ext cx="219456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BB44"/>
                </a:solidFill>
                <a:latin typeface="メイリオ"/>
              </a:rPr>
              <a:t>1セット15G+α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1032" y="1238368"/>
            <a:ext cx="4004800" cy="6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CFF"/>
                </a:solidFill>
                <a:latin typeface="メイリオ"/>
              </a:rPr>
              <a:t>ストック型ST。ボーナスとのループで
連続してATを積み上げていく仕組み。
毎セット継続抽選＋ストック上乗せあり。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6032" y="2058368"/>
            <a:ext cx="4114800" cy="1060000"/>
          </a:xfrm>
          <a:prstGeom prst="rect">
            <a:avLst/>
          </a:prstGeom>
          <a:solidFill>
            <a:srgbClr val="0C122C"/>
          </a:solidFill>
          <a:ln w="19050">
            <a:solidFill>
              <a:srgbClr val="22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56032" y="2058368"/>
            <a:ext cx="45000" cy="1060000"/>
          </a:xfrm>
          <a:prstGeom prst="rect">
            <a:avLst/>
          </a:prstGeom>
          <a:solidFill>
            <a:srgbClr val="22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1032" y="2103368"/>
            <a:ext cx="16459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2CCDD"/>
                </a:solidFill>
                <a:latin typeface="游明朝"/>
              </a:rPr>
              <a:t>(超)炎炎大戦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6952" y="2113368"/>
            <a:ext cx="219456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BB44"/>
                </a:solidFill>
                <a:latin typeface="メイリオ"/>
              </a:rPr>
              <a:t>ループ率 80〜90%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1032" y="2358368"/>
            <a:ext cx="4004800" cy="6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CFF"/>
                </a:solidFill>
                <a:latin typeface="メイリオ"/>
              </a:rPr>
              <a:t>炎炎激闘から突入する上位AT。
継続率80〜90%で大量枚数を狙う。
「超」炎炎大戦は最高継続率バージョン。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0" y="658368"/>
            <a:ext cx="4297680" cy="280000"/>
          </a:xfrm>
          <a:prstGeom prst="rect">
            <a:avLst/>
          </a:prstGeom>
          <a:solidFill>
            <a:srgbClr val="993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22000" y="703368"/>
            <a:ext cx="422768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BB44"/>
                </a:solidFill>
                <a:latin typeface="メイリオ"/>
              </a:rPr>
              <a:t>特殊ボーナス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0" y="938368"/>
            <a:ext cx="4297680" cy="560000"/>
          </a:xfrm>
          <a:prstGeom prst="rect">
            <a:avLst/>
          </a:prstGeom>
          <a:solidFill>
            <a:srgbClr val="0C1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22000" y="983368"/>
            <a:ext cx="155448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8822"/>
                </a:solidFill>
                <a:latin typeface="メイリオ"/>
              </a:rPr>
              <a:t>炎炎ブースト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6480" y="993368"/>
            <a:ext cx="237744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BB44"/>
                </a:solidFill>
                <a:latin typeface="メイリオ"/>
              </a:rPr>
              <a:t>継続率90%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22000" y="1258368"/>
            <a:ext cx="3997680" cy="80000"/>
          </a:xfrm>
          <a:prstGeom prst="rect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22000" y="1258368"/>
            <a:ext cx="3597912" cy="80000"/>
          </a:xfrm>
          <a:prstGeom prst="rect">
            <a:avLst/>
          </a:prstGeom>
          <a:solidFill>
            <a:srgbClr val="FF88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0" y="1528368"/>
            <a:ext cx="4297680" cy="560000"/>
          </a:xfrm>
          <a:prstGeom prst="rect">
            <a:avLst/>
          </a:prstGeom>
          <a:solidFill>
            <a:srgbClr val="101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22000" y="1573368"/>
            <a:ext cx="155448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BB44"/>
                </a:solidFill>
                <a:latin typeface="メイリオ"/>
              </a:rPr>
              <a:t>アドラバースト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76480" y="1583368"/>
            <a:ext cx="237744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BB44"/>
                </a:solidFill>
                <a:latin typeface="メイリオ"/>
              </a:rPr>
              <a:t>期待約2,760枚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22000" y="1848368"/>
            <a:ext cx="3997680" cy="80000"/>
          </a:xfrm>
          <a:prstGeom prst="rect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622000" y="1848368"/>
            <a:ext cx="3997680" cy="80000"/>
          </a:xfrm>
          <a:prstGeom prst="rect">
            <a:avLst/>
          </a:prstGeom>
          <a:solidFill>
            <a:srgbClr val="FFB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0" y="2118368"/>
            <a:ext cx="4297680" cy="560000"/>
          </a:xfrm>
          <a:prstGeom prst="rect">
            <a:avLst/>
          </a:prstGeom>
          <a:solidFill>
            <a:srgbClr val="0C1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22000" y="2163368"/>
            <a:ext cx="155448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8A840"/>
                </a:solidFill>
                <a:latin typeface="メイリオ"/>
              </a:rPr>
              <a:t>EX BONUS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6480" y="2173368"/>
            <a:ext cx="237744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BB44"/>
                </a:solidFill>
                <a:latin typeface="メイリオ"/>
              </a:rPr>
              <a:t>最大3,000枚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622000" y="2438368"/>
            <a:ext cx="3997680" cy="80000"/>
          </a:xfrm>
          <a:prstGeom prst="rect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622000" y="2438368"/>
            <a:ext cx="3997680" cy="80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56032" y="3410712"/>
            <a:ext cx="4114800" cy="1430000"/>
          </a:xfrm>
          <a:prstGeom prst="rect">
            <a:avLst/>
          </a:prstGeom>
          <a:solidFill>
            <a:srgbClr val="0C122C"/>
          </a:solidFill>
          <a:ln w="19050">
            <a:solidFill>
              <a:srgbClr val="22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56032" y="3410712"/>
            <a:ext cx="45000" cy="1430000"/>
          </a:xfrm>
          <a:prstGeom prst="rect">
            <a:avLst/>
          </a:prstGeom>
          <a:solidFill>
            <a:srgbClr val="22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1032" y="3450712"/>
            <a:ext cx="40148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CCDD"/>
                </a:solidFill>
                <a:latin typeface="游明朝"/>
              </a:rPr>
              <a:t>アドラリンク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1032" y="3700712"/>
            <a:ext cx="40148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CFF"/>
                </a:solidFill>
                <a:latin typeface="メイリオ"/>
              </a:rPr>
              <a:t>AT中に自力でボーナスを当選させる仕組み。
アドラリンクからアドラバースト等に繋がれば
さらなる上乗せが期待できる。
運任せでなく「自力継続」の感覚を演出する設計。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0" y="3410712"/>
            <a:ext cx="4297680" cy="1430000"/>
          </a:xfrm>
          <a:prstGeom prst="rect">
            <a:avLst/>
          </a:prstGeom>
          <a:solidFill>
            <a:srgbClr val="120802"/>
          </a:solidFill>
          <a:ln w="25400">
            <a:solidFill>
              <a:srgbClr val="FFB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0" y="3410712"/>
            <a:ext cx="45000" cy="1430000"/>
          </a:xfrm>
          <a:prstGeom prst="rect">
            <a:avLst/>
          </a:prstGeom>
          <a:solidFill>
            <a:srgbClr val="FFB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47000" y="3450712"/>
            <a:ext cx="419768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BB44"/>
                </a:solidFill>
                <a:latin typeface="游明朝"/>
              </a:rPr>
              <a:t>5.8枚/Gの出玉設計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47000" y="3700712"/>
            <a:ext cx="419768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CFF"/>
                </a:solidFill>
                <a:latin typeface="メイリオ"/>
              </a:rPr>
              <a:t>AT中の純増5.8枚/Gは現行機で最高水準。
炎炎大戦80〜90%ループ中に出玉が爆発的に積み上がる。
1ループ≒1,200枚 × 継続 = 短時間で数千枚を狙える
「速く大きく」が最大の来店動機になる。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79" y="4919472"/>
            <a:ext cx="155448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AA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0C1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DD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BB44"/>
                </a:solidFill>
                <a:latin typeface="游明朝"/>
              </a:rPr>
              <a:t>二段階天井 ── 850G + 2,000Gの多層セーフティ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888AA"/>
                </a:solidFill>
                <a:latin typeface="メイリオ"/>
              </a:rPr>
              <a:t>5/7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DD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658368"/>
            <a:ext cx="4114800" cy="300000"/>
          </a:xfrm>
          <a:prstGeom prst="rect">
            <a:avLst/>
          </a:prstGeom>
          <a:solidFill>
            <a:srgbClr val="993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6032" y="708368"/>
            <a:ext cx="40348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BB44"/>
                </a:solidFill>
                <a:latin typeface="游明朝"/>
              </a:rPr>
              <a:t>2種類の天井が存在する意義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" y="958368"/>
            <a:ext cx="4114800" cy="1210000"/>
          </a:xfrm>
          <a:prstGeom prst="rect">
            <a:avLst/>
          </a:prstGeom>
          <a:solidFill>
            <a:srgbClr val="0C122C"/>
          </a:solidFill>
          <a:ln w="19050">
            <a:solidFill>
              <a:srgbClr val="DD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" y="958368"/>
            <a:ext cx="45000" cy="1210000"/>
          </a:xfrm>
          <a:prstGeom prst="rect">
            <a:avLst/>
          </a:prstGeom>
          <a:solidFill>
            <a:srgbClr val="DD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6032" y="1008368"/>
            <a:ext cx="40148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DD5500"/>
                </a:solidFill>
                <a:latin typeface="メイリオ"/>
              </a:rPr>
              <a:t>天井①：ボーナス間 850G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032" y="1258368"/>
            <a:ext cx="40148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CFF"/>
                </a:solidFill>
                <a:latin typeface="メイリオ"/>
              </a:rPr>
              <a:t>通常遊技でボーナスが850G来ない場合に発動。
リセット後は650Gに短縮。
日常的に狙える「基本の天井」として機能。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" y="2238368"/>
            <a:ext cx="4114800" cy="1210000"/>
          </a:xfrm>
          <a:prstGeom prst="rect">
            <a:avLst/>
          </a:prstGeom>
          <a:solidFill>
            <a:srgbClr val="0C122C"/>
          </a:solidFill>
          <a:ln w="19050">
            <a:solidFill>
              <a:srgbClr val="22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6032" y="2238368"/>
            <a:ext cx="45000" cy="1210000"/>
          </a:xfrm>
          <a:prstGeom prst="rect">
            <a:avLst/>
          </a:prstGeom>
          <a:solidFill>
            <a:srgbClr val="22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6032" y="2288368"/>
            <a:ext cx="40148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277FF"/>
                </a:solidFill>
                <a:latin typeface="メイリオ"/>
              </a:rPr>
              <a:t>天井②：炎炎激闘間 2,000G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6032" y="2538368"/>
            <a:ext cx="40148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CFF"/>
                </a:solidFill>
                <a:latin typeface="メイリオ"/>
              </a:rPr>
              <a:t>炎炎激闘（AT）が2,000G来ない場合に発動。
リセット後は1,500Gに短縮。
長期ハマり時の最終出口として機能。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" y="3518368"/>
            <a:ext cx="4114800" cy="1210000"/>
          </a:xfrm>
          <a:prstGeom prst="rect">
            <a:avLst/>
          </a:prstGeom>
          <a:solidFill>
            <a:srgbClr val="0C122C"/>
          </a:solidFill>
          <a:ln w="19050">
            <a:solidFill>
              <a:srgbClr val="22C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518368"/>
            <a:ext cx="45000" cy="1210000"/>
          </a:xfrm>
          <a:prstGeom prst="rect">
            <a:avLst/>
          </a:prstGeom>
          <a:solidFill>
            <a:srgbClr val="22C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6032" y="3568368"/>
            <a:ext cx="40148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2CC66"/>
                </a:solidFill>
                <a:latin typeface="メイリオ"/>
              </a:rPr>
              <a:t>二段階の相乗効果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6032" y="3818368"/>
            <a:ext cx="40148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CFF"/>
                </a:solidFill>
                <a:latin typeface="メイリオ"/>
              </a:rPr>
              <a:t>第1天井で短期保険、第2天井で長期保険。
「次の天井まで」という投資計画が立てやすく
プレイヤーのリスク管理を支援する設計。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0" y="658368"/>
            <a:ext cx="4297680" cy="280000"/>
          </a:xfrm>
          <a:prstGeom prst="rect">
            <a:avLst/>
          </a:prstGeom>
          <a:solidFill>
            <a:srgbClr val="141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22000" y="703368"/>
            <a:ext cx="422768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BB44"/>
                </a:solidFill>
                <a:latin typeface="游明朝"/>
              </a:rPr>
              <a:t>天井狙い：立ち回り別の目安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938368"/>
            <a:ext cx="4297680" cy="1270000"/>
          </a:xfrm>
          <a:prstGeom prst="rect">
            <a:avLst/>
          </a:prstGeom>
          <a:solidFill>
            <a:srgbClr val="0C122C"/>
          </a:solidFill>
          <a:ln w="15240">
            <a:solidFill>
              <a:srgbClr val="DD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0" y="938368"/>
            <a:ext cx="40000" cy="1270000"/>
          </a:xfrm>
          <a:prstGeom prst="rect">
            <a:avLst/>
          </a:prstGeom>
          <a:solidFill>
            <a:srgbClr val="DD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42000" y="978368"/>
            <a:ext cx="420768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DD5500"/>
                </a:solidFill>
                <a:latin typeface="メイリオ"/>
              </a:rPr>
              <a:t>天井①狙い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42000" y="1208368"/>
            <a:ext cx="420768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888AA"/>
                </a:solidFill>
                <a:latin typeface="メイリオ"/>
              </a:rPr>
              <a:t>550G〜（リセット後 400G〜）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42000" y="1428368"/>
            <a:ext cx="420768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CFF"/>
                </a:solidFill>
                <a:latin typeface="メイリオ"/>
              </a:rPr>
              <a:t>最もシンプルな狙い方。
期待値が取りやすく台数も多い。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0" y="2268368"/>
            <a:ext cx="4297680" cy="1270000"/>
          </a:xfrm>
          <a:prstGeom prst="rect">
            <a:avLst/>
          </a:prstGeom>
          <a:solidFill>
            <a:srgbClr val="0C122C"/>
          </a:solidFill>
          <a:ln w="15240">
            <a:solidFill>
              <a:srgbClr val="22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0" y="2268368"/>
            <a:ext cx="40000" cy="1270000"/>
          </a:xfrm>
          <a:prstGeom prst="rect">
            <a:avLst/>
          </a:prstGeom>
          <a:solidFill>
            <a:srgbClr val="22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42000" y="2308368"/>
            <a:ext cx="420768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277FF"/>
                </a:solidFill>
                <a:latin typeface="メイリオ"/>
              </a:rPr>
              <a:t>天井②狙い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42000" y="2538368"/>
            <a:ext cx="420768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888AA"/>
                </a:solidFill>
                <a:latin typeface="メイリオ"/>
              </a:rPr>
              <a:t>1,500G〜（リセット後 1,200G〜）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42000" y="2758368"/>
            <a:ext cx="420768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CFF"/>
                </a:solidFill>
                <a:latin typeface="メイリオ"/>
              </a:rPr>
              <a:t>投資が大きいが発動時の出玉も大きい。
期待収支プラスになりやすい。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0" y="3598368"/>
            <a:ext cx="4297680" cy="1270000"/>
          </a:xfrm>
          <a:prstGeom prst="rect">
            <a:avLst/>
          </a:prstGeom>
          <a:solidFill>
            <a:srgbClr val="0C122C"/>
          </a:solidFill>
          <a:ln w="15240">
            <a:solidFill>
              <a:srgbClr val="22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72000" y="3598368"/>
            <a:ext cx="40000" cy="1270000"/>
          </a:xfrm>
          <a:prstGeom prst="rect">
            <a:avLst/>
          </a:prstGeom>
          <a:solidFill>
            <a:srgbClr val="22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42000" y="3638368"/>
            <a:ext cx="420768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2CCDD"/>
                </a:solidFill>
                <a:latin typeface="メイリオ"/>
              </a:rPr>
              <a:t>両天井複合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42000" y="3868368"/>
            <a:ext cx="420768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888AA"/>
                </a:solidFill>
                <a:latin typeface="メイリオ"/>
              </a:rPr>
              <a:t>状況に応じた判断が必要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42000" y="4088368"/>
            <a:ext cx="420768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CFF"/>
                </a:solidFill>
                <a:latin typeface="メイリオ"/>
              </a:rPr>
              <a:t>天井①+②の距離を計算した
高度な立ち回り。データ確認が必須。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79" y="4919472"/>
            <a:ext cx="155448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AA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0C1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DD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BB44"/>
                </a:solidFill>
                <a:latin typeface="游明朝"/>
              </a:rPr>
              <a:t>設定判別 ── REGボーナスのキャラシナリオが最重要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888AA"/>
                </a:solidFill>
                <a:latin typeface="メイリオ"/>
              </a:rPr>
              <a:t>6/7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DD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658368"/>
            <a:ext cx="8631936" cy="310000"/>
          </a:xfrm>
          <a:prstGeom prst="rect">
            <a:avLst/>
          </a:prstGeom>
          <a:solidFill>
            <a:srgbClr val="DD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32" y="708368"/>
            <a:ext cx="8561936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5091E"/>
                </a:solidFill>
                <a:latin typeface="メイリオ"/>
              </a:rPr>
              <a:t>REGボーナス中 ── キャラ紹介シナリオによる設定示唆（最重要）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6032" y="968368"/>
            <a:ext cx="2842312" cy="800000"/>
          </a:xfrm>
          <a:prstGeom prst="rect">
            <a:avLst/>
          </a:prstGeom>
          <a:solidFill>
            <a:srgbClr val="0C122C"/>
          </a:solidFill>
          <a:ln w="25400">
            <a:solidFill>
              <a:srgbClr val="FF88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6032" y="968368"/>
            <a:ext cx="45000" cy="800000"/>
          </a:xfrm>
          <a:prstGeom prst="rect">
            <a:avLst/>
          </a:prstGeom>
          <a:solidFill>
            <a:srgbClr val="FF88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6032" y="1018368"/>
            <a:ext cx="2757312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8822"/>
                </a:solidFill>
                <a:latin typeface="游明朝"/>
              </a:rPr>
              <a:t>黒野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032" y="1358368"/>
            <a:ext cx="2757312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BB44"/>
                </a:solidFill>
                <a:latin typeface="メイリオ"/>
              </a:rPr>
              <a:t>設定4以上
確定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53344" y="968368"/>
            <a:ext cx="2842312" cy="800000"/>
          </a:xfrm>
          <a:prstGeom prst="rect">
            <a:avLst/>
          </a:prstGeom>
          <a:solidFill>
            <a:srgbClr val="0C122C"/>
          </a:solidFill>
          <a:ln w="2540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153344" y="968368"/>
            <a:ext cx="45000" cy="800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23344" y="1018368"/>
            <a:ext cx="2757312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8A840"/>
                </a:solidFill>
                <a:latin typeface="游明朝"/>
              </a:rPr>
              <a:t>ジョーカー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23344" y="1358368"/>
            <a:ext cx="2757312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BB44"/>
                </a:solidFill>
                <a:latin typeface="メイリオ"/>
              </a:rPr>
              <a:t>設定5以上
確定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0656" y="968368"/>
            <a:ext cx="2842312" cy="800000"/>
          </a:xfrm>
          <a:prstGeom prst="rect">
            <a:avLst/>
          </a:prstGeom>
          <a:solidFill>
            <a:srgbClr val="0C122C"/>
          </a:solidFill>
          <a:ln w="25400">
            <a:solidFill>
              <a:srgbClr val="FFB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30656" y="968368"/>
            <a:ext cx="45000" cy="800000"/>
          </a:xfrm>
          <a:prstGeom prst="rect">
            <a:avLst/>
          </a:prstGeom>
          <a:solidFill>
            <a:srgbClr val="FFB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00656" y="1018368"/>
            <a:ext cx="2757312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BB44"/>
                </a:solidFill>
                <a:latin typeface="游明朝"/>
              </a:rPr>
              <a:t>シンラ
（死ノ圧）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00656" y="1358368"/>
            <a:ext cx="2757312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BB44"/>
                </a:solidFill>
                <a:latin typeface="メイリオ"/>
              </a:rPr>
              <a:t>設定6
確定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6032" y="1828368"/>
            <a:ext cx="2842312" cy="330000"/>
          </a:xfrm>
          <a:prstGeom prst="rect">
            <a:avLst/>
          </a:prstGeom>
          <a:solidFill>
            <a:srgbClr val="DD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6032" y="1878368"/>
            <a:ext cx="2797312" cy="2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05091E"/>
                </a:solidFill>
                <a:latin typeface="メイリオ"/>
              </a:rPr>
              <a:t>炎炎激闘の初当たり率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6032" y="2158368"/>
            <a:ext cx="2842312" cy="1060000"/>
          </a:xfrm>
          <a:prstGeom prst="rect">
            <a:avLst/>
          </a:prstGeom>
          <a:solidFill>
            <a:srgbClr val="0C122C"/>
          </a:solidFill>
          <a:ln w="6350">
            <a:solidFill>
              <a:srgbClr val="DD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1032" y="2213368"/>
            <a:ext cx="2787312" cy="25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DD5500"/>
                </a:solidFill>
                <a:latin typeface="メイリオ"/>
              </a:rPr>
              <a:t>最重要の設定差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1032" y="2458368"/>
            <a:ext cx="2787312" cy="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CFF"/>
                </a:solidFill>
                <a:latin typeface="メイリオ"/>
              </a:rPr>
              <a:t>炎炎激闘の初当たり率が
設定によって大きく異なる。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6032" y="3258368"/>
            <a:ext cx="2842312" cy="1060000"/>
          </a:xfrm>
          <a:prstGeom prst="rect">
            <a:avLst/>
          </a:prstGeom>
          <a:solidFill>
            <a:srgbClr val="101632"/>
          </a:solidFill>
          <a:ln w="6350">
            <a:solidFill>
              <a:srgbClr val="DD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1032" y="3313368"/>
            <a:ext cx="2787312" cy="25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DD5500"/>
                </a:solidFill>
                <a:latin typeface="メイリオ"/>
              </a:rPr>
              <a:t>長時間実戦で差が出る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1032" y="3558368"/>
            <a:ext cx="2787312" cy="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CFF"/>
                </a:solidFill>
                <a:latin typeface="メイリオ"/>
              </a:rPr>
              <a:t>数百G以上の実戦で
感じられるレベルの差。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53344" y="1828368"/>
            <a:ext cx="2842312" cy="330000"/>
          </a:xfrm>
          <a:prstGeom prst="rect">
            <a:avLst/>
          </a:prstGeom>
          <a:solidFill>
            <a:srgbClr val="22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83344" y="1878368"/>
            <a:ext cx="2797312" cy="2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05091E"/>
                </a:solidFill>
                <a:latin typeface="メイリオ"/>
              </a:rPr>
              <a:t>伝導者の罠 成功率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53344" y="2158368"/>
            <a:ext cx="2842312" cy="1060000"/>
          </a:xfrm>
          <a:prstGeom prst="rect">
            <a:avLst/>
          </a:prstGeom>
          <a:solidFill>
            <a:srgbClr val="0C122C"/>
          </a:solidFill>
          <a:ln w="6350">
            <a:solidFill>
              <a:srgbClr val="22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88344" y="2213368"/>
            <a:ext cx="2787312" cy="25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22CCDD"/>
                </a:solidFill>
                <a:latin typeface="メイリオ"/>
              </a:rPr>
              <a:t>成功期待度約40%（全体）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88344" y="2458368"/>
            <a:ext cx="2787312" cy="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CFF"/>
                </a:solidFill>
                <a:latin typeface="メイリオ"/>
              </a:rPr>
              <a:t>高設定ほど成功率が高い。
通過回数を記録して判断。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153344" y="3258368"/>
            <a:ext cx="2842312" cy="1060000"/>
          </a:xfrm>
          <a:prstGeom prst="rect">
            <a:avLst/>
          </a:prstGeom>
          <a:solidFill>
            <a:srgbClr val="101632"/>
          </a:solidFill>
          <a:ln w="6350">
            <a:solidFill>
              <a:srgbClr val="22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188344" y="3313368"/>
            <a:ext cx="2787312" cy="25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22CCDD"/>
                </a:solidFill>
                <a:latin typeface="メイリオ"/>
              </a:rPr>
              <a:t>十字目変換率にも差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88344" y="3558368"/>
            <a:ext cx="2787312" cy="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CFF"/>
                </a:solidFill>
                <a:latin typeface="メイリオ"/>
              </a:rPr>
              <a:t>ボーナス契機となる
十字目変換率も高設定優遇。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30656" y="1828368"/>
            <a:ext cx="2842312" cy="330000"/>
          </a:xfrm>
          <a:prstGeom prst="rect">
            <a:avLst/>
          </a:prstGeom>
          <a:solidFill>
            <a:srgbClr val="22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60656" y="1878368"/>
            <a:ext cx="2797312" cy="2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05091E"/>
                </a:solidFill>
                <a:latin typeface="メイリオ"/>
              </a:rPr>
              <a:t>ボーナス終了画面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30656" y="2158368"/>
            <a:ext cx="2842312" cy="1060000"/>
          </a:xfrm>
          <a:prstGeom prst="rect">
            <a:avLst/>
          </a:prstGeom>
          <a:solidFill>
            <a:srgbClr val="0C122C"/>
          </a:solidFill>
          <a:ln w="6350">
            <a:solidFill>
              <a:srgbClr val="22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65656" y="2213368"/>
            <a:ext cx="2787312" cy="25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2277FF"/>
                </a:solidFill>
                <a:latin typeface="メイリオ"/>
              </a:rPr>
              <a:t>各ボーナス後に示唆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65656" y="2458368"/>
            <a:ext cx="2787312" cy="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CFF"/>
                </a:solidFill>
                <a:latin typeface="メイリオ"/>
              </a:rPr>
              <a:t>ボーナス終了後の
画面に設定示唆あり。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30656" y="3258368"/>
            <a:ext cx="2842312" cy="1060000"/>
          </a:xfrm>
          <a:prstGeom prst="rect">
            <a:avLst/>
          </a:prstGeom>
          <a:solidFill>
            <a:srgbClr val="101632"/>
          </a:solidFill>
          <a:ln w="6350">
            <a:solidFill>
              <a:srgbClr val="22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65656" y="3313368"/>
            <a:ext cx="2787312" cy="25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2277FF"/>
                </a:solidFill>
                <a:latin typeface="メイリオ"/>
              </a:rPr>
              <a:t>複数回確認で精度UP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65656" y="3558368"/>
            <a:ext cx="2787312" cy="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CFF"/>
                </a:solidFill>
                <a:latin typeface="メイリオ"/>
              </a:rPr>
              <a:t>単発では判断難しいため
複数回のデータを積む。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98079" y="4919472"/>
            <a:ext cx="155448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AA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0C1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DD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BB44"/>
                </a:solidFill>
                <a:latin typeface="游明朝"/>
              </a:rPr>
              <a:t>まとめ ── 設計から学べること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888AA"/>
                </a:solidFill>
                <a:latin typeface="メイリオ"/>
              </a:rPr>
              <a:t>7/7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DD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658368"/>
            <a:ext cx="4114800" cy="300000"/>
          </a:xfrm>
          <a:prstGeom prst="rect">
            <a:avLst/>
          </a:prstGeom>
          <a:solidFill>
            <a:srgbClr val="993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6032" y="708368"/>
            <a:ext cx="40348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BB44"/>
                </a:solidFill>
                <a:latin typeface="游明朝"/>
              </a:rPr>
              <a:t>炎炎ノ消防隊2の設計的強み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" y="958368"/>
            <a:ext cx="4114800" cy="1210000"/>
          </a:xfrm>
          <a:prstGeom prst="rect">
            <a:avLst/>
          </a:prstGeom>
          <a:solidFill>
            <a:srgbClr val="0C122C"/>
          </a:solidFill>
          <a:ln w="19050">
            <a:solidFill>
              <a:srgbClr val="DD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" y="958368"/>
            <a:ext cx="45000" cy="1210000"/>
          </a:xfrm>
          <a:prstGeom prst="rect">
            <a:avLst/>
          </a:prstGeom>
          <a:solidFill>
            <a:srgbClr val="DD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6032" y="1008368"/>
            <a:ext cx="40148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DD5500"/>
                </a:solidFill>
                <a:latin typeface="メイリオ"/>
              </a:rPr>
              <a:t>5.8枚/G という圧倒的な出玉体験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032" y="1258368"/>
            <a:ext cx="40148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CFF"/>
                </a:solidFill>
                <a:latin typeface="メイリオ"/>
              </a:rPr>
              <a:t>短時間で大量獲得できる高純増は
「勝った実感」を最大化する。
リピート来店の動機になりやすい。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" y="2238368"/>
            <a:ext cx="4114800" cy="1210000"/>
          </a:xfrm>
          <a:prstGeom prst="rect">
            <a:avLst/>
          </a:prstGeom>
          <a:solidFill>
            <a:srgbClr val="0C122C"/>
          </a:solidFill>
          <a:ln w="19050">
            <a:solidFill>
              <a:srgbClr val="22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6032" y="2238368"/>
            <a:ext cx="45000" cy="1210000"/>
          </a:xfrm>
          <a:prstGeom prst="rect">
            <a:avLst/>
          </a:prstGeom>
          <a:solidFill>
            <a:srgbClr val="22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6032" y="2288368"/>
            <a:ext cx="40148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2277FF"/>
                </a:solidFill>
                <a:latin typeface="メイリオ"/>
              </a:rPr>
              <a:t>二段階天井による投資計画の立てやすさ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6032" y="2538368"/>
            <a:ext cx="40148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CFF"/>
                </a:solidFill>
                <a:latin typeface="メイリオ"/>
              </a:rPr>
              <a:t>850G + 2,000Gのダブルセーフティで
プレイヤーが「どこまで投資するか」を
事前計画しやすい安心設計。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" y="3518368"/>
            <a:ext cx="4114800" cy="1210000"/>
          </a:xfrm>
          <a:prstGeom prst="rect">
            <a:avLst/>
          </a:prstGeom>
          <a:solidFill>
            <a:srgbClr val="0C122C"/>
          </a:solidFill>
          <a:ln w="19050">
            <a:solidFill>
              <a:srgbClr val="22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518368"/>
            <a:ext cx="45000" cy="1210000"/>
          </a:xfrm>
          <a:prstGeom prst="rect">
            <a:avLst/>
          </a:prstGeom>
          <a:solidFill>
            <a:srgbClr val="22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6032" y="3568368"/>
            <a:ext cx="40148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22CCDD"/>
                </a:solidFill>
                <a:latin typeface="メイリオ"/>
              </a:rPr>
              <a:t>REGボーナスに設定確定演出を集中させた明快さ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6032" y="3818368"/>
            <a:ext cx="40148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CFF"/>
                </a:solidFill>
                <a:latin typeface="メイリオ"/>
              </a:rPr>
              <a:t>黒野→設定4+、ジョーカー→設定5+、
シンラ(死ノ圧)→設定6確定という
段階的な確定システムが分かりやすい。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0" y="658368"/>
            <a:ext cx="4297680" cy="280000"/>
          </a:xfrm>
          <a:prstGeom prst="rect">
            <a:avLst/>
          </a:prstGeom>
          <a:solidFill>
            <a:srgbClr val="141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22000" y="703368"/>
            <a:ext cx="422768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BB44"/>
                </a:solidFill>
                <a:latin typeface="游明朝"/>
              </a:rPr>
              <a:t>設計原則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938368"/>
            <a:ext cx="20000" cy="490000"/>
          </a:xfrm>
          <a:prstGeom prst="rect">
            <a:avLst/>
          </a:prstGeom>
          <a:solidFill>
            <a:srgbClr val="DD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22000" y="1013368"/>
            <a:ext cx="42376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CFF"/>
                </a:solidFill>
                <a:latin typeface="メイリオ"/>
              </a:rPr>
              <a:t>純増5.8枚/Gは「速い出玉体験」を差別化の武器にする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0" y="1478368"/>
            <a:ext cx="20000" cy="490000"/>
          </a:xfrm>
          <a:prstGeom prst="rect">
            <a:avLst/>
          </a:prstGeom>
          <a:solidFill>
            <a:srgbClr val="22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22000" y="1553368"/>
            <a:ext cx="42376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CFF"/>
                </a:solidFill>
                <a:latin typeface="メイリオ"/>
              </a:rPr>
              <a:t>二段階天井は「投資計画の見える化」につながる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0" y="2018368"/>
            <a:ext cx="20000" cy="490000"/>
          </a:xfrm>
          <a:prstGeom prst="rect">
            <a:avLst/>
          </a:prstGeom>
          <a:solidFill>
            <a:srgbClr val="22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22000" y="2093368"/>
            <a:ext cx="42376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CFF"/>
                </a:solidFill>
                <a:latin typeface="メイリオ"/>
              </a:rPr>
              <a:t>段階的な設定確定演出は「信頼できる高設定感」を生む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0" y="2558368"/>
            <a:ext cx="20000" cy="490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22000" y="2633368"/>
            <a:ext cx="42376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CFF"/>
                </a:solidFill>
                <a:latin typeface="メイリオ"/>
              </a:rPr>
              <a:t>自力当選（アドラリンク）が「プレイヤーの能動感」を演出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0" y="3108368"/>
            <a:ext cx="4297680" cy="800000"/>
          </a:xfrm>
          <a:prstGeom prst="rect">
            <a:avLst/>
          </a:prstGeom>
          <a:solidFill>
            <a:srgbClr val="160802"/>
          </a:solidFill>
          <a:ln w="19050">
            <a:solidFill>
              <a:srgbClr val="DD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27000" y="3158368"/>
            <a:ext cx="422268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DD5500"/>
                </a:solidFill>
                <a:latin typeface="メイリオ"/>
              </a:rPr>
              <a:t>総括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27000" y="3418368"/>
            <a:ext cx="422268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CFF"/>
                </a:solidFill>
                <a:latin typeface="メイリオ"/>
              </a:rPr>
              <a:t>高純増×二段階天井×明快な設定確定演出の三位一体。
2026年導入機の中で設計完成度が高い一台。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79" y="4919472"/>
            <a:ext cx="155448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AA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