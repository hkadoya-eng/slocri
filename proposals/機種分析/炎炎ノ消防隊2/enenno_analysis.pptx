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40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8822"/>
                </a:solidFill>
                <a:latin typeface="游明朝"/>
              </a:rPr>
              <a:t>機種分析資料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932688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D5500"/>
                </a:solidFill>
                <a:latin typeface="游明朝"/>
              </a:rPr>
              <a:t>炎炎ノ消防隊2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651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D8B0"/>
                </a:solidFill>
                <a:latin typeface="游明朝"/>
              </a:rPr>
              <a:t>── 高純増×二段階天井の現代型AT設計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20040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メーカー：SANKYO　　導入：2026年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493008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設定：1〜6段階　　設定6機械割：114.9%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785615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AT純増：約5.8枚/G（業界最高水準）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4078224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天井：850G（ボーナス間）／2,000G（炎炎激闘間）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640080"/>
            <a:ext cx="3749039" cy="1143000"/>
          </a:xfrm>
          <a:prstGeom prst="rect">
            <a:avLst/>
          </a:prstGeom>
          <a:solidFill>
            <a:srgbClr val="0C122C"/>
          </a:solidFill>
          <a:ln w="2540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640080"/>
            <a:ext cx="60000" cy="1143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69508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D5500"/>
                </a:solidFill>
                <a:latin typeface="游明朝"/>
              </a:rPr>
              <a:t>炎炎激闘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01008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CFF"/>
                </a:solidFill>
                <a:latin typeface="メイリオ"/>
              </a:rPr>
              <a:t>基本AT（1セット15G+α）
ストック型で連チャンを積み上げる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2057400"/>
            <a:ext cx="3749039" cy="1143000"/>
          </a:xfrm>
          <a:prstGeom prst="rect">
            <a:avLst/>
          </a:prstGeom>
          <a:solidFill>
            <a:srgbClr val="0C122C"/>
          </a:solidFill>
          <a:ln w="2540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2057400"/>
            <a:ext cx="60000" cy="1143000"/>
          </a:xfrm>
          <a:prstGeom prst="rect">
            <a:avLst/>
          </a:prstGeom>
          <a:solidFill>
            <a:srgbClr val="FF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11240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B44"/>
                </a:solidFill>
                <a:latin typeface="游明朝"/>
              </a:rPr>
              <a:t>(超)炎炎大戦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2740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CFF"/>
                </a:solidFill>
                <a:latin typeface="メイリオ"/>
              </a:rPr>
              <a:t>上位AT・ループ率80〜90%
期待枚数2,760枚以上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3474720"/>
            <a:ext cx="3749039" cy="1143000"/>
          </a:xfrm>
          <a:prstGeom prst="rect">
            <a:avLst/>
          </a:prstGeom>
          <a:solidFill>
            <a:srgbClr val="0C122C"/>
          </a:solidFill>
          <a:ln w="2540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3474720"/>
            <a:ext cx="60000" cy="114300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52972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77FF"/>
                </a:solidFill>
                <a:latin typeface="游明朝"/>
              </a:rPr>
              <a:t>二段階天井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8447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CFF"/>
                </a:solidFill>
                <a:latin typeface="メイリオ"/>
              </a:rPr>
              <a:t>850G+2,000Gの多層設計
天井狙いの計画が立てやすい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B44"/>
                </a:solidFill>
                <a:latin typeface="游明朝"/>
              </a:rPr>
              <a:t>スペック ── 基本数値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713232"/>
            <a:ext cx="3600000" cy="360000"/>
          </a:xfrm>
          <a:prstGeom prst="rect">
            <a:avLst/>
          </a:prstGeom>
          <a:solidFill>
            <a:srgbClr val="99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032" y="758232"/>
            <a:ext cx="4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BB44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032" y="758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BB44"/>
                </a:solidFill>
                <a:latin typeface="メイリオ"/>
              </a:rPr>
              <a:t>機械割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6032" y="758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BB44"/>
                </a:solidFill>
                <a:latin typeface="メイリオ"/>
              </a:rPr>
              <a:t>ボーナス確率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6032" y="758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BB44"/>
                </a:solidFill>
                <a:latin typeface="メイリオ"/>
              </a:rPr>
              <a:t>特記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073232"/>
            <a:ext cx="3600000" cy="370000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032" y="1123232"/>
            <a:ext cx="4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CFF"/>
                </a:solidFill>
                <a:latin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032" y="112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6032" y="112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6032" y="112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1443232"/>
            <a:ext cx="3600000" cy="370000"/>
          </a:xfrm>
          <a:prstGeom prst="rect">
            <a:avLst/>
          </a:prstGeom>
          <a:solidFill>
            <a:srgbClr val="10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6032" y="1493232"/>
            <a:ext cx="4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CFF"/>
                </a:solidFill>
                <a:latin typeface="メイリオ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032" y="149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6032" y="149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6032" y="149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1813232"/>
            <a:ext cx="3600000" cy="370000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032" y="1863232"/>
            <a:ext cx="4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CFF"/>
                </a:solidFill>
                <a:latin typeface="メイリオ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032" y="186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6032" y="186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6032" y="186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183232"/>
            <a:ext cx="3600000" cy="370000"/>
          </a:xfrm>
          <a:prstGeom prst="rect">
            <a:avLst/>
          </a:prstGeom>
          <a:solidFill>
            <a:srgbClr val="10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6032" y="2233232"/>
            <a:ext cx="4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CFF"/>
                </a:solidFill>
                <a:latin typeface="メイリオ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32" y="223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26032" y="223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6032" y="223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設定4以上でプラスと推定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2553232"/>
            <a:ext cx="3600000" cy="370000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6032" y="2603232"/>
            <a:ext cx="4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CFF"/>
                </a:solidFill>
                <a:latin typeface="メイリオ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032" y="260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26032" y="260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86032" y="260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2923232"/>
            <a:ext cx="3600000" cy="370000"/>
          </a:xfrm>
          <a:prstGeom prst="rect">
            <a:avLst/>
          </a:prstGeom>
          <a:solidFill>
            <a:srgbClr val="10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6032" y="2973232"/>
            <a:ext cx="4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DD5500"/>
                </a:solidFill>
                <a:latin typeface="メイリオ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032" y="297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BB44"/>
                </a:solidFill>
                <a:latin typeface="メイリオ"/>
              </a:rPr>
              <a:t>114.9%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26032" y="2973232"/>
            <a:ext cx="91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86032" y="297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CFF"/>
                </a:solidFill>
                <a:latin typeface="メイリオ"/>
              </a:rPr>
              <a:t>業界最高水準（公式発表）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713232"/>
            <a:ext cx="4681728" cy="485000"/>
          </a:xfrm>
          <a:prstGeom prst="rect">
            <a:avLst/>
          </a:prstGeom>
          <a:solidFill>
            <a:srgbClr val="0C122C"/>
          </a:solidFill>
          <a:ln w="1524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713232"/>
            <a:ext cx="40000" cy="485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6240" y="75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D5500"/>
                </a:solidFill>
                <a:latin typeface="メイリオ"/>
              </a:rPr>
              <a:t>AT純増速度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6240" y="96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CFF"/>
                </a:solidFill>
                <a:latin typeface="メイリオ"/>
              </a:rPr>
              <a:t>約5.8枚/G（業界最高水準）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1243232"/>
            <a:ext cx="4681728" cy="485000"/>
          </a:xfrm>
          <a:prstGeom prst="rect">
            <a:avLst/>
          </a:prstGeom>
          <a:solidFill>
            <a:srgbClr val="0C122C"/>
          </a:solidFill>
          <a:ln w="1524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1243232"/>
            <a:ext cx="40000" cy="485000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6240" y="128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8822"/>
                </a:solidFill>
                <a:latin typeface="メイリオ"/>
              </a:rPr>
              <a:t>天井①（ボーナス間）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6240" y="149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CFF"/>
                </a:solidFill>
                <a:latin typeface="メイリオ"/>
              </a:rPr>
              <a:t>最大850G → リセット後650G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1773232"/>
            <a:ext cx="4681728" cy="485000"/>
          </a:xfrm>
          <a:prstGeom prst="rect">
            <a:avLst/>
          </a:prstGeom>
          <a:solidFill>
            <a:srgbClr val="0C122C"/>
          </a:solidFill>
          <a:ln w="1524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1773232"/>
            <a:ext cx="40000" cy="48500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6240" y="181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77FF"/>
                </a:solidFill>
                <a:latin typeface="メイリオ"/>
              </a:rPr>
              <a:t>天井②（炎炎激闘間）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6240" y="202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CFF"/>
                </a:solidFill>
                <a:latin typeface="メイリオ"/>
              </a:rPr>
              <a:t>最大2,000G → リセット後1,500G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2303232"/>
            <a:ext cx="4681728" cy="485000"/>
          </a:xfrm>
          <a:prstGeom prst="rect">
            <a:avLst/>
          </a:prstGeom>
          <a:solidFill>
            <a:srgbClr val="0C122C"/>
          </a:solidFill>
          <a:ln w="1524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40" y="2303232"/>
            <a:ext cx="40000" cy="485000"/>
          </a:xfrm>
          <a:prstGeom prst="rect">
            <a:avLst/>
          </a:prstGeom>
          <a:solidFill>
            <a:srgbClr val="FF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6240" y="234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BB44"/>
                </a:solidFill>
                <a:latin typeface="メイリオ"/>
              </a:rPr>
              <a:t>炎炎激闘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6240" y="255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CFF"/>
                </a:solidFill>
                <a:latin typeface="メイリオ"/>
              </a:rPr>
              <a:t>1セット15G+α（ストック型）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833232"/>
            <a:ext cx="4681728" cy="485000"/>
          </a:xfrm>
          <a:prstGeom prst="rect">
            <a:avLst/>
          </a:prstGeom>
          <a:solidFill>
            <a:srgbClr val="0C122C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06240" y="2833232"/>
            <a:ext cx="40000" cy="48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6240" y="287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(超)炎炎大戦 ループ率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76240" y="308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CFF"/>
                </a:solidFill>
                <a:latin typeface="メイリオ"/>
              </a:rPr>
              <a:t>約80〜90%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363232"/>
            <a:ext cx="4681728" cy="485000"/>
          </a:xfrm>
          <a:prstGeom prst="rect">
            <a:avLst/>
          </a:prstGeom>
          <a:solidFill>
            <a:srgbClr val="0C122C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3363232"/>
            <a:ext cx="40000" cy="48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76240" y="340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アドラバースト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6240" y="361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CFF"/>
                </a:solidFill>
                <a:latin typeface="メイリオ"/>
              </a:rPr>
              <a:t>期待枚数約2,760枚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B44"/>
                </a:solidFill>
                <a:latin typeface="游明朝"/>
              </a:rPr>
              <a:t>ゲームフロー ── ボーナス → 炎炎激闘 → (超)炎炎大戦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8631936" cy="280000"/>
          </a:xfrm>
          <a:prstGeom prst="rect">
            <a:avLst/>
          </a:prstGeom>
          <a:solidFill>
            <a:srgbClr val="14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676656"/>
            <a:ext cx="27432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BB44"/>
                </a:solidFill>
                <a:latin typeface="メイリオ"/>
              </a:rPr>
              <a:t>ボーナス種類（AT契機）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032" y="950976"/>
            <a:ext cx="2122984" cy="700000"/>
          </a:xfrm>
          <a:prstGeom prst="rect">
            <a:avLst/>
          </a:prstGeom>
          <a:solidFill>
            <a:srgbClr val="0C122C"/>
          </a:solidFill>
          <a:ln w="1651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32" y="978408"/>
            <a:ext cx="2087984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DD5500"/>
                </a:solidFill>
                <a:latin typeface="メイリオ"/>
              </a:rPr>
              <a:t>REGボーナス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32" y="1234440"/>
            <a:ext cx="2087984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設定判別に使う
最重要ボーナス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4016" y="950976"/>
            <a:ext cx="2122984" cy="700000"/>
          </a:xfrm>
          <a:prstGeom prst="rect">
            <a:avLst/>
          </a:prstGeom>
          <a:solidFill>
            <a:srgbClr val="0C122C"/>
          </a:solidFill>
          <a:ln w="1651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4016" y="978408"/>
            <a:ext cx="2087984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8822"/>
                </a:solidFill>
                <a:latin typeface="メイリオ"/>
              </a:rPr>
              <a:t>炎炎ブースト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4016" y="1234440"/>
            <a:ext cx="2087984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継続率90%
AT高継続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2000" y="950976"/>
            <a:ext cx="2122984" cy="700000"/>
          </a:xfrm>
          <a:prstGeom prst="rect">
            <a:avLst/>
          </a:prstGeom>
          <a:solidFill>
            <a:srgbClr val="0C122C"/>
          </a:solidFill>
          <a:ln w="1651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2000" y="978408"/>
            <a:ext cx="2087984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BB44"/>
                </a:solidFill>
                <a:latin typeface="メイリオ"/>
              </a:rPr>
              <a:t>アドラバースト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000" y="1234440"/>
            <a:ext cx="2087984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期待約2,760枚
最強クラス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9984" y="950976"/>
            <a:ext cx="2122984" cy="700000"/>
          </a:xfrm>
          <a:prstGeom prst="rect">
            <a:avLst/>
          </a:prstGeom>
          <a:solidFill>
            <a:srgbClr val="0C122C"/>
          </a:solidFill>
          <a:ln w="1651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9984" y="978408"/>
            <a:ext cx="2087984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EX BONUS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9984" y="1234440"/>
            <a:ext cx="2087984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最大3,000枚
超レア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2880360"/>
            <a:ext cx="1645920" cy="1280160"/>
          </a:xfrm>
          <a:prstGeom prst="rect">
            <a:avLst/>
          </a:prstGeom>
          <a:solidFill>
            <a:srgbClr val="141C3C"/>
          </a:solidFill>
          <a:ln w="2286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112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8822"/>
                </a:solidFill>
                <a:latin typeface="游明朝"/>
              </a:rPr>
              <a:t>通常遊技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112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十字目変換で
ボーナス抽選</a:t>
            </a:r>
          </a:p>
        </p:txBody>
      </p:sp>
      <p:sp>
        <p:nvSpPr>
          <p:cNvPr id="25" name="Can 24"/>
          <p:cNvSpPr/>
          <p:nvPr/>
        </p:nvSpPr>
        <p:spPr>
          <a:xfrm>
            <a:off x="2552032" y="3430440"/>
            <a:ext cx="200000" cy="180000"/>
          </a:xfrm>
          <a:prstGeom prst="can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8064" y="2880360"/>
            <a:ext cx="1645920" cy="1280160"/>
          </a:xfrm>
          <a:prstGeom prst="rect">
            <a:avLst/>
          </a:prstGeom>
          <a:solidFill>
            <a:srgbClr val="180802"/>
          </a:solidFill>
          <a:ln w="2286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064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D5500"/>
                </a:solidFill>
                <a:latin typeface="游明朝"/>
              </a:rPr>
              <a:t>ボーナス
各種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8064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REG/炎炎ブースト
/アドラバースト</a:t>
            </a:r>
          </a:p>
        </p:txBody>
      </p:sp>
      <p:sp>
        <p:nvSpPr>
          <p:cNvPr id="29" name="Can 28"/>
          <p:cNvSpPr/>
          <p:nvPr/>
        </p:nvSpPr>
        <p:spPr>
          <a:xfrm>
            <a:off x="4453984" y="3430440"/>
            <a:ext cx="200000" cy="180000"/>
          </a:xfrm>
          <a:prstGeom prst="can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0016" y="2880360"/>
            <a:ext cx="1645920" cy="1280160"/>
          </a:xfrm>
          <a:prstGeom prst="rect">
            <a:avLst/>
          </a:prstGeom>
          <a:solidFill>
            <a:srgbClr val="10142C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0016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CDD"/>
                </a:solidFill>
                <a:latin typeface="游明朝"/>
              </a:rPr>
              <a:t>炎炎激闘
(基本AT)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0016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15G+α
ストック型ST</a:t>
            </a:r>
          </a:p>
        </p:txBody>
      </p:sp>
      <p:sp>
        <p:nvSpPr>
          <p:cNvPr id="33" name="Can 32"/>
          <p:cNvSpPr/>
          <p:nvPr/>
        </p:nvSpPr>
        <p:spPr>
          <a:xfrm>
            <a:off x="6355936" y="3430440"/>
            <a:ext cx="200000" cy="180000"/>
          </a:xfrm>
          <a:prstGeom prst="can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01968" y="2880360"/>
            <a:ext cx="1645920" cy="1280160"/>
          </a:xfrm>
          <a:prstGeom prst="rect">
            <a:avLst/>
          </a:prstGeom>
          <a:solidFill>
            <a:srgbClr val="1A0802"/>
          </a:solidFill>
          <a:ln w="2286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1968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BB44"/>
                </a:solidFill>
                <a:latin typeface="游明朝"/>
              </a:rPr>
              <a:t>(超)炎炎大戦
(上位AT)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1968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ループ80〜90%
期待2,760枚以上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B44"/>
                </a:solidFill>
                <a:latin typeface="游明朝"/>
              </a:rPr>
              <a:t>AT構成 ── 炎炎激闘 × (超)炎炎大戦 × アドラバースト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80000"/>
          </a:xfrm>
          <a:prstGeom prst="rect">
            <a:avLst/>
          </a:prstGeom>
          <a:solidFill>
            <a:srgbClr val="99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32" y="703368"/>
            <a:ext cx="4044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BB44"/>
                </a:solidFill>
                <a:latin typeface="メイリオ"/>
              </a:rPr>
              <a:t>炎炎激闘（基本AT）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38368"/>
            <a:ext cx="4114800" cy="106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38368"/>
            <a:ext cx="45000" cy="1060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83368"/>
            <a:ext cx="1645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D5500"/>
                </a:solidFill>
                <a:latin typeface="游明朝"/>
              </a:rPr>
              <a:t>炎炎激闘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6952" y="993368"/>
            <a:ext cx="21945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BB44"/>
                </a:solidFill>
                <a:latin typeface="メイリオ"/>
              </a:rPr>
              <a:t>1セット15G+α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32" y="1238368"/>
            <a:ext cx="40048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【核心：十字目変換フロー】
リプレイで小V停止
→ PUSHで十字目に変換（炎色で期待度）
  白約20% / 青約40% / 赤=確定
→ 成功→伝導者決戦（ボーナス抽選）
2連続外れ→3回目は必ず変換成功。
15G以内未変換→15G再セット。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058368"/>
            <a:ext cx="4114800" cy="106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2058368"/>
            <a:ext cx="45000" cy="10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32" y="2103368"/>
            <a:ext cx="1645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DD"/>
                </a:solidFill>
                <a:latin typeface="游明朝"/>
              </a:rPr>
              <a:t>(超)炎炎大戦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6952" y="2113368"/>
            <a:ext cx="21945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BB44"/>
                </a:solidFill>
                <a:latin typeface="メイリオ"/>
              </a:rPr>
              <a:t>ループ率 80〜90%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32" y="2358368"/>
            <a:ext cx="40048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炎炎激闘から突入する上位AT。
継続率80〜90%で大量枚数を狙う。
「超」炎炎大戦は最高継続率バージョン。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99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BB44"/>
                </a:solidFill>
                <a:latin typeface="メイリオ"/>
              </a:rPr>
              <a:t>特殊ボーナス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938368"/>
            <a:ext cx="4297680" cy="560000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983368"/>
            <a:ext cx="1554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822"/>
                </a:solidFill>
                <a:latin typeface="メイリオ"/>
              </a:rPr>
              <a:t>炎炎ブースト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480" y="993368"/>
            <a:ext cx="23774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B44"/>
                </a:solidFill>
                <a:latin typeface="メイリオ"/>
              </a:rPr>
              <a:t>継続率90%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2000" y="1258368"/>
            <a:ext cx="3997680" cy="8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22000" y="1258368"/>
            <a:ext cx="3597912" cy="80000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528368"/>
            <a:ext cx="4297680" cy="560000"/>
          </a:xfrm>
          <a:prstGeom prst="rect">
            <a:avLst/>
          </a:prstGeom>
          <a:solidFill>
            <a:srgbClr val="10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2000" y="1573368"/>
            <a:ext cx="1554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BB44"/>
                </a:solidFill>
                <a:latin typeface="メイリオ"/>
              </a:rPr>
              <a:t>アドラバースト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6480" y="1583368"/>
            <a:ext cx="23774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B44"/>
                </a:solidFill>
                <a:latin typeface="メイリオ"/>
              </a:rPr>
              <a:t>期待約2,760枚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22000" y="1848368"/>
            <a:ext cx="3997680" cy="8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22000" y="1848368"/>
            <a:ext cx="3997680" cy="80000"/>
          </a:xfrm>
          <a:prstGeom prst="rect">
            <a:avLst/>
          </a:prstGeom>
          <a:solidFill>
            <a:srgbClr val="FF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2118368"/>
            <a:ext cx="4297680" cy="560000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2000" y="2163368"/>
            <a:ext cx="1554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EX BONUS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6480" y="2173368"/>
            <a:ext cx="23774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B44"/>
                </a:solidFill>
                <a:latin typeface="メイリオ"/>
              </a:rPr>
              <a:t>最大3,000枚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22000" y="2438368"/>
            <a:ext cx="3997680" cy="8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22000" y="2438368"/>
            <a:ext cx="3997680" cy="8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3410712"/>
            <a:ext cx="4114800" cy="143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3410712"/>
            <a:ext cx="45000" cy="143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032" y="3450712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アドラリンク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032" y="3700712"/>
            <a:ext cx="40148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AT中に自力でボーナスを当選させる仕組み。
アドラリンクからアドラバースト等に繋がれば
さらなる上乗せが期待できる。
運任せでなく「自力継続」の感覚を演出する設計。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410712"/>
            <a:ext cx="4297680" cy="1430000"/>
          </a:xfrm>
          <a:prstGeom prst="rect">
            <a:avLst/>
          </a:prstGeom>
          <a:solidFill>
            <a:srgbClr val="120802"/>
          </a:solidFill>
          <a:ln w="2540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3410712"/>
            <a:ext cx="45000" cy="1430000"/>
          </a:xfrm>
          <a:prstGeom prst="rect">
            <a:avLst/>
          </a:prstGeom>
          <a:solidFill>
            <a:srgbClr val="FF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7000" y="3450712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B44"/>
                </a:solidFill>
                <a:latin typeface="游明朝"/>
              </a:rPr>
              <a:t>5.8枚/Gの出玉設計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7000" y="3700712"/>
            <a:ext cx="419768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AT中の純増5.8枚/Gは現行機で最高水準。
炎炎大戦80〜90%ループ中に出玉が爆発的に積み上がる。
1ループ≒1,200枚 × 継続 = 短時間で数千枚を狙える
「速く大きく」が最大の来店動機になる。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B44"/>
                </a:solidFill>
                <a:latin typeface="游明朝"/>
              </a:rPr>
              <a:t>ゲーム体験の核心 ── 自力感×昇格×爆発の3段設計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1920240" cy="1300000"/>
          </a:xfrm>
          <a:prstGeom prst="rect">
            <a:avLst/>
          </a:prstGeom>
          <a:solidFill>
            <a:srgbClr val="141C3C"/>
          </a:solidFill>
          <a:ln w="1905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32" y="718368"/>
            <a:ext cx="18402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8822"/>
                </a:solidFill>
                <a:latin typeface="游明朝"/>
              </a:rPr>
              <a:t>通常遊技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032" y="1108368"/>
            <a:ext cx="185024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CFF"/>
                </a:solidFill>
                <a:latin typeface="メイリオ"/>
              </a:rPr>
              <a:t>十字目変換・レア役で
前兆に移行
規定Gでもボーナスへ</a:t>
            </a:r>
          </a:p>
        </p:txBody>
      </p:sp>
      <p:sp>
        <p:nvSpPr>
          <p:cNvPr id="11" name="Can 10"/>
          <p:cNvSpPr/>
          <p:nvPr/>
        </p:nvSpPr>
        <p:spPr>
          <a:xfrm>
            <a:off x="2226272" y="1218368"/>
            <a:ext cx="200000" cy="180000"/>
          </a:xfrm>
          <a:prstGeom prst="can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0592" y="658368"/>
            <a:ext cx="1920240" cy="1300000"/>
          </a:xfrm>
          <a:prstGeom prst="rect">
            <a:avLst/>
          </a:prstGeom>
          <a:solidFill>
            <a:srgbClr val="081228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0592" y="718368"/>
            <a:ext cx="18402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CDD"/>
                </a:solidFill>
                <a:latin typeface="游明朝"/>
              </a:rPr>
              <a:t>アドラリンク
（3G自力CZ）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0592" y="1108368"/>
            <a:ext cx="185024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CFF"/>
                </a:solidFill>
                <a:latin typeface="メイリオ"/>
              </a:rPr>
              <a:t>リールロック段数で
期待度が上昇
成功率約50%
「自力で掴む」感覚</a:t>
            </a:r>
          </a:p>
        </p:txBody>
      </p:sp>
      <p:sp>
        <p:nvSpPr>
          <p:cNvPr id="15" name="Can 14"/>
          <p:cNvSpPr/>
          <p:nvPr/>
        </p:nvSpPr>
        <p:spPr>
          <a:xfrm>
            <a:off x="4420832" y="1218368"/>
            <a:ext cx="200000" cy="180000"/>
          </a:xfrm>
          <a:prstGeom prst="can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658368"/>
            <a:ext cx="1920240" cy="1300000"/>
          </a:xfrm>
          <a:prstGeom prst="rect">
            <a:avLst/>
          </a:prstGeom>
          <a:solidFill>
            <a:srgbClr val="180802"/>
          </a:solidFill>
          <a:ln w="1905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5152" y="718368"/>
            <a:ext cx="18402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D5500"/>
                </a:solidFill>
                <a:latin typeface="游明朝"/>
              </a:rPr>
              <a:t>炎炎激闘
（15G+α）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5152" y="1108368"/>
            <a:ext cx="185024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CFF"/>
                </a:solidFill>
                <a:latin typeface="メイリオ"/>
              </a:rPr>
              <a:t>リプレイ小V→十字目変換
→伝導者決戦がループ
3回目は変換必ず成功</a:t>
            </a:r>
          </a:p>
        </p:txBody>
      </p:sp>
      <p:sp>
        <p:nvSpPr>
          <p:cNvPr id="19" name="Can 18"/>
          <p:cNvSpPr/>
          <p:nvPr/>
        </p:nvSpPr>
        <p:spPr>
          <a:xfrm>
            <a:off x="6615392" y="1218368"/>
            <a:ext cx="200000" cy="180000"/>
          </a:xfrm>
          <a:prstGeom prst="can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9712" y="658368"/>
            <a:ext cx="1920240" cy="1300000"/>
          </a:xfrm>
          <a:prstGeom prst="rect">
            <a:avLst/>
          </a:prstGeom>
          <a:solidFill>
            <a:srgbClr val="140600"/>
          </a:solidFill>
          <a:ln w="1905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9712" y="718368"/>
            <a:ext cx="18402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BB44"/>
                </a:solidFill>
                <a:latin typeface="游明朝"/>
              </a:rPr>
              <a:t>(超)炎炎大戦
→アドラバースト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712" y="1108368"/>
            <a:ext cx="185024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CFF"/>
                </a:solidFill>
                <a:latin typeface="メイリオ"/>
              </a:rPr>
              <a:t>ループ率80〜90%
最上位で約2,760枚
常に「上」が見える設計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078368"/>
            <a:ext cx="4114800" cy="272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078368"/>
            <a:ext cx="45000" cy="272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32" y="212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アドラリンクの「自力感」設計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32" y="2378368"/>
            <a:ext cx="4014800" cy="2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アドラリンクは通常遊技中に割り込む
3GのプチCZ。
【リールロック段数による演出設計】
1段ロック → チャンス
2段ロック → 期待度大幅アップ
3段ロック → 激アツ（成功率大幅上昇）
「何段ロックがかかるか」を見守る
3Gの緊張感が打感の核心を作る。
→ ボーナスを「もらう」ではなく
  「自分で掴んだ」感覚を生む設計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078368"/>
            <a:ext cx="4297680" cy="2720000"/>
          </a:xfrm>
          <a:prstGeom prst="rect">
            <a:avLst/>
          </a:prstGeom>
          <a:solidFill>
            <a:srgbClr val="120802"/>
          </a:solidFill>
          <a:ln w="1905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078368"/>
            <a:ext cx="45000" cy="2720000"/>
          </a:xfrm>
          <a:prstGeom prst="rect">
            <a:avLst/>
          </a:prstGeom>
          <a:solidFill>
            <a:srgbClr val="FF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7000" y="212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B44"/>
                </a:solidFill>
                <a:latin typeface="游明朝"/>
              </a:rPr>
              <a:t>昇格・爆発の多層設計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7000" y="2378368"/>
            <a:ext cx="4197680" cy="2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常に「上の状態」が存在することで
プレイヤーの目標が途切れない。
炎炎激闘（15G+α）
  ↓ ストック×ボーナスループ80%以上
(超)炎炎大戦（ループ率80〜90%）
  ↓ 特殊ルートで
アドラバースト（期待約2,760枚）
【ストック型の心理的安心感】
1セット15Gで終わっても
ストックがあれば「また来る」という
安堵感が投資継続につながる。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B44"/>
                </a:solidFill>
                <a:latin typeface="游明朝"/>
              </a:rPr>
              <a:t>二段階天井 ── 850G + 2,000Gの多層セーフティ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300000"/>
          </a:xfrm>
          <a:prstGeom prst="rect">
            <a:avLst/>
          </a:prstGeom>
          <a:solidFill>
            <a:srgbClr val="99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B44"/>
                </a:solidFill>
                <a:latin typeface="游明朝"/>
              </a:rPr>
              <a:t>2種類の天井が存在する意義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58368"/>
            <a:ext cx="4114800" cy="121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58368"/>
            <a:ext cx="45000" cy="1210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032" y="100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5500"/>
                </a:solidFill>
                <a:latin typeface="メイリオ"/>
              </a:rPr>
              <a:t>天井①：ボーナス間 850G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32" y="1258368"/>
            <a:ext cx="4014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通常遊技でボーナスが850G来ない場合に発動。
リセット後は650Gに短縮。
日常的に狙える「基本の天井」として機能。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38368"/>
            <a:ext cx="4114800" cy="121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38368"/>
            <a:ext cx="45000" cy="121000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032" y="228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77FF"/>
                </a:solidFill>
                <a:latin typeface="メイリオ"/>
              </a:rPr>
              <a:t>天井②：炎炎激闘間 2,000G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32" y="2538368"/>
            <a:ext cx="4014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炎炎激闘（AT）が2,000G来ない場合に発動。
リセット後は1,500Gに短縮。
長期ハマり時の最終出口として機能。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518368"/>
            <a:ext cx="4114800" cy="121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518368"/>
            <a:ext cx="45000" cy="121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032" y="356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二段階の相乗効果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32" y="3818368"/>
            <a:ext cx="4014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第1天井で短期保険、第2天井で長期保険。
「次の天井まで」という投資計画が立てやすく
プレイヤーのリスク管理を支援する設計。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14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B44"/>
                </a:solidFill>
                <a:latin typeface="游明朝"/>
              </a:rPr>
              <a:t>天井狙い：立ち回り別の目安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4297680" cy="1270000"/>
          </a:xfrm>
          <a:prstGeom prst="rect">
            <a:avLst/>
          </a:prstGeom>
          <a:solidFill>
            <a:srgbClr val="0C122C"/>
          </a:solidFill>
          <a:ln w="1524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38368"/>
            <a:ext cx="40000" cy="1270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2000" y="978368"/>
            <a:ext cx="420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5500"/>
                </a:solidFill>
                <a:latin typeface="メイリオ"/>
              </a:rPr>
              <a:t>天井①狙い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2000" y="1208368"/>
            <a:ext cx="420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550G〜（リセット後 400G〜）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2000" y="1428368"/>
            <a:ext cx="420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最もシンプルな狙い方。
期待値が取りやすく台数も多い。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268368"/>
            <a:ext cx="4297680" cy="1270000"/>
          </a:xfrm>
          <a:prstGeom prst="rect">
            <a:avLst/>
          </a:prstGeom>
          <a:solidFill>
            <a:srgbClr val="0C122C"/>
          </a:solidFill>
          <a:ln w="1524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2268368"/>
            <a:ext cx="40000" cy="127000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2000" y="2308368"/>
            <a:ext cx="420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77FF"/>
                </a:solidFill>
                <a:latin typeface="メイリオ"/>
              </a:rPr>
              <a:t>天井②狙い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2000" y="2538368"/>
            <a:ext cx="420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1,500G〜（リセット後 1,200G〜）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2000" y="2758368"/>
            <a:ext cx="420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投資が大きいが発動時の出玉も大きい。
期待収支プラスになりやすい。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598368"/>
            <a:ext cx="4297680" cy="1270000"/>
          </a:xfrm>
          <a:prstGeom prst="rect">
            <a:avLst/>
          </a:prstGeom>
          <a:solidFill>
            <a:srgbClr val="0C122C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3598368"/>
            <a:ext cx="40000" cy="127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2000" y="3638368"/>
            <a:ext cx="420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両天井複合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2000" y="3868368"/>
            <a:ext cx="420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状況に応じた判断が必要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2000" y="4088368"/>
            <a:ext cx="420768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天井①+②の距離を計算した
高度な立ち回り。データ確認が必須。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B44"/>
                </a:solidFill>
                <a:latin typeface="游明朝"/>
              </a:rPr>
              <a:t>設定判別 ── REGボーナスのキャラシナリオが最重要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8631936" cy="310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32" y="708368"/>
            <a:ext cx="856193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5091E"/>
                </a:solidFill>
                <a:latin typeface="メイリオ"/>
              </a:rPr>
              <a:t>REGボーナス中 ── キャラ紹介シナリオによる設定示唆（最重要）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032" y="968368"/>
            <a:ext cx="2842312" cy="800000"/>
          </a:xfrm>
          <a:prstGeom prst="rect">
            <a:avLst/>
          </a:prstGeom>
          <a:solidFill>
            <a:srgbClr val="0C122C"/>
          </a:solidFill>
          <a:ln w="2540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032" y="968368"/>
            <a:ext cx="45000" cy="800000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032" y="1018368"/>
            <a:ext cx="2757312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8822"/>
                </a:solidFill>
                <a:latin typeface="游明朝"/>
              </a:rPr>
              <a:t>黒野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032" y="1358368"/>
            <a:ext cx="2757312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BB44"/>
                </a:solidFill>
                <a:latin typeface="メイリオ"/>
              </a:rPr>
              <a:t>設定4以上
確定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3344" y="968368"/>
            <a:ext cx="2842312" cy="800000"/>
          </a:xfrm>
          <a:prstGeom prst="rect">
            <a:avLst/>
          </a:prstGeom>
          <a:solidFill>
            <a:srgbClr val="0C122C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3344" y="968368"/>
            <a:ext cx="45000" cy="8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3344" y="1018368"/>
            <a:ext cx="2757312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840"/>
                </a:solidFill>
                <a:latin typeface="游明朝"/>
              </a:rPr>
              <a:t>ジョーカー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3344" y="1358368"/>
            <a:ext cx="2757312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BB44"/>
                </a:solidFill>
                <a:latin typeface="メイリオ"/>
              </a:rPr>
              <a:t>設定5以上
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0656" y="968368"/>
            <a:ext cx="2842312" cy="800000"/>
          </a:xfrm>
          <a:prstGeom prst="rect">
            <a:avLst/>
          </a:prstGeom>
          <a:solidFill>
            <a:srgbClr val="0C122C"/>
          </a:solidFill>
          <a:ln w="25400">
            <a:solidFill>
              <a:srgbClr val="FF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0656" y="968368"/>
            <a:ext cx="45000" cy="800000"/>
          </a:xfrm>
          <a:prstGeom prst="rect">
            <a:avLst/>
          </a:prstGeom>
          <a:solidFill>
            <a:srgbClr val="FF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0656" y="1018368"/>
            <a:ext cx="2757312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BB44"/>
                </a:solidFill>
                <a:latin typeface="游明朝"/>
              </a:rPr>
              <a:t>シンラ
（死ノ圧）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0656" y="1358368"/>
            <a:ext cx="2757312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BB44"/>
                </a:solidFill>
                <a:latin typeface="メイリオ"/>
              </a:rPr>
              <a:t>設定6
確定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032" y="1828368"/>
            <a:ext cx="2842312" cy="330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032" y="1878368"/>
            <a:ext cx="2797312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91E"/>
                </a:solidFill>
                <a:latin typeface="メイリオ"/>
              </a:rPr>
              <a:t>炎炎激闘の初当たり率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032" y="2158368"/>
            <a:ext cx="2842312" cy="1060000"/>
          </a:xfrm>
          <a:prstGeom prst="rect">
            <a:avLst/>
          </a:prstGeom>
          <a:solidFill>
            <a:srgbClr val="0C122C"/>
          </a:solidFill>
          <a:ln w="635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1032" y="2213368"/>
            <a:ext cx="2787312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D5500"/>
                </a:solidFill>
                <a:latin typeface="メイリオ"/>
              </a:rPr>
              <a:t>最重要の設定差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032" y="2458368"/>
            <a:ext cx="2787312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炎炎激闘の初当たり率が
設定によって大きく異なる。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032" y="3258368"/>
            <a:ext cx="2842312" cy="1060000"/>
          </a:xfrm>
          <a:prstGeom prst="rect">
            <a:avLst/>
          </a:prstGeom>
          <a:solidFill>
            <a:srgbClr val="101632"/>
          </a:solidFill>
          <a:ln w="635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032" y="3313368"/>
            <a:ext cx="2787312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D5500"/>
                </a:solidFill>
                <a:latin typeface="メイリオ"/>
              </a:rPr>
              <a:t>長時間実戦で差が出る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032" y="3558368"/>
            <a:ext cx="2787312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数百G以上の実戦で
感じられるレベルの差。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3344" y="1828368"/>
            <a:ext cx="2842312" cy="33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83344" y="1878368"/>
            <a:ext cx="2797312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91E"/>
                </a:solidFill>
                <a:latin typeface="メイリオ"/>
              </a:rPr>
              <a:t>伝導者の罠 成功率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3344" y="2158368"/>
            <a:ext cx="2842312" cy="1060000"/>
          </a:xfrm>
          <a:prstGeom prst="rect">
            <a:avLst/>
          </a:prstGeom>
          <a:solidFill>
            <a:srgbClr val="0C122C"/>
          </a:solidFill>
          <a:ln w="63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88344" y="2213368"/>
            <a:ext cx="2787312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成功期待度約40%（全体）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8344" y="2458368"/>
            <a:ext cx="2787312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高設定ほど成功率が高い。
通過回数を記録して判断。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3344" y="3258368"/>
            <a:ext cx="2842312" cy="1060000"/>
          </a:xfrm>
          <a:prstGeom prst="rect">
            <a:avLst/>
          </a:prstGeom>
          <a:solidFill>
            <a:srgbClr val="101632"/>
          </a:solidFill>
          <a:ln w="63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88344" y="3313368"/>
            <a:ext cx="2787312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十字目変換率にも差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88344" y="3558368"/>
            <a:ext cx="2787312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ボーナス契機となる
十字目変換率も高設定優遇。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0656" y="1828368"/>
            <a:ext cx="2842312" cy="33000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60656" y="1878368"/>
            <a:ext cx="2797312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091E"/>
                </a:solidFill>
                <a:latin typeface="メイリオ"/>
              </a:rPr>
              <a:t>ボーナス終了画面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0656" y="2158368"/>
            <a:ext cx="2842312" cy="1060000"/>
          </a:xfrm>
          <a:prstGeom prst="rect">
            <a:avLst/>
          </a:prstGeom>
          <a:solidFill>
            <a:srgbClr val="0C122C"/>
          </a:solidFill>
          <a:ln w="635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65656" y="2213368"/>
            <a:ext cx="2787312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77FF"/>
                </a:solidFill>
                <a:latin typeface="メイリオ"/>
              </a:rPr>
              <a:t>各ボーナス後に示唆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5656" y="2458368"/>
            <a:ext cx="2787312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ボーナス終了後の
画面に設定示唆あり。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0656" y="3258368"/>
            <a:ext cx="2842312" cy="1060000"/>
          </a:xfrm>
          <a:prstGeom prst="rect">
            <a:avLst/>
          </a:prstGeom>
          <a:solidFill>
            <a:srgbClr val="101632"/>
          </a:solidFill>
          <a:ln w="635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65656" y="3313368"/>
            <a:ext cx="2787312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77FF"/>
                </a:solidFill>
                <a:latin typeface="メイリオ"/>
              </a:rPr>
              <a:t>複数回確認で精度UP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5656" y="3558368"/>
            <a:ext cx="2787312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単発では判断難しいため
複数回のデータを積む。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B44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8/8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300000"/>
          </a:xfrm>
          <a:prstGeom prst="rect">
            <a:avLst/>
          </a:prstGeom>
          <a:solidFill>
            <a:srgbClr val="99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B44"/>
                </a:solidFill>
                <a:latin typeface="游明朝"/>
              </a:rPr>
              <a:t>炎炎ノ消防隊2の設計的強み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58368"/>
            <a:ext cx="4114800" cy="121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58368"/>
            <a:ext cx="45000" cy="1210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032" y="100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D5500"/>
                </a:solidFill>
                <a:latin typeface="メイリオ"/>
              </a:rPr>
              <a:t>5.8枚/G という圧倒的な出玉体験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32" y="1258368"/>
            <a:ext cx="4014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短時間で大量獲得できる高純増は
「勝った実感」を最大化する。
リピート来店の動機になりやすい。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38368"/>
            <a:ext cx="4114800" cy="121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22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38368"/>
            <a:ext cx="45000" cy="121000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032" y="228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77FF"/>
                </a:solidFill>
                <a:latin typeface="メイリオ"/>
              </a:rPr>
              <a:t>二段階天井による投資計画の立てやすさ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32" y="2538368"/>
            <a:ext cx="4014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850G + 2,000Gのダブルセーフティで
プレイヤーが「どこまで投資するか」を
事前計画しやすい安心設計。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518368"/>
            <a:ext cx="4114800" cy="1210000"/>
          </a:xfrm>
          <a:prstGeom prst="rect">
            <a:avLst/>
          </a:prstGeom>
          <a:solidFill>
            <a:srgbClr val="0C122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518368"/>
            <a:ext cx="45000" cy="121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032" y="356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REGボーナスに設定確定演出を集中させた明快さ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32" y="3818368"/>
            <a:ext cx="4014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黒野→設定4+、ジョーカー→設定5+、
シンラ(死ノ圧)→設定6確定という
段階的な確定システムが分かりやすい。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14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B44"/>
                </a:solidFill>
                <a:latin typeface="游明朝"/>
              </a:rPr>
              <a:t>設計原則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20000" cy="490000"/>
          </a:xfrm>
          <a:prstGeom prst="rect">
            <a:avLst/>
          </a:prstGeom>
          <a:solidFill>
            <a:srgbClr val="DD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101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CFF"/>
                </a:solidFill>
                <a:latin typeface="メイリオ"/>
              </a:rPr>
              <a:t>純増5.8枚/Gは「速い出玉体験」を差別化の武器にする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478368"/>
            <a:ext cx="20000" cy="49000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000" y="155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CFF"/>
                </a:solidFill>
                <a:latin typeface="メイリオ"/>
              </a:rPr>
              <a:t>二段階天井は「投資計画の見える化」につながる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018368"/>
            <a:ext cx="20000" cy="49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2000" y="209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CFF"/>
                </a:solidFill>
                <a:latin typeface="メイリオ"/>
              </a:rPr>
              <a:t>段階的な設定確定演出は「信頼できる高設定感」を生む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58368"/>
            <a:ext cx="20000" cy="4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2000" y="263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CFF"/>
                </a:solidFill>
                <a:latin typeface="メイリオ"/>
              </a:rPr>
              <a:t>自力当選（アドラリンク）が「プレイヤーの能動感」を演出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08368"/>
            <a:ext cx="4297680" cy="800000"/>
          </a:xfrm>
          <a:prstGeom prst="rect">
            <a:avLst/>
          </a:prstGeom>
          <a:solidFill>
            <a:srgbClr val="160802"/>
          </a:solidFill>
          <a:ln w="19050">
            <a:solidFill>
              <a:srgbClr val="DD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7000" y="3158368"/>
            <a:ext cx="422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5500"/>
                </a:solidFill>
                <a:latin typeface="メイリオ"/>
              </a:rPr>
              <a:t>総括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000" y="3418368"/>
            <a:ext cx="42226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CFF"/>
                </a:solidFill>
                <a:latin typeface="メイリオ"/>
              </a:rPr>
              <a:t>高純増×二段階天井×明快な設定確定演出の三位一体。
2026年導入機の中で設計完成度が高い一台。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