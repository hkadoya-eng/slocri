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4937760" cy="5143500"/>
          </a:xfrm>
          <a:prstGeom prst="rect">
            <a:avLst/>
          </a:prstGeom>
          <a:solidFill>
            <a:srgbClr val="080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55000" cy="5143500"/>
          </a:xfrm>
          <a:prstGeom prst="rect">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0"/>
            <a:ext cx="8000" cy="5143500"/>
          </a:xfrm>
          <a:prstGeom prst="rect">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1168" y="365760"/>
            <a:ext cx="4572000" cy="330000"/>
          </a:xfrm>
          <a:prstGeom prst="rect">
            <a:avLst/>
          </a:prstGeom>
          <a:noFill/>
        </p:spPr>
        <p:txBody>
          <a:bodyPr wrap="square">
            <a:spAutoFit/>
          </a:bodyPr>
          <a:lstStyle/>
          <a:p>
            <a:pPr algn="l"/>
            <a:r>
              <a:rPr sz="900" b="0">
                <a:solidFill>
                  <a:srgbClr val="FFAA22"/>
                </a:solidFill>
                <a:latin typeface="游明朝"/>
              </a:rPr>
              <a:t>機種説明＋分析 統合ガイド  v1  ｜  パチスロアワード2025 ノミネート作品</a:t>
            </a:r>
          </a:p>
        </p:txBody>
      </p:sp>
      <p:sp>
        <p:nvSpPr>
          <p:cNvPr id="7" name="TextBox 6"/>
          <p:cNvSpPr txBox="1"/>
          <p:nvPr/>
        </p:nvSpPr>
        <p:spPr>
          <a:xfrm>
            <a:off x="201168" y="749808"/>
            <a:ext cx="4663440" cy="900000"/>
          </a:xfrm>
          <a:prstGeom prst="rect">
            <a:avLst/>
          </a:prstGeom>
          <a:noFill/>
        </p:spPr>
        <p:txBody>
          <a:bodyPr wrap="square">
            <a:spAutoFit/>
          </a:bodyPr>
          <a:lstStyle/>
          <a:p>
            <a:pPr algn="l"/>
            <a:r>
              <a:rPr sz="2600" b="1">
                <a:solidFill>
                  <a:srgbClr val="FF8800"/>
                </a:solidFill>
                <a:latin typeface="游明朝"/>
              </a:rPr>
              <a:t>スマスロ
モンスターハンターライズ</a:t>
            </a:r>
          </a:p>
        </p:txBody>
      </p:sp>
      <p:sp>
        <p:nvSpPr>
          <p:cNvPr id="8" name="TextBox 7"/>
          <p:cNvSpPr txBox="1"/>
          <p:nvPr/>
        </p:nvSpPr>
        <p:spPr>
          <a:xfrm>
            <a:off x="201168" y="2450592"/>
            <a:ext cx="4572000" cy="280000"/>
          </a:xfrm>
          <a:prstGeom prst="rect">
            <a:avLst/>
          </a:prstGeom>
          <a:noFill/>
        </p:spPr>
        <p:txBody>
          <a:bodyPr wrap="square">
            <a:spAutoFit/>
          </a:bodyPr>
          <a:lstStyle/>
          <a:p>
            <a:pPr algn="l"/>
            <a:r>
              <a:rPr sz="850" b="0">
                <a:solidFill>
                  <a:srgbClr val="F0D890"/>
                </a:solidFill>
                <a:latin typeface="游明朝"/>
              </a:rPr>
              <a:t>スマスロ（Lパチスロ）── 狩猟ループ型AT×カムラポイント蓄積×多層上位AT搭載</a:t>
            </a:r>
          </a:p>
        </p:txBody>
      </p:sp>
      <p:sp>
        <p:nvSpPr>
          <p:cNvPr id="9" name="TextBox 8"/>
          <p:cNvSpPr txBox="1"/>
          <p:nvPr/>
        </p:nvSpPr>
        <p:spPr>
          <a:xfrm>
            <a:off x="201168" y="2743200"/>
            <a:ext cx="1645920" cy="210000"/>
          </a:xfrm>
          <a:prstGeom prst="rect">
            <a:avLst/>
          </a:prstGeom>
          <a:noFill/>
        </p:spPr>
        <p:txBody>
          <a:bodyPr wrap="square">
            <a:spAutoFit/>
          </a:bodyPr>
          <a:lstStyle/>
          <a:p>
            <a:pPr algn="l"/>
            <a:r>
              <a:rPr sz="750" b="0">
                <a:solidFill>
                  <a:srgbClr val="999080"/>
                </a:solidFill>
                <a:latin typeface="メイリオ"/>
              </a:rPr>
              <a:t>メーカー</a:t>
            </a:r>
          </a:p>
        </p:txBody>
      </p:sp>
      <p:sp>
        <p:nvSpPr>
          <p:cNvPr id="10" name="TextBox 9"/>
          <p:cNvSpPr txBox="1"/>
          <p:nvPr/>
        </p:nvSpPr>
        <p:spPr>
          <a:xfrm>
            <a:off x="1847088" y="2743200"/>
            <a:ext cx="2926080" cy="210000"/>
          </a:xfrm>
          <a:prstGeom prst="rect">
            <a:avLst/>
          </a:prstGeom>
          <a:noFill/>
        </p:spPr>
        <p:txBody>
          <a:bodyPr wrap="square">
            <a:spAutoFit/>
          </a:bodyPr>
          <a:lstStyle/>
          <a:p>
            <a:pPr algn="l"/>
            <a:r>
              <a:rPr sz="750" b="1">
                <a:solidFill>
                  <a:srgbClr val="F0ECE0"/>
                </a:solidFill>
                <a:latin typeface="メイリオ"/>
              </a:rPr>
              <a:t>エンターライズ  2024年11月18日導入</a:t>
            </a:r>
          </a:p>
        </p:txBody>
      </p:sp>
      <p:sp>
        <p:nvSpPr>
          <p:cNvPr id="11" name="TextBox 10"/>
          <p:cNvSpPr txBox="1"/>
          <p:nvPr/>
        </p:nvSpPr>
        <p:spPr>
          <a:xfrm>
            <a:off x="201168" y="2963200"/>
            <a:ext cx="1645920" cy="210000"/>
          </a:xfrm>
          <a:prstGeom prst="rect">
            <a:avLst/>
          </a:prstGeom>
          <a:noFill/>
        </p:spPr>
        <p:txBody>
          <a:bodyPr wrap="square">
            <a:spAutoFit/>
          </a:bodyPr>
          <a:lstStyle/>
          <a:p>
            <a:pPr algn="l"/>
            <a:r>
              <a:rPr sz="750" b="0">
                <a:solidFill>
                  <a:srgbClr val="999080"/>
                </a:solidFill>
                <a:latin typeface="メイリオ"/>
              </a:rPr>
              <a:t>設定</a:t>
            </a:r>
          </a:p>
        </p:txBody>
      </p:sp>
      <p:sp>
        <p:nvSpPr>
          <p:cNvPr id="12" name="TextBox 11"/>
          <p:cNvSpPr txBox="1"/>
          <p:nvPr/>
        </p:nvSpPr>
        <p:spPr>
          <a:xfrm>
            <a:off x="1847088" y="2963200"/>
            <a:ext cx="2926080" cy="210000"/>
          </a:xfrm>
          <a:prstGeom prst="rect">
            <a:avLst/>
          </a:prstGeom>
          <a:noFill/>
        </p:spPr>
        <p:txBody>
          <a:bodyPr wrap="square">
            <a:spAutoFit/>
          </a:bodyPr>
          <a:lstStyle/>
          <a:p>
            <a:pPr algn="l"/>
            <a:r>
              <a:rPr sz="750" b="1">
                <a:solidFill>
                  <a:srgbClr val="F0ECE0"/>
                </a:solidFill>
                <a:latin typeface="メイリオ"/>
              </a:rPr>
              <a:t>1〜6段階</a:t>
            </a:r>
          </a:p>
        </p:txBody>
      </p:sp>
      <p:sp>
        <p:nvSpPr>
          <p:cNvPr id="13" name="TextBox 12"/>
          <p:cNvSpPr txBox="1"/>
          <p:nvPr/>
        </p:nvSpPr>
        <p:spPr>
          <a:xfrm>
            <a:off x="201168" y="3183200"/>
            <a:ext cx="1645920" cy="210000"/>
          </a:xfrm>
          <a:prstGeom prst="rect">
            <a:avLst/>
          </a:prstGeom>
          <a:noFill/>
        </p:spPr>
        <p:txBody>
          <a:bodyPr wrap="square">
            <a:spAutoFit/>
          </a:bodyPr>
          <a:lstStyle/>
          <a:p>
            <a:pPr algn="l"/>
            <a:r>
              <a:rPr sz="750" b="0">
                <a:solidFill>
                  <a:srgbClr val="999080"/>
                </a:solidFill>
                <a:latin typeface="メイリオ"/>
              </a:rPr>
              <a:t>AT純増①</a:t>
            </a:r>
          </a:p>
        </p:txBody>
      </p:sp>
      <p:sp>
        <p:nvSpPr>
          <p:cNvPr id="14" name="TextBox 13"/>
          <p:cNvSpPr txBox="1"/>
          <p:nvPr/>
        </p:nvSpPr>
        <p:spPr>
          <a:xfrm>
            <a:off x="1847088" y="3183200"/>
            <a:ext cx="2926080" cy="210000"/>
          </a:xfrm>
          <a:prstGeom prst="rect">
            <a:avLst/>
          </a:prstGeom>
          <a:noFill/>
        </p:spPr>
        <p:txBody>
          <a:bodyPr wrap="square">
            <a:spAutoFit/>
          </a:bodyPr>
          <a:lstStyle/>
          <a:p>
            <a:pPr algn="l"/>
            <a:r>
              <a:rPr sz="750" b="1">
                <a:solidFill>
                  <a:srgbClr val="F0ECE0"/>
                </a:solidFill>
                <a:latin typeface="メイリオ"/>
              </a:rPr>
              <a:t>約2.7枚/G（赤7・BAR揃い狩猟ボーナス）</a:t>
            </a:r>
          </a:p>
        </p:txBody>
      </p:sp>
      <p:sp>
        <p:nvSpPr>
          <p:cNvPr id="15" name="TextBox 14"/>
          <p:cNvSpPr txBox="1"/>
          <p:nvPr/>
        </p:nvSpPr>
        <p:spPr>
          <a:xfrm>
            <a:off x="201168" y="3403200"/>
            <a:ext cx="1645920" cy="210000"/>
          </a:xfrm>
          <a:prstGeom prst="rect">
            <a:avLst/>
          </a:prstGeom>
          <a:noFill/>
        </p:spPr>
        <p:txBody>
          <a:bodyPr wrap="square">
            <a:spAutoFit/>
          </a:bodyPr>
          <a:lstStyle/>
          <a:p>
            <a:pPr algn="l"/>
            <a:r>
              <a:rPr sz="750" b="0">
                <a:solidFill>
                  <a:srgbClr val="999080"/>
                </a:solidFill>
                <a:latin typeface="メイリオ"/>
              </a:rPr>
              <a:t>AT純増②</a:t>
            </a:r>
          </a:p>
        </p:txBody>
      </p:sp>
      <p:sp>
        <p:nvSpPr>
          <p:cNvPr id="16" name="TextBox 15"/>
          <p:cNvSpPr txBox="1"/>
          <p:nvPr/>
        </p:nvSpPr>
        <p:spPr>
          <a:xfrm>
            <a:off x="1847088" y="3403200"/>
            <a:ext cx="2926080" cy="210000"/>
          </a:xfrm>
          <a:prstGeom prst="rect">
            <a:avLst/>
          </a:prstGeom>
          <a:noFill/>
        </p:spPr>
        <p:txBody>
          <a:bodyPr wrap="square">
            <a:spAutoFit/>
          </a:bodyPr>
          <a:lstStyle/>
          <a:p>
            <a:pPr algn="l"/>
            <a:r>
              <a:rPr sz="750" b="1">
                <a:solidFill>
                  <a:srgbClr val="F0ECE0"/>
                </a:solidFill>
                <a:latin typeface="メイリオ"/>
              </a:rPr>
              <a:t>約4.0枚/G（紫7揃い狩猟ボーナス・上位AT）</a:t>
            </a:r>
          </a:p>
        </p:txBody>
      </p:sp>
      <p:sp>
        <p:nvSpPr>
          <p:cNvPr id="17" name="TextBox 16"/>
          <p:cNvSpPr txBox="1"/>
          <p:nvPr/>
        </p:nvSpPr>
        <p:spPr>
          <a:xfrm>
            <a:off x="201168" y="3623200"/>
            <a:ext cx="1645920" cy="210000"/>
          </a:xfrm>
          <a:prstGeom prst="rect">
            <a:avLst/>
          </a:prstGeom>
          <a:noFill/>
        </p:spPr>
        <p:txBody>
          <a:bodyPr wrap="square">
            <a:spAutoFit/>
          </a:bodyPr>
          <a:lstStyle/>
          <a:p>
            <a:pPr algn="l"/>
            <a:r>
              <a:rPr sz="750" b="0">
                <a:solidFill>
                  <a:srgbClr val="999080"/>
                </a:solidFill>
                <a:latin typeface="メイリオ"/>
              </a:rPr>
              <a:t>設定1 AT初当り</a:t>
            </a:r>
          </a:p>
        </p:txBody>
      </p:sp>
      <p:sp>
        <p:nvSpPr>
          <p:cNvPr id="18" name="TextBox 17"/>
          <p:cNvSpPr txBox="1"/>
          <p:nvPr/>
        </p:nvSpPr>
        <p:spPr>
          <a:xfrm>
            <a:off x="1847088" y="3623200"/>
            <a:ext cx="2926080" cy="210000"/>
          </a:xfrm>
          <a:prstGeom prst="rect">
            <a:avLst/>
          </a:prstGeom>
          <a:noFill/>
        </p:spPr>
        <p:txBody>
          <a:bodyPr wrap="square">
            <a:spAutoFit/>
          </a:bodyPr>
          <a:lstStyle/>
          <a:p>
            <a:pPr algn="l"/>
            <a:r>
              <a:rPr sz="750" b="1">
                <a:solidFill>
                  <a:srgbClr val="F0ECE0"/>
                </a:solidFill>
                <a:latin typeface="メイリオ"/>
              </a:rPr>
              <a:t>約1/309.5</a:t>
            </a:r>
          </a:p>
        </p:txBody>
      </p:sp>
      <p:sp>
        <p:nvSpPr>
          <p:cNvPr id="19" name="TextBox 18"/>
          <p:cNvSpPr txBox="1"/>
          <p:nvPr/>
        </p:nvSpPr>
        <p:spPr>
          <a:xfrm>
            <a:off x="201168" y="3843200"/>
            <a:ext cx="1645920" cy="210000"/>
          </a:xfrm>
          <a:prstGeom prst="rect">
            <a:avLst/>
          </a:prstGeom>
          <a:noFill/>
        </p:spPr>
        <p:txBody>
          <a:bodyPr wrap="square">
            <a:spAutoFit/>
          </a:bodyPr>
          <a:lstStyle/>
          <a:p>
            <a:pPr algn="l"/>
            <a:r>
              <a:rPr sz="750" b="0">
                <a:solidFill>
                  <a:srgbClr val="999080"/>
                </a:solidFill>
                <a:latin typeface="メイリオ"/>
              </a:rPr>
              <a:t>設定6 AT初当り</a:t>
            </a:r>
          </a:p>
        </p:txBody>
      </p:sp>
      <p:sp>
        <p:nvSpPr>
          <p:cNvPr id="20" name="TextBox 19"/>
          <p:cNvSpPr txBox="1"/>
          <p:nvPr/>
        </p:nvSpPr>
        <p:spPr>
          <a:xfrm>
            <a:off x="1847088" y="3843200"/>
            <a:ext cx="2926080" cy="210000"/>
          </a:xfrm>
          <a:prstGeom prst="rect">
            <a:avLst/>
          </a:prstGeom>
          <a:noFill/>
        </p:spPr>
        <p:txBody>
          <a:bodyPr wrap="square">
            <a:spAutoFit/>
          </a:bodyPr>
          <a:lstStyle/>
          <a:p>
            <a:pPr algn="l"/>
            <a:r>
              <a:rPr sz="750" b="1">
                <a:solidFill>
                  <a:srgbClr val="F0ECE0"/>
                </a:solidFill>
                <a:latin typeface="メイリオ"/>
              </a:rPr>
              <a:t>約1/230.8</a:t>
            </a:r>
          </a:p>
        </p:txBody>
      </p:sp>
      <p:sp>
        <p:nvSpPr>
          <p:cNvPr id="21" name="TextBox 20"/>
          <p:cNvSpPr txBox="1"/>
          <p:nvPr/>
        </p:nvSpPr>
        <p:spPr>
          <a:xfrm>
            <a:off x="201168" y="4063200"/>
            <a:ext cx="1645920" cy="210000"/>
          </a:xfrm>
          <a:prstGeom prst="rect">
            <a:avLst/>
          </a:prstGeom>
          <a:noFill/>
        </p:spPr>
        <p:txBody>
          <a:bodyPr wrap="square">
            <a:spAutoFit/>
          </a:bodyPr>
          <a:lstStyle/>
          <a:p>
            <a:pPr algn="l"/>
            <a:r>
              <a:rPr sz="750" b="0">
                <a:solidFill>
                  <a:srgbClr val="999080"/>
                </a:solidFill>
                <a:latin typeface="メイリオ"/>
              </a:rPr>
              <a:t>設定1 機械割</a:t>
            </a:r>
          </a:p>
        </p:txBody>
      </p:sp>
      <p:sp>
        <p:nvSpPr>
          <p:cNvPr id="22" name="TextBox 21"/>
          <p:cNvSpPr txBox="1"/>
          <p:nvPr/>
        </p:nvSpPr>
        <p:spPr>
          <a:xfrm>
            <a:off x="1847088" y="4063200"/>
            <a:ext cx="2926080" cy="210000"/>
          </a:xfrm>
          <a:prstGeom prst="rect">
            <a:avLst/>
          </a:prstGeom>
          <a:noFill/>
        </p:spPr>
        <p:txBody>
          <a:bodyPr wrap="square">
            <a:spAutoFit/>
          </a:bodyPr>
          <a:lstStyle/>
          <a:p>
            <a:pPr algn="l"/>
            <a:r>
              <a:rPr sz="750" b="1">
                <a:solidFill>
                  <a:srgbClr val="F0ECE0"/>
                </a:solidFill>
                <a:latin typeface="メイリオ"/>
              </a:rPr>
              <a:t>97.9%</a:t>
            </a:r>
          </a:p>
        </p:txBody>
      </p:sp>
      <p:sp>
        <p:nvSpPr>
          <p:cNvPr id="23" name="TextBox 22"/>
          <p:cNvSpPr txBox="1"/>
          <p:nvPr/>
        </p:nvSpPr>
        <p:spPr>
          <a:xfrm>
            <a:off x="201168" y="4283200"/>
            <a:ext cx="1645920" cy="210000"/>
          </a:xfrm>
          <a:prstGeom prst="rect">
            <a:avLst/>
          </a:prstGeom>
          <a:noFill/>
        </p:spPr>
        <p:txBody>
          <a:bodyPr wrap="square">
            <a:spAutoFit/>
          </a:bodyPr>
          <a:lstStyle/>
          <a:p>
            <a:pPr algn="l"/>
            <a:r>
              <a:rPr sz="750" b="0">
                <a:solidFill>
                  <a:srgbClr val="999080"/>
                </a:solidFill>
                <a:latin typeface="メイリオ"/>
              </a:rPr>
              <a:t>設定6 機械割</a:t>
            </a:r>
          </a:p>
        </p:txBody>
      </p:sp>
      <p:sp>
        <p:nvSpPr>
          <p:cNvPr id="24" name="TextBox 23"/>
          <p:cNvSpPr txBox="1"/>
          <p:nvPr/>
        </p:nvSpPr>
        <p:spPr>
          <a:xfrm>
            <a:off x="1847088" y="4283200"/>
            <a:ext cx="2926080" cy="210000"/>
          </a:xfrm>
          <a:prstGeom prst="rect">
            <a:avLst/>
          </a:prstGeom>
          <a:noFill/>
        </p:spPr>
        <p:txBody>
          <a:bodyPr wrap="square">
            <a:spAutoFit/>
          </a:bodyPr>
          <a:lstStyle/>
          <a:p>
            <a:pPr algn="l"/>
            <a:r>
              <a:rPr sz="750" b="1">
                <a:solidFill>
                  <a:srgbClr val="F0ECE0"/>
                </a:solidFill>
                <a:latin typeface="メイリオ"/>
              </a:rPr>
              <a:t>114.3%</a:t>
            </a:r>
          </a:p>
        </p:txBody>
      </p:sp>
      <p:sp>
        <p:nvSpPr>
          <p:cNvPr id="25" name="TextBox 24"/>
          <p:cNvSpPr txBox="1"/>
          <p:nvPr/>
        </p:nvSpPr>
        <p:spPr>
          <a:xfrm>
            <a:off x="201168" y="4503200"/>
            <a:ext cx="1645920" cy="210000"/>
          </a:xfrm>
          <a:prstGeom prst="rect">
            <a:avLst/>
          </a:prstGeom>
          <a:noFill/>
        </p:spPr>
        <p:txBody>
          <a:bodyPr wrap="square">
            <a:spAutoFit/>
          </a:bodyPr>
          <a:lstStyle/>
          <a:p>
            <a:pPr algn="l"/>
            <a:r>
              <a:rPr sz="750" b="0">
                <a:solidFill>
                  <a:srgbClr val="999080"/>
                </a:solidFill>
                <a:latin typeface="メイリオ"/>
              </a:rPr>
              <a:t>天井</a:t>
            </a:r>
          </a:p>
        </p:txBody>
      </p:sp>
      <p:sp>
        <p:nvSpPr>
          <p:cNvPr id="26" name="TextBox 25"/>
          <p:cNvSpPr txBox="1"/>
          <p:nvPr/>
        </p:nvSpPr>
        <p:spPr>
          <a:xfrm>
            <a:off x="1847088" y="4503200"/>
            <a:ext cx="2926080" cy="210000"/>
          </a:xfrm>
          <a:prstGeom prst="rect">
            <a:avLst/>
          </a:prstGeom>
          <a:noFill/>
        </p:spPr>
        <p:txBody>
          <a:bodyPr wrap="square">
            <a:spAutoFit/>
          </a:bodyPr>
          <a:lstStyle/>
          <a:p>
            <a:pPr algn="l"/>
            <a:r>
              <a:rPr sz="750" b="1">
                <a:solidFill>
                  <a:srgbClr val="F0ECE0"/>
                </a:solidFill>
                <a:latin typeface="メイリオ"/>
              </a:rPr>
              <a:t>リプレイ規定200回（5セット）でCZ確定</a:t>
            </a:r>
          </a:p>
        </p:txBody>
      </p:sp>
      <p:sp>
        <p:nvSpPr>
          <p:cNvPr id="27" name="TextBox 26"/>
          <p:cNvSpPr txBox="1"/>
          <p:nvPr/>
        </p:nvSpPr>
        <p:spPr>
          <a:xfrm>
            <a:off x="201168" y="4723200"/>
            <a:ext cx="1645920" cy="210000"/>
          </a:xfrm>
          <a:prstGeom prst="rect">
            <a:avLst/>
          </a:prstGeom>
          <a:noFill/>
        </p:spPr>
        <p:txBody>
          <a:bodyPr wrap="square">
            <a:spAutoFit/>
          </a:bodyPr>
          <a:lstStyle/>
          <a:p>
            <a:pPr algn="l"/>
            <a:r>
              <a:rPr sz="750" b="0">
                <a:solidFill>
                  <a:srgbClr val="999080"/>
                </a:solidFill>
                <a:latin typeface="メイリオ"/>
              </a:rPr>
              <a:t>有利区間</a:t>
            </a:r>
          </a:p>
        </p:txBody>
      </p:sp>
      <p:sp>
        <p:nvSpPr>
          <p:cNvPr id="28" name="TextBox 27"/>
          <p:cNvSpPr txBox="1"/>
          <p:nvPr/>
        </p:nvSpPr>
        <p:spPr>
          <a:xfrm>
            <a:off x="1847088" y="4723200"/>
            <a:ext cx="2926080" cy="210000"/>
          </a:xfrm>
          <a:prstGeom prst="rect">
            <a:avLst/>
          </a:prstGeom>
          <a:noFill/>
        </p:spPr>
        <p:txBody>
          <a:bodyPr wrap="square">
            <a:spAutoFit/>
          </a:bodyPr>
          <a:lstStyle/>
          <a:p>
            <a:pPr algn="l"/>
            <a:r>
              <a:rPr sz="750" b="1">
                <a:solidFill>
                  <a:srgbClr val="F0ECE0"/>
                </a:solidFill>
                <a:latin typeface="メイリオ"/>
              </a:rPr>
              <a:t>差枚+2100枚到達→エンディング</a:t>
            </a:r>
          </a:p>
        </p:txBody>
      </p:sp>
      <p:sp>
        <p:nvSpPr>
          <p:cNvPr id="29" name="Rectangle 28"/>
          <p:cNvSpPr/>
          <p:nvPr/>
        </p:nvSpPr>
        <p:spPr>
          <a:xfrm>
            <a:off x="5166360" y="502920"/>
            <a:ext cx="3749039" cy="1188720"/>
          </a:xfrm>
          <a:prstGeom prst="rect">
            <a:avLst/>
          </a:prstGeom>
          <a:solidFill>
            <a:srgbClr val="181208"/>
          </a:solidFill>
          <a:ln w="25400">
            <a:solidFill>
              <a:srgbClr val="22A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166360" y="502920"/>
            <a:ext cx="60000" cy="1188720"/>
          </a:xfrm>
          <a:prstGeom prst="rect">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49240" y="567920"/>
            <a:ext cx="3474720" cy="310000"/>
          </a:xfrm>
          <a:prstGeom prst="rect">
            <a:avLst/>
          </a:prstGeom>
          <a:noFill/>
        </p:spPr>
        <p:txBody>
          <a:bodyPr wrap="square">
            <a:spAutoFit/>
          </a:bodyPr>
          <a:lstStyle/>
          <a:p>
            <a:pPr algn="l"/>
            <a:r>
              <a:rPr sz="1050" b="1">
                <a:solidFill>
                  <a:srgbClr val="22AA44"/>
                </a:solidFill>
                <a:latin typeface="游明朝"/>
              </a:rPr>
              <a:t>① 狩猟ループ型AT（討伐→剥ぎ取り→次戦）</a:t>
            </a:r>
          </a:p>
        </p:txBody>
      </p:sp>
      <p:sp>
        <p:nvSpPr>
          <p:cNvPr id="32" name="TextBox 31"/>
          <p:cNvSpPr txBox="1"/>
          <p:nvPr/>
        </p:nvSpPr>
        <p:spPr>
          <a:xfrm>
            <a:off x="5349240" y="882920"/>
            <a:ext cx="3474720" cy="450000"/>
          </a:xfrm>
          <a:prstGeom prst="rect">
            <a:avLst/>
          </a:prstGeom>
          <a:noFill/>
        </p:spPr>
        <p:txBody>
          <a:bodyPr wrap="square">
            <a:spAutoFit/>
          </a:bodyPr>
          <a:lstStyle/>
          <a:p>
            <a:pPr algn="l"/>
            <a:r>
              <a:rPr sz="800" b="0">
                <a:solidFill>
                  <a:srgbClr val="F0ECE0"/>
                </a:solidFill>
                <a:latin typeface="メイリオ"/>
              </a:rPr>
              <a:t>モンスター討伐成功で「剥ぎ取りチャンス」に突入。
ボーナスをストックし次の狩猟へ。
討伐→報酬→次戦のモンハンサイクルをそのまま再現。</a:t>
            </a:r>
          </a:p>
        </p:txBody>
      </p:sp>
      <p:sp>
        <p:nvSpPr>
          <p:cNvPr id="33" name="Rectangle 32"/>
          <p:cNvSpPr/>
          <p:nvPr/>
        </p:nvSpPr>
        <p:spPr>
          <a:xfrm>
            <a:off x="5166360" y="2042920"/>
            <a:ext cx="3749039" cy="1188720"/>
          </a:xfrm>
          <a:prstGeom prst="rect">
            <a:avLst/>
          </a:prstGeom>
          <a:solidFill>
            <a:srgbClr val="181208"/>
          </a:solidFill>
          <a:ln w="2540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166360" y="2042920"/>
            <a:ext cx="60000" cy="1188720"/>
          </a:xfrm>
          <a:prstGeom prst="rect">
            <a:avLst/>
          </a:prstGeom>
          <a:solidFill>
            <a:srgbClr val="FF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349240" y="2107920"/>
            <a:ext cx="3474720" cy="310000"/>
          </a:xfrm>
          <a:prstGeom prst="rect">
            <a:avLst/>
          </a:prstGeom>
          <a:noFill/>
        </p:spPr>
        <p:txBody>
          <a:bodyPr wrap="square">
            <a:spAutoFit/>
          </a:bodyPr>
          <a:lstStyle/>
          <a:p>
            <a:pPr algn="l"/>
            <a:r>
              <a:rPr sz="1050" b="1">
                <a:solidFill>
                  <a:srgbClr val="FF8800"/>
                </a:solidFill>
                <a:latin typeface="游明朝"/>
              </a:rPr>
              <a:t>② カムラポイント蓄積×CZ3段階構造</a:t>
            </a:r>
          </a:p>
        </p:txBody>
      </p:sp>
      <p:sp>
        <p:nvSpPr>
          <p:cNvPr id="36" name="TextBox 35"/>
          <p:cNvSpPr txBox="1"/>
          <p:nvPr/>
        </p:nvSpPr>
        <p:spPr>
          <a:xfrm>
            <a:off x="5349240" y="2422920"/>
            <a:ext cx="3474720" cy="450000"/>
          </a:xfrm>
          <a:prstGeom prst="rect">
            <a:avLst/>
          </a:prstGeom>
          <a:noFill/>
        </p:spPr>
        <p:txBody>
          <a:bodyPr wrap="square">
            <a:spAutoFit/>
          </a:bodyPr>
          <a:lstStyle/>
          <a:p>
            <a:pPr algn="l"/>
            <a:r>
              <a:rPr sz="800" b="0">
                <a:solidFill>
                  <a:srgbClr val="F0ECE0"/>
                </a:solidFill>
                <a:latin typeface="メイリオ"/>
              </a:rPr>
              <a:t>通常時は小役でカムラポイントを貯め
100pt毎のクエストでAT突入を目指す。
上位CZ「百竜夜行」成功で大連続ボーナス濃厚。</a:t>
            </a:r>
          </a:p>
        </p:txBody>
      </p:sp>
      <p:sp>
        <p:nvSpPr>
          <p:cNvPr id="37" name="Rectangle 36"/>
          <p:cNvSpPr/>
          <p:nvPr/>
        </p:nvSpPr>
        <p:spPr>
          <a:xfrm>
            <a:off x="5166360" y="3582920"/>
            <a:ext cx="3749039" cy="1188720"/>
          </a:xfrm>
          <a:prstGeom prst="rect">
            <a:avLst/>
          </a:prstGeom>
          <a:solidFill>
            <a:srgbClr val="181208"/>
          </a:solidFill>
          <a:ln w="25400">
            <a:solidFill>
              <a:srgbClr val="CCAA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166360" y="3582920"/>
            <a:ext cx="60000" cy="1188720"/>
          </a:xfrm>
          <a:prstGeom prst="rect">
            <a:avLst/>
          </a:prstGeom>
          <a:solidFill>
            <a:srgbClr val="CCA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49240" y="3647920"/>
            <a:ext cx="3474720" cy="310000"/>
          </a:xfrm>
          <a:prstGeom prst="rect">
            <a:avLst/>
          </a:prstGeom>
          <a:noFill/>
        </p:spPr>
        <p:txBody>
          <a:bodyPr wrap="square">
            <a:spAutoFit/>
          </a:bodyPr>
          <a:lstStyle/>
          <a:p>
            <a:pPr algn="l"/>
            <a:r>
              <a:rPr sz="1050" b="1">
                <a:solidFill>
                  <a:srgbClr val="CCAA22"/>
                </a:solidFill>
                <a:latin typeface="游明朝"/>
              </a:rPr>
              <a:t>③ 上位AT「気焔万丈」で純増4.0枚/G</a:t>
            </a:r>
          </a:p>
        </p:txBody>
      </p:sp>
      <p:sp>
        <p:nvSpPr>
          <p:cNvPr id="40" name="TextBox 39"/>
          <p:cNvSpPr txBox="1"/>
          <p:nvPr/>
        </p:nvSpPr>
        <p:spPr>
          <a:xfrm>
            <a:off x="5349240" y="3962920"/>
            <a:ext cx="3474720" cy="450000"/>
          </a:xfrm>
          <a:prstGeom prst="rect">
            <a:avLst/>
          </a:prstGeom>
          <a:noFill/>
        </p:spPr>
        <p:txBody>
          <a:bodyPr wrap="square">
            <a:spAutoFit/>
          </a:bodyPr>
          <a:lstStyle/>
          <a:p>
            <a:pPr algn="l"/>
            <a:r>
              <a:rPr sz="800" b="0">
                <a:solidFill>
                  <a:srgbClr val="F0ECE0"/>
                </a:solidFill>
                <a:latin typeface="メイリオ"/>
              </a:rPr>
              <a:t>規定10頭討伐→エンディング→百竜ノ淵源BONUS
経由で上位AT突入。純増が2.7→4.0枚/Gに上昇。
業界最大18.5インチ液晶で圧倒的映像体験。</a:t>
            </a:r>
          </a:p>
        </p:txBody>
      </p:sp>
      <p:sp>
        <p:nvSpPr>
          <p:cNvPr id="41" name="TextBox 40"/>
          <p:cNvSpPr txBox="1"/>
          <p:nvPr/>
        </p:nvSpPr>
        <p:spPr>
          <a:xfrm>
            <a:off x="6675120" y="4919472"/>
            <a:ext cx="2377440" cy="180000"/>
          </a:xfrm>
          <a:prstGeom prst="rect">
            <a:avLst/>
          </a:prstGeom>
          <a:noFill/>
        </p:spPr>
        <p:txBody>
          <a:bodyPr wrap="square">
            <a:spAutoFit/>
          </a:bodyPr>
          <a:lstStyle/>
          <a:p>
            <a:pPr algn="r"/>
            <a:r>
              <a:rPr sz="650" b="0">
                <a:solidFill>
                  <a:srgbClr val="999080"/>
                </a:solidFill>
                <a:latin typeface="メイリオ"/>
              </a:rPr>
              <a:t>※ネット解析情報より（ちょんぼりすた・なな徹・一撃・pachiseven）</a:t>
            </a:r>
          </a:p>
        </p:txBody>
      </p:sp>
      <p:sp>
        <p:nvSpPr>
          <p:cNvPr id="42" name="Rectangle 41"/>
          <p:cNvSpPr/>
          <p:nvPr/>
        </p:nvSpPr>
        <p:spPr>
          <a:xfrm>
            <a:off x="0" y="4645152"/>
            <a:ext cx="9144000" cy="498348"/>
          </a:xfrm>
          <a:prstGeom prst="rect">
            <a:avLst/>
          </a:prstGeom>
          <a:solidFill>
            <a:srgbClr val="100C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4645152"/>
            <a:ext cx="20000" cy="498348"/>
          </a:xfrm>
          <a:prstGeom prst="rect">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64592" y="4685152"/>
            <a:ext cx="5029200" cy="340000"/>
          </a:xfrm>
          <a:prstGeom prst="rect">
            <a:avLst/>
          </a:prstGeom>
          <a:noFill/>
        </p:spPr>
        <p:txBody>
          <a:bodyPr wrap="square">
            <a:spAutoFit/>
          </a:bodyPr>
          <a:lstStyle/>
          <a:p>
            <a:pPr algn="l"/>
            <a:r>
              <a:rPr sz="750" b="1">
                <a:solidFill>
                  <a:srgbClr val="FF8800"/>
                </a:solidFill>
                <a:latin typeface="メイリオ"/>
              </a:rPr>
              <a:t>設計核心：「狩猟→討伐→剥ぎ取り→次戦」のモンハンサイクルをスロットゲーム性に完全昇華</a:t>
            </a:r>
          </a:p>
        </p:txBody>
      </p:sp>
      <p:sp>
        <p:nvSpPr>
          <p:cNvPr id="45" name="TextBox 44"/>
          <p:cNvSpPr txBox="1"/>
          <p:nvPr/>
        </p:nvSpPr>
        <p:spPr>
          <a:xfrm>
            <a:off x="5303520" y="4685152"/>
            <a:ext cx="3657600" cy="340000"/>
          </a:xfrm>
          <a:prstGeom prst="rect">
            <a:avLst/>
          </a:prstGeom>
          <a:noFill/>
        </p:spPr>
        <p:txBody>
          <a:bodyPr wrap="square">
            <a:spAutoFit/>
          </a:bodyPr>
          <a:lstStyle/>
          <a:p>
            <a:pPr algn="r"/>
            <a:r>
              <a:rPr sz="700" b="0">
                <a:solidFill>
                  <a:srgbClr val="999080"/>
                </a:solidFill>
                <a:latin typeface="メイリオ"/>
              </a:rPr>
              <a:t>エンターライズ製・新筐体「イマーシブ」搭載・5Dサウンド×18.5インチ液晶で圧倒的没入感</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1812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400" b="1">
                <a:solidFill>
                  <a:srgbClr val="FF8800"/>
                </a:solidFill>
                <a:latin typeface="游明朝"/>
              </a:rPr>
              <a:t>ゲームフロー全体図 ── 通常時→CZ→AT→上位ATの全ルート</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999080"/>
                </a:solidFill>
                <a:latin typeface="メイリオ"/>
              </a:rPr>
              <a:t>2/9</a:t>
            </a:r>
          </a:p>
        </p:txBody>
      </p:sp>
      <p:sp>
        <p:nvSpPr>
          <p:cNvPr id="7" name="Rectangle 6"/>
          <p:cNvSpPr/>
          <p:nvPr/>
        </p:nvSpPr>
        <p:spPr>
          <a:xfrm>
            <a:off x="0" y="530352"/>
            <a:ext cx="9144000" cy="7000"/>
          </a:xfrm>
          <a:prstGeom prst="rect">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685800"/>
            <a:ext cx="1481328" cy="1100000"/>
          </a:xfrm>
          <a:prstGeom prst="rect">
            <a:avLst/>
          </a:prstGeom>
          <a:solidFill>
            <a:srgbClr val="20180A"/>
          </a:solidFill>
          <a:ln w="22860">
            <a:solidFill>
              <a:srgbClr val="999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1032" y="755800"/>
            <a:ext cx="1421328" cy="360000"/>
          </a:xfrm>
          <a:prstGeom prst="rect">
            <a:avLst/>
          </a:prstGeom>
          <a:noFill/>
        </p:spPr>
        <p:txBody>
          <a:bodyPr wrap="square">
            <a:spAutoFit/>
          </a:bodyPr>
          <a:lstStyle/>
          <a:p>
            <a:pPr algn="ctr"/>
            <a:r>
              <a:rPr sz="950" b="1">
                <a:solidFill>
                  <a:srgbClr val="999080"/>
                </a:solidFill>
                <a:latin typeface="游明朝"/>
              </a:rPr>
              <a:t>通常遊技</a:t>
            </a:r>
          </a:p>
        </p:txBody>
      </p:sp>
      <p:sp>
        <p:nvSpPr>
          <p:cNvPr id="10" name="TextBox 9"/>
          <p:cNvSpPr txBox="1"/>
          <p:nvPr/>
        </p:nvSpPr>
        <p:spPr>
          <a:xfrm>
            <a:off x="281032" y="1165800"/>
            <a:ext cx="1436328" cy="520000"/>
          </a:xfrm>
          <a:prstGeom prst="rect">
            <a:avLst/>
          </a:prstGeom>
          <a:noFill/>
        </p:spPr>
        <p:txBody>
          <a:bodyPr wrap="square">
            <a:spAutoFit/>
          </a:bodyPr>
          <a:lstStyle/>
          <a:p>
            <a:pPr algn="ctr"/>
            <a:r>
              <a:rPr sz="750" b="0">
                <a:solidFill>
                  <a:srgbClr val="999080"/>
                </a:solidFill>
                <a:latin typeface="メイリオ"/>
              </a:rPr>
              <a:t>カムラポイント蓄積
レア役直撃抽選
リプレイ規定でCZ</a:t>
            </a:r>
          </a:p>
        </p:txBody>
      </p:sp>
      <p:sp>
        <p:nvSpPr>
          <p:cNvPr id="11" name="Can 10"/>
          <p:cNvSpPr/>
          <p:nvPr/>
        </p:nvSpPr>
        <p:spPr>
          <a:xfrm>
            <a:off x="1745360" y="1145800"/>
            <a:ext cx="200000" cy="180000"/>
          </a:xfrm>
          <a:prstGeom prst="can">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65376" y="685800"/>
            <a:ext cx="1481328" cy="1100000"/>
          </a:xfrm>
          <a:prstGeom prst="rect">
            <a:avLst/>
          </a:prstGeom>
          <a:solidFill>
            <a:srgbClr val="181208"/>
          </a:solidFill>
          <a:ln w="22860">
            <a:solidFill>
              <a:srgbClr val="188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00376" y="755800"/>
            <a:ext cx="1421328" cy="360000"/>
          </a:xfrm>
          <a:prstGeom prst="rect">
            <a:avLst/>
          </a:prstGeom>
          <a:noFill/>
        </p:spPr>
        <p:txBody>
          <a:bodyPr wrap="square">
            <a:spAutoFit/>
          </a:bodyPr>
          <a:lstStyle/>
          <a:p>
            <a:pPr algn="ctr"/>
            <a:r>
              <a:rPr sz="950" b="1">
                <a:solidFill>
                  <a:srgbClr val="188030"/>
                </a:solidFill>
                <a:latin typeface="游明朝"/>
              </a:rPr>
              <a:t>アイルーだるま
落とし(CZ)</a:t>
            </a:r>
          </a:p>
        </p:txBody>
      </p:sp>
      <p:sp>
        <p:nvSpPr>
          <p:cNvPr id="14" name="TextBox 13"/>
          <p:cNvSpPr txBox="1"/>
          <p:nvPr/>
        </p:nvSpPr>
        <p:spPr>
          <a:xfrm>
            <a:off x="1890376" y="1165800"/>
            <a:ext cx="1436328" cy="520000"/>
          </a:xfrm>
          <a:prstGeom prst="rect">
            <a:avLst/>
          </a:prstGeom>
          <a:noFill/>
        </p:spPr>
        <p:txBody>
          <a:bodyPr wrap="square">
            <a:spAutoFit/>
          </a:bodyPr>
          <a:lstStyle/>
          <a:p>
            <a:pPr algn="ctr"/>
            <a:r>
              <a:rPr sz="750" b="0">
                <a:solidFill>
                  <a:srgbClr val="999080"/>
                </a:solidFill>
                <a:latin typeface="メイリオ"/>
              </a:rPr>
              <a:t>リプレイ規定回数
（最大200回）で
突入するメインCZ</a:t>
            </a:r>
          </a:p>
        </p:txBody>
      </p:sp>
      <p:sp>
        <p:nvSpPr>
          <p:cNvPr id="15" name="Can 14"/>
          <p:cNvSpPr/>
          <p:nvPr/>
        </p:nvSpPr>
        <p:spPr>
          <a:xfrm>
            <a:off x="3354704" y="1145800"/>
            <a:ext cx="200000" cy="180000"/>
          </a:xfrm>
          <a:prstGeom prst="can">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74720" y="685800"/>
            <a:ext cx="1481328" cy="1100000"/>
          </a:xfrm>
          <a:prstGeom prst="rect">
            <a:avLst/>
          </a:prstGeom>
          <a:solidFill>
            <a:srgbClr val="181208"/>
          </a:solidFill>
          <a:ln w="22860">
            <a:solidFill>
              <a:srgbClr val="22A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09720" y="755800"/>
            <a:ext cx="1421328" cy="360000"/>
          </a:xfrm>
          <a:prstGeom prst="rect">
            <a:avLst/>
          </a:prstGeom>
          <a:noFill/>
        </p:spPr>
        <p:txBody>
          <a:bodyPr wrap="square">
            <a:spAutoFit/>
          </a:bodyPr>
          <a:lstStyle/>
          <a:p>
            <a:pPr algn="ctr"/>
            <a:r>
              <a:rPr sz="950" b="1">
                <a:solidFill>
                  <a:srgbClr val="22AA44"/>
                </a:solidFill>
                <a:latin typeface="游明朝"/>
              </a:rPr>
              <a:t>百竜夜行
(上位CZ)</a:t>
            </a:r>
          </a:p>
        </p:txBody>
      </p:sp>
      <p:sp>
        <p:nvSpPr>
          <p:cNvPr id="18" name="TextBox 17"/>
          <p:cNvSpPr txBox="1"/>
          <p:nvPr/>
        </p:nvSpPr>
        <p:spPr>
          <a:xfrm>
            <a:off x="3499720" y="1165800"/>
            <a:ext cx="1436328" cy="520000"/>
          </a:xfrm>
          <a:prstGeom prst="rect">
            <a:avLst/>
          </a:prstGeom>
          <a:noFill/>
        </p:spPr>
        <p:txBody>
          <a:bodyPr wrap="square">
            <a:spAutoFit/>
          </a:bodyPr>
          <a:lstStyle/>
          <a:p>
            <a:pPr algn="ctr"/>
            <a:r>
              <a:rPr sz="750" b="0">
                <a:solidFill>
                  <a:srgbClr val="999080"/>
                </a:solidFill>
                <a:latin typeface="メイリオ"/>
              </a:rPr>
              <a:t>12G継続CZ
成功率約70%
大連続ボーナス濃厚</a:t>
            </a:r>
          </a:p>
        </p:txBody>
      </p:sp>
      <p:sp>
        <p:nvSpPr>
          <p:cNvPr id="19" name="Can 18"/>
          <p:cNvSpPr/>
          <p:nvPr/>
        </p:nvSpPr>
        <p:spPr>
          <a:xfrm>
            <a:off x="4964048" y="1145800"/>
            <a:ext cx="200000" cy="180000"/>
          </a:xfrm>
          <a:prstGeom prst="can">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84064" y="685800"/>
            <a:ext cx="1481328" cy="1100000"/>
          </a:xfrm>
          <a:prstGeom prst="rect">
            <a:avLst/>
          </a:prstGeom>
          <a:solidFill>
            <a:srgbClr val="181208"/>
          </a:solidFill>
          <a:ln w="2286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19064" y="755800"/>
            <a:ext cx="1421328" cy="360000"/>
          </a:xfrm>
          <a:prstGeom prst="rect">
            <a:avLst/>
          </a:prstGeom>
          <a:noFill/>
        </p:spPr>
        <p:txBody>
          <a:bodyPr wrap="square">
            <a:spAutoFit/>
          </a:bodyPr>
          <a:lstStyle/>
          <a:p>
            <a:pPr algn="ctr"/>
            <a:r>
              <a:rPr sz="950" b="1">
                <a:solidFill>
                  <a:srgbClr val="FF8800"/>
                </a:solidFill>
                <a:latin typeface="游明朝"/>
              </a:rPr>
              <a:t>狩猟ボーナス
(メインAT)</a:t>
            </a:r>
          </a:p>
        </p:txBody>
      </p:sp>
      <p:sp>
        <p:nvSpPr>
          <p:cNvPr id="22" name="TextBox 21"/>
          <p:cNvSpPr txBox="1"/>
          <p:nvPr/>
        </p:nvSpPr>
        <p:spPr>
          <a:xfrm>
            <a:off x="5109064" y="1165800"/>
            <a:ext cx="1436328" cy="520000"/>
          </a:xfrm>
          <a:prstGeom prst="rect">
            <a:avLst/>
          </a:prstGeom>
          <a:noFill/>
        </p:spPr>
        <p:txBody>
          <a:bodyPr wrap="square">
            <a:spAutoFit/>
          </a:bodyPr>
          <a:lstStyle/>
          <a:p>
            <a:pPr algn="ctr"/>
            <a:r>
              <a:rPr sz="750" b="0">
                <a:solidFill>
                  <a:srgbClr val="999080"/>
                </a:solidFill>
                <a:latin typeface="メイリオ"/>
              </a:rPr>
              <a:t>純増2.7or4.0枚/G
モンスター討伐で
継続するループ型</a:t>
            </a:r>
          </a:p>
        </p:txBody>
      </p:sp>
      <p:sp>
        <p:nvSpPr>
          <p:cNvPr id="23" name="Can 22"/>
          <p:cNvSpPr/>
          <p:nvPr/>
        </p:nvSpPr>
        <p:spPr>
          <a:xfrm>
            <a:off x="6573392" y="1145800"/>
            <a:ext cx="200000" cy="180000"/>
          </a:xfrm>
          <a:prstGeom prst="can">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693408" y="685800"/>
            <a:ext cx="1481328" cy="1100000"/>
          </a:xfrm>
          <a:prstGeom prst="rect">
            <a:avLst/>
          </a:prstGeom>
          <a:solidFill>
            <a:srgbClr val="181208"/>
          </a:solidFill>
          <a:ln w="22860">
            <a:solidFill>
              <a:srgbClr val="CCAA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28408" y="755800"/>
            <a:ext cx="1421328" cy="360000"/>
          </a:xfrm>
          <a:prstGeom prst="rect">
            <a:avLst/>
          </a:prstGeom>
          <a:noFill/>
        </p:spPr>
        <p:txBody>
          <a:bodyPr wrap="square">
            <a:spAutoFit/>
          </a:bodyPr>
          <a:lstStyle/>
          <a:p>
            <a:pPr algn="ctr"/>
            <a:r>
              <a:rPr sz="950" b="1">
                <a:solidFill>
                  <a:srgbClr val="CCAA22"/>
                </a:solidFill>
                <a:latin typeface="游明朝"/>
              </a:rPr>
              <a:t>剥ぎ取り
チャンス</a:t>
            </a:r>
          </a:p>
        </p:txBody>
      </p:sp>
      <p:sp>
        <p:nvSpPr>
          <p:cNvPr id="26" name="TextBox 25"/>
          <p:cNvSpPr txBox="1"/>
          <p:nvPr/>
        </p:nvSpPr>
        <p:spPr>
          <a:xfrm>
            <a:off x="6718408" y="1165800"/>
            <a:ext cx="1436328" cy="520000"/>
          </a:xfrm>
          <a:prstGeom prst="rect">
            <a:avLst/>
          </a:prstGeom>
          <a:noFill/>
        </p:spPr>
        <p:txBody>
          <a:bodyPr wrap="square">
            <a:spAutoFit/>
          </a:bodyPr>
          <a:lstStyle/>
          <a:p>
            <a:pPr algn="ctr"/>
            <a:r>
              <a:rPr sz="750" b="0">
                <a:solidFill>
                  <a:srgbClr val="999080"/>
                </a:solidFill>
                <a:latin typeface="メイリオ"/>
              </a:rPr>
              <a:t>討伐後の報酬タイム
銀/金/G/超の4種
金以上でストック確定</a:t>
            </a:r>
          </a:p>
        </p:txBody>
      </p:sp>
      <p:sp>
        <p:nvSpPr>
          <p:cNvPr id="27" name="TextBox 26"/>
          <p:cNvSpPr txBox="1"/>
          <p:nvPr/>
        </p:nvSpPr>
        <p:spPr>
          <a:xfrm>
            <a:off x="256032" y="1805800"/>
            <a:ext cx="3200400" cy="260000"/>
          </a:xfrm>
          <a:prstGeom prst="rect">
            <a:avLst/>
          </a:prstGeom>
          <a:noFill/>
        </p:spPr>
        <p:txBody>
          <a:bodyPr wrap="square">
            <a:spAutoFit/>
          </a:bodyPr>
          <a:lstStyle/>
          <a:p>
            <a:pPr algn="l"/>
            <a:r>
              <a:rPr sz="750" b="0">
                <a:solidFill>
                  <a:srgbClr val="22CCDD"/>
                </a:solidFill>
                <a:latin typeface="メイリオ"/>
              </a:rPr>
              <a:t>天井：リプレイ規定5セット目（累計200回）でCZ確定</a:t>
            </a:r>
          </a:p>
        </p:txBody>
      </p:sp>
      <p:sp>
        <p:nvSpPr>
          <p:cNvPr id="28" name="Rectangle 27"/>
          <p:cNvSpPr/>
          <p:nvPr/>
        </p:nvSpPr>
        <p:spPr>
          <a:xfrm>
            <a:off x="256032" y="2045800"/>
            <a:ext cx="3474720" cy="5000"/>
          </a:xfrm>
          <a:prstGeom prst="rect">
            <a:avLst/>
          </a:prstGeom>
          <a:solidFill>
            <a:srgbClr val="22CC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913632" y="1805800"/>
            <a:ext cx="3200400" cy="260000"/>
          </a:xfrm>
          <a:prstGeom prst="rect">
            <a:avLst/>
          </a:prstGeom>
          <a:noFill/>
        </p:spPr>
        <p:txBody>
          <a:bodyPr wrap="square">
            <a:spAutoFit/>
          </a:bodyPr>
          <a:lstStyle/>
          <a:p>
            <a:pPr algn="l"/>
            <a:r>
              <a:rPr sz="750" b="0">
                <a:solidFill>
                  <a:srgbClr val="CCAA22"/>
                </a:solidFill>
                <a:latin typeface="メイリオ"/>
              </a:rPr>
              <a:t>有利区間差枚+2100枚到達→エンディング→上位AT抽選</a:t>
            </a:r>
          </a:p>
        </p:txBody>
      </p:sp>
      <p:sp>
        <p:nvSpPr>
          <p:cNvPr id="30" name="Rectangle 29"/>
          <p:cNvSpPr/>
          <p:nvPr/>
        </p:nvSpPr>
        <p:spPr>
          <a:xfrm>
            <a:off x="0" y="1938528"/>
            <a:ext cx="9144000" cy="5000"/>
          </a:xfrm>
          <a:prstGeom prst="rect">
            <a:avLst/>
          </a:prstGeom>
          <a:solidFill>
            <a:srgbClr val="305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56032" y="2011680"/>
            <a:ext cx="1828800" cy="1080000"/>
          </a:xfrm>
          <a:prstGeom prst="rect">
            <a:avLst/>
          </a:prstGeom>
          <a:solidFill>
            <a:srgbClr val="181208"/>
          </a:solidFill>
          <a:ln w="2286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96032" y="2081680"/>
            <a:ext cx="1758800" cy="370000"/>
          </a:xfrm>
          <a:prstGeom prst="rect">
            <a:avLst/>
          </a:prstGeom>
          <a:noFill/>
        </p:spPr>
        <p:txBody>
          <a:bodyPr wrap="square">
            <a:spAutoFit/>
          </a:bodyPr>
          <a:lstStyle/>
          <a:p>
            <a:pPr algn="ctr"/>
            <a:r>
              <a:rPr sz="1000" b="1">
                <a:solidFill>
                  <a:srgbClr val="FF8800"/>
                </a:solidFill>
                <a:latin typeface="游明朝"/>
              </a:rPr>
              <a:t>狩猟ボーナス
（基本AT）</a:t>
            </a:r>
          </a:p>
        </p:txBody>
      </p:sp>
      <p:sp>
        <p:nvSpPr>
          <p:cNvPr id="33" name="TextBox 32"/>
          <p:cNvSpPr txBox="1"/>
          <p:nvPr/>
        </p:nvSpPr>
        <p:spPr>
          <a:xfrm>
            <a:off x="286032" y="2501680"/>
            <a:ext cx="1773800" cy="470000"/>
          </a:xfrm>
          <a:prstGeom prst="rect">
            <a:avLst/>
          </a:prstGeom>
          <a:noFill/>
        </p:spPr>
        <p:txBody>
          <a:bodyPr wrap="square">
            <a:spAutoFit/>
          </a:bodyPr>
          <a:lstStyle/>
          <a:p>
            <a:pPr algn="ctr"/>
            <a:r>
              <a:rPr sz="750" b="0">
                <a:solidFill>
                  <a:srgbClr val="999080"/>
                </a:solidFill>
                <a:latin typeface="メイリオ"/>
              </a:rPr>
              <a:t>純増約2.7枚/G
モンスターと戦闘
討伐率約52%</a:t>
            </a:r>
          </a:p>
        </p:txBody>
      </p:sp>
      <p:sp>
        <p:nvSpPr>
          <p:cNvPr id="34" name="Can 33"/>
          <p:cNvSpPr/>
          <p:nvPr/>
        </p:nvSpPr>
        <p:spPr>
          <a:xfrm>
            <a:off x="2096832" y="2461680"/>
            <a:ext cx="200000" cy="180000"/>
          </a:xfrm>
          <a:prstGeom prst="can">
            <a:avLst/>
          </a:prstGeom>
          <a:solidFill>
            <a:srgbClr val="CCA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286000" y="2011680"/>
            <a:ext cx="1828800" cy="1080000"/>
          </a:xfrm>
          <a:prstGeom prst="rect">
            <a:avLst/>
          </a:prstGeom>
          <a:solidFill>
            <a:srgbClr val="181208"/>
          </a:solidFill>
          <a:ln w="22860">
            <a:solidFill>
              <a:srgbClr val="22A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326000" y="2081680"/>
            <a:ext cx="1758800" cy="370000"/>
          </a:xfrm>
          <a:prstGeom prst="rect">
            <a:avLst/>
          </a:prstGeom>
          <a:noFill/>
        </p:spPr>
        <p:txBody>
          <a:bodyPr wrap="square">
            <a:spAutoFit/>
          </a:bodyPr>
          <a:lstStyle/>
          <a:p>
            <a:pPr algn="ctr"/>
            <a:r>
              <a:rPr sz="1000" b="1">
                <a:solidFill>
                  <a:srgbClr val="22AA44"/>
                </a:solidFill>
                <a:latin typeface="游明朝"/>
              </a:rPr>
              <a:t>百竜刀
-千変万化MODE-</a:t>
            </a:r>
          </a:p>
        </p:txBody>
      </p:sp>
      <p:sp>
        <p:nvSpPr>
          <p:cNvPr id="37" name="TextBox 36"/>
          <p:cNvSpPr txBox="1"/>
          <p:nvPr/>
        </p:nvSpPr>
        <p:spPr>
          <a:xfrm>
            <a:off x="2316000" y="2501680"/>
            <a:ext cx="1773800" cy="470000"/>
          </a:xfrm>
          <a:prstGeom prst="rect">
            <a:avLst/>
          </a:prstGeom>
          <a:noFill/>
        </p:spPr>
        <p:txBody>
          <a:bodyPr wrap="square">
            <a:spAutoFit/>
          </a:bodyPr>
          <a:lstStyle/>
          <a:p>
            <a:pPr algn="ctr"/>
            <a:r>
              <a:rPr sz="750" b="0">
                <a:solidFill>
                  <a:srgbClr val="999080"/>
                </a:solidFill>
                <a:latin typeface="メイリオ"/>
              </a:rPr>
              <a:t>早期討伐時突入
ボーナスストック
特化ゾーン</a:t>
            </a:r>
          </a:p>
        </p:txBody>
      </p:sp>
      <p:sp>
        <p:nvSpPr>
          <p:cNvPr id="38" name="Can 37"/>
          <p:cNvSpPr/>
          <p:nvPr/>
        </p:nvSpPr>
        <p:spPr>
          <a:xfrm>
            <a:off x="4126800" y="2461680"/>
            <a:ext cx="200000" cy="180000"/>
          </a:xfrm>
          <a:prstGeom prst="can">
            <a:avLst/>
          </a:prstGeom>
          <a:solidFill>
            <a:srgbClr val="CCA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315968" y="2011680"/>
            <a:ext cx="1828800" cy="1080000"/>
          </a:xfrm>
          <a:prstGeom prst="rect">
            <a:avLst/>
          </a:prstGeom>
          <a:solidFill>
            <a:srgbClr val="181208"/>
          </a:solidFill>
          <a:ln w="22860">
            <a:solidFill>
              <a:srgbClr val="FFDD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355968" y="2081680"/>
            <a:ext cx="1758800" cy="370000"/>
          </a:xfrm>
          <a:prstGeom prst="rect">
            <a:avLst/>
          </a:prstGeom>
          <a:noFill/>
        </p:spPr>
        <p:txBody>
          <a:bodyPr wrap="square">
            <a:spAutoFit/>
          </a:bodyPr>
          <a:lstStyle/>
          <a:p>
            <a:pPr algn="ctr"/>
            <a:r>
              <a:rPr sz="1000" b="1">
                <a:solidFill>
                  <a:srgbClr val="FFDD44"/>
                </a:solidFill>
                <a:latin typeface="游明朝"/>
              </a:rPr>
              <a:t>エンディング
(10頭討伐)</a:t>
            </a:r>
          </a:p>
        </p:txBody>
      </p:sp>
      <p:sp>
        <p:nvSpPr>
          <p:cNvPr id="41" name="TextBox 40"/>
          <p:cNvSpPr txBox="1"/>
          <p:nvPr/>
        </p:nvSpPr>
        <p:spPr>
          <a:xfrm>
            <a:off x="4345968" y="2501680"/>
            <a:ext cx="1773800" cy="470000"/>
          </a:xfrm>
          <a:prstGeom prst="rect">
            <a:avLst/>
          </a:prstGeom>
          <a:noFill/>
        </p:spPr>
        <p:txBody>
          <a:bodyPr wrap="square">
            <a:spAutoFit/>
          </a:bodyPr>
          <a:lstStyle/>
          <a:p>
            <a:pPr algn="ctr"/>
            <a:r>
              <a:rPr sz="750" b="0">
                <a:solidFill>
                  <a:srgbClr val="999080"/>
                </a:solidFill>
                <a:latin typeface="メイリオ"/>
              </a:rPr>
              <a:t>規定10頭討伐で
突入する特殊フェーズ
上位AT抽選の起点</a:t>
            </a:r>
          </a:p>
        </p:txBody>
      </p:sp>
      <p:sp>
        <p:nvSpPr>
          <p:cNvPr id="42" name="Can 41"/>
          <p:cNvSpPr/>
          <p:nvPr/>
        </p:nvSpPr>
        <p:spPr>
          <a:xfrm>
            <a:off x="6156768" y="2461680"/>
            <a:ext cx="200000" cy="180000"/>
          </a:xfrm>
          <a:prstGeom prst="can">
            <a:avLst/>
          </a:prstGeom>
          <a:solidFill>
            <a:srgbClr val="CCA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345936" y="2011680"/>
            <a:ext cx="1828800" cy="1080000"/>
          </a:xfrm>
          <a:prstGeom prst="rect">
            <a:avLst/>
          </a:prstGeom>
          <a:solidFill>
            <a:srgbClr val="141002"/>
          </a:solidFill>
          <a:ln w="22860">
            <a:solidFill>
              <a:srgbClr val="CCAA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385936" y="2081680"/>
            <a:ext cx="1758800" cy="370000"/>
          </a:xfrm>
          <a:prstGeom prst="rect">
            <a:avLst/>
          </a:prstGeom>
          <a:noFill/>
        </p:spPr>
        <p:txBody>
          <a:bodyPr wrap="square">
            <a:spAutoFit/>
          </a:bodyPr>
          <a:lstStyle/>
          <a:p>
            <a:pPr algn="ctr"/>
            <a:r>
              <a:rPr sz="1000" b="1">
                <a:solidFill>
                  <a:srgbClr val="CCAA22"/>
                </a:solidFill>
                <a:latin typeface="游明朝"/>
              </a:rPr>
              <a:t>気焔万丈
（上位AT）</a:t>
            </a:r>
          </a:p>
        </p:txBody>
      </p:sp>
      <p:sp>
        <p:nvSpPr>
          <p:cNvPr id="45" name="TextBox 44"/>
          <p:cNvSpPr txBox="1"/>
          <p:nvPr/>
        </p:nvSpPr>
        <p:spPr>
          <a:xfrm>
            <a:off x="6375936" y="2501680"/>
            <a:ext cx="1773800" cy="470000"/>
          </a:xfrm>
          <a:prstGeom prst="rect">
            <a:avLst/>
          </a:prstGeom>
          <a:noFill/>
        </p:spPr>
        <p:txBody>
          <a:bodyPr wrap="square">
            <a:spAutoFit/>
          </a:bodyPr>
          <a:lstStyle/>
          <a:p>
            <a:pPr algn="ctr"/>
            <a:r>
              <a:rPr sz="750" b="0">
                <a:solidFill>
                  <a:srgbClr val="999080"/>
                </a:solidFill>
                <a:latin typeface="メイリオ"/>
              </a:rPr>
              <a:t>純増約4.0枚/G
通常ATと同ゲーム性
百竜ノ淵源経由</a:t>
            </a:r>
          </a:p>
        </p:txBody>
      </p:sp>
      <p:sp>
        <p:nvSpPr>
          <p:cNvPr id="46" name="Rectangle 45"/>
          <p:cNvSpPr/>
          <p:nvPr/>
        </p:nvSpPr>
        <p:spPr>
          <a:xfrm>
            <a:off x="8375904" y="2011680"/>
            <a:ext cx="1298448" cy="1080000"/>
          </a:xfrm>
          <a:prstGeom prst="rect">
            <a:avLst/>
          </a:prstGeom>
          <a:solidFill>
            <a:srgbClr val="181208"/>
          </a:solidFill>
          <a:ln w="19050">
            <a:solidFill>
              <a:srgbClr val="22CC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375904" y="2011680"/>
            <a:ext cx="30000" cy="1080000"/>
          </a:xfrm>
          <a:prstGeom prst="rect">
            <a:avLst/>
          </a:prstGeom>
          <a:solidFill>
            <a:srgbClr val="22CC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425904" y="2081680"/>
            <a:ext cx="1097280" cy="310000"/>
          </a:xfrm>
          <a:prstGeom prst="rect">
            <a:avLst/>
          </a:prstGeom>
          <a:noFill/>
        </p:spPr>
        <p:txBody>
          <a:bodyPr wrap="square">
            <a:spAutoFit/>
          </a:bodyPr>
          <a:lstStyle/>
          <a:p>
            <a:pPr algn="ctr"/>
            <a:r>
              <a:rPr sz="900" b="1">
                <a:solidFill>
                  <a:srgbClr val="22CCDD"/>
                </a:solidFill>
                <a:latin typeface="游明朝"/>
              </a:rPr>
              <a:t>百竜ノ
淵源
BONUS</a:t>
            </a:r>
          </a:p>
        </p:txBody>
      </p:sp>
      <p:sp>
        <p:nvSpPr>
          <p:cNvPr id="49" name="TextBox 48"/>
          <p:cNvSpPr txBox="1"/>
          <p:nvPr/>
        </p:nvSpPr>
        <p:spPr>
          <a:xfrm>
            <a:off x="8425904" y="2501680"/>
            <a:ext cx="1097280" cy="460000"/>
          </a:xfrm>
          <a:prstGeom prst="rect">
            <a:avLst/>
          </a:prstGeom>
          <a:noFill/>
        </p:spPr>
        <p:txBody>
          <a:bodyPr wrap="square">
            <a:spAutoFit/>
          </a:bodyPr>
          <a:lstStyle/>
          <a:p>
            <a:pPr algn="ctr"/>
            <a:r>
              <a:rPr sz="750" b="0">
                <a:solidFill>
                  <a:srgbClr val="F0ECE0"/>
                </a:solidFill>
                <a:latin typeface="メイリオ"/>
              </a:rPr>
              <a:t>討伐成功
(約72%)で
気焔万丈へ</a:t>
            </a:r>
          </a:p>
        </p:txBody>
      </p:sp>
      <p:sp>
        <p:nvSpPr>
          <p:cNvPr id="50" name="TextBox 49"/>
          <p:cNvSpPr txBox="1"/>
          <p:nvPr/>
        </p:nvSpPr>
        <p:spPr>
          <a:xfrm>
            <a:off x="6675120" y="4919472"/>
            <a:ext cx="2377440" cy="180000"/>
          </a:xfrm>
          <a:prstGeom prst="rect">
            <a:avLst/>
          </a:prstGeom>
          <a:noFill/>
        </p:spPr>
        <p:txBody>
          <a:bodyPr wrap="square">
            <a:spAutoFit/>
          </a:bodyPr>
          <a:lstStyle/>
          <a:p>
            <a:pPr algn="r"/>
            <a:r>
              <a:rPr sz="650" b="0">
                <a:solidFill>
                  <a:srgbClr val="999080"/>
                </a:solidFill>
                <a:latin typeface="メイリオ"/>
              </a:rPr>
              <a:t>※ネット解析情報より（ちょんぼりすた・なな徹・一撃・pachiseven）</a:t>
            </a:r>
          </a:p>
        </p:txBody>
      </p:sp>
      <p:sp>
        <p:nvSpPr>
          <p:cNvPr id="51" name="Rectangle 50"/>
          <p:cNvSpPr/>
          <p:nvPr/>
        </p:nvSpPr>
        <p:spPr>
          <a:xfrm>
            <a:off x="0" y="4645152"/>
            <a:ext cx="9144000" cy="498348"/>
          </a:xfrm>
          <a:prstGeom prst="rect">
            <a:avLst/>
          </a:prstGeom>
          <a:solidFill>
            <a:srgbClr val="100C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0" y="4645152"/>
            <a:ext cx="20000" cy="498348"/>
          </a:xfrm>
          <a:prstGeom prst="rect">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64592" y="4685152"/>
            <a:ext cx="5029200" cy="340000"/>
          </a:xfrm>
          <a:prstGeom prst="rect">
            <a:avLst/>
          </a:prstGeom>
          <a:noFill/>
        </p:spPr>
        <p:txBody>
          <a:bodyPr wrap="square">
            <a:spAutoFit/>
          </a:bodyPr>
          <a:lstStyle/>
          <a:p>
            <a:pPr algn="l"/>
            <a:r>
              <a:rPr sz="750" b="1">
                <a:solidFill>
                  <a:srgbClr val="FF8800"/>
                </a:solidFill>
                <a:latin typeface="メイリオ"/>
              </a:rPr>
              <a:t>上段=通常〜狩猟ボーナス突入ルート（カムラPT・CZ・レア役直撃）、下段=AT内昇格ルート（討伐→エンディング→気焔万丈）</a:t>
            </a:r>
          </a:p>
        </p:txBody>
      </p:sp>
      <p:sp>
        <p:nvSpPr>
          <p:cNvPr id="54" name="TextBox 53"/>
          <p:cNvSpPr txBox="1"/>
          <p:nvPr/>
        </p:nvSpPr>
        <p:spPr>
          <a:xfrm>
            <a:off x="5303520" y="4685152"/>
            <a:ext cx="3657600" cy="340000"/>
          </a:xfrm>
          <a:prstGeom prst="rect">
            <a:avLst/>
          </a:prstGeom>
          <a:noFill/>
        </p:spPr>
        <p:txBody>
          <a:bodyPr wrap="square">
            <a:spAutoFit/>
          </a:bodyPr>
          <a:lstStyle/>
          <a:p>
            <a:pPr algn="r"/>
            <a:r>
              <a:rPr sz="700" b="0">
                <a:solidFill>
                  <a:srgbClr val="999080"/>
                </a:solidFill>
                <a:latin typeface="メイリオ"/>
              </a:rPr>
              <a:t>討伐するたびに次の戦いが始まるモンハンサイクルがそのままスロットのAT継続設計に</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1812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400" b="1">
                <a:solidFill>
                  <a:srgbClr val="FF8800"/>
                </a:solidFill>
                <a:latin typeface="游明朝"/>
              </a:rPr>
              <a:t>通常時の遊び方 ── カムラポイント蓄積・CZ・レア役直撃</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999080"/>
                </a:solidFill>
                <a:latin typeface="メイリオ"/>
              </a:rPr>
              <a:t>3/9</a:t>
            </a:r>
          </a:p>
        </p:txBody>
      </p:sp>
      <p:sp>
        <p:nvSpPr>
          <p:cNvPr id="7" name="Rectangle 6"/>
          <p:cNvSpPr/>
          <p:nvPr/>
        </p:nvSpPr>
        <p:spPr>
          <a:xfrm>
            <a:off x="0" y="530352"/>
            <a:ext cx="9144000" cy="7000"/>
          </a:xfrm>
          <a:prstGeom prst="rect">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658368"/>
            <a:ext cx="4160520" cy="290000"/>
          </a:xfrm>
          <a:prstGeom prst="rect">
            <a:avLst/>
          </a:prstGeom>
          <a:solidFill>
            <a:srgbClr val="205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6032" y="713368"/>
            <a:ext cx="4080520" cy="220000"/>
          </a:xfrm>
          <a:prstGeom prst="rect">
            <a:avLst/>
          </a:prstGeom>
          <a:noFill/>
        </p:spPr>
        <p:txBody>
          <a:bodyPr wrap="square">
            <a:spAutoFit/>
          </a:bodyPr>
          <a:lstStyle/>
          <a:p>
            <a:pPr algn="l"/>
            <a:r>
              <a:rPr sz="1000" b="1">
                <a:solidFill>
                  <a:srgbClr val="22AA44"/>
                </a:solidFill>
                <a:latin typeface="メイリオ"/>
              </a:rPr>
              <a:t>通常時〜AT突入ルート（全3系統）</a:t>
            </a:r>
          </a:p>
        </p:txBody>
      </p:sp>
      <p:sp>
        <p:nvSpPr>
          <p:cNvPr id="10" name="Rectangle 9"/>
          <p:cNvSpPr/>
          <p:nvPr/>
        </p:nvSpPr>
        <p:spPr>
          <a:xfrm>
            <a:off x="256032" y="948368"/>
            <a:ext cx="4160520" cy="1060000"/>
          </a:xfrm>
          <a:prstGeom prst="rect">
            <a:avLst/>
          </a:prstGeom>
          <a:solidFill>
            <a:srgbClr val="181208"/>
          </a:solidFill>
          <a:ln w="19050">
            <a:solidFill>
              <a:srgbClr val="22A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6032" y="948368"/>
            <a:ext cx="45000" cy="1060000"/>
          </a:xfrm>
          <a:prstGeom prst="rect">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1032" y="998368"/>
            <a:ext cx="4060520" cy="270000"/>
          </a:xfrm>
          <a:prstGeom prst="rect">
            <a:avLst/>
          </a:prstGeom>
          <a:noFill/>
        </p:spPr>
        <p:txBody>
          <a:bodyPr wrap="square">
            <a:spAutoFit/>
          </a:bodyPr>
          <a:lstStyle/>
          <a:p>
            <a:pPr algn="l"/>
            <a:r>
              <a:rPr sz="900" b="1">
                <a:solidFill>
                  <a:srgbClr val="22AA44"/>
                </a:solidFill>
                <a:latin typeface="メイリオ"/>
              </a:rPr>
              <a:t>ルート① カムラポイント蓄積→クエスト</a:t>
            </a:r>
          </a:p>
        </p:txBody>
      </p:sp>
      <p:sp>
        <p:nvSpPr>
          <p:cNvPr id="13" name="TextBox 12"/>
          <p:cNvSpPr txBox="1"/>
          <p:nvPr/>
        </p:nvSpPr>
        <p:spPr>
          <a:xfrm>
            <a:off x="331032" y="1268368"/>
            <a:ext cx="4060520" cy="670000"/>
          </a:xfrm>
          <a:prstGeom prst="rect">
            <a:avLst/>
          </a:prstGeom>
          <a:noFill/>
        </p:spPr>
        <p:txBody>
          <a:bodyPr wrap="square">
            <a:spAutoFit/>
          </a:bodyPr>
          <a:lstStyle/>
          <a:p>
            <a:pPr algn="l"/>
            <a:r>
              <a:rPr sz="750" b="0">
                <a:solidFill>
                  <a:srgbClr val="F0ECE0"/>
                </a:solidFill>
                <a:latin typeface="メイリオ"/>
              </a:rPr>
              <a:t>小役入賞でカムラポイントを獲得。
最大600pt（100pt毎にチャンス）でクエスト突入。
クエスト成功でCZまたはAT直撃抽選が行われる。
メインルートで最も頻出の突入経路。</a:t>
            </a:r>
          </a:p>
        </p:txBody>
      </p:sp>
      <p:sp>
        <p:nvSpPr>
          <p:cNvPr id="14" name="Rectangle 13"/>
          <p:cNvSpPr/>
          <p:nvPr/>
        </p:nvSpPr>
        <p:spPr>
          <a:xfrm>
            <a:off x="256032" y="2073368"/>
            <a:ext cx="4160520" cy="1060000"/>
          </a:xfrm>
          <a:prstGeom prst="rect">
            <a:avLst/>
          </a:prstGeom>
          <a:solidFill>
            <a:srgbClr val="181208"/>
          </a:solidFill>
          <a:ln w="1905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6032" y="2073368"/>
            <a:ext cx="45000" cy="1060000"/>
          </a:xfrm>
          <a:prstGeom prst="rect">
            <a:avLst/>
          </a:prstGeom>
          <a:solidFill>
            <a:srgbClr val="FF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1032" y="2123368"/>
            <a:ext cx="4060520" cy="270000"/>
          </a:xfrm>
          <a:prstGeom prst="rect">
            <a:avLst/>
          </a:prstGeom>
          <a:noFill/>
        </p:spPr>
        <p:txBody>
          <a:bodyPr wrap="square">
            <a:spAutoFit/>
          </a:bodyPr>
          <a:lstStyle/>
          <a:p>
            <a:pPr algn="l"/>
            <a:r>
              <a:rPr sz="900" b="1">
                <a:solidFill>
                  <a:srgbClr val="FF8800"/>
                </a:solidFill>
                <a:latin typeface="メイリオ"/>
              </a:rPr>
              <a:t>ルート② レア役直撃（ライズゾーン）</a:t>
            </a:r>
          </a:p>
        </p:txBody>
      </p:sp>
      <p:sp>
        <p:nvSpPr>
          <p:cNvPr id="17" name="TextBox 16"/>
          <p:cNvSpPr txBox="1"/>
          <p:nvPr/>
        </p:nvSpPr>
        <p:spPr>
          <a:xfrm>
            <a:off x="331032" y="2393368"/>
            <a:ext cx="4060520" cy="670000"/>
          </a:xfrm>
          <a:prstGeom prst="rect">
            <a:avLst/>
          </a:prstGeom>
          <a:noFill/>
        </p:spPr>
        <p:txBody>
          <a:bodyPr wrap="square">
            <a:spAutoFit/>
          </a:bodyPr>
          <a:lstStyle/>
          <a:p>
            <a:pPr algn="l"/>
            <a:r>
              <a:rPr sz="750" b="0">
                <a:solidFill>
                  <a:srgbClr val="F0ECE0"/>
                </a:solidFill>
                <a:latin typeface="メイリオ"/>
              </a:rPr>
              <a:t>チェリー・スイカ・チャンス目などのレア役で
AT直撃またはライズゾーン（カムラPT特化）抽選。
引き強時の一発突入ルート。
ライズゾーン突入後は一定G間カムラPT高速蓄積。</a:t>
            </a:r>
          </a:p>
        </p:txBody>
      </p:sp>
      <p:sp>
        <p:nvSpPr>
          <p:cNvPr id="18" name="Rectangle 17"/>
          <p:cNvSpPr/>
          <p:nvPr/>
        </p:nvSpPr>
        <p:spPr>
          <a:xfrm>
            <a:off x="256032" y="3198368"/>
            <a:ext cx="4160520" cy="1060000"/>
          </a:xfrm>
          <a:prstGeom prst="rect">
            <a:avLst/>
          </a:prstGeom>
          <a:solidFill>
            <a:srgbClr val="181208"/>
          </a:solidFill>
          <a:ln w="19050">
            <a:solidFill>
              <a:srgbClr val="22CC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6032" y="3198368"/>
            <a:ext cx="45000" cy="1060000"/>
          </a:xfrm>
          <a:prstGeom prst="rect">
            <a:avLst/>
          </a:prstGeom>
          <a:solidFill>
            <a:srgbClr val="22CC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1032" y="3248368"/>
            <a:ext cx="4060520" cy="270000"/>
          </a:xfrm>
          <a:prstGeom prst="rect">
            <a:avLst/>
          </a:prstGeom>
          <a:noFill/>
        </p:spPr>
        <p:txBody>
          <a:bodyPr wrap="square">
            <a:spAutoFit/>
          </a:bodyPr>
          <a:lstStyle/>
          <a:p>
            <a:pPr algn="l"/>
            <a:r>
              <a:rPr sz="900" b="1">
                <a:solidFill>
                  <a:srgbClr val="22CCDD"/>
                </a:solidFill>
                <a:latin typeface="メイリオ"/>
              </a:rPr>
              <a:t>ルート③ リプレイ規定回数到達→CZ</a:t>
            </a:r>
          </a:p>
        </p:txBody>
      </p:sp>
      <p:sp>
        <p:nvSpPr>
          <p:cNvPr id="21" name="TextBox 20"/>
          <p:cNvSpPr txBox="1"/>
          <p:nvPr/>
        </p:nvSpPr>
        <p:spPr>
          <a:xfrm>
            <a:off x="331032" y="3518368"/>
            <a:ext cx="4060520" cy="670000"/>
          </a:xfrm>
          <a:prstGeom prst="rect">
            <a:avLst/>
          </a:prstGeom>
          <a:noFill/>
        </p:spPr>
        <p:txBody>
          <a:bodyPr wrap="square">
            <a:spAutoFit/>
          </a:bodyPr>
          <a:lstStyle/>
          <a:p>
            <a:pPr algn="l"/>
            <a:r>
              <a:rPr sz="750" b="0">
                <a:solidFill>
                  <a:srgbClr val="F0ECE0"/>
                </a:solidFill>
                <a:latin typeface="メイリオ"/>
              </a:rPr>
              <a:t>リプレイが規定回数（1セット40回）成立するとCZ
「アイルーだるま落とし」に突入。
最大5セット目（累計200回）でCZ確定の天井機能。
CZを経由して上位CZ「百竜夜行」へ昇格も。</a:t>
            </a:r>
          </a:p>
        </p:txBody>
      </p:sp>
      <p:sp>
        <p:nvSpPr>
          <p:cNvPr id="22" name="Rectangle 21"/>
          <p:cNvSpPr/>
          <p:nvPr/>
        </p:nvSpPr>
        <p:spPr>
          <a:xfrm>
            <a:off x="256032" y="4323368"/>
            <a:ext cx="4160520" cy="1060000"/>
          </a:xfrm>
          <a:prstGeom prst="rect">
            <a:avLst/>
          </a:prstGeom>
          <a:solidFill>
            <a:srgbClr val="181208"/>
          </a:solidFill>
          <a:ln w="19050">
            <a:solidFill>
              <a:srgbClr val="CCAA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56032" y="4323368"/>
            <a:ext cx="45000" cy="1060000"/>
          </a:xfrm>
          <a:prstGeom prst="rect">
            <a:avLst/>
          </a:prstGeom>
          <a:solidFill>
            <a:srgbClr val="CCA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31032" y="4373368"/>
            <a:ext cx="4060520" cy="270000"/>
          </a:xfrm>
          <a:prstGeom prst="rect">
            <a:avLst/>
          </a:prstGeom>
          <a:noFill/>
        </p:spPr>
        <p:txBody>
          <a:bodyPr wrap="square">
            <a:spAutoFit/>
          </a:bodyPr>
          <a:lstStyle/>
          <a:p>
            <a:pPr algn="l"/>
            <a:r>
              <a:rPr sz="900" b="1">
                <a:solidFill>
                  <a:srgbClr val="CCAA22"/>
                </a:solidFill>
                <a:latin typeface="メイリオ"/>
              </a:rPr>
              <a:t>ルート④ 百竜夜行（上位CZ）直撃</a:t>
            </a:r>
          </a:p>
        </p:txBody>
      </p:sp>
      <p:sp>
        <p:nvSpPr>
          <p:cNvPr id="25" name="TextBox 24"/>
          <p:cNvSpPr txBox="1"/>
          <p:nvPr/>
        </p:nvSpPr>
        <p:spPr>
          <a:xfrm>
            <a:off x="331032" y="4643368"/>
            <a:ext cx="4060520" cy="670000"/>
          </a:xfrm>
          <a:prstGeom prst="rect">
            <a:avLst/>
          </a:prstGeom>
          <a:noFill/>
        </p:spPr>
        <p:txBody>
          <a:bodyPr wrap="square">
            <a:spAutoFit/>
          </a:bodyPr>
          <a:lstStyle/>
          <a:p>
            <a:pPr algn="l"/>
            <a:r>
              <a:rPr sz="750" b="0">
                <a:solidFill>
                  <a:srgbClr val="F0ECE0"/>
                </a:solidFill>
                <a:latin typeface="メイリオ"/>
              </a:rPr>
              <a:t>レア役や特定条件で上位CZ「百竜夜行」に直撃。
12G継続・成功率約70%の高確CZ。
成功時は「大連続ボーナス」濃厚で大量獲得の入口。
突入時点で高期待度確定の激熱ルート。</a:t>
            </a:r>
          </a:p>
        </p:txBody>
      </p:sp>
      <p:sp>
        <p:nvSpPr>
          <p:cNvPr id="26" name="Rectangle 25"/>
          <p:cNvSpPr/>
          <p:nvPr/>
        </p:nvSpPr>
        <p:spPr>
          <a:xfrm>
            <a:off x="4572000" y="658368"/>
            <a:ext cx="4297680" cy="290000"/>
          </a:xfrm>
          <a:prstGeom prst="rect">
            <a:avLst/>
          </a:prstGeom>
          <a:solidFill>
            <a:srgbClr val="205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32000" y="713368"/>
            <a:ext cx="4217680" cy="220000"/>
          </a:xfrm>
          <a:prstGeom prst="rect">
            <a:avLst/>
          </a:prstGeom>
          <a:noFill/>
        </p:spPr>
        <p:txBody>
          <a:bodyPr wrap="square">
            <a:spAutoFit/>
          </a:bodyPr>
          <a:lstStyle/>
          <a:p>
            <a:pPr algn="l"/>
            <a:r>
              <a:rPr sz="1000" b="1">
                <a:solidFill>
                  <a:srgbClr val="22AA44"/>
                </a:solidFill>
                <a:latin typeface="メイリオ"/>
              </a:rPr>
              <a:t>チャンス役の種類と期待度・モンハン要素との連動</a:t>
            </a:r>
          </a:p>
        </p:txBody>
      </p:sp>
      <p:sp>
        <p:nvSpPr>
          <p:cNvPr id="28" name="Rectangle 27"/>
          <p:cNvSpPr/>
          <p:nvPr/>
        </p:nvSpPr>
        <p:spPr>
          <a:xfrm>
            <a:off x="4572000" y="948368"/>
            <a:ext cx="4297680" cy="690000"/>
          </a:xfrm>
          <a:prstGeom prst="rect">
            <a:avLst/>
          </a:prstGeom>
          <a:solidFill>
            <a:srgbClr val="1812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0" y="948368"/>
            <a:ext cx="35000" cy="690000"/>
          </a:xfrm>
          <a:prstGeom prst="rect">
            <a:avLst/>
          </a:prstGeom>
          <a:solidFill>
            <a:srgbClr val="999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27000" y="1003368"/>
            <a:ext cx="914400" cy="260000"/>
          </a:xfrm>
          <a:prstGeom prst="rect">
            <a:avLst/>
          </a:prstGeom>
          <a:noFill/>
        </p:spPr>
        <p:txBody>
          <a:bodyPr wrap="none">
            <a:spAutoFit/>
          </a:bodyPr>
          <a:lstStyle/>
          <a:p>
            <a:pPr algn="l"/>
            <a:r>
              <a:rPr sz="850" b="1">
                <a:solidFill>
                  <a:srgbClr val="999080"/>
                </a:solidFill>
                <a:latin typeface="メイリオ"/>
              </a:rPr>
              <a:t>リプレイ</a:t>
            </a:r>
          </a:p>
        </p:txBody>
      </p:sp>
      <p:sp>
        <p:nvSpPr>
          <p:cNvPr id="31" name="TextBox 30"/>
          <p:cNvSpPr txBox="1"/>
          <p:nvPr/>
        </p:nvSpPr>
        <p:spPr>
          <a:xfrm>
            <a:off x="5541400" y="1008368"/>
            <a:ext cx="731520" cy="240000"/>
          </a:xfrm>
          <a:prstGeom prst="rect">
            <a:avLst/>
          </a:prstGeom>
          <a:noFill/>
        </p:spPr>
        <p:txBody>
          <a:bodyPr wrap="none">
            <a:spAutoFit/>
          </a:bodyPr>
          <a:lstStyle/>
          <a:p>
            <a:pPr algn="l"/>
            <a:r>
              <a:rPr sz="800" b="1">
                <a:solidFill>
                  <a:srgbClr val="FFDD44"/>
                </a:solidFill>
                <a:latin typeface="メイリオ"/>
              </a:rPr>
              <a:t>約1/8</a:t>
            </a:r>
          </a:p>
        </p:txBody>
      </p:sp>
      <p:sp>
        <p:nvSpPr>
          <p:cNvPr id="32" name="TextBox 31"/>
          <p:cNvSpPr txBox="1"/>
          <p:nvPr/>
        </p:nvSpPr>
        <p:spPr>
          <a:xfrm>
            <a:off x="4627000" y="1258368"/>
            <a:ext cx="3749040" cy="320000"/>
          </a:xfrm>
          <a:prstGeom prst="rect">
            <a:avLst/>
          </a:prstGeom>
          <a:noFill/>
        </p:spPr>
        <p:txBody>
          <a:bodyPr wrap="square">
            <a:spAutoFit/>
          </a:bodyPr>
          <a:lstStyle/>
          <a:p>
            <a:pPr algn="l"/>
            <a:r>
              <a:rPr sz="750" b="0">
                <a:solidFill>
                  <a:srgbClr val="F0ECE0"/>
                </a:solidFill>
                <a:latin typeface="メイリオ"/>
              </a:rPr>
              <a:t>規定回数成立でCZ「アイルーだるま落とし」へ</a:t>
            </a:r>
          </a:p>
        </p:txBody>
      </p:sp>
      <p:sp>
        <p:nvSpPr>
          <p:cNvPr id="33" name="Rectangle 32"/>
          <p:cNvSpPr/>
          <p:nvPr/>
        </p:nvSpPr>
        <p:spPr>
          <a:xfrm>
            <a:off x="4572000" y="1638368"/>
            <a:ext cx="4297680" cy="690000"/>
          </a:xfrm>
          <a:prstGeom prst="rect">
            <a:avLst/>
          </a:prstGeom>
          <a:solidFill>
            <a:srgbClr val="1410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572000" y="1638368"/>
            <a:ext cx="35000" cy="690000"/>
          </a:xfrm>
          <a:prstGeom prst="rect">
            <a:avLst/>
          </a:prstGeom>
          <a:solidFill>
            <a:srgbClr val="188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27000" y="1693368"/>
            <a:ext cx="914400" cy="260000"/>
          </a:xfrm>
          <a:prstGeom prst="rect">
            <a:avLst/>
          </a:prstGeom>
          <a:noFill/>
        </p:spPr>
        <p:txBody>
          <a:bodyPr wrap="none">
            <a:spAutoFit/>
          </a:bodyPr>
          <a:lstStyle/>
          <a:p>
            <a:pPr algn="l"/>
            <a:r>
              <a:rPr sz="850" b="1">
                <a:solidFill>
                  <a:srgbClr val="188030"/>
                </a:solidFill>
                <a:latin typeface="メイリオ"/>
              </a:rPr>
              <a:t>弱チェリー</a:t>
            </a:r>
          </a:p>
        </p:txBody>
      </p:sp>
      <p:sp>
        <p:nvSpPr>
          <p:cNvPr id="36" name="TextBox 35"/>
          <p:cNvSpPr txBox="1"/>
          <p:nvPr/>
        </p:nvSpPr>
        <p:spPr>
          <a:xfrm>
            <a:off x="5541400" y="1698368"/>
            <a:ext cx="731520" cy="240000"/>
          </a:xfrm>
          <a:prstGeom prst="rect">
            <a:avLst/>
          </a:prstGeom>
          <a:noFill/>
        </p:spPr>
        <p:txBody>
          <a:bodyPr wrap="none">
            <a:spAutoFit/>
          </a:bodyPr>
          <a:lstStyle/>
          <a:p>
            <a:pPr algn="l"/>
            <a:r>
              <a:rPr sz="800" b="1">
                <a:solidFill>
                  <a:srgbClr val="FFDD44"/>
                </a:solidFill>
                <a:latin typeface="メイリオ"/>
              </a:rPr>
              <a:t>約1/64</a:t>
            </a:r>
          </a:p>
        </p:txBody>
      </p:sp>
      <p:sp>
        <p:nvSpPr>
          <p:cNvPr id="37" name="TextBox 36"/>
          <p:cNvSpPr txBox="1"/>
          <p:nvPr/>
        </p:nvSpPr>
        <p:spPr>
          <a:xfrm>
            <a:off x="4627000" y="1948368"/>
            <a:ext cx="3749040" cy="320000"/>
          </a:xfrm>
          <a:prstGeom prst="rect">
            <a:avLst/>
          </a:prstGeom>
          <a:noFill/>
        </p:spPr>
        <p:txBody>
          <a:bodyPr wrap="square">
            <a:spAutoFit/>
          </a:bodyPr>
          <a:lstStyle/>
          <a:p>
            <a:pPr algn="l"/>
            <a:r>
              <a:rPr sz="750" b="0">
                <a:solidFill>
                  <a:srgbClr val="F0ECE0"/>
                </a:solidFill>
                <a:latin typeface="メイリオ"/>
              </a:rPr>
              <a:t>カムラPT加算・ライズゾーン抽選</a:t>
            </a:r>
          </a:p>
        </p:txBody>
      </p:sp>
      <p:sp>
        <p:nvSpPr>
          <p:cNvPr id="38" name="Rectangle 37"/>
          <p:cNvSpPr/>
          <p:nvPr/>
        </p:nvSpPr>
        <p:spPr>
          <a:xfrm>
            <a:off x="4572000" y="2328368"/>
            <a:ext cx="4297680" cy="690000"/>
          </a:xfrm>
          <a:prstGeom prst="rect">
            <a:avLst/>
          </a:prstGeom>
          <a:solidFill>
            <a:srgbClr val="1812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572000" y="2328368"/>
            <a:ext cx="35000" cy="690000"/>
          </a:xfrm>
          <a:prstGeom prst="rect">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627000" y="2383368"/>
            <a:ext cx="914400" cy="260000"/>
          </a:xfrm>
          <a:prstGeom prst="rect">
            <a:avLst/>
          </a:prstGeom>
          <a:noFill/>
        </p:spPr>
        <p:txBody>
          <a:bodyPr wrap="none">
            <a:spAutoFit/>
          </a:bodyPr>
          <a:lstStyle/>
          <a:p>
            <a:pPr algn="l"/>
            <a:r>
              <a:rPr sz="850" b="1">
                <a:solidFill>
                  <a:srgbClr val="22AA44"/>
                </a:solidFill>
                <a:latin typeface="メイリオ"/>
              </a:rPr>
              <a:t>スイカ</a:t>
            </a:r>
          </a:p>
        </p:txBody>
      </p:sp>
      <p:sp>
        <p:nvSpPr>
          <p:cNvPr id="41" name="TextBox 40"/>
          <p:cNvSpPr txBox="1"/>
          <p:nvPr/>
        </p:nvSpPr>
        <p:spPr>
          <a:xfrm>
            <a:off x="5541400" y="2388368"/>
            <a:ext cx="731520" cy="240000"/>
          </a:xfrm>
          <a:prstGeom prst="rect">
            <a:avLst/>
          </a:prstGeom>
          <a:noFill/>
        </p:spPr>
        <p:txBody>
          <a:bodyPr wrap="none">
            <a:spAutoFit/>
          </a:bodyPr>
          <a:lstStyle/>
          <a:p>
            <a:pPr algn="l"/>
            <a:r>
              <a:rPr sz="800" b="1">
                <a:solidFill>
                  <a:srgbClr val="FFDD44"/>
                </a:solidFill>
                <a:latin typeface="メイリオ"/>
              </a:rPr>
              <a:t>約1/100</a:t>
            </a:r>
          </a:p>
        </p:txBody>
      </p:sp>
      <p:sp>
        <p:nvSpPr>
          <p:cNvPr id="42" name="TextBox 41"/>
          <p:cNvSpPr txBox="1"/>
          <p:nvPr/>
        </p:nvSpPr>
        <p:spPr>
          <a:xfrm>
            <a:off x="4627000" y="2638368"/>
            <a:ext cx="3749040" cy="320000"/>
          </a:xfrm>
          <a:prstGeom prst="rect">
            <a:avLst/>
          </a:prstGeom>
          <a:noFill/>
        </p:spPr>
        <p:txBody>
          <a:bodyPr wrap="square">
            <a:spAutoFit/>
          </a:bodyPr>
          <a:lstStyle/>
          <a:p>
            <a:pPr algn="l"/>
            <a:r>
              <a:rPr sz="750" b="0">
                <a:solidFill>
                  <a:srgbClr val="F0ECE0"/>
                </a:solidFill>
                <a:latin typeface="メイリオ"/>
              </a:rPr>
              <a:t>カムラPT大量加算・AT直撃抽選</a:t>
            </a:r>
          </a:p>
        </p:txBody>
      </p:sp>
      <p:sp>
        <p:nvSpPr>
          <p:cNvPr id="43" name="Rectangle 42"/>
          <p:cNvSpPr/>
          <p:nvPr/>
        </p:nvSpPr>
        <p:spPr>
          <a:xfrm>
            <a:off x="4572000" y="3018368"/>
            <a:ext cx="4297680" cy="690000"/>
          </a:xfrm>
          <a:prstGeom prst="rect">
            <a:avLst/>
          </a:prstGeom>
          <a:solidFill>
            <a:srgbClr val="1410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572000" y="3018368"/>
            <a:ext cx="35000" cy="690000"/>
          </a:xfrm>
          <a:prstGeom prst="rect">
            <a:avLst/>
          </a:prstGeom>
          <a:solidFill>
            <a:srgbClr val="FF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627000" y="3073368"/>
            <a:ext cx="914400" cy="260000"/>
          </a:xfrm>
          <a:prstGeom prst="rect">
            <a:avLst/>
          </a:prstGeom>
          <a:noFill/>
        </p:spPr>
        <p:txBody>
          <a:bodyPr wrap="none">
            <a:spAutoFit/>
          </a:bodyPr>
          <a:lstStyle/>
          <a:p>
            <a:pPr algn="l"/>
            <a:r>
              <a:rPr sz="850" b="1">
                <a:solidFill>
                  <a:srgbClr val="FF8800"/>
                </a:solidFill>
                <a:latin typeface="メイリオ"/>
              </a:rPr>
              <a:t>チャンス目</a:t>
            </a:r>
          </a:p>
        </p:txBody>
      </p:sp>
      <p:sp>
        <p:nvSpPr>
          <p:cNvPr id="46" name="TextBox 45"/>
          <p:cNvSpPr txBox="1"/>
          <p:nvPr/>
        </p:nvSpPr>
        <p:spPr>
          <a:xfrm>
            <a:off x="5541400" y="3078368"/>
            <a:ext cx="731520" cy="240000"/>
          </a:xfrm>
          <a:prstGeom prst="rect">
            <a:avLst/>
          </a:prstGeom>
          <a:noFill/>
        </p:spPr>
        <p:txBody>
          <a:bodyPr wrap="none">
            <a:spAutoFit/>
          </a:bodyPr>
          <a:lstStyle/>
          <a:p>
            <a:pPr algn="l"/>
            <a:r>
              <a:rPr sz="800" b="1">
                <a:solidFill>
                  <a:srgbClr val="FFDD44"/>
                </a:solidFill>
                <a:latin typeface="メイリオ"/>
              </a:rPr>
              <a:t>約1/100</a:t>
            </a:r>
          </a:p>
        </p:txBody>
      </p:sp>
      <p:sp>
        <p:nvSpPr>
          <p:cNvPr id="47" name="TextBox 46"/>
          <p:cNvSpPr txBox="1"/>
          <p:nvPr/>
        </p:nvSpPr>
        <p:spPr>
          <a:xfrm>
            <a:off x="4627000" y="3328368"/>
            <a:ext cx="3749040" cy="320000"/>
          </a:xfrm>
          <a:prstGeom prst="rect">
            <a:avLst/>
          </a:prstGeom>
          <a:noFill/>
        </p:spPr>
        <p:txBody>
          <a:bodyPr wrap="square">
            <a:spAutoFit/>
          </a:bodyPr>
          <a:lstStyle/>
          <a:p>
            <a:pPr algn="l"/>
            <a:r>
              <a:rPr sz="750" b="0">
                <a:solidFill>
                  <a:srgbClr val="F0ECE0"/>
                </a:solidFill>
                <a:latin typeface="メイリオ"/>
              </a:rPr>
              <a:t>AT直撃・百竜夜行突入の抽選対象</a:t>
            </a:r>
          </a:p>
        </p:txBody>
      </p:sp>
      <p:sp>
        <p:nvSpPr>
          <p:cNvPr id="48" name="Rectangle 47"/>
          <p:cNvSpPr/>
          <p:nvPr/>
        </p:nvSpPr>
        <p:spPr>
          <a:xfrm>
            <a:off x="4572000" y="3708368"/>
            <a:ext cx="4297680" cy="690000"/>
          </a:xfrm>
          <a:prstGeom prst="rect">
            <a:avLst/>
          </a:prstGeom>
          <a:solidFill>
            <a:srgbClr val="1812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72000" y="3708368"/>
            <a:ext cx="35000" cy="690000"/>
          </a:xfrm>
          <a:prstGeom prst="rect">
            <a:avLst/>
          </a:prstGeom>
          <a:solidFill>
            <a:srgbClr val="FFD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627000" y="3763368"/>
            <a:ext cx="914400" cy="260000"/>
          </a:xfrm>
          <a:prstGeom prst="rect">
            <a:avLst/>
          </a:prstGeom>
          <a:noFill/>
        </p:spPr>
        <p:txBody>
          <a:bodyPr wrap="none">
            <a:spAutoFit/>
          </a:bodyPr>
          <a:lstStyle/>
          <a:p>
            <a:pPr algn="l"/>
            <a:r>
              <a:rPr sz="850" b="1">
                <a:solidFill>
                  <a:srgbClr val="FFDD44"/>
                </a:solidFill>
                <a:latin typeface="メイリオ"/>
              </a:rPr>
              <a:t>強チェリー</a:t>
            </a:r>
          </a:p>
        </p:txBody>
      </p:sp>
      <p:sp>
        <p:nvSpPr>
          <p:cNvPr id="51" name="TextBox 50"/>
          <p:cNvSpPr txBox="1"/>
          <p:nvPr/>
        </p:nvSpPr>
        <p:spPr>
          <a:xfrm>
            <a:off x="5541400" y="3768368"/>
            <a:ext cx="731520" cy="240000"/>
          </a:xfrm>
          <a:prstGeom prst="rect">
            <a:avLst/>
          </a:prstGeom>
          <a:noFill/>
        </p:spPr>
        <p:txBody>
          <a:bodyPr wrap="none">
            <a:spAutoFit/>
          </a:bodyPr>
          <a:lstStyle/>
          <a:p>
            <a:pPr algn="l"/>
            <a:r>
              <a:rPr sz="800" b="1">
                <a:solidFill>
                  <a:srgbClr val="FFDD44"/>
                </a:solidFill>
                <a:latin typeface="メイリオ"/>
              </a:rPr>
              <a:t>約1/200</a:t>
            </a:r>
          </a:p>
        </p:txBody>
      </p:sp>
      <p:sp>
        <p:nvSpPr>
          <p:cNvPr id="52" name="TextBox 51"/>
          <p:cNvSpPr txBox="1"/>
          <p:nvPr/>
        </p:nvSpPr>
        <p:spPr>
          <a:xfrm>
            <a:off x="4627000" y="4018368"/>
            <a:ext cx="3749040" cy="320000"/>
          </a:xfrm>
          <a:prstGeom prst="rect">
            <a:avLst/>
          </a:prstGeom>
          <a:noFill/>
        </p:spPr>
        <p:txBody>
          <a:bodyPr wrap="square">
            <a:spAutoFit/>
          </a:bodyPr>
          <a:lstStyle/>
          <a:p>
            <a:pPr algn="l"/>
            <a:r>
              <a:rPr sz="750" b="0">
                <a:solidFill>
                  <a:srgbClr val="F0ECE0"/>
                </a:solidFill>
                <a:latin typeface="メイリオ"/>
              </a:rPr>
              <a:t>高期待度・百竜夜行直撃の主要役</a:t>
            </a:r>
          </a:p>
        </p:txBody>
      </p:sp>
      <p:sp>
        <p:nvSpPr>
          <p:cNvPr id="53" name="Rectangle 52"/>
          <p:cNvSpPr/>
          <p:nvPr/>
        </p:nvSpPr>
        <p:spPr>
          <a:xfrm>
            <a:off x="4572000" y="4398368"/>
            <a:ext cx="4297680" cy="690000"/>
          </a:xfrm>
          <a:prstGeom prst="rect">
            <a:avLst/>
          </a:prstGeom>
          <a:solidFill>
            <a:srgbClr val="1410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572000" y="4398368"/>
            <a:ext cx="35000" cy="690000"/>
          </a:xfrm>
          <a:prstGeom prst="rect">
            <a:avLst/>
          </a:prstGeom>
          <a:solidFill>
            <a:srgbClr val="CCA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627000" y="4453368"/>
            <a:ext cx="914400" cy="260000"/>
          </a:xfrm>
          <a:prstGeom prst="rect">
            <a:avLst/>
          </a:prstGeom>
          <a:noFill/>
        </p:spPr>
        <p:txBody>
          <a:bodyPr wrap="none">
            <a:spAutoFit/>
          </a:bodyPr>
          <a:lstStyle/>
          <a:p>
            <a:pPr algn="l"/>
            <a:r>
              <a:rPr sz="850" b="1">
                <a:solidFill>
                  <a:srgbClr val="CCAA22"/>
                </a:solidFill>
                <a:latin typeface="メイリオ"/>
              </a:rPr>
              <a:t>ロングフリーズ</a:t>
            </a:r>
          </a:p>
        </p:txBody>
      </p:sp>
      <p:sp>
        <p:nvSpPr>
          <p:cNvPr id="56" name="TextBox 55"/>
          <p:cNvSpPr txBox="1"/>
          <p:nvPr/>
        </p:nvSpPr>
        <p:spPr>
          <a:xfrm>
            <a:off x="5541400" y="4458368"/>
            <a:ext cx="731520" cy="240000"/>
          </a:xfrm>
          <a:prstGeom prst="rect">
            <a:avLst/>
          </a:prstGeom>
          <a:noFill/>
        </p:spPr>
        <p:txBody>
          <a:bodyPr wrap="none">
            <a:spAutoFit/>
          </a:bodyPr>
          <a:lstStyle/>
          <a:p>
            <a:pPr algn="l"/>
            <a:r>
              <a:rPr sz="800" b="1">
                <a:solidFill>
                  <a:srgbClr val="FFDD44"/>
                </a:solidFill>
                <a:latin typeface="メイリオ"/>
              </a:rPr>
              <a:t>激レア</a:t>
            </a:r>
          </a:p>
        </p:txBody>
      </p:sp>
      <p:sp>
        <p:nvSpPr>
          <p:cNvPr id="57" name="TextBox 56"/>
          <p:cNvSpPr txBox="1"/>
          <p:nvPr/>
        </p:nvSpPr>
        <p:spPr>
          <a:xfrm>
            <a:off x="4627000" y="4708368"/>
            <a:ext cx="3749040" cy="320000"/>
          </a:xfrm>
          <a:prstGeom prst="rect">
            <a:avLst/>
          </a:prstGeom>
          <a:noFill/>
        </p:spPr>
        <p:txBody>
          <a:bodyPr wrap="square">
            <a:spAutoFit/>
          </a:bodyPr>
          <a:lstStyle/>
          <a:p>
            <a:pPr algn="l"/>
            <a:r>
              <a:rPr sz="750" b="0">
                <a:solidFill>
                  <a:srgbClr val="F0ECE0"/>
                </a:solidFill>
                <a:latin typeface="メイリオ"/>
              </a:rPr>
              <a:t>設定6濃厚・大量上乗せ確定演出</a:t>
            </a:r>
          </a:p>
        </p:txBody>
      </p:sp>
      <p:sp>
        <p:nvSpPr>
          <p:cNvPr id="58" name="Rectangle 57"/>
          <p:cNvSpPr/>
          <p:nvPr/>
        </p:nvSpPr>
        <p:spPr>
          <a:xfrm>
            <a:off x="4572000" y="5098368"/>
            <a:ext cx="4297680" cy="550000"/>
          </a:xfrm>
          <a:prstGeom prst="rect">
            <a:avLst/>
          </a:prstGeom>
          <a:solidFill>
            <a:srgbClr val="20180A"/>
          </a:solidFill>
          <a:ln w="19050">
            <a:solidFill>
              <a:srgbClr val="22A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32000" y="5148368"/>
            <a:ext cx="4217680" cy="200000"/>
          </a:xfrm>
          <a:prstGeom prst="rect">
            <a:avLst/>
          </a:prstGeom>
          <a:noFill/>
        </p:spPr>
        <p:txBody>
          <a:bodyPr wrap="square">
            <a:spAutoFit/>
          </a:bodyPr>
          <a:lstStyle/>
          <a:p>
            <a:pPr algn="l"/>
            <a:r>
              <a:rPr sz="850" b="1">
                <a:solidFill>
                  <a:srgbClr val="22AA44"/>
                </a:solidFill>
                <a:latin typeface="メイリオ"/>
              </a:rPr>
              <a:t>打ち方：通常時は順押し推奨。レア役を取りこぼさない打順を徹底</a:t>
            </a:r>
          </a:p>
        </p:txBody>
      </p:sp>
      <p:sp>
        <p:nvSpPr>
          <p:cNvPr id="60" name="TextBox 59"/>
          <p:cNvSpPr txBox="1"/>
          <p:nvPr/>
        </p:nvSpPr>
        <p:spPr>
          <a:xfrm>
            <a:off x="4632000" y="5358368"/>
            <a:ext cx="4217680" cy="280000"/>
          </a:xfrm>
          <a:prstGeom prst="rect">
            <a:avLst/>
          </a:prstGeom>
          <a:noFill/>
        </p:spPr>
        <p:txBody>
          <a:bodyPr wrap="square">
            <a:spAutoFit/>
          </a:bodyPr>
          <a:lstStyle/>
          <a:p>
            <a:pPr algn="l"/>
            <a:r>
              <a:rPr sz="750" b="0">
                <a:solidFill>
                  <a:srgbClr val="999080"/>
                </a:solidFill>
                <a:latin typeface="メイリオ"/>
              </a:rPr>
              <a:t>カムラポイントのゲージはモンハンの「猟団レベル」的な位置づけ。蓄積感が継続動機になる。</a:t>
            </a:r>
          </a:p>
        </p:txBody>
      </p:sp>
      <p:sp>
        <p:nvSpPr>
          <p:cNvPr id="61" name="TextBox 60"/>
          <p:cNvSpPr txBox="1"/>
          <p:nvPr/>
        </p:nvSpPr>
        <p:spPr>
          <a:xfrm>
            <a:off x="6675120" y="4919472"/>
            <a:ext cx="2377440" cy="180000"/>
          </a:xfrm>
          <a:prstGeom prst="rect">
            <a:avLst/>
          </a:prstGeom>
          <a:noFill/>
        </p:spPr>
        <p:txBody>
          <a:bodyPr wrap="square">
            <a:spAutoFit/>
          </a:bodyPr>
          <a:lstStyle/>
          <a:p>
            <a:pPr algn="r"/>
            <a:r>
              <a:rPr sz="650" b="0">
                <a:solidFill>
                  <a:srgbClr val="999080"/>
                </a:solidFill>
                <a:latin typeface="メイリオ"/>
              </a:rPr>
              <a:t>※ネット解析情報より（ちょんぼりすた・なな徹・一撃・pachiseven）</a:t>
            </a:r>
          </a:p>
        </p:txBody>
      </p:sp>
      <p:sp>
        <p:nvSpPr>
          <p:cNvPr id="62" name="Rectangle 61"/>
          <p:cNvSpPr/>
          <p:nvPr/>
        </p:nvSpPr>
        <p:spPr>
          <a:xfrm>
            <a:off x="0" y="4645152"/>
            <a:ext cx="9144000" cy="498348"/>
          </a:xfrm>
          <a:prstGeom prst="rect">
            <a:avLst/>
          </a:prstGeom>
          <a:solidFill>
            <a:srgbClr val="100C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0" y="4645152"/>
            <a:ext cx="20000" cy="498348"/>
          </a:xfrm>
          <a:prstGeom prst="rect">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64592" y="4685152"/>
            <a:ext cx="5029200" cy="340000"/>
          </a:xfrm>
          <a:prstGeom prst="rect">
            <a:avLst/>
          </a:prstGeom>
          <a:noFill/>
        </p:spPr>
        <p:txBody>
          <a:bodyPr wrap="square">
            <a:spAutoFit/>
          </a:bodyPr>
          <a:lstStyle/>
          <a:p>
            <a:pPr algn="l"/>
            <a:r>
              <a:rPr sz="750" b="1">
                <a:solidFill>
                  <a:srgbClr val="FF8800"/>
                </a:solidFill>
                <a:latin typeface="メイリオ"/>
              </a:rPr>
              <a:t>通常時の核心：カムラポイントという「蓄積感×目標感」がモンハンのクエスト受注体験をスロットで再現する</a:t>
            </a:r>
          </a:p>
        </p:txBody>
      </p:sp>
      <p:sp>
        <p:nvSpPr>
          <p:cNvPr id="65" name="TextBox 64"/>
          <p:cNvSpPr txBox="1"/>
          <p:nvPr/>
        </p:nvSpPr>
        <p:spPr>
          <a:xfrm>
            <a:off x="5303520" y="4685152"/>
            <a:ext cx="3657600" cy="340000"/>
          </a:xfrm>
          <a:prstGeom prst="rect">
            <a:avLst/>
          </a:prstGeom>
          <a:noFill/>
        </p:spPr>
        <p:txBody>
          <a:bodyPr wrap="square">
            <a:spAutoFit/>
          </a:bodyPr>
          <a:lstStyle/>
          <a:p>
            <a:pPr algn="r"/>
            <a:r>
              <a:rPr sz="700" b="0">
                <a:solidFill>
                  <a:srgbClr val="999080"/>
                </a:solidFill>
                <a:latin typeface="メイリオ"/>
              </a:rPr>
              <a:t>リプレイ規定天井（最大5セット）は立ち回り計画の明確な指標。残セット数管理が重要</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1812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400" b="1">
                <a:solidFill>
                  <a:srgbClr val="FF8800"/>
                </a:solidFill>
                <a:latin typeface="游明朝"/>
              </a:rPr>
              <a:t>CZ/前兆の仕組み ── アイルーだるま落とし×百竜夜行×狩猟要素</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999080"/>
                </a:solidFill>
                <a:latin typeface="メイリオ"/>
              </a:rPr>
              <a:t>4/9</a:t>
            </a:r>
          </a:p>
        </p:txBody>
      </p:sp>
      <p:sp>
        <p:nvSpPr>
          <p:cNvPr id="7" name="Rectangle 6"/>
          <p:cNvSpPr/>
          <p:nvPr/>
        </p:nvSpPr>
        <p:spPr>
          <a:xfrm>
            <a:off x="0" y="530352"/>
            <a:ext cx="9144000" cy="7000"/>
          </a:xfrm>
          <a:prstGeom prst="rect">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658368"/>
            <a:ext cx="4114800" cy="260000"/>
          </a:xfrm>
          <a:prstGeom prst="rect">
            <a:avLst/>
          </a:prstGeom>
          <a:solidFill>
            <a:srgbClr val="184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6032" y="713368"/>
            <a:ext cx="4034800" cy="200000"/>
          </a:xfrm>
          <a:prstGeom prst="rect">
            <a:avLst/>
          </a:prstGeom>
          <a:noFill/>
        </p:spPr>
        <p:txBody>
          <a:bodyPr wrap="square">
            <a:spAutoFit/>
          </a:bodyPr>
          <a:lstStyle/>
          <a:p>
            <a:pPr algn="l"/>
            <a:r>
              <a:rPr sz="1000" b="1">
                <a:solidFill>
                  <a:srgbClr val="22AA44"/>
                </a:solidFill>
                <a:latin typeface="メイリオ"/>
              </a:rPr>
              <a:t>メインCZ「アイルーだるま落とし」の仕組み</a:t>
            </a:r>
          </a:p>
        </p:txBody>
      </p:sp>
      <p:sp>
        <p:nvSpPr>
          <p:cNvPr id="10" name="Rectangle 9"/>
          <p:cNvSpPr/>
          <p:nvPr/>
        </p:nvSpPr>
        <p:spPr>
          <a:xfrm>
            <a:off x="256032" y="918368"/>
            <a:ext cx="4114800" cy="1250000"/>
          </a:xfrm>
          <a:prstGeom prst="rect">
            <a:avLst/>
          </a:prstGeom>
          <a:solidFill>
            <a:srgbClr val="181208"/>
          </a:solidFill>
          <a:ln w="19050">
            <a:solidFill>
              <a:srgbClr val="188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6032" y="918368"/>
            <a:ext cx="45000" cy="1250000"/>
          </a:xfrm>
          <a:prstGeom prst="rect">
            <a:avLst/>
          </a:prstGeom>
          <a:solidFill>
            <a:srgbClr val="188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1032" y="968368"/>
            <a:ext cx="4014800" cy="270000"/>
          </a:xfrm>
          <a:prstGeom prst="rect">
            <a:avLst/>
          </a:prstGeom>
          <a:noFill/>
        </p:spPr>
        <p:txBody>
          <a:bodyPr wrap="square">
            <a:spAutoFit/>
          </a:bodyPr>
          <a:lstStyle/>
          <a:p>
            <a:pPr algn="l"/>
            <a:r>
              <a:rPr sz="900" b="1">
                <a:solidFill>
                  <a:srgbClr val="188030"/>
                </a:solidFill>
                <a:latin typeface="メイリオ"/>
              </a:rPr>
              <a:t>突入条件</a:t>
            </a:r>
          </a:p>
        </p:txBody>
      </p:sp>
      <p:sp>
        <p:nvSpPr>
          <p:cNvPr id="13" name="TextBox 12"/>
          <p:cNvSpPr txBox="1"/>
          <p:nvPr/>
        </p:nvSpPr>
        <p:spPr>
          <a:xfrm>
            <a:off x="331032" y="1248368"/>
            <a:ext cx="4014800" cy="780000"/>
          </a:xfrm>
          <a:prstGeom prst="rect">
            <a:avLst/>
          </a:prstGeom>
          <a:noFill/>
        </p:spPr>
        <p:txBody>
          <a:bodyPr wrap="square">
            <a:spAutoFit/>
          </a:bodyPr>
          <a:lstStyle/>
          <a:p>
            <a:pPr algn="l"/>
            <a:r>
              <a:rPr sz="800" b="0">
                <a:solidFill>
                  <a:srgbClr val="F0ECE0"/>
                </a:solidFill>
                <a:latin typeface="メイリオ"/>
              </a:rPr>
              <a:t>リプレイが規定回数（1セット40回）成立で突入。
セット数が増えるほど期待度アップ。
5セット目（累計200回）で必ずCZ当選（天井）。</a:t>
            </a:r>
          </a:p>
        </p:txBody>
      </p:sp>
      <p:sp>
        <p:nvSpPr>
          <p:cNvPr id="14" name="Rectangle 13"/>
          <p:cNvSpPr/>
          <p:nvPr/>
        </p:nvSpPr>
        <p:spPr>
          <a:xfrm>
            <a:off x="256032" y="2238368"/>
            <a:ext cx="4114800" cy="1250000"/>
          </a:xfrm>
          <a:prstGeom prst="rect">
            <a:avLst/>
          </a:prstGeom>
          <a:solidFill>
            <a:srgbClr val="181208"/>
          </a:solidFill>
          <a:ln w="19050">
            <a:solidFill>
              <a:srgbClr val="22A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6032" y="2238368"/>
            <a:ext cx="45000" cy="1250000"/>
          </a:xfrm>
          <a:prstGeom prst="rect">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1032" y="2288368"/>
            <a:ext cx="4014800" cy="270000"/>
          </a:xfrm>
          <a:prstGeom prst="rect">
            <a:avLst/>
          </a:prstGeom>
          <a:noFill/>
        </p:spPr>
        <p:txBody>
          <a:bodyPr wrap="square">
            <a:spAutoFit/>
          </a:bodyPr>
          <a:lstStyle/>
          <a:p>
            <a:pPr algn="l"/>
            <a:r>
              <a:rPr sz="900" b="1">
                <a:solidFill>
                  <a:srgbClr val="22AA44"/>
                </a:solidFill>
                <a:latin typeface="メイリオ"/>
              </a:rPr>
              <a:t>CZ内容・ゲーム性</a:t>
            </a:r>
          </a:p>
        </p:txBody>
      </p:sp>
      <p:sp>
        <p:nvSpPr>
          <p:cNvPr id="17" name="TextBox 16"/>
          <p:cNvSpPr txBox="1"/>
          <p:nvPr/>
        </p:nvSpPr>
        <p:spPr>
          <a:xfrm>
            <a:off x="331032" y="2568368"/>
            <a:ext cx="4014800" cy="780000"/>
          </a:xfrm>
          <a:prstGeom prst="rect">
            <a:avLst/>
          </a:prstGeom>
          <a:noFill/>
        </p:spPr>
        <p:txBody>
          <a:bodyPr wrap="square">
            <a:spAutoFit/>
          </a:bodyPr>
          <a:lstStyle/>
          <a:p>
            <a:pPr algn="l"/>
            <a:r>
              <a:rPr sz="800" b="0">
                <a:solidFill>
                  <a:srgbClr val="F0ECE0"/>
                </a:solidFill>
                <a:latin typeface="メイリオ"/>
              </a:rPr>
              <a:t>アイルーキャラが積み上がるビジュアル演出。
成功/失敗は演出展開で徐々に告知される。
モンハンシリーズのマスコット・アイルーを主役にした
ファン心理をくすぐるCZ設計。</a:t>
            </a:r>
          </a:p>
        </p:txBody>
      </p:sp>
      <p:sp>
        <p:nvSpPr>
          <p:cNvPr id="18" name="Rectangle 17"/>
          <p:cNvSpPr/>
          <p:nvPr/>
        </p:nvSpPr>
        <p:spPr>
          <a:xfrm>
            <a:off x="256032" y="3558368"/>
            <a:ext cx="4114800" cy="1250000"/>
          </a:xfrm>
          <a:prstGeom prst="rect">
            <a:avLst/>
          </a:prstGeom>
          <a:solidFill>
            <a:srgbClr val="181208"/>
          </a:solidFill>
          <a:ln w="1905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6032" y="3558368"/>
            <a:ext cx="45000" cy="1250000"/>
          </a:xfrm>
          <a:prstGeom prst="rect">
            <a:avLst/>
          </a:prstGeom>
          <a:solidFill>
            <a:srgbClr val="FF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1032" y="3608368"/>
            <a:ext cx="4014800" cy="270000"/>
          </a:xfrm>
          <a:prstGeom prst="rect">
            <a:avLst/>
          </a:prstGeom>
          <a:noFill/>
        </p:spPr>
        <p:txBody>
          <a:bodyPr wrap="square">
            <a:spAutoFit/>
          </a:bodyPr>
          <a:lstStyle/>
          <a:p>
            <a:pPr algn="l"/>
            <a:r>
              <a:rPr sz="900" b="1">
                <a:solidFill>
                  <a:srgbClr val="FF8800"/>
                </a:solidFill>
                <a:latin typeface="メイリオ"/>
              </a:rPr>
              <a:t>成功時の恩恵</a:t>
            </a:r>
          </a:p>
        </p:txBody>
      </p:sp>
      <p:sp>
        <p:nvSpPr>
          <p:cNvPr id="21" name="TextBox 20"/>
          <p:cNvSpPr txBox="1"/>
          <p:nvPr/>
        </p:nvSpPr>
        <p:spPr>
          <a:xfrm>
            <a:off x="331032" y="3888368"/>
            <a:ext cx="4014800" cy="780000"/>
          </a:xfrm>
          <a:prstGeom prst="rect">
            <a:avLst/>
          </a:prstGeom>
          <a:noFill/>
        </p:spPr>
        <p:txBody>
          <a:bodyPr wrap="square">
            <a:spAutoFit/>
          </a:bodyPr>
          <a:lstStyle/>
          <a:p>
            <a:pPr algn="l"/>
            <a:r>
              <a:rPr sz="800" b="0">
                <a:solidFill>
                  <a:srgbClr val="F0ECE0"/>
                </a:solidFill>
                <a:latin typeface="メイリオ"/>
              </a:rPr>
              <a:t>成功→狩猟ボーナス（AT）突入確定。
演出発展次第で大連続ボーナス（複数セット確定）も。
百竜夜行（上位CZ）へ昇格することもある。</a:t>
            </a:r>
          </a:p>
        </p:txBody>
      </p:sp>
      <p:sp>
        <p:nvSpPr>
          <p:cNvPr id="22" name="Rectangle 21"/>
          <p:cNvSpPr/>
          <p:nvPr/>
        </p:nvSpPr>
        <p:spPr>
          <a:xfrm>
            <a:off x="4572000" y="658368"/>
            <a:ext cx="4297680" cy="260000"/>
          </a:xfrm>
          <a:prstGeom prst="rect">
            <a:avLst/>
          </a:prstGeom>
          <a:solidFill>
            <a:srgbClr val="503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32000" y="713368"/>
            <a:ext cx="4217680" cy="200000"/>
          </a:xfrm>
          <a:prstGeom prst="rect">
            <a:avLst/>
          </a:prstGeom>
          <a:noFill/>
        </p:spPr>
        <p:txBody>
          <a:bodyPr wrap="square">
            <a:spAutoFit/>
          </a:bodyPr>
          <a:lstStyle/>
          <a:p>
            <a:pPr algn="l"/>
            <a:r>
              <a:rPr sz="1000" b="1">
                <a:solidFill>
                  <a:srgbClr val="CCAA22"/>
                </a:solidFill>
                <a:latin typeface="メイリオ"/>
              </a:rPr>
              <a:t>上位CZ「百竜夜行」── 12G継続・成功率約70%</a:t>
            </a:r>
          </a:p>
        </p:txBody>
      </p:sp>
      <p:sp>
        <p:nvSpPr>
          <p:cNvPr id="24" name="Rectangle 23"/>
          <p:cNvSpPr/>
          <p:nvPr/>
        </p:nvSpPr>
        <p:spPr>
          <a:xfrm>
            <a:off x="4572000" y="918368"/>
            <a:ext cx="4297680" cy="1250000"/>
          </a:xfrm>
          <a:prstGeom prst="rect">
            <a:avLst/>
          </a:prstGeom>
          <a:solidFill>
            <a:srgbClr val="181208"/>
          </a:solidFill>
          <a:ln w="19050">
            <a:solidFill>
              <a:srgbClr val="FFDD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0" y="918368"/>
            <a:ext cx="45000" cy="1250000"/>
          </a:xfrm>
          <a:prstGeom prst="rect">
            <a:avLst/>
          </a:prstGeom>
          <a:solidFill>
            <a:srgbClr val="FFD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47000" y="968368"/>
            <a:ext cx="4197680" cy="270000"/>
          </a:xfrm>
          <a:prstGeom prst="rect">
            <a:avLst/>
          </a:prstGeom>
          <a:noFill/>
        </p:spPr>
        <p:txBody>
          <a:bodyPr wrap="square">
            <a:spAutoFit/>
          </a:bodyPr>
          <a:lstStyle/>
          <a:p>
            <a:pPr algn="l"/>
            <a:r>
              <a:rPr sz="900" b="1">
                <a:solidFill>
                  <a:srgbClr val="FFDD44"/>
                </a:solidFill>
                <a:latin typeface="メイリオ"/>
              </a:rPr>
              <a:t>突入条件</a:t>
            </a:r>
          </a:p>
        </p:txBody>
      </p:sp>
      <p:sp>
        <p:nvSpPr>
          <p:cNvPr id="27" name="TextBox 26"/>
          <p:cNvSpPr txBox="1"/>
          <p:nvPr/>
        </p:nvSpPr>
        <p:spPr>
          <a:xfrm>
            <a:off x="4647000" y="1248368"/>
            <a:ext cx="4197680" cy="780000"/>
          </a:xfrm>
          <a:prstGeom prst="rect">
            <a:avLst/>
          </a:prstGeom>
          <a:noFill/>
        </p:spPr>
        <p:txBody>
          <a:bodyPr wrap="square">
            <a:spAutoFit/>
          </a:bodyPr>
          <a:lstStyle/>
          <a:p>
            <a:pPr algn="l"/>
            <a:r>
              <a:rPr sz="800" b="0">
                <a:solidFill>
                  <a:srgbClr val="F0ECE0"/>
                </a:solidFill>
                <a:latin typeface="メイリオ"/>
              </a:rPr>
              <a:t>レア役・特定条件・アイルーCZ経由で昇格。
百竜夜行は「百体の龍が押し寄せる」設定で
原作のビッグイベントをCZに昇華している。</a:t>
            </a:r>
          </a:p>
        </p:txBody>
      </p:sp>
      <p:sp>
        <p:nvSpPr>
          <p:cNvPr id="28" name="Rectangle 27"/>
          <p:cNvSpPr/>
          <p:nvPr/>
        </p:nvSpPr>
        <p:spPr>
          <a:xfrm>
            <a:off x="4572000" y="2238368"/>
            <a:ext cx="4297680" cy="1250000"/>
          </a:xfrm>
          <a:prstGeom prst="rect">
            <a:avLst/>
          </a:prstGeom>
          <a:solidFill>
            <a:srgbClr val="181208"/>
          </a:solidFill>
          <a:ln w="19050">
            <a:solidFill>
              <a:srgbClr val="CCAA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0" y="2238368"/>
            <a:ext cx="45000" cy="1250000"/>
          </a:xfrm>
          <a:prstGeom prst="rect">
            <a:avLst/>
          </a:prstGeom>
          <a:solidFill>
            <a:srgbClr val="CCA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47000" y="2288368"/>
            <a:ext cx="4197680" cy="270000"/>
          </a:xfrm>
          <a:prstGeom prst="rect">
            <a:avLst/>
          </a:prstGeom>
          <a:noFill/>
        </p:spPr>
        <p:txBody>
          <a:bodyPr wrap="square">
            <a:spAutoFit/>
          </a:bodyPr>
          <a:lstStyle/>
          <a:p>
            <a:pPr algn="l"/>
            <a:r>
              <a:rPr sz="900" b="1">
                <a:solidFill>
                  <a:srgbClr val="CCAA22"/>
                </a:solidFill>
                <a:latin typeface="メイリオ"/>
              </a:rPr>
              <a:t>ゲーム性・成功率</a:t>
            </a:r>
          </a:p>
        </p:txBody>
      </p:sp>
      <p:sp>
        <p:nvSpPr>
          <p:cNvPr id="31" name="TextBox 30"/>
          <p:cNvSpPr txBox="1"/>
          <p:nvPr/>
        </p:nvSpPr>
        <p:spPr>
          <a:xfrm>
            <a:off x="4647000" y="2568368"/>
            <a:ext cx="4197680" cy="780000"/>
          </a:xfrm>
          <a:prstGeom prst="rect">
            <a:avLst/>
          </a:prstGeom>
          <a:noFill/>
        </p:spPr>
        <p:txBody>
          <a:bodyPr wrap="square">
            <a:spAutoFit/>
          </a:bodyPr>
          <a:lstStyle/>
          <a:p>
            <a:pPr algn="l"/>
            <a:r>
              <a:rPr sz="800" b="0">
                <a:solidFill>
                  <a:srgbClr val="F0ECE0"/>
                </a:solidFill>
                <a:latin typeface="メイリオ"/>
              </a:rPr>
              <a:t>12G継続のバトル型CZ。
成功率は約70%と非常に高く、突入時点で期待度大。
突入時に50%で成功を内部抽選→継続Gで告知。</a:t>
            </a:r>
          </a:p>
        </p:txBody>
      </p:sp>
      <p:sp>
        <p:nvSpPr>
          <p:cNvPr id="32" name="Rectangle 31"/>
          <p:cNvSpPr/>
          <p:nvPr/>
        </p:nvSpPr>
        <p:spPr>
          <a:xfrm>
            <a:off x="4572000" y="3558368"/>
            <a:ext cx="4297680" cy="1250000"/>
          </a:xfrm>
          <a:prstGeom prst="rect">
            <a:avLst/>
          </a:prstGeom>
          <a:solidFill>
            <a:srgbClr val="181208"/>
          </a:solidFill>
          <a:ln w="1905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0" y="3558368"/>
            <a:ext cx="45000" cy="1250000"/>
          </a:xfrm>
          <a:prstGeom prst="rect">
            <a:avLst/>
          </a:prstGeom>
          <a:solidFill>
            <a:srgbClr val="FF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47000" y="3608368"/>
            <a:ext cx="4197680" cy="270000"/>
          </a:xfrm>
          <a:prstGeom prst="rect">
            <a:avLst/>
          </a:prstGeom>
          <a:noFill/>
        </p:spPr>
        <p:txBody>
          <a:bodyPr wrap="square">
            <a:spAutoFit/>
          </a:bodyPr>
          <a:lstStyle/>
          <a:p>
            <a:pPr algn="l"/>
            <a:r>
              <a:rPr sz="900" b="1">
                <a:solidFill>
                  <a:srgbClr val="FF8800"/>
                </a:solidFill>
                <a:latin typeface="メイリオ"/>
              </a:rPr>
              <a:t>成功時の恩恵（大連続ボーナス）</a:t>
            </a:r>
          </a:p>
        </p:txBody>
      </p:sp>
      <p:sp>
        <p:nvSpPr>
          <p:cNvPr id="35" name="TextBox 34"/>
          <p:cNvSpPr txBox="1"/>
          <p:nvPr/>
        </p:nvSpPr>
        <p:spPr>
          <a:xfrm>
            <a:off x="4647000" y="3888368"/>
            <a:ext cx="4197680" cy="780000"/>
          </a:xfrm>
          <a:prstGeom prst="rect">
            <a:avLst/>
          </a:prstGeom>
          <a:noFill/>
        </p:spPr>
        <p:txBody>
          <a:bodyPr wrap="square">
            <a:spAutoFit/>
          </a:bodyPr>
          <a:lstStyle/>
          <a:p>
            <a:pPr algn="l"/>
            <a:r>
              <a:rPr sz="800" b="0">
                <a:solidFill>
                  <a:srgbClr val="F0ECE0"/>
                </a:solidFill>
                <a:latin typeface="メイリオ"/>
              </a:rPr>
              <a:t>成功時は「大連続ボーナス」がほぼ確定。
複数の狩猟ボーナスが連続する大量獲得モード。
上位AT「気焔万丈」への入口ともなる重要CZ。</a:t>
            </a:r>
          </a:p>
        </p:txBody>
      </p:sp>
      <p:sp>
        <p:nvSpPr>
          <p:cNvPr id="36" name="TextBox 35"/>
          <p:cNvSpPr txBox="1"/>
          <p:nvPr/>
        </p:nvSpPr>
        <p:spPr>
          <a:xfrm>
            <a:off x="6675120" y="4919472"/>
            <a:ext cx="2377440" cy="180000"/>
          </a:xfrm>
          <a:prstGeom prst="rect">
            <a:avLst/>
          </a:prstGeom>
          <a:noFill/>
        </p:spPr>
        <p:txBody>
          <a:bodyPr wrap="square">
            <a:spAutoFit/>
          </a:bodyPr>
          <a:lstStyle/>
          <a:p>
            <a:pPr algn="r"/>
            <a:r>
              <a:rPr sz="650" b="0">
                <a:solidFill>
                  <a:srgbClr val="999080"/>
                </a:solidFill>
                <a:latin typeface="メイリオ"/>
              </a:rPr>
              <a:t>※ネット解析情報より（ちょんぼりすた・なな徹・一撃・pachiseven）</a:t>
            </a:r>
          </a:p>
        </p:txBody>
      </p:sp>
      <p:sp>
        <p:nvSpPr>
          <p:cNvPr id="37" name="Rectangle 36"/>
          <p:cNvSpPr/>
          <p:nvPr/>
        </p:nvSpPr>
        <p:spPr>
          <a:xfrm>
            <a:off x="0" y="4645152"/>
            <a:ext cx="9144000" cy="498348"/>
          </a:xfrm>
          <a:prstGeom prst="rect">
            <a:avLst/>
          </a:prstGeom>
          <a:solidFill>
            <a:srgbClr val="100C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4645152"/>
            <a:ext cx="20000" cy="498348"/>
          </a:xfrm>
          <a:prstGeom prst="rect">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64592" y="4685152"/>
            <a:ext cx="5029200" cy="340000"/>
          </a:xfrm>
          <a:prstGeom prst="rect">
            <a:avLst/>
          </a:prstGeom>
          <a:noFill/>
        </p:spPr>
        <p:txBody>
          <a:bodyPr wrap="square">
            <a:spAutoFit/>
          </a:bodyPr>
          <a:lstStyle/>
          <a:p>
            <a:pPr algn="l"/>
            <a:r>
              <a:rPr sz="750" b="1">
                <a:solidFill>
                  <a:srgbClr val="FF8800"/>
                </a:solidFill>
                <a:latin typeface="メイリオ"/>
              </a:rPr>
              <a:t>CZ設計の核心：メインCZ（アイルー）と上位CZ（百竜夜行）の2段構成で期待度の緩急と昇格サプライズを演出</a:t>
            </a:r>
          </a:p>
        </p:txBody>
      </p:sp>
      <p:sp>
        <p:nvSpPr>
          <p:cNvPr id="40" name="TextBox 39"/>
          <p:cNvSpPr txBox="1"/>
          <p:nvPr/>
        </p:nvSpPr>
        <p:spPr>
          <a:xfrm>
            <a:off x="5303520" y="4685152"/>
            <a:ext cx="3657600" cy="340000"/>
          </a:xfrm>
          <a:prstGeom prst="rect">
            <a:avLst/>
          </a:prstGeom>
          <a:noFill/>
        </p:spPr>
        <p:txBody>
          <a:bodyPr wrap="square">
            <a:spAutoFit/>
          </a:bodyPr>
          <a:lstStyle/>
          <a:p>
            <a:pPr algn="r"/>
            <a:r>
              <a:rPr sz="700" b="0">
                <a:solidFill>
                  <a:srgbClr val="999080"/>
                </a:solidFill>
                <a:latin typeface="メイリオ"/>
              </a:rPr>
              <a:t>百竜夜行の成功率70%は業界上位クラス。突入した時点で「当てた感覚」を与える心理設計</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1812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400" b="1">
                <a:solidFill>
                  <a:srgbClr val="FF8800"/>
                </a:solidFill>
                <a:latin typeface="游明朝"/>
              </a:rPr>
              <a:t>AT/ボーナス ── 狩猟ボーナスで出玉を伸ばす仕組み</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999080"/>
                </a:solidFill>
                <a:latin typeface="メイリオ"/>
              </a:rPr>
              <a:t>5/9</a:t>
            </a:r>
          </a:p>
        </p:txBody>
      </p:sp>
      <p:sp>
        <p:nvSpPr>
          <p:cNvPr id="7" name="Rectangle 6"/>
          <p:cNvSpPr/>
          <p:nvPr/>
        </p:nvSpPr>
        <p:spPr>
          <a:xfrm>
            <a:off x="0" y="530352"/>
            <a:ext cx="9144000" cy="7000"/>
          </a:xfrm>
          <a:prstGeom prst="rect">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658368"/>
            <a:ext cx="4160520" cy="260000"/>
          </a:xfrm>
          <a:prstGeom prst="rect">
            <a:avLst/>
          </a:prstGeom>
          <a:solidFill>
            <a:srgbClr val="184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6032" y="713368"/>
            <a:ext cx="4080520" cy="200000"/>
          </a:xfrm>
          <a:prstGeom prst="rect">
            <a:avLst/>
          </a:prstGeom>
          <a:noFill/>
        </p:spPr>
        <p:txBody>
          <a:bodyPr wrap="square">
            <a:spAutoFit/>
          </a:bodyPr>
          <a:lstStyle/>
          <a:p>
            <a:pPr algn="l"/>
            <a:r>
              <a:rPr sz="1000" b="1">
                <a:solidFill>
                  <a:srgbClr val="22AA44"/>
                </a:solidFill>
                <a:latin typeface="メイリオ"/>
              </a:rPr>
              <a:t>狩猟ボーナスの種類と純増・継続の仕組み</a:t>
            </a:r>
          </a:p>
        </p:txBody>
      </p:sp>
      <p:sp>
        <p:nvSpPr>
          <p:cNvPr id="10" name="Rectangle 9"/>
          <p:cNvSpPr/>
          <p:nvPr/>
        </p:nvSpPr>
        <p:spPr>
          <a:xfrm>
            <a:off x="256032" y="918368"/>
            <a:ext cx="4160520" cy="1210000"/>
          </a:xfrm>
          <a:prstGeom prst="rect">
            <a:avLst/>
          </a:prstGeom>
          <a:solidFill>
            <a:srgbClr val="181208"/>
          </a:solidFill>
          <a:ln w="2286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6032" y="918368"/>
            <a:ext cx="45000" cy="1210000"/>
          </a:xfrm>
          <a:prstGeom prst="rect">
            <a:avLst/>
          </a:prstGeom>
          <a:solidFill>
            <a:srgbClr val="FF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1032" y="968368"/>
            <a:ext cx="4060520" cy="260000"/>
          </a:xfrm>
          <a:prstGeom prst="rect">
            <a:avLst/>
          </a:prstGeom>
          <a:noFill/>
        </p:spPr>
        <p:txBody>
          <a:bodyPr wrap="square">
            <a:spAutoFit/>
          </a:bodyPr>
          <a:lstStyle/>
          <a:p>
            <a:pPr algn="l"/>
            <a:r>
              <a:rPr sz="950" b="1">
                <a:solidFill>
                  <a:srgbClr val="FF8800"/>
                </a:solidFill>
                <a:latin typeface="游明朝"/>
              </a:rPr>
              <a:t>赤7揃い（狩猟ボーナス）</a:t>
            </a:r>
          </a:p>
        </p:txBody>
      </p:sp>
      <p:sp>
        <p:nvSpPr>
          <p:cNvPr id="13" name="TextBox 12"/>
          <p:cNvSpPr txBox="1"/>
          <p:nvPr/>
        </p:nvSpPr>
        <p:spPr>
          <a:xfrm>
            <a:off x="331032" y="1248368"/>
            <a:ext cx="4060520" cy="770000"/>
          </a:xfrm>
          <a:prstGeom prst="rect">
            <a:avLst/>
          </a:prstGeom>
          <a:noFill/>
        </p:spPr>
        <p:txBody>
          <a:bodyPr wrap="square">
            <a:spAutoFit/>
          </a:bodyPr>
          <a:lstStyle/>
          <a:p>
            <a:pPr algn="l"/>
            <a:r>
              <a:rPr sz="800" b="0">
                <a:solidFill>
                  <a:srgbClr val="F0ECE0"/>
                </a:solidFill>
                <a:latin typeface="メイリオ"/>
              </a:rPr>
              <a:t>純増：約2.7枚/G  保障：40Gor50G
最もスタンダードな狩猟ボーナス。
消化中にモンスターと戦い討伐を目指す。
討伐成功→剥ぎ取りチャンス→次ボーナスへ。</a:t>
            </a:r>
          </a:p>
        </p:txBody>
      </p:sp>
      <p:sp>
        <p:nvSpPr>
          <p:cNvPr id="14" name="Rectangle 13"/>
          <p:cNvSpPr/>
          <p:nvPr/>
        </p:nvSpPr>
        <p:spPr>
          <a:xfrm>
            <a:off x="256032" y="2198368"/>
            <a:ext cx="4160520" cy="1210000"/>
          </a:xfrm>
          <a:prstGeom prst="rect">
            <a:avLst/>
          </a:prstGeom>
          <a:solidFill>
            <a:srgbClr val="181208"/>
          </a:solidFill>
          <a:ln w="22860">
            <a:solidFill>
              <a:srgbClr val="FFDD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6032" y="2198368"/>
            <a:ext cx="45000" cy="1210000"/>
          </a:xfrm>
          <a:prstGeom prst="rect">
            <a:avLst/>
          </a:prstGeom>
          <a:solidFill>
            <a:srgbClr val="FFD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1032" y="2248368"/>
            <a:ext cx="4060520" cy="260000"/>
          </a:xfrm>
          <a:prstGeom prst="rect">
            <a:avLst/>
          </a:prstGeom>
          <a:noFill/>
        </p:spPr>
        <p:txBody>
          <a:bodyPr wrap="square">
            <a:spAutoFit/>
          </a:bodyPr>
          <a:lstStyle/>
          <a:p>
            <a:pPr algn="l"/>
            <a:r>
              <a:rPr sz="950" b="1">
                <a:solidFill>
                  <a:srgbClr val="FFDD44"/>
                </a:solidFill>
                <a:latin typeface="游明朝"/>
              </a:rPr>
              <a:t>紫7揃い（狩猟ボーナス）</a:t>
            </a:r>
          </a:p>
        </p:txBody>
      </p:sp>
      <p:sp>
        <p:nvSpPr>
          <p:cNvPr id="17" name="TextBox 16"/>
          <p:cNvSpPr txBox="1"/>
          <p:nvPr/>
        </p:nvSpPr>
        <p:spPr>
          <a:xfrm>
            <a:off x="331032" y="2528368"/>
            <a:ext cx="4060520" cy="770000"/>
          </a:xfrm>
          <a:prstGeom prst="rect">
            <a:avLst/>
          </a:prstGeom>
          <a:noFill/>
        </p:spPr>
        <p:txBody>
          <a:bodyPr wrap="square">
            <a:spAutoFit/>
          </a:bodyPr>
          <a:lstStyle/>
          <a:p>
            <a:pPr algn="l"/>
            <a:r>
              <a:rPr sz="800" b="0">
                <a:solidFill>
                  <a:srgbClr val="F0ECE0"/>
                </a:solidFill>
                <a:latin typeface="メイリオ"/>
              </a:rPr>
              <a:t>純増：約4.0枚/G  保障：60Gor100G
高純増バージョン。保障Gも長く出玉効率◎。
上位AT「気焔万丈」と同様の純増を誇る。
引くだけで一段上の出玉スピードに突入。</a:t>
            </a:r>
          </a:p>
        </p:txBody>
      </p:sp>
      <p:sp>
        <p:nvSpPr>
          <p:cNvPr id="18" name="Rectangle 17"/>
          <p:cNvSpPr/>
          <p:nvPr/>
        </p:nvSpPr>
        <p:spPr>
          <a:xfrm>
            <a:off x="256032" y="3478368"/>
            <a:ext cx="4160520" cy="1210000"/>
          </a:xfrm>
          <a:prstGeom prst="rect">
            <a:avLst/>
          </a:prstGeom>
          <a:solidFill>
            <a:srgbClr val="181208"/>
          </a:solidFill>
          <a:ln w="22860">
            <a:solidFill>
              <a:srgbClr val="999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6032" y="3478368"/>
            <a:ext cx="45000" cy="1210000"/>
          </a:xfrm>
          <a:prstGeom prst="rect">
            <a:avLst/>
          </a:prstGeom>
          <a:solidFill>
            <a:srgbClr val="999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1032" y="3528368"/>
            <a:ext cx="4060520" cy="260000"/>
          </a:xfrm>
          <a:prstGeom prst="rect">
            <a:avLst/>
          </a:prstGeom>
          <a:noFill/>
        </p:spPr>
        <p:txBody>
          <a:bodyPr wrap="square">
            <a:spAutoFit/>
          </a:bodyPr>
          <a:lstStyle/>
          <a:p>
            <a:pPr algn="l"/>
            <a:r>
              <a:rPr sz="950" b="1">
                <a:solidFill>
                  <a:srgbClr val="999080"/>
                </a:solidFill>
                <a:latin typeface="游明朝"/>
              </a:rPr>
              <a:t>BAR揃い（狩猟ボーナス）</a:t>
            </a:r>
          </a:p>
        </p:txBody>
      </p:sp>
      <p:sp>
        <p:nvSpPr>
          <p:cNvPr id="21" name="TextBox 20"/>
          <p:cNvSpPr txBox="1"/>
          <p:nvPr/>
        </p:nvSpPr>
        <p:spPr>
          <a:xfrm>
            <a:off x="331032" y="3808368"/>
            <a:ext cx="4060520" cy="770000"/>
          </a:xfrm>
          <a:prstGeom prst="rect">
            <a:avLst/>
          </a:prstGeom>
          <a:noFill/>
        </p:spPr>
        <p:txBody>
          <a:bodyPr wrap="square">
            <a:spAutoFit/>
          </a:bodyPr>
          <a:lstStyle/>
          <a:p>
            <a:pPr algn="l"/>
            <a:r>
              <a:rPr sz="800" b="0">
                <a:solidFill>
                  <a:srgbClr val="F0ECE0"/>
                </a:solidFill>
                <a:latin typeface="メイリオ"/>
              </a:rPr>
              <a:t>純増：約2.7枚/G  保障：25G
保障が短いが討伐成功で次ボーナスへ繋がる。
早期討伐で「百竜刀-千変万化MODE-」突入のチャンス。</a:t>
            </a:r>
          </a:p>
        </p:txBody>
      </p:sp>
      <p:sp>
        <p:nvSpPr>
          <p:cNvPr id="22" name="Rectangle 21"/>
          <p:cNvSpPr/>
          <p:nvPr/>
        </p:nvSpPr>
        <p:spPr>
          <a:xfrm>
            <a:off x="4572000" y="658368"/>
            <a:ext cx="4297680" cy="260000"/>
          </a:xfrm>
          <a:prstGeom prst="rect">
            <a:avLst/>
          </a:prstGeom>
          <a:solidFill>
            <a:srgbClr val="184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32000" y="713368"/>
            <a:ext cx="4217680" cy="200000"/>
          </a:xfrm>
          <a:prstGeom prst="rect">
            <a:avLst/>
          </a:prstGeom>
          <a:noFill/>
        </p:spPr>
        <p:txBody>
          <a:bodyPr wrap="square">
            <a:spAutoFit/>
          </a:bodyPr>
          <a:lstStyle/>
          <a:p>
            <a:pPr algn="l"/>
            <a:r>
              <a:rPr sz="1000" b="1">
                <a:solidFill>
                  <a:srgbClr val="22AA44"/>
                </a:solidFill>
                <a:latin typeface="メイリオ"/>
              </a:rPr>
              <a:t>剥ぎ取りチャンス×ストックで出玉を伸ばす</a:t>
            </a:r>
          </a:p>
        </p:txBody>
      </p:sp>
      <p:sp>
        <p:nvSpPr>
          <p:cNvPr id="24" name="Rectangle 23"/>
          <p:cNvSpPr/>
          <p:nvPr/>
        </p:nvSpPr>
        <p:spPr>
          <a:xfrm>
            <a:off x="4572000" y="918368"/>
            <a:ext cx="4297680" cy="985000"/>
          </a:xfrm>
          <a:prstGeom prst="rect">
            <a:avLst/>
          </a:prstGeom>
          <a:solidFill>
            <a:srgbClr val="181208"/>
          </a:solidFill>
          <a:ln w="15240">
            <a:solidFill>
              <a:srgbClr val="999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0" y="918368"/>
            <a:ext cx="35000" cy="985000"/>
          </a:xfrm>
          <a:prstGeom prst="rect">
            <a:avLst/>
          </a:prstGeom>
          <a:solidFill>
            <a:srgbClr val="999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32000" y="963368"/>
            <a:ext cx="4217680" cy="250000"/>
          </a:xfrm>
          <a:prstGeom prst="rect">
            <a:avLst/>
          </a:prstGeom>
          <a:noFill/>
        </p:spPr>
        <p:txBody>
          <a:bodyPr wrap="square">
            <a:spAutoFit/>
          </a:bodyPr>
          <a:lstStyle/>
          <a:p>
            <a:pPr algn="l"/>
            <a:r>
              <a:rPr sz="850" b="1">
                <a:solidFill>
                  <a:srgbClr val="999080"/>
                </a:solidFill>
                <a:latin typeface="メイリオ"/>
              </a:rPr>
              <a:t>剥ぎ取りチャンス 銀</a:t>
            </a:r>
          </a:p>
        </p:txBody>
      </p:sp>
      <p:sp>
        <p:nvSpPr>
          <p:cNvPr id="27" name="TextBox 26"/>
          <p:cNvSpPr txBox="1"/>
          <p:nvPr/>
        </p:nvSpPr>
        <p:spPr>
          <a:xfrm>
            <a:off x="4632000" y="1213368"/>
            <a:ext cx="4217680" cy="580000"/>
          </a:xfrm>
          <a:prstGeom prst="rect">
            <a:avLst/>
          </a:prstGeom>
          <a:noFill/>
        </p:spPr>
        <p:txBody>
          <a:bodyPr wrap="square">
            <a:spAutoFit/>
          </a:bodyPr>
          <a:lstStyle/>
          <a:p>
            <a:pPr algn="l"/>
            <a:r>
              <a:rPr sz="750" b="0">
                <a:solidFill>
                  <a:srgbClr val="F0ECE0"/>
                </a:solidFill>
                <a:latin typeface="メイリオ"/>
              </a:rPr>
              <a:t>討伐後の基本報酬。
ボーナスストック獲得率は低い。
次セットへの繋ぎ役。</a:t>
            </a:r>
          </a:p>
        </p:txBody>
      </p:sp>
      <p:sp>
        <p:nvSpPr>
          <p:cNvPr id="28" name="Rectangle 27"/>
          <p:cNvSpPr/>
          <p:nvPr/>
        </p:nvSpPr>
        <p:spPr>
          <a:xfrm>
            <a:off x="4572000" y="1918368"/>
            <a:ext cx="4297680" cy="985000"/>
          </a:xfrm>
          <a:prstGeom prst="rect">
            <a:avLst/>
          </a:prstGeom>
          <a:solidFill>
            <a:srgbClr val="141006"/>
          </a:solidFill>
          <a:ln w="15240">
            <a:solidFill>
              <a:srgbClr val="22A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0" y="1918368"/>
            <a:ext cx="35000" cy="985000"/>
          </a:xfrm>
          <a:prstGeom prst="rect">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32000" y="1963368"/>
            <a:ext cx="4217680" cy="250000"/>
          </a:xfrm>
          <a:prstGeom prst="rect">
            <a:avLst/>
          </a:prstGeom>
          <a:noFill/>
        </p:spPr>
        <p:txBody>
          <a:bodyPr wrap="square">
            <a:spAutoFit/>
          </a:bodyPr>
          <a:lstStyle/>
          <a:p>
            <a:pPr algn="l"/>
            <a:r>
              <a:rPr sz="850" b="1">
                <a:solidFill>
                  <a:srgbClr val="22AA44"/>
                </a:solidFill>
                <a:latin typeface="メイリオ"/>
              </a:rPr>
              <a:t>剥ぎ取りチャンス 金</a:t>
            </a:r>
          </a:p>
        </p:txBody>
      </p:sp>
      <p:sp>
        <p:nvSpPr>
          <p:cNvPr id="31" name="TextBox 30"/>
          <p:cNvSpPr txBox="1"/>
          <p:nvPr/>
        </p:nvSpPr>
        <p:spPr>
          <a:xfrm>
            <a:off x="4632000" y="2213368"/>
            <a:ext cx="4217680" cy="580000"/>
          </a:xfrm>
          <a:prstGeom prst="rect">
            <a:avLst/>
          </a:prstGeom>
          <a:noFill/>
        </p:spPr>
        <p:txBody>
          <a:bodyPr wrap="square">
            <a:spAutoFit/>
          </a:bodyPr>
          <a:lstStyle/>
          <a:p>
            <a:pPr algn="l"/>
            <a:r>
              <a:rPr sz="750" b="0">
                <a:solidFill>
                  <a:srgbClr val="F0ECE0"/>
                </a:solidFill>
                <a:latin typeface="メイリオ"/>
              </a:rPr>
              <a:t>ボーナスストック獲得がほぼ確定。
「金」以上で次の狩猟が保証される。
出玉伸長の分岐点となる重要ランク。</a:t>
            </a:r>
          </a:p>
        </p:txBody>
      </p:sp>
      <p:sp>
        <p:nvSpPr>
          <p:cNvPr id="32" name="Rectangle 31"/>
          <p:cNvSpPr/>
          <p:nvPr/>
        </p:nvSpPr>
        <p:spPr>
          <a:xfrm>
            <a:off x="4572000" y="2918368"/>
            <a:ext cx="4297680" cy="985000"/>
          </a:xfrm>
          <a:prstGeom prst="rect">
            <a:avLst/>
          </a:prstGeom>
          <a:solidFill>
            <a:srgbClr val="181208"/>
          </a:solidFill>
          <a:ln w="15240">
            <a:solidFill>
              <a:srgbClr val="188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0" y="2918368"/>
            <a:ext cx="35000" cy="985000"/>
          </a:xfrm>
          <a:prstGeom prst="rect">
            <a:avLst/>
          </a:prstGeom>
          <a:solidFill>
            <a:srgbClr val="188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32000" y="2963368"/>
            <a:ext cx="4217680" cy="250000"/>
          </a:xfrm>
          <a:prstGeom prst="rect">
            <a:avLst/>
          </a:prstGeom>
          <a:noFill/>
        </p:spPr>
        <p:txBody>
          <a:bodyPr wrap="square">
            <a:spAutoFit/>
          </a:bodyPr>
          <a:lstStyle/>
          <a:p>
            <a:pPr algn="l"/>
            <a:r>
              <a:rPr sz="850" b="1">
                <a:solidFill>
                  <a:srgbClr val="188030"/>
                </a:solidFill>
                <a:latin typeface="メイリオ"/>
              </a:rPr>
              <a:t>剥ぎ取りチャンスG
（継続率付き）</a:t>
            </a:r>
          </a:p>
        </p:txBody>
      </p:sp>
      <p:sp>
        <p:nvSpPr>
          <p:cNvPr id="35" name="TextBox 34"/>
          <p:cNvSpPr txBox="1"/>
          <p:nvPr/>
        </p:nvSpPr>
        <p:spPr>
          <a:xfrm>
            <a:off x="4632000" y="3213368"/>
            <a:ext cx="4217680" cy="580000"/>
          </a:xfrm>
          <a:prstGeom prst="rect">
            <a:avLst/>
          </a:prstGeom>
          <a:noFill/>
        </p:spPr>
        <p:txBody>
          <a:bodyPr wrap="square">
            <a:spAutoFit/>
          </a:bodyPr>
          <a:lstStyle/>
          <a:p>
            <a:pPr algn="l"/>
            <a:r>
              <a:rPr sz="750" b="0">
                <a:solidFill>
                  <a:srgbClr val="F0ECE0"/>
                </a:solidFill>
                <a:latin typeface="メイリオ"/>
              </a:rPr>
              <a:t>70%ループでボーナスストックを大量獲得。
継続するたびに次のチャンスが発生。
一度乗ると一気に残弾数が増える。</a:t>
            </a:r>
          </a:p>
        </p:txBody>
      </p:sp>
      <p:sp>
        <p:nvSpPr>
          <p:cNvPr id="36" name="Rectangle 35"/>
          <p:cNvSpPr/>
          <p:nvPr/>
        </p:nvSpPr>
        <p:spPr>
          <a:xfrm>
            <a:off x="4572000" y="3918368"/>
            <a:ext cx="4297680" cy="985000"/>
          </a:xfrm>
          <a:prstGeom prst="rect">
            <a:avLst/>
          </a:prstGeom>
          <a:solidFill>
            <a:srgbClr val="141006"/>
          </a:solidFill>
          <a:ln w="15240">
            <a:solidFill>
              <a:srgbClr val="CCAA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572000" y="3918368"/>
            <a:ext cx="35000" cy="985000"/>
          </a:xfrm>
          <a:prstGeom prst="rect">
            <a:avLst/>
          </a:prstGeom>
          <a:solidFill>
            <a:srgbClr val="CCA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632000" y="3963368"/>
            <a:ext cx="4217680" cy="250000"/>
          </a:xfrm>
          <a:prstGeom prst="rect">
            <a:avLst/>
          </a:prstGeom>
          <a:noFill/>
        </p:spPr>
        <p:txBody>
          <a:bodyPr wrap="square">
            <a:spAutoFit/>
          </a:bodyPr>
          <a:lstStyle/>
          <a:p>
            <a:pPr algn="l"/>
            <a:r>
              <a:rPr sz="850" b="1">
                <a:solidFill>
                  <a:srgbClr val="CCAA22"/>
                </a:solidFill>
                <a:latin typeface="メイリオ"/>
              </a:rPr>
              <a:t>超剥ぎ取りチャンスG</a:t>
            </a:r>
          </a:p>
        </p:txBody>
      </p:sp>
      <p:sp>
        <p:nvSpPr>
          <p:cNvPr id="39" name="TextBox 38"/>
          <p:cNvSpPr txBox="1"/>
          <p:nvPr/>
        </p:nvSpPr>
        <p:spPr>
          <a:xfrm>
            <a:off x="4632000" y="4213368"/>
            <a:ext cx="4217680" cy="580000"/>
          </a:xfrm>
          <a:prstGeom prst="rect">
            <a:avLst/>
          </a:prstGeom>
          <a:noFill/>
        </p:spPr>
        <p:txBody>
          <a:bodyPr wrap="square">
            <a:spAutoFit/>
          </a:bodyPr>
          <a:lstStyle/>
          <a:p>
            <a:pPr algn="l"/>
            <a:r>
              <a:rPr sz="750" b="0">
                <a:solidFill>
                  <a:srgbClr val="F0ECE0"/>
                </a:solidFill>
                <a:latin typeface="メイリオ"/>
              </a:rPr>
              <a:t>最上位報酬。大量ストック確定。
上位AT「気焔万丈」への橋渡しになることも。
百竜ノ淵源BONUS討伐後に発生する。</a:t>
            </a:r>
          </a:p>
        </p:txBody>
      </p:sp>
      <p:sp>
        <p:nvSpPr>
          <p:cNvPr id="40" name="Rectangle 39"/>
          <p:cNvSpPr/>
          <p:nvPr/>
        </p:nvSpPr>
        <p:spPr>
          <a:xfrm>
            <a:off x="4572000" y="4908368"/>
            <a:ext cx="4297680" cy="580000"/>
          </a:xfrm>
          <a:prstGeom prst="rect">
            <a:avLst/>
          </a:prstGeom>
          <a:solidFill>
            <a:srgbClr val="20180A"/>
          </a:solidFill>
          <a:ln w="1905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632000" y="4958368"/>
            <a:ext cx="4217680" cy="220000"/>
          </a:xfrm>
          <a:prstGeom prst="rect">
            <a:avLst/>
          </a:prstGeom>
          <a:noFill/>
        </p:spPr>
        <p:txBody>
          <a:bodyPr wrap="square">
            <a:spAutoFit/>
          </a:bodyPr>
          <a:lstStyle/>
          <a:p>
            <a:pPr algn="l"/>
            <a:r>
              <a:rPr sz="800" b="1">
                <a:solidFill>
                  <a:srgbClr val="FF8800"/>
                </a:solidFill>
                <a:latin typeface="メイリオ"/>
              </a:rPr>
              <a:t>早期討伐（15G以上残して討伐）→百竜刀-千変万化MODE-</a:t>
            </a:r>
          </a:p>
        </p:txBody>
      </p:sp>
      <p:sp>
        <p:nvSpPr>
          <p:cNvPr id="42" name="TextBox 41"/>
          <p:cNvSpPr txBox="1"/>
          <p:nvPr/>
        </p:nvSpPr>
        <p:spPr>
          <a:xfrm>
            <a:off x="4632000" y="5188368"/>
            <a:ext cx="4217680" cy="270000"/>
          </a:xfrm>
          <a:prstGeom prst="rect">
            <a:avLst/>
          </a:prstGeom>
          <a:noFill/>
        </p:spPr>
        <p:txBody>
          <a:bodyPr wrap="square">
            <a:spAutoFit/>
          </a:bodyPr>
          <a:lstStyle/>
          <a:p>
            <a:pPr algn="l"/>
            <a:r>
              <a:rPr sz="750" b="0">
                <a:solidFill>
                  <a:srgbClr val="999080"/>
                </a:solidFill>
                <a:latin typeface="メイリオ"/>
              </a:rPr>
              <a:t>ボーナスストック特化ゾーン。一気に規定討伐数エンディングへの近道となる。</a:t>
            </a:r>
          </a:p>
        </p:txBody>
      </p:sp>
      <p:sp>
        <p:nvSpPr>
          <p:cNvPr id="43" name="TextBox 42"/>
          <p:cNvSpPr txBox="1"/>
          <p:nvPr/>
        </p:nvSpPr>
        <p:spPr>
          <a:xfrm>
            <a:off x="6675120" y="4919472"/>
            <a:ext cx="2377440" cy="180000"/>
          </a:xfrm>
          <a:prstGeom prst="rect">
            <a:avLst/>
          </a:prstGeom>
          <a:noFill/>
        </p:spPr>
        <p:txBody>
          <a:bodyPr wrap="square">
            <a:spAutoFit/>
          </a:bodyPr>
          <a:lstStyle/>
          <a:p>
            <a:pPr algn="r"/>
            <a:r>
              <a:rPr sz="650" b="0">
                <a:solidFill>
                  <a:srgbClr val="999080"/>
                </a:solidFill>
                <a:latin typeface="メイリオ"/>
              </a:rPr>
              <a:t>※ネット解析情報より（ちょんぼりすた・なな徹・一撃・pachiseven）</a:t>
            </a:r>
          </a:p>
        </p:txBody>
      </p:sp>
      <p:sp>
        <p:nvSpPr>
          <p:cNvPr id="44" name="Rectangle 43"/>
          <p:cNvSpPr/>
          <p:nvPr/>
        </p:nvSpPr>
        <p:spPr>
          <a:xfrm>
            <a:off x="0" y="4645152"/>
            <a:ext cx="9144000" cy="498348"/>
          </a:xfrm>
          <a:prstGeom prst="rect">
            <a:avLst/>
          </a:prstGeom>
          <a:solidFill>
            <a:srgbClr val="100C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645152"/>
            <a:ext cx="20000" cy="498348"/>
          </a:xfrm>
          <a:prstGeom prst="rect">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64592" y="4685152"/>
            <a:ext cx="5029200" cy="340000"/>
          </a:xfrm>
          <a:prstGeom prst="rect">
            <a:avLst/>
          </a:prstGeom>
          <a:noFill/>
        </p:spPr>
        <p:txBody>
          <a:bodyPr wrap="square">
            <a:spAutoFit/>
          </a:bodyPr>
          <a:lstStyle/>
          <a:p>
            <a:pPr algn="l"/>
            <a:r>
              <a:rPr sz="750" b="1">
                <a:solidFill>
                  <a:srgbClr val="FF8800"/>
                </a:solidFill>
                <a:latin typeface="メイリオ"/>
              </a:rPr>
              <a:t>出玉伸長の核心：剥ぎ取りチャンスの「ランク」でストック数が決まる。金以上が出玉伸長の分岐点</a:t>
            </a:r>
          </a:p>
        </p:txBody>
      </p:sp>
      <p:sp>
        <p:nvSpPr>
          <p:cNvPr id="47" name="TextBox 46"/>
          <p:cNvSpPr txBox="1"/>
          <p:nvPr/>
        </p:nvSpPr>
        <p:spPr>
          <a:xfrm>
            <a:off x="5303520" y="4685152"/>
            <a:ext cx="3657600" cy="340000"/>
          </a:xfrm>
          <a:prstGeom prst="rect">
            <a:avLst/>
          </a:prstGeom>
          <a:noFill/>
        </p:spPr>
        <p:txBody>
          <a:bodyPr wrap="square">
            <a:spAutoFit/>
          </a:bodyPr>
          <a:lstStyle/>
          <a:p>
            <a:pPr algn="r"/>
            <a:r>
              <a:rPr sz="700" b="0">
                <a:solidFill>
                  <a:srgbClr val="999080"/>
                </a:solidFill>
                <a:latin typeface="メイリオ"/>
              </a:rPr>
              <a:t>早期討伐ボーナスの設計がモンハンの「効率的な狩猟」という原作体験をスロットで完全再現</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1812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400" b="1">
                <a:solidFill>
                  <a:srgbClr val="FF8800"/>
                </a:solidFill>
                <a:latin typeface="游明朝"/>
              </a:rPr>
              <a:t>上位ATへの道 ── 気焔万丈（上位AT）到達ルートと遊び方</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999080"/>
                </a:solidFill>
                <a:latin typeface="メイリオ"/>
              </a:rPr>
              <a:t>6/9</a:t>
            </a:r>
          </a:p>
        </p:txBody>
      </p:sp>
      <p:sp>
        <p:nvSpPr>
          <p:cNvPr id="7" name="Rectangle 6"/>
          <p:cNvSpPr/>
          <p:nvPr/>
        </p:nvSpPr>
        <p:spPr>
          <a:xfrm>
            <a:off x="0" y="530352"/>
            <a:ext cx="9144000" cy="7000"/>
          </a:xfrm>
          <a:prstGeom prst="rect">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58368"/>
            <a:ext cx="9144000" cy="260000"/>
          </a:xfrm>
          <a:prstGeom prst="rect">
            <a:avLst/>
          </a:prstGeom>
          <a:solidFill>
            <a:srgbClr val="205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90372"/>
            <a:ext cx="8229600" cy="210000"/>
          </a:xfrm>
          <a:prstGeom prst="rect">
            <a:avLst/>
          </a:prstGeom>
          <a:noFill/>
        </p:spPr>
        <p:txBody>
          <a:bodyPr wrap="square">
            <a:spAutoFit/>
          </a:bodyPr>
          <a:lstStyle/>
          <a:p>
            <a:pPr algn="l"/>
            <a:r>
              <a:rPr sz="900" b="1">
                <a:solidFill>
                  <a:srgbClr val="22AA44"/>
                </a:solidFill>
                <a:latin typeface="メイリオ"/>
              </a:rPr>
              <a:t>上位AT「気焔万丈」到達ルート（規定討伐数を積み上げる階段式設計）</a:t>
            </a:r>
          </a:p>
        </p:txBody>
      </p:sp>
      <p:sp>
        <p:nvSpPr>
          <p:cNvPr id="10" name="Rectangle 9"/>
          <p:cNvSpPr/>
          <p:nvPr/>
        </p:nvSpPr>
        <p:spPr>
          <a:xfrm>
            <a:off x="320040" y="748448"/>
            <a:ext cx="1920240" cy="1100000"/>
          </a:xfrm>
          <a:prstGeom prst="rect">
            <a:avLst/>
          </a:prstGeom>
          <a:solidFill>
            <a:srgbClr val="181208"/>
          </a:solidFill>
          <a:ln w="1905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5040" y="818448"/>
            <a:ext cx="1865240" cy="370000"/>
          </a:xfrm>
          <a:prstGeom prst="rect">
            <a:avLst/>
          </a:prstGeom>
          <a:noFill/>
        </p:spPr>
        <p:txBody>
          <a:bodyPr wrap="square">
            <a:spAutoFit/>
          </a:bodyPr>
          <a:lstStyle/>
          <a:p>
            <a:pPr algn="ctr"/>
            <a:r>
              <a:rPr sz="1000" b="1">
                <a:solidFill>
                  <a:srgbClr val="FF8800"/>
                </a:solidFill>
                <a:latin typeface="游明朝"/>
              </a:rPr>
              <a:t>狩猟ボーナス
（基本AT）</a:t>
            </a:r>
          </a:p>
        </p:txBody>
      </p:sp>
      <p:sp>
        <p:nvSpPr>
          <p:cNvPr id="12" name="TextBox 11"/>
          <p:cNvSpPr txBox="1"/>
          <p:nvPr/>
        </p:nvSpPr>
        <p:spPr>
          <a:xfrm>
            <a:off x="350040" y="1208448"/>
            <a:ext cx="1875240" cy="480000"/>
          </a:xfrm>
          <a:prstGeom prst="rect">
            <a:avLst/>
          </a:prstGeom>
          <a:noFill/>
        </p:spPr>
        <p:txBody>
          <a:bodyPr wrap="square">
            <a:spAutoFit/>
          </a:bodyPr>
          <a:lstStyle/>
          <a:p>
            <a:pPr algn="ctr"/>
            <a:r>
              <a:rPr sz="750" b="0">
                <a:solidFill>
                  <a:srgbClr val="999080"/>
                </a:solidFill>
                <a:latin typeface="メイリオ"/>
              </a:rPr>
              <a:t>純増2.7枚/G
討伐率約52%
毎セット挑戦</a:t>
            </a:r>
          </a:p>
        </p:txBody>
      </p:sp>
      <p:sp>
        <p:nvSpPr>
          <p:cNvPr id="13" name="Can 12"/>
          <p:cNvSpPr/>
          <p:nvPr/>
        </p:nvSpPr>
        <p:spPr>
          <a:xfrm>
            <a:off x="2252280" y="1208448"/>
            <a:ext cx="200000" cy="180000"/>
          </a:xfrm>
          <a:prstGeom prst="can">
            <a:avLst/>
          </a:prstGeom>
          <a:solidFill>
            <a:srgbClr val="CCA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478024" y="748448"/>
            <a:ext cx="1920240" cy="1100000"/>
          </a:xfrm>
          <a:prstGeom prst="rect">
            <a:avLst/>
          </a:prstGeom>
          <a:solidFill>
            <a:srgbClr val="181208"/>
          </a:solidFill>
          <a:ln w="19050">
            <a:solidFill>
              <a:srgbClr val="188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3024" y="818448"/>
            <a:ext cx="1865240" cy="370000"/>
          </a:xfrm>
          <a:prstGeom prst="rect">
            <a:avLst/>
          </a:prstGeom>
          <a:noFill/>
        </p:spPr>
        <p:txBody>
          <a:bodyPr wrap="square">
            <a:spAutoFit/>
          </a:bodyPr>
          <a:lstStyle/>
          <a:p>
            <a:pPr algn="ctr"/>
            <a:r>
              <a:rPr sz="1000" b="1">
                <a:solidFill>
                  <a:srgbClr val="188030"/>
                </a:solidFill>
                <a:latin typeface="游明朝"/>
              </a:rPr>
              <a:t>10頭討伐
（エンディング）</a:t>
            </a:r>
          </a:p>
        </p:txBody>
      </p:sp>
      <p:sp>
        <p:nvSpPr>
          <p:cNvPr id="16" name="TextBox 15"/>
          <p:cNvSpPr txBox="1"/>
          <p:nvPr/>
        </p:nvSpPr>
        <p:spPr>
          <a:xfrm>
            <a:off x="2508024" y="1208448"/>
            <a:ext cx="1875240" cy="480000"/>
          </a:xfrm>
          <a:prstGeom prst="rect">
            <a:avLst/>
          </a:prstGeom>
          <a:noFill/>
        </p:spPr>
        <p:txBody>
          <a:bodyPr wrap="square">
            <a:spAutoFit/>
          </a:bodyPr>
          <a:lstStyle/>
          <a:p>
            <a:pPr algn="ctr"/>
            <a:r>
              <a:rPr sz="750" b="0">
                <a:solidFill>
                  <a:srgbClr val="999080"/>
                </a:solidFill>
                <a:latin typeface="メイリオ"/>
              </a:rPr>
              <a:t>差枚+2100枚or
規定10頭討伐で
発生するゴール</a:t>
            </a:r>
          </a:p>
        </p:txBody>
      </p:sp>
      <p:sp>
        <p:nvSpPr>
          <p:cNvPr id="17" name="Can 16"/>
          <p:cNvSpPr/>
          <p:nvPr/>
        </p:nvSpPr>
        <p:spPr>
          <a:xfrm>
            <a:off x="4410264" y="1208448"/>
            <a:ext cx="200000" cy="180000"/>
          </a:xfrm>
          <a:prstGeom prst="can">
            <a:avLst/>
          </a:prstGeom>
          <a:solidFill>
            <a:srgbClr val="CCA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636008" y="748448"/>
            <a:ext cx="1920240" cy="1100000"/>
          </a:xfrm>
          <a:prstGeom prst="rect">
            <a:avLst/>
          </a:prstGeom>
          <a:solidFill>
            <a:srgbClr val="161202"/>
          </a:solidFill>
          <a:ln w="25400">
            <a:solidFill>
              <a:srgbClr val="22CC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71008" y="818448"/>
            <a:ext cx="1865240" cy="370000"/>
          </a:xfrm>
          <a:prstGeom prst="rect">
            <a:avLst/>
          </a:prstGeom>
          <a:noFill/>
        </p:spPr>
        <p:txBody>
          <a:bodyPr wrap="square">
            <a:spAutoFit/>
          </a:bodyPr>
          <a:lstStyle/>
          <a:p>
            <a:pPr algn="ctr"/>
            <a:r>
              <a:rPr sz="1000" b="1">
                <a:solidFill>
                  <a:srgbClr val="22CCDD"/>
                </a:solidFill>
                <a:latin typeface="游明朝"/>
              </a:rPr>
              <a:t>百竜ノ淵源
チャレンジ</a:t>
            </a:r>
          </a:p>
        </p:txBody>
      </p:sp>
      <p:sp>
        <p:nvSpPr>
          <p:cNvPr id="20" name="TextBox 19"/>
          <p:cNvSpPr txBox="1"/>
          <p:nvPr/>
        </p:nvSpPr>
        <p:spPr>
          <a:xfrm>
            <a:off x="4666008" y="1208448"/>
            <a:ext cx="1875240" cy="480000"/>
          </a:xfrm>
          <a:prstGeom prst="rect">
            <a:avLst/>
          </a:prstGeom>
          <a:noFill/>
        </p:spPr>
        <p:txBody>
          <a:bodyPr wrap="square">
            <a:spAutoFit/>
          </a:bodyPr>
          <a:lstStyle/>
          <a:p>
            <a:pPr algn="ctr"/>
            <a:r>
              <a:rPr sz="750" b="0">
                <a:solidFill>
                  <a:srgbClr val="999080"/>
                </a:solidFill>
                <a:latin typeface="メイリオ"/>
              </a:rPr>
              <a:t>約67%で成功
→百竜ノ淵源BONUS
へ進めるCZ</a:t>
            </a:r>
          </a:p>
        </p:txBody>
      </p:sp>
      <p:sp>
        <p:nvSpPr>
          <p:cNvPr id="21" name="Can 20"/>
          <p:cNvSpPr/>
          <p:nvPr/>
        </p:nvSpPr>
        <p:spPr>
          <a:xfrm>
            <a:off x="6568248" y="1208448"/>
            <a:ext cx="200000" cy="180000"/>
          </a:xfrm>
          <a:prstGeom prst="can">
            <a:avLst/>
          </a:prstGeom>
          <a:solidFill>
            <a:srgbClr val="CCA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793992" y="748448"/>
            <a:ext cx="1920240" cy="1100000"/>
          </a:xfrm>
          <a:prstGeom prst="rect">
            <a:avLst/>
          </a:prstGeom>
          <a:solidFill>
            <a:srgbClr val="161202"/>
          </a:solidFill>
          <a:ln w="25400">
            <a:solidFill>
              <a:srgbClr val="CCAA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28992" y="818448"/>
            <a:ext cx="1865240" cy="370000"/>
          </a:xfrm>
          <a:prstGeom prst="rect">
            <a:avLst/>
          </a:prstGeom>
          <a:noFill/>
        </p:spPr>
        <p:txBody>
          <a:bodyPr wrap="square">
            <a:spAutoFit/>
          </a:bodyPr>
          <a:lstStyle/>
          <a:p>
            <a:pPr algn="ctr"/>
            <a:r>
              <a:rPr sz="1000" b="1">
                <a:solidFill>
                  <a:srgbClr val="CCAA22"/>
                </a:solidFill>
                <a:latin typeface="游明朝"/>
              </a:rPr>
              <a:t>気焔万丈
（上位AT）</a:t>
            </a:r>
          </a:p>
        </p:txBody>
      </p:sp>
      <p:sp>
        <p:nvSpPr>
          <p:cNvPr id="24" name="TextBox 23"/>
          <p:cNvSpPr txBox="1"/>
          <p:nvPr/>
        </p:nvSpPr>
        <p:spPr>
          <a:xfrm>
            <a:off x="6823992" y="1208448"/>
            <a:ext cx="1875240" cy="480000"/>
          </a:xfrm>
          <a:prstGeom prst="rect">
            <a:avLst/>
          </a:prstGeom>
          <a:noFill/>
        </p:spPr>
        <p:txBody>
          <a:bodyPr wrap="square">
            <a:spAutoFit/>
          </a:bodyPr>
          <a:lstStyle/>
          <a:p>
            <a:pPr algn="ctr"/>
            <a:r>
              <a:rPr sz="750" b="0">
                <a:solidFill>
                  <a:srgbClr val="999080"/>
                </a:solidFill>
                <a:latin typeface="メイリオ"/>
              </a:rPr>
              <a:t>純増4.0枚/G
モンスター討伐は
通常ATと同ゲーム性</a:t>
            </a:r>
          </a:p>
        </p:txBody>
      </p:sp>
      <p:sp>
        <p:nvSpPr>
          <p:cNvPr id="25" name="TextBox 24"/>
          <p:cNvSpPr txBox="1"/>
          <p:nvPr/>
        </p:nvSpPr>
        <p:spPr>
          <a:xfrm>
            <a:off x="6583680" y="713232"/>
            <a:ext cx="2286000" cy="240000"/>
          </a:xfrm>
          <a:prstGeom prst="rect">
            <a:avLst/>
          </a:prstGeom>
          <a:noFill/>
        </p:spPr>
        <p:txBody>
          <a:bodyPr wrap="square">
            <a:spAutoFit/>
          </a:bodyPr>
          <a:lstStyle/>
          <a:p>
            <a:pPr algn="ctr"/>
            <a:r>
              <a:rPr sz="750" b="0">
                <a:solidFill>
                  <a:srgbClr val="22CCDD"/>
                </a:solidFill>
                <a:latin typeface="メイリオ"/>
              </a:rPr>
              <a:t>百竜ノ淵源BONUS
討伐成功率：約72%</a:t>
            </a:r>
          </a:p>
        </p:txBody>
      </p:sp>
      <p:sp>
        <p:nvSpPr>
          <p:cNvPr id="26" name="Rectangle 25"/>
          <p:cNvSpPr/>
          <p:nvPr/>
        </p:nvSpPr>
        <p:spPr>
          <a:xfrm>
            <a:off x="0" y="1883664"/>
            <a:ext cx="9144000" cy="5000"/>
          </a:xfrm>
          <a:prstGeom prst="rect">
            <a:avLst/>
          </a:prstGeom>
          <a:solidFill>
            <a:srgbClr val="305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56032" y="1938528"/>
            <a:ext cx="4160520" cy="2620000"/>
          </a:xfrm>
          <a:prstGeom prst="rect">
            <a:avLst/>
          </a:prstGeom>
          <a:solidFill>
            <a:srgbClr val="181208"/>
          </a:solidFill>
          <a:ln w="22860">
            <a:solidFill>
              <a:srgbClr val="CCAA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56032" y="1938528"/>
            <a:ext cx="45000" cy="2620000"/>
          </a:xfrm>
          <a:prstGeom prst="rect">
            <a:avLst/>
          </a:prstGeom>
          <a:solidFill>
            <a:srgbClr val="CCA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31032" y="1988528"/>
            <a:ext cx="4065520" cy="270000"/>
          </a:xfrm>
          <a:prstGeom prst="rect">
            <a:avLst/>
          </a:prstGeom>
          <a:noFill/>
        </p:spPr>
        <p:txBody>
          <a:bodyPr wrap="square">
            <a:spAutoFit/>
          </a:bodyPr>
          <a:lstStyle/>
          <a:p>
            <a:pPr algn="l"/>
            <a:r>
              <a:rPr sz="1100" b="1">
                <a:solidFill>
                  <a:srgbClr val="CCAA22"/>
                </a:solidFill>
                <a:latin typeface="游明朝"/>
              </a:rPr>
              <a:t>気焔万丈（上位AT）の遊び方</a:t>
            </a:r>
          </a:p>
        </p:txBody>
      </p:sp>
      <p:sp>
        <p:nvSpPr>
          <p:cNvPr id="30" name="TextBox 29"/>
          <p:cNvSpPr txBox="1"/>
          <p:nvPr/>
        </p:nvSpPr>
        <p:spPr>
          <a:xfrm>
            <a:off x="331032" y="2278528"/>
            <a:ext cx="4065520" cy="2220000"/>
          </a:xfrm>
          <a:prstGeom prst="rect">
            <a:avLst/>
          </a:prstGeom>
          <a:noFill/>
        </p:spPr>
        <p:txBody>
          <a:bodyPr wrap="square">
            <a:spAutoFit/>
          </a:bodyPr>
          <a:lstStyle/>
          <a:p>
            <a:pPr algn="l"/>
            <a:r>
              <a:rPr sz="800" b="0">
                <a:solidFill>
                  <a:srgbClr val="F0ECE0"/>
                </a:solidFill>
                <a:latin typeface="メイリオ"/>
              </a:rPr>
              <a:t>【基本ゲーム性】
通常のAT（狩猟ボーナス）と同じゲーム性で進行。
違いは純増が約2.7枚→約4.0枚/Gにアップする点のみ。
モンスター討伐・剥ぎ取りチャンスの流れは同じ。
【早期討伐の活用】
保障G残15G以上残して早期討伐すると
「百竜刀-千変万化MODE-」（ストック特化）チャンス。
気焔万丈中でも早期討伐を狙うのが出玉最大化の鍵。
【終了条件と次ラウンド】
差枚上限（+2100枚）または規定討伐数達成でエンディング。
終了後は百竜ノ淵源チャレンジで再度気焔万丈を狙える。</a:t>
            </a:r>
          </a:p>
        </p:txBody>
      </p:sp>
      <p:sp>
        <p:nvSpPr>
          <p:cNvPr id="31" name="Rectangle 30"/>
          <p:cNvSpPr/>
          <p:nvPr/>
        </p:nvSpPr>
        <p:spPr>
          <a:xfrm>
            <a:off x="4617720" y="1938528"/>
            <a:ext cx="4251960" cy="2620000"/>
          </a:xfrm>
          <a:prstGeom prst="rect">
            <a:avLst/>
          </a:prstGeom>
          <a:solidFill>
            <a:srgbClr val="181208"/>
          </a:solidFill>
          <a:ln w="22860">
            <a:solidFill>
              <a:srgbClr val="22A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617720" y="1938528"/>
            <a:ext cx="45000" cy="2620000"/>
          </a:xfrm>
          <a:prstGeom prst="rect">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92720" y="1988528"/>
            <a:ext cx="4156960" cy="270000"/>
          </a:xfrm>
          <a:prstGeom prst="rect">
            <a:avLst/>
          </a:prstGeom>
          <a:noFill/>
        </p:spPr>
        <p:txBody>
          <a:bodyPr wrap="square">
            <a:spAutoFit/>
          </a:bodyPr>
          <a:lstStyle/>
          <a:p>
            <a:pPr algn="l"/>
            <a:r>
              <a:rPr sz="1100" b="1">
                <a:solidFill>
                  <a:srgbClr val="22AA44"/>
                </a:solidFill>
                <a:latin typeface="游明朝"/>
              </a:rPr>
              <a:t>気焔万丈到達の難易度と期待収支</a:t>
            </a:r>
          </a:p>
        </p:txBody>
      </p:sp>
      <p:sp>
        <p:nvSpPr>
          <p:cNvPr id="34" name="TextBox 33"/>
          <p:cNvSpPr txBox="1"/>
          <p:nvPr/>
        </p:nvSpPr>
        <p:spPr>
          <a:xfrm>
            <a:off x="4692720" y="2278528"/>
            <a:ext cx="4156960" cy="2220000"/>
          </a:xfrm>
          <a:prstGeom prst="rect">
            <a:avLst/>
          </a:prstGeom>
          <a:noFill/>
        </p:spPr>
        <p:txBody>
          <a:bodyPr wrap="square">
            <a:spAutoFit/>
          </a:bodyPr>
          <a:lstStyle/>
          <a:p>
            <a:pPr algn="l"/>
            <a:r>
              <a:rPr sz="800" b="0">
                <a:solidFill>
                  <a:srgbClr val="F0ECE0"/>
                </a:solidFill>
                <a:latin typeface="メイリオ"/>
              </a:rPr>
              <a:t>【到達までのステップ確率】
エンディング到達（10頭討伐）
  → 百竜ノ淵源チャレンジ成功（約67%）
  → 百竜ノ淵源BONUS討伐成功（約72%）
  → 気焔万丈突入（約48%の複合確率）
【純増アップの恩恵】
2.7→4.0枚/G = 約1.48倍の出玉効率。
同じ討伐数でも気焔万丈中の方が大幅に多く獲得可能。
【設定差と気焔万丈頻度】
設定6は初当り確率が高く（1/230.8）
エンディング到達頻度も高くなる傾向。
高設定ほど気焔万丈に乗れる回数が増える設計。</a:t>
            </a:r>
          </a:p>
        </p:txBody>
      </p:sp>
      <p:sp>
        <p:nvSpPr>
          <p:cNvPr id="35" name="TextBox 34"/>
          <p:cNvSpPr txBox="1"/>
          <p:nvPr/>
        </p:nvSpPr>
        <p:spPr>
          <a:xfrm>
            <a:off x="6675120" y="4919472"/>
            <a:ext cx="2377440" cy="180000"/>
          </a:xfrm>
          <a:prstGeom prst="rect">
            <a:avLst/>
          </a:prstGeom>
          <a:noFill/>
        </p:spPr>
        <p:txBody>
          <a:bodyPr wrap="square">
            <a:spAutoFit/>
          </a:bodyPr>
          <a:lstStyle/>
          <a:p>
            <a:pPr algn="r"/>
            <a:r>
              <a:rPr sz="650" b="0">
                <a:solidFill>
                  <a:srgbClr val="999080"/>
                </a:solidFill>
                <a:latin typeface="メイリオ"/>
              </a:rPr>
              <a:t>※ネット解析情報より（ちょんぼりすた・なな徹・一撃・pachiseven）</a:t>
            </a:r>
          </a:p>
        </p:txBody>
      </p:sp>
      <p:sp>
        <p:nvSpPr>
          <p:cNvPr id="36" name="Rectangle 35"/>
          <p:cNvSpPr/>
          <p:nvPr/>
        </p:nvSpPr>
        <p:spPr>
          <a:xfrm>
            <a:off x="0" y="4645152"/>
            <a:ext cx="9144000" cy="498348"/>
          </a:xfrm>
          <a:prstGeom prst="rect">
            <a:avLst/>
          </a:prstGeom>
          <a:solidFill>
            <a:srgbClr val="100C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4645152"/>
            <a:ext cx="20000" cy="498348"/>
          </a:xfrm>
          <a:prstGeom prst="rect">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64592" y="4685152"/>
            <a:ext cx="5029200" cy="340000"/>
          </a:xfrm>
          <a:prstGeom prst="rect">
            <a:avLst/>
          </a:prstGeom>
          <a:noFill/>
        </p:spPr>
        <p:txBody>
          <a:bodyPr wrap="square">
            <a:spAutoFit/>
          </a:bodyPr>
          <a:lstStyle/>
          <a:p>
            <a:pPr algn="l"/>
            <a:r>
              <a:rPr sz="750" b="1">
                <a:solidFill>
                  <a:srgbClr val="FF8800"/>
                </a:solidFill>
                <a:latin typeface="メイリオ"/>
              </a:rPr>
              <a:t>上位ATの設計核心：「同ゲーム性で純増だけアップ」という明快な差別化が高達成感と継続動機を生む</a:t>
            </a:r>
          </a:p>
        </p:txBody>
      </p:sp>
      <p:sp>
        <p:nvSpPr>
          <p:cNvPr id="39" name="TextBox 38"/>
          <p:cNvSpPr txBox="1"/>
          <p:nvPr/>
        </p:nvSpPr>
        <p:spPr>
          <a:xfrm>
            <a:off x="5303520" y="4685152"/>
            <a:ext cx="3657600" cy="340000"/>
          </a:xfrm>
          <a:prstGeom prst="rect">
            <a:avLst/>
          </a:prstGeom>
          <a:noFill/>
        </p:spPr>
        <p:txBody>
          <a:bodyPr wrap="square">
            <a:spAutoFit/>
          </a:bodyPr>
          <a:lstStyle/>
          <a:p>
            <a:pPr algn="r"/>
            <a:r>
              <a:rPr sz="700" b="0">
                <a:solidFill>
                  <a:srgbClr val="999080"/>
                </a:solidFill>
                <a:latin typeface="メイリオ"/>
              </a:rPr>
              <a:t>百竜ノ淵源チャレンジ（67%）×BONUS討伐（72%）=約48%の到達率。プレイ中の「近さ」が期待感を維持</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1812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400" b="1">
                <a:solidFill>
                  <a:srgbClr val="FF8800"/>
                </a:solidFill>
                <a:latin typeface="游明朝"/>
              </a:rPr>
              <a:t>面白さの設計 ── モンハンIPとパチスロゲーム性が融合する理由</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999080"/>
                </a:solidFill>
                <a:latin typeface="メイリオ"/>
              </a:rPr>
              <a:t>7/9</a:t>
            </a:r>
          </a:p>
        </p:txBody>
      </p:sp>
      <p:sp>
        <p:nvSpPr>
          <p:cNvPr id="7" name="Rectangle 6"/>
          <p:cNvSpPr/>
          <p:nvPr/>
        </p:nvSpPr>
        <p:spPr>
          <a:xfrm>
            <a:off x="0" y="530352"/>
            <a:ext cx="9144000" cy="7000"/>
          </a:xfrm>
          <a:prstGeom prst="rect">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658368"/>
            <a:ext cx="4160520" cy="1190000"/>
          </a:xfrm>
          <a:prstGeom prst="rect">
            <a:avLst/>
          </a:prstGeom>
          <a:solidFill>
            <a:srgbClr val="181208"/>
          </a:solidFill>
          <a:ln w="19050">
            <a:solidFill>
              <a:srgbClr val="22A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6032" y="658368"/>
            <a:ext cx="40000" cy="1190000"/>
          </a:xfrm>
          <a:prstGeom prst="rect">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6032" y="708368"/>
            <a:ext cx="4070520" cy="260000"/>
          </a:xfrm>
          <a:prstGeom prst="rect">
            <a:avLst/>
          </a:prstGeom>
          <a:noFill/>
        </p:spPr>
        <p:txBody>
          <a:bodyPr wrap="square">
            <a:spAutoFit/>
          </a:bodyPr>
          <a:lstStyle/>
          <a:p>
            <a:pPr algn="l"/>
            <a:r>
              <a:rPr sz="950" b="1">
                <a:solidFill>
                  <a:srgbClr val="22AA44"/>
                </a:solidFill>
                <a:latin typeface="游明朝"/>
              </a:rPr>
              <a:t>① 「狩猟サイクル」という普遍的ゲームループ</a:t>
            </a:r>
          </a:p>
        </p:txBody>
      </p:sp>
      <p:sp>
        <p:nvSpPr>
          <p:cNvPr id="11" name="TextBox 10"/>
          <p:cNvSpPr txBox="1"/>
          <p:nvPr/>
        </p:nvSpPr>
        <p:spPr>
          <a:xfrm>
            <a:off x="326032" y="988368"/>
            <a:ext cx="4070520" cy="800000"/>
          </a:xfrm>
          <a:prstGeom prst="rect">
            <a:avLst/>
          </a:prstGeom>
          <a:noFill/>
        </p:spPr>
        <p:txBody>
          <a:bodyPr wrap="square">
            <a:spAutoFit/>
          </a:bodyPr>
          <a:lstStyle/>
          <a:p>
            <a:pPr algn="l"/>
            <a:r>
              <a:rPr sz="800" b="0">
                <a:solidFill>
                  <a:srgbClr val="F0ECE0"/>
                </a:solidFill>
                <a:latin typeface="メイリオ"/>
              </a:rPr>
              <a:t>モンハンの核心は「準備→狩猟→報酬→次の狩猟」の
繰り返し。スロットの「AT→継続抽選→継続」と
構造が完全一致。IPのゲームループとスロットの
ゲームループが同一のため、摩擦ゼロで融合する。</a:t>
            </a:r>
          </a:p>
        </p:txBody>
      </p:sp>
      <p:sp>
        <p:nvSpPr>
          <p:cNvPr id="12" name="Rectangle 11"/>
          <p:cNvSpPr/>
          <p:nvPr/>
        </p:nvSpPr>
        <p:spPr>
          <a:xfrm>
            <a:off x="4727448" y="658368"/>
            <a:ext cx="4160520" cy="1190000"/>
          </a:xfrm>
          <a:prstGeom prst="rect">
            <a:avLst/>
          </a:prstGeom>
          <a:solidFill>
            <a:srgbClr val="181208"/>
          </a:solidFill>
          <a:ln w="1905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27448" y="658368"/>
            <a:ext cx="40000" cy="1190000"/>
          </a:xfrm>
          <a:prstGeom prst="rect">
            <a:avLst/>
          </a:prstGeom>
          <a:solidFill>
            <a:srgbClr val="FF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97448" y="708368"/>
            <a:ext cx="4070520" cy="260000"/>
          </a:xfrm>
          <a:prstGeom prst="rect">
            <a:avLst/>
          </a:prstGeom>
          <a:noFill/>
        </p:spPr>
        <p:txBody>
          <a:bodyPr wrap="square">
            <a:spAutoFit/>
          </a:bodyPr>
          <a:lstStyle/>
          <a:p>
            <a:pPr algn="l"/>
            <a:r>
              <a:rPr sz="950" b="1">
                <a:solidFill>
                  <a:srgbClr val="FF8800"/>
                </a:solidFill>
                <a:latin typeface="游明朝"/>
              </a:rPr>
              <a:t>② カムラポイント蓄積という「育成感」</a:t>
            </a:r>
          </a:p>
        </p:txBody>
      </p:sp>
      <p:sp>
        <p:nvSpPr>
          <p:cNvPr id="15" name="TextBox 14"/>
          <p:cNvSpPr txBox="1"/>
          <p:nvPr/>
        </p:nvSpPr>
        <p:spPr>
          <a:xfrm>
            <a:off x="4797448" y="988368"/>
            <a:ext cx="4070520" cy="800000"/>
          </a:xfrm>
          <a:prstGeom prst="rect">
            <a:avLst/>
          </a:prstGeom>
          <a:noFill/>
        </p:spPr>
        <p:txBody>
          <a:bodyPr wrap="square">
            <a:spAutoFit/>
          </a:bodyPr>
          <a:lstStyle/>
          <a:p>
            <a:pPr algn="l"/>
            <a:r>
              <a:rPr sz="800" b="0">
                <a:solidFill>
                  <a:srgbClr val="F0ECE0"/>
                </a:solidFill>
                <a:latin typeface="メイリオ"/>
              </a:rPr>
              <a:t>小役入賞→PT積算→クエスト突入という
蓄積→達成のサイクルがモンハンのクエスト受注体験。
「ゲージを貯める」行為に目的意識が生まれ
通常時のストレスを「積み上げ」に変換する。</a:t>
            </a:r>
          </a:p>
        </p:txBody>
      </p:sp>
      <p:sp>
        <p:nvSpPr>
          <p:cNvPr id="16" name="Rectangle 15"/>
          <p:cNvSpPr/>
          <p:nvPr/>
        </p:nvSpPr>
        <p:spPr>
          <a:xfrm>
            <a:off x="256032" y="1939808"/>
            <a:ext cx="4160520" cy="1190000"/>
          </a:xfrm>
          <a:prstGeom prst="rect">
            <a:avLst/>
          </a:prstGeom>
          <a:solidFill>
            <a:srgbClr val="181208"/>
          </a:solidFill>
          <a:ln w="19050">
            <a:solidFill>
              <a:srgbClr val="CCAA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6032" y="1939808"/>
            <a:ext cx="40000" cy="1190000"/>
          </a:xfrm>
          <a:prstGeom prst="rect">
            <a:avLst/>
          </a:prstGeom>
          <a:solidFill>
            <a:srgbClr val="CCA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6032" y="1989808"/>
            <a:ext cx="4070520" cy="260000"/>
          </a:xfrm>
          <a:prstGeom prst="rect">
            <a:avLst/>
          </a:prstGeom>
          <a:noFill/>
        </p:spPr>
        <p:txBody>
          <a:bodyPr wrap="square">
            <a:spAutoFit/>
          </a:bodyPr>
          <a:lstStyle/>
          <a:p>
            <a:pPr algn="l"/>
            <a:r>
              <a:rPr sz="950" b="1">
                <a:solidFill>
                  <a:srgbClr val="CCAA22"/>
                </a:solidFill>
                <a:latin typeface="游明朝"/>
              </a:rPr>
              <a:t>③ モンスター討伐という「自力感」の演出</a:t>
            </a:r>
          </a:p>
        </p:txBody>
      </p:sp>
      <p:sp>
        <p:nvSpPr>
          <p:cNvPr id="19" name="TextBox 18"/>
          <p:cNvSpPr txBox="1"/>
          <p:nvPr/>
        </p:nvSpPr>
        <p:spPr>
          <a:xfrm>
            <a:off x="326032" y="2269808"/>
            <a:ext cx="4070520" cy="800000"/>
          </a:xfrm>
          <a:prstGeom prst="rect">
            <a:avLst/>
          </a:prstGeom>
          <a:noFill/>
        </p:spPr>
        <p:txBody>
          <a:bodyPr wrap="square">
            <a:spAutoFit/>
          </a:bodyPr>
          <a:lstStyle/>
          <a:p>
            <a:pPr algn="l"/>
            <a:r>
              <a:rPr sz="800" b="0">
                <a:solidFill>
                  <a:srgbClr val="F0ECE0"/>
                </a:solidFill>
                <a:latin typeface="メイリオ"/>
              </a:rPr>
              <a:t>ボーナス中に「モンスターと戦い討伐する」演出が
「自分がボーナスを継続させた」感覚を生む。
結果は内部抽選だが、演出の勝利体験が
プレイヤーの主体性・没入感を高める。</a:t>
            </a:r>
          </a:p>
        </p:txBody>
      </p:sp>
      <p:sp>
        <p:nvSpPr>
          <p:cNvPr id="20" name="Rectangle 19"/>
          <p:cNvSpPr/>
          <p:nvPr/>
        </p:nvSpPr>
        <p:spPr>
          <a:xfrm>
            <a:off x="4727448" y="1939808"/>
            <a:ext cx="4160520" cy="1190000"/>
          </a:xfrm>
          <a:prstGeom prst="rect">
            <a:avLst/>
          </a:prstGeom>
          <a:solidFill>
            <a:srgbClr val="181208"/>
          </a:solidFill>
          <a:ln w="19050">
            <a:solidFill>
              <a:srgbClr val="22CC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27448" y="1939808"/>
            <a:ext cx="40000" cy="1190000"/>
          </a:xfrm>
          <a:prstGeom prst="rect">
            <a:avLst/>
          </a:prstGeom>
          <a:solidFill>
            <a:srgbClr val="22CC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97448" y="1989808"/>
            <a:ext cx="4070520" cy="260000"/>
          </a:xfrm>
          <a:prstGeom prst="rect">
            <a:avLst/>
          </a:prstGeom>
          <a:noFill/>
        </p:spPr>
        <p:txBody>
          <a:bodyPr wrap="square">
            <a:spAutoFit/>
          </a:bodyPr>
          <a:lstStyle/>
          <a:p>
            <a:pPr algn="l"/>
            <a:r>
              <a:rPr sz="950" b="1">
                <a:solidFill>
                  <a:srgbClr val="22CCDD"/>
                </a:solidFill>
                <a:latin typeface="游明朝"/>
              </a:rPr>
              <a:t>④ 剥ぎ取りチャンスという「報酬の可視化」</a:t>
            </a:r>
          </a:p>
        </p:txBody>
      </p:sp>
      <p:sp>
        <p:nvSpPr>
          <p:cNvPr id="23" name="TextBox 22"/>
          <p:cNvSpPr txBox="1"/>
          <p:nvPr/>
        </p:nvSpPr>
        <p:spPr>
          <a:xfrm>
            <a:off x="4797448" y="2269808"/>
            <a:ext cx="4070520" cy="800000"/>
          </a:xfrm>
          <a:prstGeom prst="rect">
            <a:avLst/>
          </a:prstGeom>
          <a:noFill/>
        </p:spPr>
        <p:txBody>
          <a:bodyPr wrap="square">
            <a:spAutoFit/>
          </a:bodyPr>
          <a:lstStyle/>
          <a:p>
            <a:pPr algn="l"/>
            <a:r>
              <a:rPr sz="800" b="0">
                <a:solidFill>
                  <a:srgbClr val="F0ECE0"/>
                </a:solidFill>
                <a:latin typeface="メイリオ"/>
              </a:rPr>
              <a:t>討伐後に報酬（銀/金/G/超）が明示される設計。
これはモンハンの剥ぎ取りアイテム入手体験そのもの。
「何が来るか」のワクワクと「金以上で次が来る」
緊張感が共存する完成度の高い報酬演出。</a:t>
            </a:r>
          </a:p>
        </p:txBody>
      </p:sp>
      <p:sp>
        <p:nvSpPr>
          <p:cNvPr id="24" name="Rectangle 23"/>
          <p:cNvSpPr/>
          <p:nvPr/>
        </p:nvSpPr>
        <p:spPr>
          <a:xfrm>
            <a:off x="256032" y="3221248"/>
            <a:ext cx="8631936" cy="1090000"/>
          </a:xfrm>
          <a:prstGeom prst="rect">
            <a:avLst/>
          </a:prstGeom>
          <a:solidFill>
            <a:srgbClr val="181208"/>
          </a:solidFill>
          <a:ln w="19050">
            <a:solidFill>
              <a:srgbClr val="188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56032" y="3221248"/>
            <a:ext cx="40000" cy="1090000"/>
          </a:xfrm>
          <a:prstGeom prst="rect">
            <a:avLst/>
          </a:prstGeom>
          <a:solidFill>
            <a:srgbClr val="188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6032" y="3271248"/>
            <a:ext cx="8541936" cy="260000"/>
          </a:xfrm>
          <a:prstGeom prst="rect">
            <a:avLst/>
          </a:prstGeom>
          <a:noFill/>
        </p:spPr>
        <p:txBody>
          <a:bodyPr wrap="square">
            <a:spAutoFit/>
          </a:bodyPr>
          <a:lstStyle/>
          <a:p>
            <a:pPr algn="l"/>
            <a:r>
              <a:rPr sz="950" b="1">
                <a:solidFill>
                  <a:srgbClr val="188030"/>
                </a:solidFill>
                <a:latin typeface="游明朝"/>
              </a:rPr>
              <a:t>⑤ 18.5インチ液晶×5Dサウンドによる没入感</a:t>
            </a:r>
          </a:p>
        </p:txBody>
      </p:sp>
      <p:sp>
        <p:nvSpPr>
          <p:cNvPr id="27" name="TextBox 26"/>
          <p:cNvSpPr txBox="1"/>
          <p:nvPr/>
        </p:nvSpPr>
        <p:spPr>
          <a:xfrm>
            <a:off x="326032" y="3551248"/>
            <a:ext cx="8541936" cy="700000"/>
          </a:xfrm>
          <a:prstGeom prst="rect">
            <a:avLst/>
          </a:prstGeom>
          <a:noFill/>
        </p:spPr>
        <p:txBody>
          <a:bodyPr wrap="square">
            <a:spAutoFit/>
          </a:bodyPr>
          <a:lstStyle/>
          <a:p>
            <a:pPr algn="l"/>
            <a:r>
              <a:rPr sz="800" b="0">
                <a:solidFill>
                  <a:srgbClr val="F0ECE0"/>
                </a:solidFill>
                <a:latin typeface="メイリオ"/>
              </a:rPr>
              <a:t>業界最大の液晶と4スピーカー＋ウーファーが
モンハンライズの世界をホールで再現。
IPファンにとっては「ゲームの続き」を
スロット台でプレイする体験になる特別な筐体設計。</a:t>
            </a:r>
          </a:p>
        </p:txBody>
      </p:sp>
      <p:sp>
        <p:nvSpPr>
          <p:cNvPr id="28" name="TextBox 27"/>
          <p:cNvSpPr txBox="1"/>
          <p:nvPr/>
        </p:nvSpPr>
        <p:spPr>
          <a:xfrm>
            <a:off x="6675120" y="4919472"/>
            <a:ext cx="2377440" cy="180000"/>
          </a:xfrm>
          <a:prstGeom prst="rect">
            <a:avLst/>
          </a:prstGeom>
          <a:noFill/>
        </p:spPr>
        <p:txBody>
          <a:bodyPr wrap="square">
            <a:spAutoFit/>
          </a:bodyPr>
          <a:lstStyle/>
          <a:p>
            <a:pPr algn="r"/>
            <a:r>
              <a:rPr sz="650" b="0">
                <a:solidFill>
                  <a:srgbClr val="999080"/>
                </a:solidFill>
                <a:latin typeface="メイリオ"/>
              </a:rPr>
              <a:t>※ネット解析情報より（ちょんぼりすた・なな徹・一撃・pachiseven）</a:t>
            </a:r>
          </a:p>
        </p:txBody>
      </p:sp>
      <p:sp>
        <p:nvSpPr>
          <p:cNvPr id="29" name="Rectangle 28"/>
          <p:cNvSpPr/>
          <p:nvPr/>
        </p:nvSpPr>
        <p:spPr>
          <a:xfrm>
            <a:off x="0" y="4645152"/>
            <a:ext cx="9144000" cy="498348"/>
          </a:xfrm>
          <a:prstGeom prst="rect">
            <a:avLst/>
          </a:prstGeom>
          <a:solidFill>
            <a:srgbClr val="100C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0" y="4645152"/>
            <a:ext cx="20000" cy="498348"/>
          </a:xfrm>
          <a:prstGeom prst="rect">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64592" y="4685152"/>
            <a:ext cx="5029200" cy="340000"/>
          </a:xfrm>
          <a:prstGeom prst="rect">
            <a:avLst/>
          </a:prstGeom>
          <a:noFill/>
        </p:spPr>
        <p:txBody>
          <a:bodyPr wrap="square">
            <a:spAutoFit/>
          </a:bodyPr>
          <a:lstStyle/>
          <a:p>
            <a:pPr algn="l"/>
            <a:r>
              <a:rPr sz="750" b="1">
                <a:solidFill>
                  <a:srgbClr val="FF8800"/>
                </a:solidFill>
                <a:latin typeface="メイリオ"/>
              </a:rPr>
              <a:t>融合成功の核心：モンハンの「狩猟サイクル」がスロットのゲームループと構造的に一致しているため自然な融合が実現</a:t>
            </a:r>
          </a:p>
        </p:txBody>
      </p:sp>
      <p:sp>
        <p:nvSpPr>
          <p:cNvPr id="32" name="TextBox 31"/>
          <p:cNvSpPr txBox="1"/>
          <p:nvPr/>
        </p:nvSpPr>
        <p:spPr>
          <a:xfrm>
            <a:off x="5303520" y="4685152"/>
            <a:ext cx="3657600" cy="340000"/>
          </a:xfrm>
          <a:prstGeom prst="rect">
            <a:avLst/>
          </a:prstGeom>
          <a:noFill/>
        </p:spPr>
        <p:txBody>
          <a:bodyPr wrap="square">
            <a:spAutoFit/>
          </a:bodyPr>
          <a:lstStyle/>
          <a:p>
            <a:pPr algn="r"/>
            <a:r>
              <a:rPr sz="700" b="0">
                <a:solidFill>
                  <a:srgbClr val="999080"/>
                </a:solidFill>
                <a:latin typeface="メイリオ"/>
              </a:rPr>
              <a:t>蓄積感（カムラPT）×自力感（討伐演出）×報酬可視化（剥ぎ取り）×没入感（筐体）の4要素が相互強化する設計</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1812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400" b="1">
                <a:solidFill>
                  <a:srgbClr val="FF8800"/>
                </a:solidFill>
                <a:latin typeface="游明朝"/>
              </a:rPr>
              <a:t>良い点と課題 ── 設計の強みと改善余地</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999080"/>
                </a:solidFill>
                <a:latin typeface="メイリオ"/>
              </a:rPr>
              <a:t>8/9</a:t>
            </a:r>
          </a:p>
        </p:txBody>
      </p:sp>
      <p:sp>
        <p:nvSpPr>
          <p:cNvPr id="7" name="Rectangle 6"/>
          <p:cNvSpPr/>
          <p:nvPr/>
        </p:nvSpPr>
        <p:spPr>
          <a:xfrm>
            <a:off x="0" y="530352"/>
            <a:ext cx="9144000" cy="7000"/>
          </a:xfrm>
          <a:prstGeom prst="rect">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658368"/>
            <a:ext cx="4114800" cy="260000"/>
          </a:xfrm>
          <a:prstGeom prst="rect">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6032" y="713368"/>
            <a:ext cx="4034800" cy="200000"/>
          </a:xfrm>
          <a:prstGeom prst="rect">
            <a:avLst/>
          </a:prstGeom>
          <a:noFill/>
        </p:spPr>
        <p:txBody>
          <a:bodyPr wrap="square">
            <a:spAutoFit/>
          </a:bodyPr>
          <a:lstStyle/>
          <a:p>
            <a:pPr algn="l"/>
            <a:r>
              <a:rPr sz="1000" b="1">
                <a:solidFill>
                  <a:srgbClr val="0C0804"/>
                </a:solidFill>
                <a:latin typeface="メイリオ"/>
              </a:rPr>
              <a:t>良い点 ── 設計的強み</a:t>
            </a:r>
          </a:p>
        </p:txBody>
      </p:sp>
      <p:sp>
        <p:nvSpPr>
          <p:cNvPr id="10" name="Rectangle 9"/>
          <p:cNvSpPr/>
          <p:nvPr/>
        </p:nvSpPr>
        <p:spPr>
          <a:xfrm>
            <a:off x="256032" y="918368"/>
            <a:ext cx="4114800" cy="1070000"/>
          </a:xfrm>
          <a:prstGeom prst="rect">
            <a:avLst/>
          </a:prstGeom>
          <a:solidFill>
            <a:srgbClr val="181208"/>
          </a:solidFill>
          <a:ln w="15240">
            <a:solidFill>
              <a:srgbClr val="22A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6032" y="918368"/>
            <a:ext cx="35000" cy="1070000"/>
          </a:xfrm>
          <a:prstGeom prst="rect">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16032" y="966368"/>
            <a:ext cx="4034800" cy="250000"/>
          </a:xfrm>
          <a:prstGeom prst="rect">
            <a:avLst/>
          </a:prstGeom>
          <a:noFill/>
        </p:spPr>
        <p:txBody>
          <a:bodyPr wrap="square">
            <a:spAutoFit/>
          </a:bodyPr>
          <a:lstStyle/>
          <a:p>
            <a:pPr algn="l"/>
            <a:r>
              <a:rPr sz="850" b="1">
                <a:solidFill>
                  <a:srgbClr val="22AA44"/>
                </a:solidFill>
                <a:latin typeface="メイリオ"/>
              </a:rPr>
              <a:t>IP×ゲームループの完全一致という稀有な融合</a:t>
            </a:r>
          </a:p>
        </p:txBody>
      </p:sp>
      <p:sp>
        <p:nvSpPr>
          <p:cNvPr id="13" name="TextBox 12"/>
          <p:cNvSpPr txBox="1"/>
          <p:nvPr/>
        </p:nvSpPr>
        <p:spPr>
          <a:xfrm>
            <a:off x="316032" y="1218368"/>
            <a:ext cx="4034800" cy="660000"/>
          </a:xfrm>
          <a:prstGeom prst="rect">
            <a:avLst/>
          </a:prstGeom>
          <a:noFill/>
        </p:spPr>
        <p:txBody>
          <a:bodyPr wrap="square">
            <a:spAutoFit/>
          </a:bodyPr>
          <a:lstStyle/>
          <a:p>
            <a:pPr algn="l"/>
            <a:r>
              <a:rPr sz="750" b="0">
                <a:solidFill>
                  <a:srgbClr val="F0ECE0"/>
                </a:solidFill>
                <a:latin typeface="メイリオ"/>
              </a:rPr>
              <a:t>モンハンの「狩猟サイクル」がスロットのAT継続設計
と構造一致。違和感なく世界観に入れる
IP活用の模範事例として業界屈指の完成度。</a:t>
            </a:r>
          </a:p>
        </p:txBody>
      </p:sp>
      <p:sp>
        <p:nvSpPr>
          <p:cNvPr id="14" name="Rectangle 13"/>
          <p:cNvSpPr/>
          <p:nvPr/>
        </p:nvSpPr>
        <p:spPr>
          <a:xfrm>
            <a:off x="256032" y="2058368"/>
            <a:ext cx="4114800" cy="1070000"/>
          </a:xfrm>
          <a:prstGeom prst="rect">
            <a:avLst/>
          </a:prstGeom>
          <a:solidFill>
            <a:srgbClr val="181208"/>
          </a:solidFill>
          <a:ln w="15240">
            <a:solidFill>
              <a:srgbClr val="22A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6032" y="2058368"/>
            <a:ext cx="35000" cy="1070000"/>
          </a:xfrm>
          <a:prstGeom prst="rect">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6032" y="2106368"/>
            <a:ext cx="4034800" cy="250000"/>
          </a:xfrm>
          <a:prstGeom prst="rect">
            <a:avLst/>
          </a:prstGeom>
          <a:noFill/>
        </p:spPr>
        <p:txBody>
          <a:bodyPr wrap="square">
            <a:spAutoFit/>
          </a:bodyPr>
          <a:lstStyle/>
          <a:p>
            <a:pPr algn="l"/>
            <a:r>
              <a:rPr sz="850" b="1">
                <a:solidFill>
                  <a:srgbClr val="22AA44"/>
                </a:solidFill>
                <a:latin typeface="メイリオ"/>
              </a:rPr>
              <a:t>カムラポイントによる通常時の目的意識</a:t>
            </a:r>
          </a:p>
        </p:txBody>
      </p:sp>
      <p:sp>
        <p:nvSpPr>
          <p:cNvPr id="17" name="TextBox 16"/>
          <p:cNvSpPr txBox="1"/>
          <p:nvPr/>
        </p:nvSpPr>
        <p:spPr>
          <a:xfrm>
            <a:off x="316032" y="2358368"/>
            <a:ext cx="4034800" cy="660000"/>
          </a:xfrm>
          <a:prstGeom prst="rect">
            <a:avLst/>
          </a:prstGeom>
          <a:noFill/>
        </p:spPr>
        <p:txBody>
          <a:bodyPr wrap="square">
            <a:spAutoFit/>
          </a:bodyPr>
          <a:lstStyle/>
          <a:p>
            <a:pPr algn="l"/>
            <a:r>
              <a:rPr sz="750" b="0">
                <a:solidFill>
                  <a:srgbClr val="F0ECE0"/>
                </a:solidFill>
                <a:latin typeface="メイリオ"/>
              </a:rPr>
              <a:t>小役入賞をポイント蓄積として可視化し
通常時の「退屈な消化」を「積み上げる楽しさ」に変換。
遊技時間全体に意味を持たせるUX設計。</a:t>
            </a:r>
          </a:p>
        </p:txBody>
      </p:sp>
      <p:sp>
        <p:nvSpPr>
          <p:cNvPr id="18" name="Rectangle 17"/>
          <p:cNvSpPr/>
          <p:nvPr/>
        </p:nvSpPr>
        <p:spPr>
          <a:xfrm>
            <a:off x="256032" y="3198368"/>
            <a:ext cx="4114800" cy="1070000"/>
          </a:xfrm>
          <a:prstGeom prst="rect">
            <a:avLst/>
          </a:prstGeom>
          <a:solidFill>
            <a:srgbClr val="181208"/>
          </a:solidFill>
          <a:ln w="15240">
            <a:solidFill>
              <a:srgbClr val="22A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6032" y="3198368"/>
            <a:ext cx="35000" cy="1070000"/>
          </a:xfrm>
          <a:prstGeom prst="rect">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16032" y="3246368"/>
            <a:ext cx="4034800" cy="250000"/>
          </a:xfrm>
          <a:prstGeom prst="rect">
            <a:avLst/>
          </a:prstGeom>
          <a:noFill/>
        </p:spPr>
        <p:txBody>
          <a:bodyPr wrap="square">
            <a:spAutoFit/>
          </a:bodyPr>
          <a:lstStyle/>
          <a:p>
            <a:pPr algn="l"/>
            <a:r>
              <a:rPr sz="850" b="1">
                <a:solidFill>
                  <a:srgbClr val="22AA44"/>
                </a:solidFill>
                <a:latin typeface="メイリオ"/>
              </a:rPr>
              <a:t>剥ぎ取りチャンスの階層的報酬設計</a:t>
            </a:r>
          </a:p>
        </p:txBody>
      </p:sp>
      <p:sp>
        <p:nvSpPr>
          <p:cNvPr id="21" name="TextBox 20"/>
          <p:cNvSpPr txBox="1"/>
          <p:nvPr/>
        </p:nvSpPr>
        <p:spPr>
          <a:xfrm>
            <a:off x="316032" y="3498368"/>
            <a:ext cx="4034800" cy="660000"/>
          </a:xfrm>
          <a:prstGeom prst="rect">
            <a:avLst/>
          </a:prstGeom>
          <a:noFill/>
        </p:spPr>
        <p:txBody>
          <a:bodyPr wrap="square">
            <a:spAutoFit/>
          </a:bodyPr>
          <a:lstStyle/>
          <a:p>
            <a:pPr algn="l"/>
            <a:r>
              <a:rPr sz="750" b="0">
                <a:solidFill>
                  <a:srgbClr val="F0ECE0"/>
                </a:solidFill>
                <a:latin typeface="メイリオ"/>
              </a:rPr>
              <a:t>銀→金→G→超の4段階で報酬を明示。
「金が出れば次が来る」という明確な条件が
プレイヤーに目標と緊張感を同時提供する。</a:t>
            </a:r>
          </a:p>
        </p:txBody>
      </p:sp>
      <p:sp>
        <p:nvSpPr>
          <p:cNvPr id="22" name="Rectangle 21"/>
          <p:cNvSpPr/>
          <p:nvPr/>
        </p:nvSpPr>
        <p:spPr>
          <a:xfrm>
            <a:off x="256032" y="4338368"/>
            <a:ext cx="4114800" cy="1070000"/>
          </a:xfrm>
          <a:prstGeom prst="rect">
            <a:avLst/>
          </a:prstGeom>
          <a:solidFill>
            <a:srgbClr val="181208"/>
          </a:solidFill>
          <a:ln w="15240">
            <a:solidFill>
              <a:srgbClr val="22A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56032" y="4338368"/>
            <a:ext cx="35000" cy="1070000"/>
          </a:xfrm>
          <a:prstGeom prst="rect">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16032" y="4386368"/>
            <a:ext cx="4034800" cy="250000"/>
          </a:xfrm>
          <a:prstGeom prst="rect">
            <a:avLst/>
          </a:prstGeom>
          <a:noFill/>
        </p:spPr>
        <p:txBody>
          <a:bodyPr wrap="square">
            <a:spAutoFit/>
          </a:bodyPr>
          <a:lstStyle/>
          <a:p>
            <a:pPr algn="l"/>
            <a:r>
              <a:rPr sz="850" b="1">
                <a:solidFill>
                  <a:srgbClr val="22AA44"/>
                </a:solidFill>
                <a:latin typeface="メイリオ"/>
              </a:rPr>
              <a:t>筐体（18.5インチ+5Dサウンド）の圧倒的没入感</a:t>
            </a:r>
          </a:p>
        </p:txBody>
      </p:sp>
      <p:sp>
        <p:nvSpPr>
          <p:cNvPr id="25" name="TextBox 24"/>
          <p:cNvSpPr txBox="1"/>
          <p:nvPr/>
        </p:nvSpPr>
        <p:spPr>
          <a:xfrm>
            <a:off x="316032" y="4638368"/>
            <a:ext cx="4034800" cy="660000"/>
          </a:xfrm>
          <a:prstGeom prst="rect">
            <a:avLst/>
          </a:prstGeom>
          <a:noFill/>
        </p:spPr>
        <p:txBody>
          <a:bodyPr wrap="square">
            <a:spAutoFit/>
          </a:bodyPr>
          <a:lstStyle/>
          <a:p>
            <a:pPr algn="l"/>
            <a:r>
              <a:rPr sz="750" b="0">
                <a:solidFill>
                  <a:srgbClr val="F0ECE0"/>
                </a:solidFill>
                <a:latin typeface="メイリオ"/>
              </a:rPr>
              <a:t>業界最大液晶×ウーファー搭載で
モンハンの世界観を最大出力で再現。
IPファンの「続きをプレイする感覚」を実現。</a:t>
            </a:r>
          </a:p>
        </p:txBody>
      </p:sp>
      <p:sp>
        <p:nvSpPr>
          <p:cNvPr id="26" name="Rectangle 25"/>
          <p:cNvSpPr/>
          <p:nvPr/>
        </p:nvSpPr>
        <p:spPr>
          <a:xfrm>
            <a:off x="4572000" y="658368"/>
            <a:ext cx="4297680" cy="260000"/>
          </a:xfrm>
          <a:prstGeom prst="rect">
            <a:avLst/>
          </a:prstGeom>
          <a:solidFill>
            <a:srgbClr val="DD22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32000" y="713368"/>
            <a:ext cx="4217680" cy="200000"/>
          </a:xfrm>
          <a:prstGeom prst="rect">
            <a:avLst/>
          </a:prstGeom>
          <a:noFill/>
        </p:spPr>
        <p:txBody>
          <a:bodyPr wrap="square">
            <a:spAutoFit/>
          </a:bodyPr>
          <a:lstStyle/>
          <a:p>
            <a:pPr algn="l"/>
            <a:r>
              <a:rPr sz="1000" b="1">
                <a:solidFill>
                  <a:srgbClr val="F0ECE0"/>
                </a:solidFill>
                <a:latin typeface="メイリオ"/>
              </a:rPr>
              <a:t>課題 ── 改善余地・注意点</a:t>
            </a:r>
          </a:p>
        </p:txBody>
      </p:sp>
      <p:sp>
        <p:nvSpPr>
          <p:cNvPr id="28" name="Rectangle 27"/>
          <p:cNvSpPr/>
          <p:nvPr/>
        </p:nvSpPr>
        <p:spPr>
          <a:xfrm>
            <a:off x="4572000" y="918368"/>
            <a:ext cx="4297680" cy="1070000"/>
          </a:xfrm>
          <a:prstGeom prst="rect">
            <a:avLst/>
          </a:prstGeom>
          <a:solidFill>
            <a:srgbClr val="181208"/>
          </a:solidFill>
          <a:ln w="15240">
            <a:solidFill>
              <a:srgbClr val="DD22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0" y="918368"/>
            <a:ext cx="35000" cy="1070000"/>
          </a:xfrm>
          <a:prstGeom prst="rect">
            <a:avLst/>
          </a:prstGeom>
          <a:solidFill>
            <a:srgbClr val="DD22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32000" y="966368"/>
            <a:ext cx="4217680" cy="250000"/>
          </a:xfrm>
          <a:prstGeom prst="rect">
            <a:avLst/>
          </a:prstGeom>
          <a:noFill/>
        </p:spPr>
        <p:txBody>
          <a:bodyPr wrap="square">
            <a:spAutoFit/>
          </a:bodyPr>
          <a:lstStyle/>
          <a:p>
            <a:pPr algn="l"/>
            <a:r>
              <a:rPr sz="850" b="1">
                <a:solidFill>
                  <a:srgbClr val="DD2211"/>
                </a:solidFill>
                <a:latin typeface="メイリオ"/>
              </a:rPr>
              <a:t>ユーザー評価の低さ（平均1.4点）</a:t>
            </a:r>
          </a:p>
        </p:txBody>
      </p:sp>
      <p:sp>
        <p:nvSpPr>
          <p:cNvPr id="31" name="TextBox 30"/>
          <p:cNvSpPr txBox="1"/>
          <p:nvPr/>
        </p:nvSpPr>
        <p:spPr>
          <a:xfrm>
            <a:off x="4632000" y="1218368"/>
            <a:ext cx="4217680" cy="660000"/>
          </a:xfrm>
          <a:prstGeom prst="rect">
            <a:avLst/>
          </a:prstGeom>
          <a:noFill/>
        </p:spPr>
        <p:txBody>
          <a:bodyPr wrap="square">
            <a:spAutoFit/>
          </a:bodyPr>
          <a:lstStyle/>
          <a:p>
            <a:pPr algn="l"/>
            <a:r>
              <a:rPr sz="750" b="0">
                <a:solidFill>
                  <a:srgbClr val="F0ECE0"/>
                </a:solidFill>
                <a:latin typeface="メイリオ"/>
              </a:rPr>
              <a:t>DMMぱちタウンのユーザー評価が1.4点と低い。
「攻撃しない」「ポイント周期が遠い」の不満が目立つ。
通常時の出力が体感的に弱く感じられやすい。</a:t>
            </a:r>
          </a:p>
        </p:txBody>
      </p:sp>
      <p:sp>
        <p:nvSpPr>
          <p:cNvPr id="32" name="Rectangle 31"/>
          <p:cNvSpPr/>
          <p:nvPr/>
        </p:nvSpPr>
        <p:spPr>
          <a:xfrm>
            <a:off x="4572000" y="2058368"/>
            <a:ext cx="4297680" cy="1070000"/>
          </a:xfrm>
          <a:prstGeom prst="rect">
            <a:avLst/>
          </a:prstGeom>
          <a:solidFill>
            <a:srgbClr val="181208"/>
          </a:solidFill>
          <a:ln w="1524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0" y="2058368"/>
            <a:ext cx="35000" cy="1070000"/>
          </a:xfrm>
          <a:prstGeom prst="rect">
            <a:avLst/>
          </a:prstGeom>
          <a:solidFill>
            <a:srgbClr val="FF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32000" y="2106368"/>
            <a:ext cx="4217680" cy="250000"/>
          </a:xfrm>
          <a:prstGeom prst="rect">
            <a:avLst/>
          </a:prstGeom>
          <a:noFill/>
        </p:spPr>
        <p:txBody>
          <a:bodyPr wrap="square">
            <a:spAutoFit/>
          </a:bodyPr>
          <a:lstStyle/>
          <a:p>
            <a:pPr algn="l"/>
            <a:r>
              <a:rPr sz="850" b="1">
                <a:solidFill>
                  <a:srgbClr val="FF8800"/>
                </a:solidFill>
                <a:latin typeface="メイリオ"/>
              </a:rPr>
              <a:t>討伐率約52%の引き弱による単調感</a:t>
            </a:r>
          </a:p>
        </p:txBody>
      </p:sp>
      <p:sp>
        <p:nvSpPr>
          <p:cNvPr id="35" name="TextBox 34"/>
          <p:cNvSpPr txBox="1"/>
          <p:nvPr/>
        </p:nvSpPr>
        <p:spPr>
          <a:xfrm>
            <a:off x="4632000" y="2358368"/>
            <a:ext cx="4217680" cy="660000"/>
          </a:xfrm>
          <a:prstGeom prst="rect">
            <a:avLst/>
          </a:prstGeom>
          <a:noFill/>
        </p:spPr>
        <p:txBody>
          <a:bodyPr wrap="square">
            <a:spAutoFit/>
          </a:bodyPr>
          <a:lstStyle/>
          <a:p>
            <a:pPr algn="l"/>
            <a:r>
              <a:rPr sz="750" b="0">
                <a:solidFill>
                  <a:srgbClr val="F0ECE0"/>
                </a:solidFill>
                <a:latin typeface="メイリオ"/>
              </a:rPr>
              <a:t>平均討伐期待度約52%は五分五分の継続率。
連続失敗時の出玉停滞感が強く
"当たっているのに増えない"という体験になりやすい。</a:t>
            </a:r>
          </a:p>
        </p:txBody>
      </p:sp>
      <p:sp>
        <p:nvSpPr>
          <p:cNvPr id="36" name="Rectangle 35"/>
          <p:cNvSpPr/>
          <p:nvPr/>
        </p:nvSpPr>
        <p:spPr>
          <a:xfrm>
            <a:off x="4572000" y="3198368"/>
            <a:ext cx="4297680" cy="1070000"/>
          </a:xfrm>
          <a:prstGeom prst="rect">
            <a:avLst/>
          </a:prstGeom>
          <a:solidFill>
            <a:srgbClr val="181208"/>
          </a:solidFill>
          <a:ln w="15240">
            <a:solidFill>
              <a:srgbClr val="CCAA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572000" y="3198368"/>
            <a:ext cx="35000" cy="1070000"/>
          </a:xfrm>
          <a:prstGeom prst="rect">
            <a:avLst/>
          </a:prstGeom>
          <a:solidFill>
            <a:srgbClr val="CCA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632000" y="3246368"/>
            <a:ext cx="4217680" cy="250000"/>
          </a:xfrm>
          <a:prstGeom prst="rect">
            <a:avLst/>
          </a:prstGeom>
          <a:noFill/>
        </p:spPr>
        <p:txBody>
          <a:bodyPr wrap="square">
            <a:spAutoFit/>
          </a:bodyPr>
          <a:lstStyle/>
          <a:p>
            <a:pPr algn="l"/>
            <a:r>
              <a:rPr sz="850" b="1">
                <a:solidFill>
                  <a:srgbClr val="CCAA22"/>
                </a:solidFill>
                <a:latin typeface="メイリオ"/>
              </a:rPr>
              <a:t>上位AT到達率の低さ（複合約48%）</a:t>
            </a:r>
          </a:p>
        </p:txBody>
      </p:sp>
      <p:sp>
        <p:nvSpPr>
          <p:cNvPr id="39" name="TextBox 38"/>
          <p:cNvSpPr txBox="1"/>
          <p:nvPr/>
        </p:nvSpPr>
        <p:spPr>
          <a:xfrm>
            <a:off x="4632000" y="3498368"/>
            <a:ext cx="4217680" cy="660000"/>
          </a:xfrm>
          <a:prstGeom prst="rect">
            <a:avLst/>
          </a:prstGeom>
          <a:noFill/>
        </p:spPr>
        <p:txBody>
          <a:bodyPr wrap="square">
            <a:spAutoFit/>
          </a:bodyPr>
          <a:lstStyle/>
          <a:p>
            <a:pPr algn="l"/>
            <a:r>
              <a:rPr sz="750" b="0">
                <a:solidFill>
                  <a:srgbClr val="F0ECE0"/>
                </a:solidFill>
                <a:latin typeface="メイリオ"/>
              </a:rPr>
              <a:t>エンディング→チャレンジ→BONUS討伐成功の
複合確率で約48%。半数以上が上位AT未到達。
通常ATだけでは物足りなさが残りやすい。</a:t>
            </a:r>
          </a:p>
        </p:txBody>
      </p:sp>
      <p:sp>
        <p:nvSpPr>
          <p:cNvPr id="40" name="Rectangle 39"/>
          <p:cNvSpPr/>
          <p:nvPr/>
        </p:nvSpPr>
        <p:spPr>
          <a:xfrm>
            <a:off x="4572000" y="4338368"/>
            <a:ext cx="4297680" cy="1070000"/>
          </a:xfrm>
          <a:prstGeom prst="rect">
            <a:avLst/>
          </a:prstGeom>
          <a:solidFill>
            <a:srgbClr val="181208"/>
          </a:solidFill>
          <a:ln w="15240">
            <a:solidFill>
              <a:srgbClr val="999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0" y="4338368"/>
            <a:ext cx="35000" cy="1070000"/>
          </a:xfrm>
          <a:prstGeom prst="rect">
            <a:avLst/>
          </a:prstGeom>
          <a:solidFill>
            <a:srgbClr val="999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32000" y="4386368"/>
            <a:ext cx="4217680" cy="250000"/>
          </a:xfrm>
          <a:prstGeom prst="rect">
            <a:avLst/>
          </a:prstGeom>
          <a:noFill/>
        </p:spPr>
        <p:txBody>
          <a:bodyPr wrap="square">
            <a:spAutoFit/>
          </a:bodyPr>
          <a:lstStyle/>
          <a:p>
            <a:pPr algn="l"/>
            <a:r>
              <a:rPr sz="850" b="1">
                <a:solidFill>
                  <a:srgbClr val="999080"/>
                </a:solidFill>
                <a:latin typeface="メイリオ"/>
              </a:rPr>
              <a:t>設定判別要素の少なさ・わかりにくさ</a:t>
            </a:r>
          </a:p>
        </p:txBody>
      </p:sp>
      <p:sp>
        <p:nvSpPr>
          <p:cNvPr id="43" name="TextBox 42"/>
          <p:cNvSpPr txBox="1"/>
          <p:nvPr/>
        </p:nvSpPr>
        <p:spPr>
          <a:xfrm>
            <a:off x="4632000" y="4638368"/>
            <a:ext cx="4217680" cy="660000"/>
          </a:xfrm>
          <a:prstGeom prst="rect">
            <a:avLst/>
          </a:prstGeom>
          <a:noFill/>
        </p:spPr>
        <p:txBody>
          <a:bodyPr wrap="square">
            <a:spAutoFit/>
          </a:bodyPr>
          <a:lstStyle/>
          <a:p>
            <a:pPr algn="l"/>
            <a:r>
              <a:rPr sz="750" b="0">
                <a:solidFill>
                  <a:srgbClr val="F0ECE0"/>
                </a:solidFill>
                <a:latin typeface="メイリオ"/>
              </a:rPr>
              <a:t>ロングフリーズ（設定6濃厚）は極レア。
キャラ紹介ムービーのエンタライオン登場が
設定6示唆だが気付けないユーザーも多い。</a:t>
            </a:r>
          </a:p>
        </p:txBody>
      </p:sp>
      <p:sp>
        <p:nvSpPr>
          <p:cNvPr id="44" name="TextBox 43"/>
          <p:cNvSpPr txBox="1"/>
          <p:nvPr/>
        </p:nvSpPr>
        <p:spPr>
          <a:xfrm>
            <a:off x="6675120" y="4919472"/>
            <a:ext cx="2377440" cy="180000"/>
          </a:xfrm>
          <a:prstGeom prst="rect">
            <a:avLst/>
          </a:prstGeom>
          <a:noFill/>
        </p:spPr>
        <p:txBody>
          <a:bodyPr wrap="square">
            <a:spAutoFit/>
          </a:bodyPr>
          <a:lstStyle/>
          <a:p>
            <a:pPr algn="r"/>
            <a:r>
              <a:rPr sz="650" b="0">
                <a:solidFill>
                  <a:srgbClr val="999080"/>
                </a:solidFill>
                <a:latin typeface="メイリオ"/>
              </a:rPr>
              <a:t>※ネット解析情報より（ちょんぼりすた・なな徹・一撃・pachiseven）</a:t>
            </a:r>
          </a:p>
        </p:txBody>
      </p:sp>
      <p:sp>
        <p:nvSpPr>
          <p:cNvPr id="45" name="Rectangle 44"/>
          <p:cNvSpPr/>
          <p:nvPr/>
        </p:nvSpPr>
        <p:spPr>
          <a:xfrm>
            <a:off x="0" y="4645152"/>
            <a:ext cx="9144000" cy="498348"/>
          </a:xfrm>
          <a:prstGeom prst="rect">
            <a:avLst/>
          </a:prstGeom>
          <a:solidFill>
            <a:srgbClr val="100C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645152"/>
            <a:ext cx="20000" cy="498348"/>
          </a:xfrm>
          <a:prstGeom prst="rect">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64592" y="4685152"/>
            <a:ext cx="5029200" cy="340000"/>
          </a:xfrm>
          <a:prstGeom prst="rect">
            <a:avLst/>
          </a:prstGeom>
          <a:noFill/>
        </p:spPr>
        <p:txBody>
          <a:bodyPr wrap="square">
            <a:spAutoFit/>
          </a:bodyPr>
          <a:lstStyle/>
          <a:p>
            <a:pPr algn="l"/>
            <a:r>
              <a:rPr sz="750" b="1">
                <a:solidFill>
                  <a:srgbClr val="FF8800"/>
                </a:solidFill>
                <a:latin typeface="メイリオ"/>
              </a:rPr>
              <a:t>評価分析：IP融合の設計完成度は高いが「討伐率50%の単調さ」と「上位AT到達難易度」が稼働離脱の主因</a:t>
            </a:r>
          </a:p>
        </p:txBody>
      </p:sp>
      <p:sp>
        <p:nvSpPr>
          <p:cNvPr id="48" name="TextBox 47"/>
          <p:cNvSpPr txBox="1"/>
          <p:nvPr/>
        </p:nvSpPr>
        <p:spPr>
          <a:xfrm>
            <a:off x="5303520" y="4685152"/>
            <a:ext cx="3657600" cy="340000"/>
          </a:xfrm>
          <a:prstGeom prst="rect">
            <a:avLst/>
          </a:prstGeom>
          <a:noFill/>
        </p:spPr>
        <p:txBody>
          <a:bodyPr wrap="square">
            <a:spAutoFit/>
          </a:bodyPr>
          <a:lstStyle/>
          <a:p>
            <a:pPr algn="r"/>
            <a:r>
              <a:rPr sz="700" b="0">
                <a:solidFill>
                  <a:srgbClr val="999080"/>
                </a:solidFill>
                <a:latin typeface="メイリオ"/>
              </a:rPr>
              <a:t>ユーザー評価1.4の背景には「通常ATの単発驚け抜け率の高さ」という出玉体験の問題が色濃く反映</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1812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400" b="1">
                <a:solidFill>
                  <a:srgbClr val="FF8800"/>
                </a:solidFill>
                <a:latin typeface="游明朝"/>
              </a:rPr>
              <a:t>まとめ ── 設計から学べること</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999080"/>
                </a:solidFill>
                <a:latin typeface="メイリオ"/>
              </a:rPr>
              <a:t>9/9</a:t>
            </a:r>
          </a:p>
        </p:txBody>
      </p:sp>
      <p:sp>
        <p:nvSpPr>
          <p:cNvPr id="7" name="Rectangle 6"/>
          <p:cNvSpPr/>
          <p:nvPr/>
        </p:nvSpPr>
        <p:spPr>
          <a:xfrm>
            <a:off x="0" y="530352"/>
            <a:ext cx="9144000" cy="7000"/>
          </a:xfrm>
          <a:prstGeom prst="rect">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658368"/>
            <a:ext cx="4114800" cy="260000"/>
          </a:xfrm>
          <a:prstGeom prst="rect">
            <a:avLst/>
          </a:prstGeom>
          <a:solidFill>
            <a:srgbClr val="184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6032" y="713368"/>
            <a:ext cx="4034800" cy="200000"/>
          </a:xfrm>
          <a:prstGeom prst="rect">
            <a:avLst/>
          </a:prstGeom>
          <a:noFill/>
        </p:spPr>
        <p:txBody>
          <a:bodyPr wrap="square">
            <a:spAutoFit/>
          </a:bodyPr>
          <a:lstStyle/>
          <a:p>
            <a:pPr algn="l"/>
            <a:r>
              <a:rPr sz="1000" b="1">
                <a:solidFill>
                  <a:srgbClr val="22AA44"/>
                </a:solidFill>
                <a:latin typeface="メイリオ"/>
              </a:rPr>
              <a:t>スマスロ モンハンライズ ── 設計的強み総括</a:t>
            </a:r>
          </a:p>
        </p:txBody>
      </p:sp>
      <p:sp>
        <p:nvSpPr>
          <p:cNvPr id="10" name="Rectangle 9"/>
          <p:cNvSpPr/>
          <p:nvPr/>
        </p:nvSpPr>
        <p:spPr>
          <a:xfrm>
            <a:off x="256032" y="918368"/>
            <a:ext cx="4114800" cy="1210000"/>
          </a:xfrm>
          <a:prstGeom prst="rect">
            <a:avLst/>
          </a:prstGeom>
          <a:solidFill>
            <a:srgbClr val="181208"/>
          </a:solidFill>
          <a:ln w="19050">
            <a:solidFill>
              <a:srgbClr val="22A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6032" y="918368"/>
            <a:ext cx="40000" cy="1210000"/>
          </a:xfrm>
          <a:prstGeom prst="rect">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6032" y="968368"/>
            <a:ext cx="4024800" cy="260000"/>
          </a:xfrm>
          <a:prstGeom prst="rect">
            <a:avLst/>
          </a:prstGeom>
          <a:noFill/>
        </p:spPr>
        <p:txBody>
          <a:bodyPr wrap="square">
            <a:spAutoFit/>
          </a:bodyPr>
          <a:lstStyle/>
          <a:p>
            <a:pPr algn="l"/>
            <a:r>
              <a:rPr sz="900" b="1">
                <a:solidFill>
                  <a:srgbClr val="22AA44"/>
                </a:solidFill>
                <a:latin typeface="メイリオ"/>
              </a:rPr>
              <a:t>IP×ゲームループ一致という設計の理想形</a:t>
            </a:r>
          </a:p>
        </p:txBody>
      </p:sp>
      <p:sp>
        <p:nvSpPr>
          <p:cNvPr id="13" name="TextBox 12"/>
          <p:cNvSpPr txBox="1"/>
          <p:nvPr/>
        </p:nvSpPr>
        <p:spPr>
          <a:xfrm>
            <a:off x="326032" y="1243368"/>
            <a:ext cx="4024800" cy="780000"/>
          </a:xfrm>
          <a:prstGeom prst="rect">
            <a:avLst/>
          </a:prstGeom>
          <a:noFill/>
        </p:spPr>
        <p:txBody>
          <a:bodyPr wrap="square">
            <a:spAutoFit/>
          </a:bodyPr>
          <a:lstStyle/>
          <a:p>
            <a:pPr algn="l"/>
            <a:r>
              <a:rPr sz="800" b="0">
                <a:solidFill>
                  <a:srgbClr val="F0ECE0"/>
                </a:solidFill>
                <a:latin typeface="メイリオ"/>
              </a:rPr>
              <a:t>「狩猟サイクル」というモンハンの本質的ループが
スロットのAT継続構造と完全対応。
IPライセンスを世界観だけでなく設計原理で活用した
パチスロIP活用の最高峰事例。</a:t>
            </a:r>
          </a:p>
        </p:txBody>
      </p:sp>
      <p:sp>
        <p:nvSpPr>
          <p:cNvPr id="14" name="Rectangle 13"/>
          <p:cNvSpPr/>
          <p:nvPr/>
        </p:nvSpPr>
        <p:spPr>
          <a:xfrm>
            <a:off x="256032" y="2198368"/>
            <a:ext cx="4114800" cy="1210000"/>
          </a:xfrm>
          <a:prstGeom prst="rect">
            <a:avLst/>
          </a:prstGeom>
          <a:solidFill>
            <a:srgbClr val="181208"/>
          </a:solidFill>
          <a:ln w="1905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6032" y="2198368"/>
            <a:ext cx="40000" cy="1210000"/>
          </a:xfrm>
          <a:prstGeom prst="rect">
            <a:avLst/>
          </a:prstGeom>
          <a:solidFill>
            <a:srgbClr val="FF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6032" y="2248368"/>
            <a:ext cx="4024800" cy="260000"/>
          </a:xfrm>
          <a:prstGeom prst="rect">
            <a:avLst/>
          </a:prstGeom>
          <a:noFill/>
        </p:spPr>
        <p:txBody>
          <a:bodyPr wrap="square">
            <a:spAutoFit/>
          </a:bodyPr>
          <a:lstStyle/>
          <a:p>
            <a:pPr algn="l"/>
            <a:r>
              <a:rPr sz="900" b="1">
                <a:solidFill>
                  <a:srgbClr val="FF8800"/>
                </a:solidFill>
                <a:latin typeface="メイリオ"/>
              </a:rPr>
              <a:t>蓄積×報酬×継続の三位一体設計</a:t>
            </a:r>
          </a:p>
        </p:txBody>
      </p:sp>
      <p:sp>
        <p:nvSpPr>
          <p:cNvPr id="17" name="TextBox 16"/>
          <p:cNvSpPr txBox="1"/>
          <p:nvPr/>
        </p:nvSpPr>
        <p:spPr>
          <a:xfrm>
            <a:off x="326032" y="2523368"/>
            <a:ext cx="4024800" cy="780000"/>
          </a:xfrm>
          <a:prstGeom prst="rect">
            <a:avLst/>
          </a:prstGeom>
          <a:noFill/>
        </p:spPr>
        <p:txBody>
          <a:bodyPr wrap="square">
            <a:spAutoFit/>
          </a:bodyPr>
          <a:lstStyle/>
          <a:p>
            <a:pPr algn="l"/>
            <a:r>
              <a:rPr sz="800" b="0">
                <a:solidFill>
                  <a:srgbClr val="F0ECE0"/>
                </a:solidFill>
                <a:latin typeface="メイリオ"/>
              </a:rPr>
              <a:t>カムラポイント蓄積（通常時の目的）×
剥ぎ取りチャンスの階層報酬×
討伐ループ継続という3つの軸が一体となって
プレイ全体に意味と楽しさを提供する。</a:t>
            </a:r>
          </a:p>
        </p:txBody>
      </p:sp>
      <p:sp>
        <p:nvSpPr>
          <p:cNvPr id="18" name="Rectangle 17"/>
          <p:cNvSpPr/>
          <p:nvPr/>
        </p:nvSpPr>
        <p:spPr>
          <a:xfrm>
            <a:off x="256032" y="3478368"/>
            <a:ext cx="4114800" cy="1210000"/>
          </a:xfrm>
          <a:prstGeom prst="rect">
            <a:avLst/>
          </a:prstGeom>
          <a:solidFill>
            <a:srgbClr val="181208"/>
          </a:solidFill>
          <a:ln w="19050">
            <a:solidFill>
              <a:srgbClr val="CCAA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6032" y="3478368"/>
            <a:ext cx="40000" cy="1210000"/>
          </a:xfrm>
          <a:prstGeom prst="rect">
            <a:avLst/>
          </a:prstGeom>
          <a:solidFill>
            <a:srgbClr val="CCA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6032" y="3528368"/>
            <a:ext cx="4024800" cy="260000"/>
          </a:xfrm>
          <a:prstGeom prst="rect">
            <a:avLst/>
          </a:prstGeom>
          <a:noFill/>
        </p:spPr>
        <p:txBody>
          <a:bodyPr wrap="square">
            <a:spAutoFit/>
          </a:bodyPr>
          <a:lstStyle/>
          <a:p>
            <a:pPr algn="l"/>
            <a:r>
              <a:rPr sz="900" b="1">
                <a:solidFill>
                  <a:srgbClr val="CCAA22"/>
                </a:solidFill>
                <a:latin typeface="メイリオ"/>
              </a:rPr>
              <a:t>気焔万丈（純増4.0枚）という上位目標の存在</a:t>
            </a:r>
          </a:p>
        </p:txBody>
      </p:sp>
      <p:sp>
        <p:nvSpPr>
          <p:cNvPr id="21" name="TextBox 20"/>
          <p:cNvSpPr txBox="1"/>
          <p:nvPr/>
        </p:nvSpPr>
        <p:spPr>
          <a:xfrm>
            <a:off x="326032" y="3803368"/>
            <a:ext cx="4024800" cy="780000"/>
          </a:xfrm>
          <a:prstGeom prst="rect">
            <a:avLst/>
          </a:prstGeom>
          <a:noFill/>
        </p:spPr>
        <p:txBody>
          <a:bodyPr wrap="square">
            <a:spAutoFit/>
          </a:bodyPr>
          <a:lstStyle/>
          <a:p>
            <a:pPr algn="l"/>
            <a:r>
              <a:rPr sz="800" b="0">
                <a:solidFill>
                  <a:srgbClr val="F0ECE0"/>
                </a:solidFill>
                <a:latin typeface="メイリオ"/>
              </a:rPr>
              <a:t>通常AT（2.7枚）から上位AT（4.0枚）への
明確なステップアップ設計。
「もっと効率的に狩れる状態になる」という
RPG的成長体験がプレイ継続動機を生む。</a:t>
            </a:r>
          </a:p>
        </p:txBody>
      </p:sp>
      <p:sp>
        <p:nvSpPr>
          <p:cNvPr id="22" name="Rectangle 21"/>
          <p:cNvSpPr/>
          <p:nvPr/>
        </p:nvSpPr>
        <p:spPr>
          <a:xfrm>
            <a:off x="4572000" y="658368"/>
            <a:ext cx="4297680" cy="260000"/>
          </a:xfrm>
          <a:prstGeom prst="rect">
            <a:avLst/>
          </a:prstGeom>
          <a:solidFill>
            <a:srgbClr val="2018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32000" y="713368"/>
            <a:ext cx="4217680" cy="200000"/>
          </a:xfrm>
          <a:prstGeom prst="rect">
            <a:avLst/>
          </a:prstGeom>
          <a:noFill/>
        </p:spPr>
        <p:txBody>
          <a:bodyPr wrap="square">
            <a:spAutoFit/>
          </a:bodyPr>
          <a:lstStyle/>
          <a:p>
            <a:pPr algn="l"/>
            <a:r>
              <a:rPr sz="1000" b="1">
                <a:solidFill>
                  <a:srgbClr val="FF8800"/>
                </a:solidFill>
                <a:latin typeface="游明朝"/>
              </a:rPr>
              <a:t>設計から学べる原則</a:t>
            </a:r>
          </a:p>
        </p:txBody>
      </p:sp>
      <p:sp>
        <p:nvSpPr>
          <p:cNvPr id="24" name="Rectangle 23"/>
          <p:cNvSpPr/>
          <p:nvPr/>
        </p:nvSpPr>
        <p:spPr>
          <a:xfrm>
            <a:off x="4572000" y="918368"/>
            <a:ext cx="4297680" cy="710000"/>
          </a:xfrm>
          <a:prstGeom prst="rect">
            <a:avLst/>
          </a:prstGeom>
          <a:solidFill>
            <a:srgbClr val="181208"/>
          </a:solidFill>
          <a:ln w="12700">
            <a:solidFill>
              <a:srgbClr val="22AA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0" y="918368"/>
            <a:ext cx="30000" cy="710000"/>
          </a:xfrm>
          <a:prstGeom prst="rect">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27000" y="966368"/>
            <a:ext cx="4222680" cy="230000"/>
          </a:xfrm>
          <a:prstGeom prst="rect">
            <a:avLst/>
          </a:prstGeom>
          <a:noFill/>
        </p:spPr>
        <p:txBody>
          <a:bodyPr wrap="square">
            <a:spAutoFit/>
          </a:bodyPr>
          <a:lstStyle/>
          <a:p>
            <a:pPr algn="l"/>
            <a:r>
              <a:rPr sz="850" b="1">
                <a:solidFill>
                  <a:srgbClr val="22AA44"/>
                </a:solidFill>
                <a:latin typeface="メイリオ"/>
              </a:rPr>
              <a:t>IPのゲームループを設計原理として使え</a:t>
            </a:r>
          </a:p>
        </p:txBody>
      </p:sp>
      <p:sp>
        <p:nvSpPr>
          <p:cNvPr id="27" name="TextBox 26"/>
          <p:cNvSpPr txBox="1"/>
          <p:nvPr/>
        </p:nvSpPr>
        <p:spPr>
          <a:xfrm>
            <a:off x="4627000" y="1203368"/>
            <a:ext cx="4222680" cy="350000"/>
          </a:xfrm>
          <a:prstGeom prst="rect">
            <a:avLst/>
          </a:prstGeom>
          <a:noFill/>
        </p:spPr>
        <p:txBody>
          <a:bodyPr wrap="square">
            <a:spAutoFit/>
          </a:bodyPr>
          <a:lstStyle/>
          <a:p>
            <a:pPr algn="l"/>
            <a:r>
              <a:rPr sz="750" b="0">
                <a:solidFill>
                  <a:srgbClr val="F0ECE0"/>
                </a:solidFill>
                <a:latin typeface="メイリオ"/>
              </a:rPr>
              <a:t>世界観だけでなく「プレイの核心構造」を
抽出してスロット設計に組み込む</a:t>
            </a:r>
          </a:p>
        </p:txBody>
      </p:sp>
      <p:sp>
        <p:nvSpPr>
          <p:cNvPr id="28" name="Rectangle 27"/>
          <p:cNvSpPr/>
          <p:nvPr/>
        </p:nvSpPr>
        <p:spPr>
          <a:xfrm>
            <a:off x="4572000" y="1678368"/>
            <a:ext cx="4297680" cy="710000"/>
          </a:xfrm>
          <a:prstGeom prst="rect">
            <a:avLst/>
          </a:prstGeom>
          <a:solidFill>
            <a:srgbClr val="181208"/>
          </a:solidFill>
          <a:ln w="1270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0" y="1678368"/>
            <a:ext cx="30000" cy="710000"/>
          </a:xfrm>
          <a:prstGeom prst="rect">
            <a:avLst/>
          </a:prstGeom>
          <a:solidFill>
            <a:srgbClr val="FF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27000" y="1726368"/>
            <a:ext cx="4222680" cy="230000"/>
          </a:xfrm>
          <a:prstGeom prst="rect">
            <a:avLst/>
          </a:prstGeom>
          <a:noFill/>
        </p:spPr>
        <p:txBody>
          <a:bodyPr wrap="square">
            <a:spAutoFit/>
          </a:bodyPr>
          <a:lstStyle/>
          <a:p>
            <a:pPr algn="l"/>
            <a:r>
              <a:rPr sz="850" b="1">
                <a:solidFill>
                  <a:srgbClr val="FF8800"/>
                </a:solidFill>
                <a:latin typeface="メイリオ"/>
              </a:rPr>
              <a:t>蓄積感×報酬の可視化で通常時を楽しくせよ</a:t>
            </a:r>
          </a:p>
        </p:txBody>
      </p:sp>
      <p:sp>
        <p:nvSpPr>
          <p:cNvPr id="31" name="TextBox 30"/>
          <p:cNvSpPr txBox="1"/>
          <p:nvPr/>
        </p:nvSpPr>
        <p:spPr>
          <a:xfrm>
            <a:off x="4627000" y="1963368"/>
            <a:ext cx="4222680" cy="350000"/>
          </a:xfrm>
          <a:prstGeom prst="rect">
            <a:avLst/>
          </a:prstGeom>
          <a:noFill/>
        </p:spPr>
        <p:txBody>
          <a:bodyPr wrap="square">
            <a:spAutoFit/>
          </a:bodyPr>
          <a:lstStyle/>
          <a:p>
            <a:pPr algn="l"/>
            <a:r>
              <a:rPr sz="750" b="0">
                <a:solidFill>
                  <a:srgbClr val="F0ECE0"/>
                </a:solidFill>
                <a:latin typeface="メイリオ"/>
              </a:rPr>
              <a:t>ゲージ・ポイントで目標を作り
報酬ランク表示で達成感を演出する</a:t>
            </a:r>
          </a:p>
        </p:txBody>
      </p:sp>
      <p:sp>
        <p:nvSpPr>
          <p:cNvPr id="32" name="Rectangle 31"/>
          <p:cNvSpPr/>
          <p:nvPr/>
        </p:nvSpPr>
        <p:spPr>
          <a:xfrm>
            <a:off x="4572000" y="2438368"/>
            <a:ext cx="4297680" cy="710000"/>
          </a:xfrm>
          <a:prstGeom prst="rect">
            <a:avLst/>
          </a:prstGeom>
          <a:solidFill>
            <a:srgbClr val="181208"/>
          </a:solidFill>
          <a:ln w="12700">
            <a:solidFill>
              <a:srgbClr val="CCAA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0" y="2438368"/>
            <a:ext cx="30000" cy="710000"/>
          </a:xfrm>
          <a:prstGeom prst="rect">
            <a:avLst/>
          </a:prstGeom>
          <a:solidFill>
            <a:srgbClr val="CCA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27000" y="2486368"/>
            <a:ext cx="4222680" cy="230000"/>
          </a:xfrm>
          <a:prstGeom prst="rect">
            <a:avLst/>
          </a:prstGeom>
          <a:noFill/>
        </p:spPr>
        <p:txBody>
          <a:bodyPr wrap="square">
            <a:spAutoFit/>
          </a:bodyPr>
          <a:lstStyle/>
          <a:p>
            <a:pPr algn="l"/>
            <a:r>
              <a:rPr sz="850" b="1">
                <a:solidFill>
                  <a:srgbClr val="CCAA22"/>
                </a:solidFill>
                <a:latin typeface="メイリオ"/>
              </a:rPr>
              <a:t>段階的な純増アップで上位目標を設計せよ</a:t>
            </a:r>
          </a:p>
        </p:txBody>
      </p:sp>
      <p:sp>
        <p:nvSpPr>
          <p:cNvPr id="35" name="TextBox 34"/>
          <p:cNvSpPr txBox="1"/>
          <p:nvPr/>
        </p:nvSpPr>
        <p:spPr>
          <a:xfrm>
            <a:off x="4627000" y="2723368"/>
            <a:ext cx="4222680" cy="350000"/>
          </a:xfrm>
          <a:prstGeom prst="rect">
            <a:avLst/>
          </a:prstGeom>
          <a:noFill/>
        </p:spPr>
        <p:txBody>
          <a:bodyPr wrap="square">
            <a:spAutoFit/>
          </a:bodyPr>
          <a:lstStyle/>
          <a:p>
            <a:pPr algn="l"/>
            <a:r>
              <a:rPr sz="750" b="0">
                <a:solidFill>
                  <a:srgbClr val="F0ECE0"/>
                </a:solidFill>
                <a:latin typeface="メイリオ"/>
              </a:rPr>
              <a:t>「同じゲーム性で速くなる」という
シンプルな上位差別化が最も伝わりやすい</a:t>
            </a:r>
          </a:p>
        </p:txBody>
      </p:sp>
      <p:sp>
        <p:nvSpPr>
          <p:cNvPr id="36" name="Rectangle 35"/>
          <p:cNvSpPr/>
          <p:nvPr/>
        </p:nvSpPr>
        <p:spPr>
          <a:xfrm>
            <a:off x="4572000" y="3198368"/>
            <a:ext cx="4297680" cy="710000"/>
          </a:xfrm>
          <a:prstGeom prst="rect">
            <a:avLst/>
          </a:prstGeom>
          <a:solidFill>
            <a:srgbClr val="181208"/>
          </a:solidFill>
          <a:ln w="12700">
            <a:solidFill>
              <a:srgbClr val="22CC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572000" y="3198368"/>
            <a:ext cx="30000" cy="710000"/>
          </a:xfrm>
          <a:prstGeom prst="rect">
            <a:avLst/>
          </a:prstGeom>
          <a:solidFill>
            <a:srgbClr val="22CC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627000" y="3246368"/>
            <a:ext cx="4222680" cy="230000"/>
          </a:xfrm>
          <a:prstGeom prst="rect">
            <a:avLst/>
          </a:prstGeom>
          <a:noFill/>
        </p:spPr>
        <p:txBody>
          <a:bodyPr wrap="square">
            <a:spAutoFit/>
          </a:bodyPr>
          <a:lstStyle/>
          <a:p>
            <a:pPr algn="l"/>
            <a:r>
              <a:rPr sz="850" b="1">
                <a:solidFill>
                  <a:srgbClr val="22CCDD"/>
                </a:solidFill>
                <a:latin typeface="メイリオ"/>
              </a:rPr>
              <a:t>IP筐体は世界観体験の最大化装置として活用せよ</a:t>
            </a:r>
          </a:p>
        </p:txBody>
      </p:sp>
      <p:sp>
        <p:nvSpPr>
          <p:cNvPr id="39" name="TextBox 38"/>
          <p:cNvSpPr txBox="1"/>
          <p:nvPr/>
        </p:nvSpPr>
        <p:spPr>
          <a:xfrm>
            <a:off x="4627000" y="3483368"/>
            <a:ext cx="4222680" cy="350000"/>
          </a:xfrm>
          <a:prstGeom prst="rect">
            <a:avLst/>
          </a:prstGeom>
          <a:noFill/>
        </p:spPr>
        <p:txBody>
          <a:bodyPr wrap="square">
            <a:spAutoFit/>
          </a:bodyPr>
          <a:lstStyle/>
          <a:p>
            <a:pPr algn="l"/>
            <a:r>
              <a:rPr sz="750" b="0">
                <a:solidFill>
                  <a:srgbClr val="F0ECE0"/>
                </a:solidFill>
                <a:latin typeface="メイリオ"/>
              </a:rPr>
              <a:t>液晶・サウンドへの投資が
IPファンの「続きをプレイする感覚」を生む</a:t>
            </a:r>
          </a:p>
        </p:txBody>
      </p:sp>
      <p:sp>
        <p:nvSpPr>
          <p:cNvPr id="40" name="Rectangle 39"/>
          <p:cNvSpPr/>
          <p:nvPr/>
        </p:nvSpPr>
        <p:spPr>
          <a:xfrm>
            <a:off x="4572000" y="3968368"/>
            <a:ext cx="4297680" cy="1060000"/>
          </a:xfrm>
          <a:prstGeom prst="rect">
            <a:avLst/>
          </a:prstGeom>
          <a:solidFill>
            <a:srgbClr val="141002"/>
          </a:solidFill>
          <a:ln w="25400">
            <a:solidFill>
              <a:srgbClr val="CCAA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0" y="3968368"/>
            <a:ext cx="40000" cy="1060000"/>
          </a:xfrm>
          <a:prstGeom prst="rect">
            <a:avLst/>
          </a:prstGeom>
          <a:solidFill>
            <a:srgbClr val="CCA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37000" y="4018368"/>
            <a:ext cx="4212680" cy="250000"/>
          </a:xfrm>
          <a:prstGeom prst="rect">
            <a:avLst/>
          </a:prstGeom>
          <a:noFill/>
        </p:spPr>
        <p:txBody>
          <a:bodyPr wrap="square">
            <a:spAutoFit/>
          </a:bodyPr>
          <a:lstStyle/>
          <a:p>
            <a:pPr algn="l"/>
            <a:r>
              <a:rPr sz="900" b="1">
                <a:solidFill>
                  <a:srgbClr val="CCAA22"/>
                </a:solidFill>
                <a:latin typeface="メイリオ"/>
              </a:rPr>
              <a:t>総括</a:t>
            </a:r>
          </a:p>
        </p:txBody>
      </p:sp>
      <p:sp>
        <p:nvSpPr>
          <p:cNvPr id="43" name="TextBox 42"/>
          <p:cNvSpPr txBox="1"/>
          <p:nvPr/>
        </p:nvSpPr>
        <p:spPr>
          <a:xfrm>
            <a:off x="4637000" y="4278368"/>
            <a:ext cx="4212680" cy="690000"/>
          </a:xfrm>
          <a:prstGeom prst="rect">
            <a:avLst/>
          </a:prstGeom>
          <a:noFill/>
        </p:spPr>
        <p:txBody>
          <a:bodyPr wrap="square">
            <a:spAutoFit/>
          </a:bodyPr>
          <a:lstStyle/>
          <a:p>
            <a:pPr algn="l"/>
            <a:r>
              <a:rPr sz="800" b="0">
                <a:solidFill>
                  <a:srgbClr val="F0ECE0"/>
                </a:solidFill>
                <a:latin typeface="メイリオ"/>
              </a:rPr>
              <a:t>「狩猟ループ×カムラPT蓄積×剥ぎ取り報酬×気焔万丈」
という4軸がモンハンの世界観をスロット設計に昇華。
パチスロアワード2025ノミネートはIP融合設計の
完成度と筐体体験への評価と見られる。</a:t>
            </a:r>
          </a:p>
        </p:txBody>
      </p:sp>
      <p:sp>
        <p:nvSpPr>
          <p:cNvPr id="44" name="TextBox 43"/>
          <p:cNvSpPr txBox="1"/>
          <p:nvPr/>
        </p:nvSpPr>
        <p:spPr>
          <a:xfrm>
            <a:off x="6675120" y="4919472"/>
            <a:ext cx="2377440" cy="180000"/>
          </a:xfrm>
          <a:prstGeom prst="rect">
            <a:avLst/>
          </a:prstGeom>
          <a:noFill/>
        </p:spPr>
        <p:txBody>
          <a:bodyPr wrap="square">
            <a:spAutoFit/>
          </a:bodyPr>
          <a:lstStyle/>
          <a:p>
            <a:pPr algn="r"/>
            <a:r>
              <a:rPr sz="650" b="0">
                <a:solidFill>
                  <a:srgbClr val="999080"/>
                </a:solidFill>
                <a:latin typeface="メイリオ"/>
              </a:rPr>
              <a:t>※ネット解析情報より（ちょんぼりすた・なな徹・一撃・pachiseven）</a:t>
            </a:r>
          </a:p>
        </p:txBody>
      </p:sp>
      <p:sp>
        <p:nvSpPr>
          <p:cNvPr id="45" name="Rectangle 44"/>
          <p:cNvSpPr/>
          <p:nvPr/>
        </p:nvSpPr>
        <p:spPr>
          <a:xfrm>
            <a:off x="0" y="4645152"/>
            <a:ext cx="9144000" cy="498348"/>
          </a:xfrm>
          <a:prstGeom prst="rect">
            <a:avLst/>
          </a:prstGeom>
          <a:solidFill>
            <a:srgbClr val="100C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645152"/>
            <a:ext cx="20000" cy="498348"/>
          </a:xfrm>
          <a:prstGeom prst="rect">
            <a:avLst/>
          </a:prstGeom>
          <a:solidFill>
            <a:srgbClr val="22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64592" y="4685152"/>
            <a:ext cx="5029200" cy="340000"/>
          </a:xfrm>
          <a:prstGeom prst="rect">
            <a:avLst/>
          </a:prstGeom>
          <a:noFill/>
        </p:spPr>
        <p:txBody>
          <a:bodyPr wrap="square">
            <a:spAutoFit/>
          </a:bodyPr>
          <a:lstStyle/>
          <a:p>
            <a:pPr algn="l"/>
            <a:r>
              <a:rPr sz="750" b="1">
                <a:solidFill>
                  <a:srgbClr val="FF8800"/>
                </a:solidFill>
                <a:latin typeface="メイリオ"/>
              </a:rPr>
              <a:t>設計思想：「IPのゲームループをスロット構造に組み込む」という戦略が成功した教科書的モデルケース</a:t>
            </a:r>
          </a:p>
        </p:txBody>
      </p:sp>
      <p:sp>
        <p:nvSpPr>
          <p:cNvPr id="48" name="TextBox 47"/>
          <p:cNvSpPr txBox="1"/>
          <p:nvPr/>
        </p:nvSpPr>
        <p:spPr>
          <a:xfrm>
            <a:off x="5303520" y="4685152"/>
            <a:ext cx="3657600" cy="340000"/>
          </a:xfrm>
          <a:prstGeom prst="rect">
            <a:avLst/>
          </a:prstGeom>
          <a:noFill/>
        </p:spPr>
        <p:txBody>
          <a:bodyPr wrap="square">
            <a:spAutoFit/>
          </a:bodyPr>
          <a:lstStyle/>
          <a:p>
            <a:pPr algn="r"/>
            <a:r>
              <a:rPr sz="700" b="0">
                <a:solidFill>
                  <a:srgbClr val="999080"/>
                </a:solidFill>
                <a:latin typeface="メイリオ"/>
              </a:rPr>
              <a:t>ユーザー評価の課題（討伐率50%・上位AT到達難）は次世代改善の指針。IP融合の設計完成度は業界最高水準</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