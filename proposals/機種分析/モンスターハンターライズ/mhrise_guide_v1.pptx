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8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65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AA22"/>
                </a:solidFill>
                <a:latin typeface="游明朝"/>
              </a:rPr>
              <a:t>機種説明＋分析 統合ガイド  v1  ｜  パチスロアワード2025 ノミネート作品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49808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8800"/>
                </a:solidFill>
                <a:latin typeface="游明朝"/>
              </a:rPr>
              <a:t>スマスロ
モンスターハンターライズ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450592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D890"/>
                </a:solidFill>
                <a:latin typeface="游明朝"/>
              </a:rPr>
              <a:t>スマスロ（Lパチスロ）── 狩猟ループ型AT×カムラポイント蓄積×多層上位AT搭載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74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74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エンターライズ  2024年11月18日導入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96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96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1〜6段階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18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AT純増①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18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約2.7枚/G（赤7・BAR揃い狩猟ボーナス）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40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AT純増②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40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約4.0枚/G（紫7揃い狩猟ボーナス・上位AT）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62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設定1 AT初当り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362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約1/309.5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84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設定6 AT初当り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384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約1/230.8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06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設定1 機械割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406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97.9%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428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設定6 機械割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28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114.3%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50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天井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450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リプレイ規定200回（5セット）でCZ確定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723200"/>
            <a:ext cx="16459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有利区間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4723200"/>
            <a:ext cx="29260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0"/>
                </a:solidFill>
                <a:latin typeface="メイリオ"/>
              </a:rPr>
              <a:t>差枚+2100枚到達→エンディング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365760"/>
            <a:ext cx="3749039" cy="1143000"/>
          </a:xfrm>
          <a:prstGeom prst="rect">
            <a:avLst/>
          </a:prstGeom>
          <a:solidFill>
            <a:srgbClr val="181208"/>
          </a:solidFill>
          <a:ln w="254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66360" y="365760"/>
            <a:ext cx="60000" cy="1143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20760"/>
            <a:ext cx="34747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AA44"/>
                </a:solidFill>
                <a:latin typeface="游明朝"/>
              </a:rPr>
              <a:t>① 狩猟ループ型AT（討伐→剥ぎ取り→次戦）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715760"/>
            <a:ext cx="347472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モンスター討伐成功で「剥ぎ取りチャンス」に突入。
ボーナスをストックし次の狩猟へ。
討伐→報酬→次戦のモンハンサイクルをそのまま再現。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1855760"/>
            <a:ext cx="3749039" cy="1143000"/>
          </a:xfrm>
          <a:prstGeom prst="rect">
            <a:avLst/>
          </a:prstGeom>
          <a:solidFill>
            <a:srgbClr val="181208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66360" y="1855760"/>
            <a:ext cx="60000" cy="1143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1910760"/>
            <a:ext cx="34747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8800"/>
                </a:solidFill>
                <a:latin typeface="游明朝"/>
              </a:rPr>
              <a:t>② カムラポイント蓄積×CZ3段階構造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205760"/>
            <a:ext cx="347472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通常時は小役でカムラポイントを貯め
100pt毎のクエストでAT突入を目指す。
上位CZ「百竜夜行」成功で大連続ボーナス濃厚。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60" y="3345760"/>
            <a:ext cx="3749039" cy="1143000"/>
          </a:xfrm>
          <a:prstGeom prst="rect">
            <a:avLst/>
          </a:prstGeom>
          <a:solidFill>
            <a:srgbClr val="181208"/>
          </a:solidFill>
          <a:ln w="254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66360" y="3345760"/>
            <a:ext cx="60000" cy="1143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400760"/>
            <a:ext cx="34747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CAA22"/>
                </a:solidFill>
                <a:latin typeface="游明朝"/>
              </a:rPr>
              <a:t>③ 上位AT「気焔万丈」で純増4.0枚/G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3695760"/>
            <a:ext cx="347472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規定10頭討伐→エンディング→百竜ノ淵源BONUS
経由で上位AT突入。純増が2.7→4.0枚/Gに上昇。
業界最大18.5インチ液晶で圧倒的映像体験。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設計核心：「狩猟→討伐→剥ぎ取り→次戦」のモンハンサイクルをスロットゲーム性に完全昇華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エンターライズ製・新筐体「イマーシブ」搭載・5Dサウンド×18.5インチ液晶で圧倒的没入感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ゲームフロー全体図 ── 2カウンター並行→AT集会所ループ→気焔万丈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85800"/>
            <a:ext cx="1097280" cy="1680000"/>
          </a:xfrm>
          <a:prstGeom prst="rect">
            <a:avLst/>
          </a:prstGeom>
          <a:solidFill>
            <a:srgbClr val="20180A"/>
          </a:solidFill>
          <a:ln w="22860">
            <a:solidFill>
              <a:srgbClr val="99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032" y="730800"/>
            <a:ext cx="10592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9080"/>
                </a:solidFill>
                <a:latin typeface="游明朝"/>
              </a:rPr>
              <a:t>通常遊技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032" y="1105800"/>
            <a:ext cx="1071280" cy="1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080"/>
                </a:solidFill>
                <a:latin typeface="メイリオ"/>
              </a:rPr>
              <a:t>カムラポイント
蓄積
ステージ変化
大社跡→溶岩洞
レア役→
ライズゾーン
(PT特化)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7632" y="685800"/>
            <a:ext cx="4206240" cy="78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5632" y="723800"/>
            <a:ext cx="4156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CDD"/>
                </a:solidFill>
                <a:latin typeface="游明朝"/>
              </a:rPr>
              <a:t>クエスト ／ 百竜夜行（規定カムラポイント到達）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7632" y="1045800"/>
            <a:ext cx="4170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規定PT到達でクエスト発展（成功率36%でAT直入り）　一部が百竜夜行（激熱CZ・成功率70%・大連続BONUS）へ昇格</a:t>
            </a:r>
          </a:p>
        </p:txBody>
      </p:sp>
      <p:sp>
        <p:nvSpPr>
          <p:cNvPr id="14" name="Can 13"/>
          <p:cNvSpPr/>
          <p:nvPr/>
        </p:nvSpPr>
        <p:spPr>
          <a:xfrm>
            <a:off x="1361312" y="985800"/>
            <a:ext cx="200000" cy="180000"/>
          </a:xfrm>
          <a:prstGeom prst="can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 14"/>
          <p:cNvSpPr/>
          <p:nvPr/>
        </p:nvSpPr>
        <p:spPr>
          <a:xfrm>
            <a:off x="5843872" y="985800"/>
            <a:ext cx="200000" cy="18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7632" y="1565800"/>
            <a:ext cx="4206240" cy="78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18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632" y="1603800"/>
            <a:ext cx="4156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88030"/>
                </a:solidFill>
                <a:latin typeface="游明朝"/>
              </a:rPr>
              <a:t>アイルーだるま落とし（リプレイ規定回数到達）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7632" y="1925800"/>
            <a:ext cx="4170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40/80/120/160/200回リプレイで突入　5G継続STタイプ　成功率約48%でAT当選</a:t>
            </a:r>
          </a:p>
        </p:txBody>
      </p:sp>
      <p:sp>
        <p:nvSpPr>
          <p:cNvPr id="19" name="Can 18"/>
          <p:cNvSpPr/>
          <p:nvPr/>
        </p:nvSpPr>
        <p:spPr>
          <a:xfrm>
            <a:off x="1361312" y="1865800"/>
            <a:ext cx="200000" cy="180000"/>
          </a:xfrm>
          <a:prstGeom prst="can">
            <a:avLst/>
          </a:prstGeom>
          <a:solidFill>
            <a:srgbClr val="18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>
            <a:off x="5843872" y="1865800"/>
            <a:ext cx="200000" cy="18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9904" y="685800"/>
            <a:ext cx="2980944" cy="168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9904" y="730800"/>
            <a:ext cx="2946944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8800"/>
                </a:solidFill>
                <a:latin typeface="游明朝"/>
              </a:rPr>
              <a:t>狩猟ボーナス
(AT入口)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5904" y="1145800"/>
            <a:ext cx="2952944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BAR/赤7/紫7の3種
保障G数が異なる
集会所スタートの
超抽選バトル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2505800"/>
            <a:ext cx="9144000" cy="5000"/>
          </a:xfrm>
          <a:prstGeom prst="rect">
            <a:avLst/>
          </a:prstGeom>
          <a:solidFill>
            <a:srgbClr val="305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2665800"/>
            <a:ext cx="1508760" cy="1600000"/>
          </a:xfrm>
          <a:prstGeom prst="rect">
            <a:avLst/>
          </a:prstGeom>
          <a:solidFill>
            <a:srgbClr val="20180A"/>
          </a:solidFill>
          <a:ln w="22860">
            <a:solidFill>
              <a:srgbClr val="99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2" y="2735800"/>
            <a:ext cx="1453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999080"/>
                </a:solidFill>
                <a:latin typeface="游明朝"/>
              </a:rPr>
              <a:t>集会所
(ループ起点)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032" y="3155800"/>
            <a:ext cx="1468760" cy="10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AT継続の起点
討伐失敗でも
ストックで復帰</a:t>
            </a:r>
          </a:p>
        </p:txBody>
      </p:sp>
      <p:sp>
        <p:nvSpPr>
          <p:cNvPr id="28" name="Can 27"/>
          <p:cNvSpPr/>
          <p:nvPr/>
        </p:nvSpPr>
        <p:spPr>
          <a:xfrm>
            <a:off x="1774792" y="3375800"/>
            <a:ext cx="200000" cy="18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20240" y="2665800"/>
            <a:ext cx="1508760" cy="160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52240" y="2735800"/>
            <a:ext cx="1453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8800"/>
                </a:solidFill>
                <a:latin typeface="游明朝"/>
              </a:rPr>
              <a:t>狩猟ボーナス
(超抽選バトル)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2240" y="3155800"/>
            <a:ext cx="1468760" cy="10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BAR/赤7/紫7の3種
討伐成功→剥ぎ取り
討伐失敗→集会所</a:t>
            </a:r>
          </a:p>
        </p:txBody>
      </p:sp>
      <p:sp>
        <p:nvSpPr>
          <p:cNvPr id="32" name="Can 31"/>
          <p:cNvSpPr/>
          <p:nvPr/>
        </p:nvSpPr>
        <p:spPr>
          <a:xfrm>
            <a:off x="3439000" y="3375800"/>
            <a:ext cx="200000" cy="180000"/>
          </a:xfrm>
          <a:prstGeom prst="ca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4448" y="2665800"/>
            <a:ext cx="1508760" cy="160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6448" y="2735800"/>
            <a:ext cx="1453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AA44"/>
                </a:solidFill>
                <a:latin typeface="游明朝"/>
              </a:rPr>
              <a:t>剥ぎ取りチャンス
/百竜刀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6448" y="3155800"/>
            <a:ext cx="1468760" cy="10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討伐後の報酬タイム
早期討伐で百竜刀
(ストック特化)へ</a:t>
            </a:r>
          </a:p>
        </p:txBody>
      </p:sp>
      <p:sp>
        <p:nvSpPr>
          <p:cNvPr id="36" name="Can 35"/>
          <p:cNvSpPr/>
          <p:nvPr/>
        </p:nvSpPr>
        <p:spPr>
          <a:xfrm>
            <a:off x="5103208" y="3375800"/>
            <a:ext cx="200000" cy="180000"/>
          </a:xfrm>
          <a:prstGeom prst="ca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48656" y="2665800"/>
            <a:ext cx="1508760" cy="160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FFD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0656" y="2735800"/>
            <a:ext cx="1453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D44"/>
                </a:solidFill>
                <a:latin typeface="游明朝"/>
              </a:rPr>
              <a:t>エンディング
(10頭討伐)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0656" y="3155800"/>
            <a:ext cx="1468760" cy="10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10頭討伐で権利
百竜ノ淵源
チャレンジ(67%)</a:t>
            </a:r>
          </a:p>
        </p:txBody>
      </p:sp>
      <p:sp>
        <p:nvSpPr>
          <p:cNvPr id="40" name="Can 39"/>
          <p:cNvSpPr/>
          <p:nvPr/>
        </p:nvSpPr>
        <p:spPr>
          <a:xfrm>
            <a:off x="6767416" y="3375800"/>
            <a:ext cx="200000" cy="180000"/>
          </a:xfrm>
          <a:prstGeom prst="ca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12864" y="2665800"/>
            <a:ext cx="1508760" cy="1600000"/>
          </a:xfrm>
          <a:prstGeom prst="rect">
            <a:avLst/>
          </a:prstGeom>
          <a:solidFill>
            <a:srgbClr val="141002"/>
          </a:solidFill>
          <a:ln w="228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4864" y="2735800"/>
            <a:ext cx="1453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AA22"/>
                </a:solidFill>
                <a:latin typeface="游明朝"/>
              </a:rPr>
              <a:t>気焔万丈
(上位AT)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4864" y="3155800"/>
            <a:ext cx="1468760" cy="10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百竜ノ淵源BONUS
100G保障/討伐率72%
成功で純増全UP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" y="4325800"/>
            <a:ext cx="34747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8800"/>
                </a:solidFill>
                <a:latin typeface="メイリオ"/>
              </a:rPr>
              <a:t>↺ 討伐失敗+ストックあり→集会所に戻り継続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4565800"/>
            <a:ext cx="3474720" cy="5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上段=カムラPT(クエスト/百竜夜行)とリプレイ規定(だるま落とし)が独立した2カウンターで並行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下段=AT集会所ループ(10頭討伐)→百竜ノ淵源BONUS(72%)→気焔万丈昇格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通常時の遊び方 ── カムラポイント蓄積・CZ・レア役直撃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0000"/>
          </a:xfrm>
          <a:prstGeom prst="rect">
            <a:avLst/>
          </a:prstGeom>
          <a:solidFill>
            <a:srgbClr val="205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メイリオ"/>
              </a:rPr>
              <a:t>通常時〜AT突入ルート（全3系統）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60520" cy="106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5000" cy="10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9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メイリオ"/>
              </a:rPr>
              <a:t>ルート① カムラポイント蓄積→クエスト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8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小役入賞でカムラポイントを獲得。
最大600pt（100pt毎にチャンス）でクエスト突入。
クエスト成功でCZまたはAT直撃抽選が行われる。
メインルートで最も頻出の突入経路。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73368"/>
            <a:ext cx="4160520" cy="106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73368"/>
            <a:ext cx="45000" cy="106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12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800"/>
                </a:solidFill>
                <a:latin typeface="メイリオ"/>
              </a:rPr>
              <a:t>ルート② レア役直撃（ライズゾーン）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9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チェリー・スイカ・チャンス目などのレア役で
AT直撃またはライズゾーン（カムラPT特化）抽選。
引き強時の一発突入ルート。
ライズゾーン突入後は一定G間カムラPT高速蓄積。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98368"/>
            <a:ext cx="4160520" cy="106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98368"/>
            <a:ext cx="45000" cy="10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24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ルート③ リプレイ規定回数到達→CZ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518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リプレイが規定回数（1セット40回）成立するとCZ
「アイルーだるま落とし」に突入。
最大5セット目（累計200回）でCZ確定の天井機能。
CZを経由して上位CZ「百竜夜行」へ昇格も。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23368"/>
            <a:ext cx="4160520" cy="106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23368"/>
            <a:ext cx="45000" cy="10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37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メイリオ"/>
              </a:rPr>
              <a:t>ルート④ 百竜夜行（上位CZ）直撃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64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レア役や特定条件で上位CZ「百竜夜行」に直撃。
12G継続・成功率約70%の高確CZ。
成功時は「大連続ボーナス」濃厚で大量獲得の入口。
突入時点で高期待度確定の激熱ルート。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205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メイリオ"/>
              </a:rPr>
              <a:t>チャンス役の種類と期待度・モンハン要素との連動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48368"/>
            <a:ext cx="4297680" cy="690000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48368"/>
            <a:ext cx="35000" cy="690000"/>
          </a:xfrm>
          <a:prstGeom prst="rect">
            <a:avLst/>
          </a:prstGeom>
          <a:solidFill>
            <a:srgbClr val="99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00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99080"/>
                </a:solidFill>
                <a:latin typeface="メイリオ"/>
              </a:rPr>
              <a:t>リプレイ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400" y="1008368"/>
            <a:ext cx="7315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D44"/>
                </a:solidFill>
                <a:latin typeface="メイリオ"/>
              </a:rPr>
              <a:t>約1/8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7000" y="125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規定回数成立でCZ「アイルーだるま落とし」へ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638368"/>
            <a:ext cx="4297680" cy="690000"/>
          </a:xfrm>
          <a:prstGeom prst="rect">
            <a:avLst/>
          </a:prstGeom>
          <a:solidFill>
            <a:srgbClr val="141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1638368"/>
            <a:ext cx="35000" cy="690000"/>
          </a:xfrm>
          <a:prstGeom prst="rect">
            <a:avLst/>
          </a:prstGeom>
          <a:solidFill>
            <a:srgbClr val="18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7000" y="169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8030"/>
                </a:solidFill>
                <a:latin typeface="メイリオ"/>
              </a:rPr>
              <a:t>弱チェリー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400" y="1698368"/>
            <a:ext cx="7315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D44"/>
                </a:solidFill>
                <a:latin typeface="メイリオ"/>
              </a:rPr>
              <a:t>約1/64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7000" y="194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カムラPT加算・ライズゾーン抽選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328368"/>
            <a:ext cx="4297680" cy="690000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2328368"/>
            <a:ext cx="35000" cy="69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7000" y="238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スイカ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1400" y="2388368"/>
            <a:ext cx="7315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D44"/>
                </a:solidFill>
                <a:latin typeface="メイリオ"/>
              </a:rPr>
              <a:t>約1/100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7000" y="263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カムラPT大量加算・AT直撃抽選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018368"/>
            <a:ext cx="4297680" cy="690000"/>
          </a:xfrm>
          <a:prstGeom prst="rect">
            <a:avLst/>
          </a:prstGeom>
          <a:solidFill>
            <a:srgbClr val="141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018368"/>
            <a:ext cx="35000" cy="69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7000" y="307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8800"/>
                </a:solidFill>
                <a:latin typeface="メイリオ"/>
              </a:rPr>
              <a:t>チャンス目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41400" y="3078368"/>
            <a:ext cx="7315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D44"/>
                </a:solidFill>
                <a:latin typeface="メイリオ"/>
              </a:rPr>
              <a:t>約1/100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7000" y="332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AT直撃・百竜夜行突入の抽選対象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708368"/>
            <a:ext cx="4297680" cy="690000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3708368"/>
            <a:ext cx="35000" cy="690000"/>
          </a:xfrm>
          <a:prstGeom prst="rect">
            <a:avLst/>
          </a:prstGeom>
          <a:solidFill>
            <a:srgbClr val="FFD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27000" y="376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D44"/>
                </a:solidFill>
                <a:latin typeface="メイリオ"/>
              </a:rPr>
              <a:t>強チェリー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41400" y="3768368"/>
            <a:ext cx="7315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D44"/>
                </a:solidFill>
                <a:latin typeface="メイリオ"/>
              </a:rPr>
              <a:t>約1/200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27000" y="401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高期待度・百竜夜行直撃の主要役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4398368"/>
            <a:ext cx="4297680" cy="690000"/>
          </a:xfrm>
          <a:prstGeom prst="rect">
            <a:avLst/>
          </a:prstGeom>
          <a:solidFill>
            <a:srgbClr val="141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4398368"/>
            <a:ext cx="35000" cy="69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7000" y="4453368"/>
            <a:ext cx="9144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ロングフリーズ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1400" y="4458368"/>
            <a:ext cx="73152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DD44"/>
                </a:solidFill>
                <a:latin typeface="メイリオ"/>
              </a:rPr>
              <a:t>激レア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27000" y="4708368"/>
            <a:ext cx="3749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設定6濃厚・大量上乗せ確定演出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5098368"/>
            <a:ext cx="4297680" cy="550000"/>
          </a:xfrm>
          <a:prstGeom prst="rect">
            <a:avLst/>
          </a:prstGeom>
          <a:solidFill>
            <a:srgbClr val="20180A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32000" y="5148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打ち方：通常時は順押し推奨。レア役を取りこぼさない打順を徹底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32000" y="5358368"/>
            <a:ext cx="421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カムラポイントのゲージはモンハンの「猟団レベル」的な位置づけ。蓄積感が継続動機になる。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通常時の核心：カムラポイントという「蓄積感×目標感」がモンハンのクエスト受注体験をスロットで再現する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リプレイ規定天井（最大5セット）は立ち回り計画の明確な指標。残セット数管理が重要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CZ/前兆の仕組み ── アイルーだるま落とし×百竜夜行×狩猟要素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18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メイリオ"/>
              </a:rPr>
              <a:t>メインCZ「アイルーだるま落とし」の仕組み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25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18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5000" cy="1250000"/>
          </a:xfrm>
          <a:prstGeom prst="rect">
            <a:avLst/>
          </a:prstGeom>
          <a:solidFill>
            <a:srgbClr val="18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68368"/>
            <a:ext cx="401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88030"/>
                </a:solidFill>
                <a:latin typeface="メイリオ"/>
              </a:rPr>
              <a:t>突入条件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48368"/>
            <a:ext cx="401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リプレイが規定回数（1セット40回）成立で突入。
セット数が増えるほど期待度アップ。
5セット目（累計200回）で必ずCZ当選（天井）。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38368"/>
            <a:ext cx="4114800" cy="125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38368"/>
            <a:ext cx="45000" cy="125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88368"/>
            <a:ext cx="401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メイリオ"/>
              </a:rPr>
              <a:t>CZ内容・ゲーム性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68368"/>
            <a:ext cx="401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アイルーキャラが積み上がるビジュアル演出。
成功/失敗は演出展開で徐々に告知される。
モンハンシリーズのマスコット・アイルーを主役にした
ファン心理をくすぐるCZ設計。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558368"/>
            <a:ext cx="4114800" cy="125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558368"/>
            <a:ext cx="45000" cy="12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608368"/>
            <a:ext cx="401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800"/>
                </a:solidFill>
                <a:latin typeface="メイリオ"/>
              </a:rPr>
              <a:t>成功時の恩恵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888368"/>
            <a:ext cx="401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成功→狩猟ボーナス（AT）突入確定。
演出発展次第で大連続ボーナス（複数セット確定）も。
百竜夜行（上位CZ）へ昇格することもある。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503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AA22"/>
                </a:solidFill>
                <a:latin typeface="メイリオ"/>
              </a:rPr>
              <a:t>上位CZ「百竜夜行」── 12G継続・成功率約70%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18368"/>
            <a:ext cx="4297680" cy="125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FFD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18368"/>
            <a:ext cx="45000" cy="1250000"/>
          </a:xfrm>
          <a:prstGeom prst="rect">
            <a:avLst/>
          </a:prstGeom>
          <a:solidFill>
            <a:srgbClr val="FFD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7000" y="968368"/>
            <a:ext cx="4197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D44"/>
                </a:solidFill>
                <a:latin typeface="メイリオ"/>
              </a:rPr>
              <a:t>突入条件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7000" y="1248368"/>
            <a:ext cx="419768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レア役・特定条件・アイルーCZ経由で昇格。
百竜夜行は「百体の龍が押し寄せる」設定で
原作のビッグイベントをCZに昇華している。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238368"/>
            <a:ext cx="4297680" cy="125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2238368"/>
            <a:ext cx="45000" cy="125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7000" y="2288368"/>
            <a:ext cx="4197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メイリオ"/>
              </a:rPr>
              <a:t>ゲーム性・成功率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7000" y="2568368"/>
            <a:ext cx="419768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12G継続のバトル型CZ。
成功率は約70%と非常に高く、突入時点で期待度大。
突入時に50%で成功を内部抽選→継続Gで告知。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558368"/>
            <a:ext cx="4297680" cy="125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3558368"/>
            <a:ext cx="45000" cy="12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7000" y="3608368"/>
            <a:ext cx="4197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800"/>
                </a:solidFill>
                <a:latin typeface="メイリオ"/>
              </a:rPr>
              <a:t>成功時の恩恵（大連続ボーナス）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7000" y="3888368"/>
            <a:ext cx="419768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成功時は「大連続ボーナス」がほぼ確定。
複数の狩猟ボーナスが連続する大量獲得モード。
上位AT「気焔万丈」への入口ともなる重要CZ。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CZ設計の核心：メインCZ（アイルー）と上位CZ（百竜夜行）の2段構成で期待度の緩急と昇格サプライズを演出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百竜夜行の成功率70%は業界上位クラス。突入した時点で「当てた感覚」を与える心理設計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AT/ボーナス ── 狩猟ボーナスで出玉を伸ばす仕組み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60000"/>
          </a:xfrm>
          <a:prstGeom prst="rect">
            <a:avLst/>
          </a:prstGeom>
          <a:solidFill>
            <a:srgbClr val="18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メイリオ"/>
              </a:rPr>
              <a:t>狩猟ボーナスの種類と純増・継続の仕組み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60520" cy="121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5000" cy="121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68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8800"/>
                </a:solidFill>
                <a:latin typeface="游明朝"/>
              </a:rPr>
              <a:t>赤7揃い（狩猟ボーナス）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48368"/>
            <a:ext cx="4060520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純増：約2.7枚/G  保障：40Gor50G
最もスタンダードな狩猟ボーナス。
消化中にモンスターと戦い討伐を目指す。
討伐成功→剥ぎ取りチャンス→次ボーナスへ。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98368"/>
            <a:ext cx="4160520" cy="121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FFD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98368"/>
            <a:ext cx="45000" cy="1210000"/>
          </a:xfrm>
          <a:prstGeom prst="rect">
            <a:avLst/>
          </a:prstGeom>
          <a:solidFill>
            <a:srgbClr val="FFD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48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D44"/>
                </a:solidFill>
                <a:latin typeface="游明朝"/>
              </a:rPr>
              <a:t>紫7揃い（狩猟ボーナス）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28368"/>
            <a:ext cx="4060520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純増：約4.0枚/G  保障：60Gor100G
高純増バージョン。保障Gも長く出玉効率◎。
上位AT「気焔万丈」と同様の純増を誇る。
引くだけで一段上の出玉スピードに突入。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78368"/>
            <a:ext cx="4160520" cy="121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99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78368"/>
            <a:ext cx="45000" cy="1210000"/>
          </a:xfrm>
          <a:prstGeom prst="rect">
            <a:avLst/>
          </a:prstGeom>
          <a:solidFill>
            <a:srgbClr val="99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528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99080"/>
                </a:solidFill>
                <a:latin typeface="游明朝"/>
              </a:rPr>
              <a:t>BAR揃い（狩猟ボーナス）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808368"/>
            <a:ext cx="4060520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純増：約2.7枚/G  保障：25G
保障が短いが討伐成功で次ボーナスへ繋がる。
早期討伐で「百竜刀-千変万化MODE-」突入のチャンス。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18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メイリオ"/>
              </a:rPr>
              <a:t>剥ぎ取りチャンス×ストックで出玉を伸ばす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18368"/>
            <a:ext cx="4297680" cy="985000"/>
          </a:xfrm>
          <a:prstGeom prst="rect">
            <a:avLst/>
          </a:prstGeom>
          <a:solidFill>
            <a:srgbClr val="181208"/>
          </a:solidFill>
          <a:ln w="15240">
            <a:solidFill>
              <a:srgbClr val="99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18368"/>
            <a:ext cx="35000" cy="985000"/>
          </a:xfrm>
          <a:prstGeom prst="rect">
            <a:avLst/>
          </a:prstGeom>
          <a:solidFill>
            <a:srgbClr val="99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2000" y="963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99080"/>
                </a:solidFill>
                <a:latin typeface="メイリオ"/>
              </a:rPr>
              <a:t>剥ぎ取りチャンス 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2000" y="1213368"/>
            <a:ext cx="421768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討伐後の基本報酬。
ボーナスストック獲得率は低い。
次セットへの繋ぎ役。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918368"/>
            <a:ext cx="4297680" cy="985000"/>
          </a:xfrm>
          <a:prstGeom prst="rect">
            <a:avLst/>
          </a:prstGeom>
          <a:solidFill>
            <a:srgbClr val="141006"/>
          </a:solidFill>
          <a:ln w="1524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918368"/>
            <a:ext cx="35000" cy="98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000" y="1963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剥ぎ取りチャンス 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000" y="2213368"/>
            <a:ext cx="421768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ボーナスストック獲得がほぼ確定。
「金」以上で次の狩猟が保証される。
出玉伸長の分岐点となる重要ランク。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918368"/>
            <a:ext cx="4297680" cy="985000"/>
          </a:xfrm>
          <a:prstGeom prst="rect">
            <a:avLst/>
          </a:prstGeom>
          <a:solidFill>
            <a:srgbClr val="181208"/>
          </a:solidFill>
          <a:ln w="15240">
            <a:solidFill>
              <a:srgbClr val="18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918368"/>
            <a:ext cx="35000" cy="985000"/>
          </a:xfrm>
          <a:prstGeom prst="rect">
            <a:avLst/>
          </a:prstGeom>
          <a:solidFill>
            <a:srgbClr val="18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000" y="2963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88030"/>
                </a:solidFill>
                <a:latin typeface="メイリオ"/>
              </a:rPr>
              <a:t>剥ぎ取りチャンスG
（継続率付き）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000" y="3213368"/>
            <a:ext cx="421768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70%ループでボーナスストックを大量獲得。
継続するたびに次のチャンスが発生。
一度乗ると一気に残弾数が増える。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918368"/>
            <a:ext cx="4297680" cy="985000"/>
          </a:xfrm>
          <a:prstGeom prst="rect">
            <a:avLst/>
          </a:prstGeom>
          <a:solidFill>
            <a:srgbClr val="141006"/>
          </a:solidFill>
          <a:ln w="1524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918368"/>
            <a:ext cx="35000" cy="985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2000" y="3963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超剥ぎ取りチャンスG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2000" y="4213368"/>
            <a:ext cx="421768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最上位報酬。大量ストック確定。
上位AT「気焔万丈」への橋渡しになることも。
百竜ノ淵源BONUS討伐後に発生する。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908368"/>
            <a:ext cx="4297680" cy="580000"/>
          </a:xfrm>
          <a:prstGeom prst="rect">
            <a:avLst/>
          </a:prstGeom>
          <a:solidFill>
            <a:srgbClr val="20180A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2000" y="4958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8800"/>
                </a:solidFill>
                <a:latin typeface="メイリオ"/>
              </a:rPr>
              <a:t>早期討伐（15G以上残して討伐）→百竜刀-千変万化MODE-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2000" y="5188368"/>
            <a:ext cx="4217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080"/>
                </a:solidFill>
                <a:latin typeface="メイリオ"/>
              </a:rPr>
              <a:t>ボーナスストック特化ゾーン。一気に規定討伐数エンディングへの近道となる。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出玉伸長の核心：剥ぎ取りチャンスの「ランク」でストック数が決まる。金以上が出玉伸長の分岐点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早期討伐ボーナスの設計がモンハンの「効率的な狩猟」という原作体験をスロットで完全再現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上位ATへの道 ── 気焔万丈（上位AT）到達ルートと遊び方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"/>
            <a:ext cx="9144000" cy="260000"/>
          </a:xfrm>
          <a:prstGeom prst="rect">
            <a:avLst/>
          </a:prstGeom>
          <a:solidFill>
            <a:srgbClr val="2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90372"/>
            <a:ext cx="82296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メイリオ"/>
              </a:rPr>
              <a:t>上位AT「気焔万丈」到達ルート（規定討伐数を積み上げる階段式設計）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48448"/>
            <a:ext cx="1920240" cy="110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40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8800"/>
                </a:solidFill>
                <a:latin typeface="游明朝"/>
              </a:rPr>
              <a:t>狩猟ボーナス
（基本AT）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40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純増2.7枚/G
討伐率約52%
毎セット挑戦</a:t>
            </a:r>
          </a:p>
        </p:txBody>
      </p:sp>
      <p:sp>
        <p:nvSpPr>
          <p:cNvPr id="13" name="Can 12"/>
          <p:cNvSpPr/>
          <p:nvPr/>
        </p:nvSpPr>
        <p:spPr>
          <a:xfrm>
            <a:off x="2252280" y="1208448"/>
            <a:ext cx="200000" cy="180000"/>
          </a:xfrm>
          <a:prstGeom prst="ca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8024" y="748448"/>
            <a:ext cx="1920240" cy="110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18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3024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8030"/>
                </a:solidFill>
                <a:latin typeface="游明朝"/>
              </a:rPr>
              <a:t>10頭討伐
（エンディング）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8024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差枚+2100枚or
規定10頭討伐で
発生するゴール</a:t>
            </a:r>
          </a:p>
        </p:txBody>
      </p:sp>
      <p:sp>
        <p:nvSpPr>
          <p:cNvPr id="17" name="Can 16"/>
          <p:cNvSpPr/>
          <p:nvPr/>
        </p:nvSpPr>
        <p:spPr>
          <a:xfrm>
            <a:off x="4410264" y="1208448"/>
            <a:ext cx="200000" cy="180000"/>
          </a:xfrm>
          <a:prstGeom prst="ca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8" y="748448"/>
            <a:ext cx="1920240" cy="1100000"/>
          </a:xfrm>
          <a:prstGeom prst="rect">
            <a:avLst/>
          </a:prstGeom>
          <a:solidFill>
            <a:srgbClr val="161202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1008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CDD"/>
                </a:solidFill>
                <a:latin typeface="游明朝"/>
              </a:rPr>
              <a:t>百竜ノ淵源
チャレンジ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6008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約67%で成功
→百竜ノ淵源BONUS
へ進めるCZ</a:t>
            </a:r>
          </a:p>
        </p:txBody>
      </p:sp>
      <p:sp>
        <p:nvSpPr>
          <p:cNvPr id="21" name="Can 20"/>
          <p:cNvSpPr/>
          <p:nvPr/>
        </p:nvSpPr>
        <p:spPr>
          <a:xfrm>
            <a:off x="6568248" y="1208448"/>
            <a:ext cx="200000" cy="180000"/>
          </a:xfrm>
          <a:prstGeom prst="ca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93992" y="748448"/>
            <a:ext cx="1920240" cy="1100000"/>
          </a:xfrm>
          <a:prstGeom prst="rect">
            <a:avLst/>
          </a:prstGeom>
          <a:solidFill>
            <a:srgbClr val="161202"/>
          </a:solidFill>
          <a:ln w="254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8992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AA22"/>
                </a:solidFill>
                <a:latin typeface="游明朝"/>
              </a:rPr>
              <a:t>気焔万丈
（上位AT）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3992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9080"/>
                </a:solidFill>
                <a:latin typeface="メイリオ"/>
              </a:rPr>
              <a:t>純増4.0枚/G
モンスター討伐は
通常ATと同ゲーム性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713232"/>
            <a:ext cx="2286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22CCDD"/>
                </a:solidFill>
                <a:latin typeface="メイリオ"/>
              </a:rPr>
              <a:t>百竜ノ淵源BONUS
討伐成功率：約72%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883664"/>
            <a:ext cx="9144000" cy="5000"/>
          </a:xfrm>
          <a:prstGeom prst="rect">
            <a:avLst/>
          </a:prstGeom>
          <a:solidFill>
            <a:srgbClr val="305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1938528"/>
            <a:ext cx="4160520" cy="262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1938528"/>
            <a:ext cx="45000" cy="262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32" y="1988528"/>
            <a:ext cx="4065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AA22"/>
                </a:solidFill>
                <a:latin typeface="游明朝"/>
              </a:rPr>
              <a:t>気焔万丈（上位AT）の遊び方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32" y="2278528"/>
            <a:ext cx="4065520" cy="2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【基本ゲーム性】
通常のAT（狩猟ボーナス）と同じゲーム性で進行。
違いは純増が約2.7枚→約4.0枚/Gにアップする点のみ。
モンスター討伐・剥ぎ取りチャンスの流れは同じ。
【早期討伐の活用】
保障G残15G以上残して早期討伐すると
「百竜刀-千変万化MODE-」（ストック特化）チャンス。
気焔万丈中でも早期討伐を狙うのが出玉最大化の鍵。
【終了条件と次ラウンド】
差枚上限（+2100枚）または規定討伐数達成でエンディング。
終了後は百竜ノ淵源チャレンジで再度気焔万丈を狙える。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1938528"/>
            <a:ext cx="4251960" cy="2620000"/>
          </a:xfrm>
          <a:prstGeom prst="rect">
            <a:avLst/>
          </a:prstGeom>
          <a:solidFill>
            <a:srgbClr val="181208"/>
          </a:solidFill>
          <a:ln w="2286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1938528"/>
            <a:ext cx="45000" cy="262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2720" y="1988528"/>
            <a:ext cx="4156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44"/>
                </a:solidFill>
                <a:latin typeface="游明朝"/>
              </a:rPr>
              <a:t>気焔万丈到達の難易度と期待収支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2720" y="2278528"/>
            <a:ext cx="4156960" cy="2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【到達までのステップ確率】
エンディング到達（10頭討伐）
  → 百竜ノ淵源チャレンジ成功（約67%）
  → 百竜ノ淵源BONUS討伐成功（約72%）
  → 気焔万丈突入（約48%の複合確率）
【純増アップの恩恵】
2.7→4.0枚/G = 約1.48倍の出玉効率。
同じ討伐数でも気焔万丈中の方が大幅に多く獲得可能。
【設定差と気焔万丈頻度】
設定6は初当り確率が高く（1/230.8）
エンディング到達頻度も高くなる傾向。
高設定ほど気焔万丈に乗れる回数が増える設計。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上位ATの設計核心：「同ゲーム性で純増だけアップ」という明快な差別化が高達成感と継続動機を生む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百竜ノ淵源チャレンジ（67%）×BONUS討伐（72%）=約48%の到達率。プレイ中の「近さ」が期待感を維持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面白さの設計 ── モンハンIPとパチスロゲーム性が融合する理由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119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0000" cy="119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032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AA44"/>
                </a:solidFill>
                <a:latin typeface="游明朝"/>
              </a:rPr>
              <a:t>① 「狩猟サイクル」という普遍的ゲームループ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32" y="988368"/>
            <a:ext cx="40705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モンハンの核心は「準備→狩猟→報酬→次の狩猟」の
繰り返し。スロットの「AT→継続抽選→継続」と
構造が完全一致。IPのゲームループとスロットの
ゲームループが同一のため、摩擦ゼロで融合する。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658368"/>
            <a:ext cx="4160520" cy="119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658368"/>
            <a:ext cx="40000" cy="119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448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8800"/>
                </a:solidFill>
                <a:latin typeface="游明朝"/>
              </a:rPr>
              <a:t>② カムラポイント蓄積という「育成感」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7448" y="988368"/>
            <a:ext cx="40705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小役入賞→PT積算→クエスト突入という
蓄積→達成のサイクルがモンハンのクエスト受注体験。
「ゲージを貯める」行為に目的意識が生まれ
通常時のストレスを「積み上げ」に変換する。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939808"/>
            <a:ext cx="4160520" cy="119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1939808"/>
            <a:ext cx="40000" cy="119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032" y="198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AA22"/>
                </a:solidFill>
                <a:latin typeface="游明朝"/>
              </a:rPr>
              <a:t>③ モンスター討伐という「自力感」の演出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032" y="2269808"/>
            <a:ext cx="40705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ボーナス中に「モンスターと戦い討伐する」演出が
「自分がボーナスを継続させた」感覚を生む。
結果は内部抽選だが、演出の勝利体験が
プレイヤーの主体性・没入感を高める。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7448" y="1939808"/>
            <a:ext cx="4160520" cy="119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27448" y="1939808"/>
            <a:ext cx="40000" cy="119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7448" y="198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游明朝"/>
              </a:rPr>
              <a:t>④ 剥ぎ取りチャンスという「報酬の可視化」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7448" y="2269808"/>
            <a:ext cx="40705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討伐後に報酬（銀/金/G/超）が明示される設計。
これはモンハンの剥ぎ取りアイテム入手体験そのもの。
「何が来るか」のワクワクと「金以上で次が来る」
緊張感が共存する完成度の高い報酬演出。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221248"/>
            <a:ext cx="8631936" cy="109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18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221248"/>
            <a:ext cx="40000" cy="1090000"/>
          </a:xfrm>
          <a:prstGeom prst="rect">
            <a:avLst/>
          </a:prstGeom>
          <a:solidFill>
            <a:srgbClr val="18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032" y="3271248"/>
            <a:ext cx="854193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88030"/>
                </a:solidFill>
                <a:latin typeface="游明朝"/>
              </a:rPr>
              <a:t>⑤ 18.5インチ液晶×5Dサウンドによる没入感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032" y="3551248"/>
            <a:ext cx="854193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業界最大の液晶と4スピーカー＋ウーファーが
モンハンライズの世界をホールで再現。
IPファンにとっては「ゲームの続き」を
スロット台でプレイする体験になる特別な筐体設計。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融合成功の核心：モンハンの「狩猟サイクル」がスロットのゲームループと構造的に一致しているため自然な融合が実現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蓄積感（カムラPT）×自力感（討伐演出）×報酬可視化（剥ぎ取り）×没入感（筐体）の4要素が相互強化する設計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良い点と課題 ── 設計の強みと改善余地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0804"/>
                </a:solidFill>
                <a:latin typeface="メイリオ"/>
              </a:rPr>
              <a:t>良い点 ── 設計的強み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35000" cy="10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032" y="96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IP×ゲームループの完全一致という稀有な融合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032" y="121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モンハンの「狩猟サイクル」がスロットのAT継続設計
と構造一致。違和感なく世界観に入れる
IP活用の模範事例として業界屈指の完成度。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58368"/>
            <a:ext cx="411480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58368"/>
            <a:ext cx="35000" cy="10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032" y="210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カムラポイントによる通常時の目的意識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032" y="235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小役入賞をポイント蓄積として可視化し
通常時の「退屈な消化」を「積み上げる楽しさ」に変換。
遊技時間全体に意味を持たせるUX設計。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98368"/>
            <a:ext cx="411480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98368"/>
            <a:ext cx="35000" cy="10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032" y="324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剥ぎ取りチャンスの階層的報酬設計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032" y="349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銀→金→G→超の4段階で報酬を明示。
「金が出れば次が来る」という明確な条件が
プレイヤーに目標と緊張感を同時提供する。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38368"/>
            <a:ext cx="411480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38368"/>
            <a:ext cx="35000" cy="10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032" y="438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筐体（18.5インチ+5Dサウンド）の圧倒的没入感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032" y="463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業界最大液晶×ウーファー搭載で
モンハンの世界観を最大出力で再現。
IPファンの「続きをプレイする感覚」を実現。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DD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ECE0"/>
                </a:solidFill>
                <a:latin typeface="メイリオ"/>
              </a:rPr>
              <a:t>課題 ── 改善余地・注意点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18368"/>
            <a:ext cx="429768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DD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18368"/>
            <a:ext cx="35000" cy="1070000"/>
          </a:xfrm>
          <a:prstGeom prst="rect">
            <a:avLst/>
          </a:prstGeom>
          <a:solidFill>
            <a:srgbClr val="DD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000" y="96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D2211"/>
                </a:solidFill>
                <a:latin typeface="メイリオ"/>
              </a:rPr>
              <a:t>ユーザー評価の低さ（平均1.4点）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000" y="121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DMMぱちタウンのユーザー評価が1.4点と低い。
「攻撃しない」「ポイント周期が遠い」の不満が目立つ。
通常時の出力が体感的に弱く感じられやすい。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058368"/>
            <a:ext cx="429768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058368"/>
            <a:ext cx="35000" cy="107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000" y="210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8800"/>
                </a:solidFill>
                <a:latin typeface="メイリオ"/>
              </a:rPr>
              <a:t>討伐率約52%の引き弱による単調感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000" y="235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平均討伐期待度約52%は五分五分の継続率。
連続失敗時の出玉停滞感が強く
"当たっているのに増えない"という体験になりやすい。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5000" cy="107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2000" y="324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上位AT到達率の低さ（複合約48%）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2000" y="349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エンディング→チャレンジ→BONUS討伐成功の
複合確率で約48%。半数以上が上位AT未到達。
通常ATだけでは物足りなさが残りやすい。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338368"/>
            <a:ext cx="4297680" cy="1070000"/>
          </a:xfrm>
          <a:prstGeom prst="rect">
            <a:avLst/>
          </a:prstGeom>
          <a:solidFill>
            <a:srgbClr val="181208"/>
          </a:solidFill>
          <a:ln w="15240">
            <a:solidFill>
              <a:srgbClr val="99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338368"/>
            <a:ext cx="35000" cy="1070000"/>
          </a:xfrm>
          <a:prstGeom prst="rect">
            <a:avLst/>
          </a:prstGeom>
          <a:solidFill>
            <a:srgbClr val="99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2000" y="438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99080"/>
                </a:solidFill>
                <a:latin typeface="メイリオ"/>
              </a:rPr>
              <a:t>設定判別要素の少なさ・わかりにくさ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2000" y="463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ロングフリーズ（設定6濃厚）は極レア。
キャラ紹介ムービーのエンタライオン登場が
設定6示唆だが気付けないユーザーも多い。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評価分析：IP融合の設計完成度は高いが「討伐率50%の単調さ」と「上位AT到達難易度」が稼働離脱の主因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ユーザー評価1.4の背景には「通常ATの単発驚け抜け率の高さ」という出玉体験の問題が色濃く反映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800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080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18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メイリオ"/>
              </a:rPr>
              <a:t>スマスロ モンハンライズ ── 設計的強み総括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21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0000" cy="121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032" y="96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メイリオ"/>
              </a:rPr>
              <a:t>IP×ゲームループ一致という設計の理想形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32" y="124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「狩猟サイクル」というモンハンの本質的ループが
スロットのAT継続構造と完全対応。
IPライセンスを世界観だけでなく設計原理で活用した
パチスロIP活用の最高峰事例。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98368"/>
            <a:ext cx="4114800" cy="121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98368"/>
            <a:ext cx="40000" cy="121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032" y="224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800"/>
                </a:solidFill>
                <a:latin typeface="メイリオ"/>
              </a:rPr>
              <a:t>蓄積×報酬×継続の三位一体設計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032" y="252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カムラポイント蓄積（通常時の目的）×
剥ぎ取りチャンスの階層報酬×
討伐ループ継続という3つの軸が一体となって
プレイ全体に意味と楽しさを提供する。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78368"/>
            <a:ext cx="4114800" cy="1210000"/>
          </a:xfrm>
          <a:prstGeom prst="rect">
            <a:avLst/>
          </a:prstGeom>
          <a:solidFill>
            <a:srgbClr val="181208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78368"/>
            <a:ext cx="40000" cy="121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032" y="352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メイリオ"/>
              </a:rPr>
              <a:t>気焔万丈（純増4.0枚）という上位目標の存在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32" y="380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通常AT（2.7枚）から上位AT（4.0枚）への
明確なステップアップ設計。
「もっと効率的に狩れる状態になる」という
RPG的成長体験がプレイ継続動機を生む。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20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800"/>
                </a:solidFill>
                <a:latin typeface="游明朝"/>
              </a:rPr>
              <a:t>設計から学べる原則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18368"/>
            <a:ext cx="4297680" cy="710000"/>
          </a:xfrm>
          <a:prstGeom prst="rect">
            <a:avLst/>
          </a:prstGeom>
          <a:solidFill>
            <a:srgbClr val="181208"/>
          </a:solidFill>
          <a:ln w="127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18368"/>
            <a:ext cx="30000" cy="71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96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IPのゲームループを設計原理として使え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000" y="120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世界観だけでなく「プレイの核心構造」を
抽出してスロット設計に組み込む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678368"/>
            <a:ext cx="4297680" cy="710000"/>
          </a:xfrm>
          <a:prstGeom prst="rect">
            <a:avLst/>
          </a:prstGeom>
          <a:solidFill>
            <a:srgbClr val="181208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678368"/>
            <a:ext cx="30000" cy="71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72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8800"/>
                </a:solidFill>
                <a:latin typeface="メイリオ"/>
              </a:rPr>
              <a:t>蓄積感×報酬の可視化で通常時を楽しくせよ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7000" y="196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ゲージ・ポイントで目標を作り
報酬ランク表示で達成感を演出する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38368"/>
            <a:ext cx="4297680" cy="710000"/>
          </a:xfrm>
          <a:prstGeom prst="rect">
            <a:avLst/>
          </a:prstGeom>
          <a:solidFill>
            <a:srgbClr val="181208"/>
          </a:solidFill>
          <a:ln w="127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438368"/>
            <a:ext cx="30000" cy="71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248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段階的な純増アップで上位目標を設計せよ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7000" y="272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「同じゲーム性で速くなる」という
シンプルな上位差別化が最も伝わりやすい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710000"/>
          </a:xfrm>
          <a:prstGeom prst="rect">
            <a:avLst/>
          </a:prstGeom>
          <a:solidFill>
            <a:srgbClr val="181208"/>
          </a:solidFill>
          <a:ln w="127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0000" cy="71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7000" y="324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IP筐体は世界観体験の最大化装置として活用せよ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7000" y="348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0"/>
                </a:solidFill>
                <a:latin typeface="メイリオ"/>
              </a:rPr>
              <a:t>液晶・サウンドへの投資が
IPファンの「続きをプレイする感覚」を生む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968368"/>
            <a:ext cx="4297680" cy="1060000"/>
          </a:xfrm>
          <a:prstGeom prst="rect">
            <a:avLst/>
          </a:prstGeom>
          <a:solidFill>
            <a:srgbClr val="141002"/>
          </a:solidFill>
          <a:ln w="254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3968368"/>
            <a:ext cx="40000" cy="10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7000" y="4018368"/>
            <a:ext cx="4212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メイリオ"/>
              </a:rPr>
              <a:t>総括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7000" y="4278368"/>
            <a:ext cx="421268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0"/>
                </a:solidFill>
                <a:latin typeface="メイリオ"/>
              </a:rPr>
              <a:t>「狩猟ループ×カムラPT蓄積×剥ぎ取り報酬×気焔万丈」
という4軸がモンハンの世界観をスロット設計に昇華。
パチスロアワード2025ノミネートはIP融合設計の
完成度と筐体体験への評価と見られる。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919472"/>
            <a:ext cx="23774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9080"/>
                </a:solidFill>
                <a:latin typeface="メイリオ"/>
              </a:rPr>
              <a:t>※ネット解析情報より（ちょんぼりすた・なな徹・一撃・pachiseven）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8800"/>
                </a:solidFill>
                <a:latin typeface="メイリオ"/>
              </a:rPr>
              <a:t>設計思想：「IPのゲームループをスロット構造に組み込む」という戦略が成功した教科書的モデルケース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9080"/>
                </a:solidFill>
                <a:latin typeface="メイリオ"/>
              </a:rPr>
              <a:t>ユーザー評価の課題（討伐率50%・上位AT到達難）は次世代改善の指針。IP融合の設計完成度は業界最高水準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