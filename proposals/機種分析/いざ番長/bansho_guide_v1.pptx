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8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36576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88FF"/>
                </a:solidFill>
                <a:latin typeface="游明朝"/>
              </a:rPr>
              <a:t>機種説明＋分析 統合ガイド  v1　【パチスロアワード2025ノミネート】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777240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C8A840"/>
                </a:solidFill>
                <a:latin typeface="游明朝"/>
              </a:rPr>
              <a:t>いざ！番長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377440"/>
            <a:ext cx="45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E0B8"/>
                </a:solidFill>
                <a:latin typeface="游明朝"/>
              </a:rPr>
              <a:t>スマスロ（大都技研）── 差枚管理型AT×刺客ゾーン×絶頂輪廻ループの設計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743200"/>
            <a:ext cx="1691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0AA"/>
                </a:solidFill>
                <a:latin typeface="メイリオ"/>
              </a:rPr>
              <a:t>メーカー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743200"/>
            <a:ext cx="2834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大都技研（サボハニ）　2025年6月2日導入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983200"/>
            <a:ext cx="1691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0AA"/>
                </a:solidFill>
                <a:latin typeface="メイリオ"/>
              </a:rPr>
              <a:t>設定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83200"/>
            <a:ext cx="2834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1〜6段階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3223200"/>
            <a:ext cx="1691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0AA"/>
                </a:solidFill>
                <a:latin typeface="メイリオ"/>
              </a:rPr>
              <a:t>AT純増（通常）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23200"/>
            <a:ext cx="2834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約2.8枚/G（頂ZBASH）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463200"/>
            <a:ext cx="1691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0AA"/>
                </a:solidFill>
                <a:latin typeface="メイリオ"/>
              </a:rPr>
              <a:t>AT純増（上位）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63200"/>
            <a:ext cx="2834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約5.0枚/G（青頂ZBASH）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3703200"/>
            <a:ext cx="1691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0AA"/>
                </a:solidFill>
                <a:latin typeface="メイリオ"/>
              </a:rPr>
              <a:t>設定1機械割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703200"/>
            <a:ext cx="2834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約97%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943200"/>
            <a:ext cx="1691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0AA"/>
                </a:solidFill>
                <a:latin typeface="メイリオ"/>
              </a:rPr>
              <a:t>設定6機械割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943200"/>
            <a:ext cx="2834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約111%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4183200"/>
            <a:ext cx="1691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0AA"/>
                </a:solidFill>
                <a:latin typeface="メイリオ"/>
              </a:rPr>
              <a:t>天井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183200"/>
            <a:ext cx="2834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モード別規定G数（モード管理型）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4423200"/>
            <a:ext cx="1691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0AA"/>
                </a:solidFill>
                <a:latin typeface="メイリオ"/>
              </a:rPr>
              <a:t>AT初当り引き戻し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423200"/>
            <a:ext cx="2834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AT終了後に引き戻し状態あり（前兆確認要）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663200"/>
            <a:ext cx="1691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0AA"/>
                </a:solidFill>
                <a:latin typeface="メイリオ"/>
              </a:rPr>
              <a:t>特徴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663200"/>
            <a:ext cx="28346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絶頂輪廻ループ・刺客ゾーン(CZ)・番長ボーナス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502920"/>
            <a:ext cx="3749039" cy="1188720"/>
          </a:xfrm>
          <a:prstGeom prst="rect">
            <a:avLst/>
          </a:prstGeom>
          <a:solidFill>
            <a:srgbClr val="0C101E"/>
          </a:solidFill>
          <a:ln w="25400">
            <a:solidFill>
              <a:srgbClr val="22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6360" y="502920"/>
            <a:ext cx="60000" cy="118872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56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244CC"/>
                </a:solidFill>
                <a:latin typeface="游明朝"/>
              </a:rPr>
              <a:t>① 刺客ゾーン（CZ）自力感設計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882920"/>
            <a:ext cx="34747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CE8"/>
                </a:solidFill>
                <a:latin typeface="メイリオ"/>
              </a:rPr>
              <a:t>通常時に刀ポイント到達でCZ「刺客ゾーン」突入。
10G+αの自力バトルで約40%のAT当選。
レア役ヒットでゾーン延長・色昇格の演出。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0" y="2042920"/>
            <a:ext cx="3749039" cy="1188720"/>
          </a:xfrm>
          <a:prstGeom prst="rect">
            <a:avLst/>
          </a:prstGeom>
          <a:solidFill>
            <a:srgbClr val="0C101E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66360" y="2042920"/>
            <a:ext cx="60000" cy="118872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210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8A840"/>
                </a:solidFill>
                <a:latin typeface="游明朝"/>
              </a:rPr>
              <a:t>② 絶頂輪廻ループ（最強連鎖）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2422920"/>
            <a:ext cx="34747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CE8"/>
                </a:solidFill>
                <a:latin typeface="メイリオ"/>
              </a:rPr>
              <a:t>特化ゾーン「絶頂決戦〜巌流島〜」(平均+700枚)
終了後→上位AT「青頂ZBASH」(純増5.0枚)へ直行。
2つの頂をシームレスに行き来する絶頂輪廻。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66360" y="3582920"/>
            <a:ext cx="3749039" cy="1188720"/>
          </a:xfrm>
          <a:prstGeom prst="rect">
            <a:avLst/>
          </a:prstGeom>
          <a:solidFill>
            <a:srgbClr val="0C101E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66360" y="3582920"/>
            <a:ext cx="60000" cy="118872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364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2CCDD"/>
                </a:solidFill>
                <a:latin typeface="游明朝"/>
              </a:rPr>
              <a:t>③ 番長ボーナスによる上乗せ加速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962920"/>
            <a:ext cx="34747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CE8"/>
                </a:solidFill>
                <a:latin typeface="メイリオ"/>
              </a:rPr>
              <a:t>赤BB（20G+α・上乗せ高確抽選）
青BB（20G・常時上乗せ高確）で枚数大幅加速。
差枚管理型の上乗せが出玉体験を豊かにする。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0AA"/>
                </a:solidFill>
                <a:latin typeface="メイリオ"/>
              </a:rPr>
              <a:t>※ネット解析情報より（ちょんぼりすた・一撃・altema・p-town）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設計核心：「刺客ゾーン自力感×絶頂輪廻ループ×番長ボーナス上乗せ」── 硬派番長シリーズ第3弾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0AA"/>
                </a:solidFill>
                <a:latin typeface="メイリオ"/>
              </a:rPr>
              <a:t>通常AT2.8枚/G・上位AT5.0枚/Gの2段階純増が出玉波の緩急を生む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ゲームフロー全体図 ── 通常時→AT→上位ATの全ルート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0AA"/>
                </a:solidFill>
                <a:latin typeface="メイリオ"/>
              </a:rPr>
              <a:t>2/9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85800"/>
            <a:ext cx="1463040" cy="1100000"/>
          </a:xfrm>
          <a:prstGeom prst="rect">
            <a:avLst/>
          </a:prstGeom>
          <a:solidFill>
            <a:srgbClr val="101628"/>
          </a:solidFill>
          <a:ln w="22860">
            <a:solidFill>
              <a:srgbClr val="88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032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8890AA"/>
                </a:solidFill>
                <a:latin typeface="游明朝"/>
              </a:rPr>
              <a:t>通常遊技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032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0AA"/>
                </a:solidFill>
                <a:latin typeface="メイリオ"/>
              </a:rPr>
              <a:t>刀ポイント蓄積
モード別規定G数消化
→CZ/前兆へ</a:t>
            </a:r>
          </a:p>
        </p:txBody>
      </p:sp>
      <p:sp>
        <p:nvSpPr>
          <p:cNvPr id="11" name="Can 10"/>
          <p:cNvSpPr/>
          <p:nvPr/>
        </p:nvSpPr>
        <p:spPr>
          <a:xfrm>
            <a:off x="1729072" y="1145800"/>
            <a:ext cx="200000" cy="180000"/>
          </a:xfrm>
          <a:prstGeom prst="can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685800"/>
            <a:ext cx="1463040" cy="1100000"/>
          </a:xfrm>
          <a:prstGeom prst="rect">
            <a:avLst/>
          </a:prstGeom>
          <a:solidFill>
            <a:srgbClr val="0C101E"/>
          </a:solidFill>
          <a:ln w="2286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9520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3366FF"/>
                </a:solidFill>
                <a:latin typeface="游明朝"/>
              </a:rPr>
              <a:t>刺客ゾーン
(CZ)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9520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0AA"/>
                </a:solidFill>
                <a:latin typeface="メイリオ"/>
              </a:rPr>
              <a:t>10G+α
約40%でAT当選
自力バトル</a:t>
            </a:r>
          </a:p>
        </p:txBody>
      </p:sp>
      <p:sp>
        <p:nvSpPr>
          <p:cNvPr id="15" name="Can 14"/>
          <p:cNvSpPr/>
          <p:nvPr/>
        </p:nvSpPr>
        <p:spPr>
          <a:xfrm>
            <a:off x="3347560" y="1145800"/>
            <a:ext cx="200000" cy="180000"/>
          </a:xfrm>
          <a:prstGeom prst="can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93008" y="685800"/>
            <a:ext cx="1463040" cy="1100000"/>
          </a:xfrm>
          <a:prstGeom prst="rect">
            <a:avLst/>
          </a:prstGeom>
          <a:solidFill>
            <a:srgbClr val="0C101E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8008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8A840"/>
                </a:solidFill>
                <a:latin typeface="游明朝"/>
              </a:rPr>
              <a:t>修行
（前兆）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8008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0AA"/>
                </a:solidFill>
                <a:latin typeface="メイリオ"/>
              </a:rPr>
              <a:t>対決バトルで
AT成否決定
番長演出炸裂</a:t>
            </a:r>
          </a:p>
        </p:txBody>
      </p:sp>
      <p:sp>
        <p:nvSpPr>
          <p:cNvPr id="19" name="Can 18"/>
          <p:cNvSpPr/>
          <p:nvPr/>
        </p:nvSpPr>
        <p:spPr>
          <a:xfrm>
            <a:off x="4966048" y="1145800"/>
            <a:ext cx="200000" cy="180000"/>
          </a:xfrm>
          <a:prstGeom prst="can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1496" y="685800"/>
            <a:ext cx="1463040" cy="1100000"/>
          </a:xfrm>
          <a:prstGeom prst="rect">
            <a:avLst/>
          </a:prstGeom>
          <a:solidFill>
            <a:srgbClr val="0C101E"/>
          </a:solidFill>
          <a:ln w="22860">
            <a:solidFill>
              <a:srgbClr val="FF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6496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D060"/>
                </a:solidFill>
                <a:latin typeface="游明朝"/>
              </a:rPr>
              <a:t>頂ZBASH
(AT)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6496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0AA"/>
                </a:solidFill>
                <a:latin typeface="メイリオ"/>
              </a:rPr>
              <a:t>純増約2.8枚/G
差枚管理型
初期150枚+α</a:t>
            </a:r>
          </a:p>
        </p:txBody>
      </p:sp>
      <p:sp>
        <p:nvSpPr>
          <p:cNvPr id="23" name="Can 22"/>
          <p:cNvSpPr/>
          <p:nvPr/>
        </p:nvSpPr>
        <p:spPr>
          <a:xfrm>
            <a:off x="6584536" y="1145800"/>
            <a:ext cx="200000" cy="180000"/>
          </a:xfrm>
          <a:prstGeom prst="can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29984" y="685800"/>
            <a:ext cx="1463040" cy="1100000"/>
          </a:xfrm>
          <a:prstGeom prst="rect">
            <a:avLst/>
          </a:prstGeom>
          <a:solidFill>
            <a:srgbClr val="0C101E"/>
          </a:solidFill>
          <a:ln w="2286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4984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4488FF"/>
                </a:solidFill>
                <a:latin typeface="游明朝"/>
              </a:rPr>
              <a:t>番長ボーナス
(BB)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4984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0AA"/>
                </a:solidFill>
                <a:latin typeface="メイリオ"/>
              </a:rPr>
              <a:t>赤/青BBで
上乗せ加速
20G+α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1805800"/>
            <a:ext cx="45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CCDD"/>
                </a:solidFill>
                <a:latin typeface="メイリオ"/>
              </a:rPr>
              <a:t>天井：モード別規定G数（設定・モードで異なる） ⇒ 修行→対決でAT当選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045800"/>
            <a:ext cx="5029200" cy="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1920240"/>
            <a:ext cx="9144000" cy="5000"/>
          </a:xfrm>
          <a:prstGeom prst="rect">
            <a:avLst/>
          </a:prstGeom>
          <a:solidFill>
            <a:srgbClr val="22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1993392"/>
            <a:ext cx="1783080" cy="1080000"/>
          </a:xfrm>
          <a:prstGeom prst="rect">
            <a:avLst/>
          </a:prstGeom>
          <a:solidFill>
            <a:srgbClr val="0C101E"/>
          </a:solidFill>
          <a:ln w="2286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6032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66FF"/>
                </a:solidFill>
                <a:latin typeface="游明朝"/>
              </a:rPr>
              <a:t>頂ZBASH
（通常AT）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6032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90AA"/>
                </a:solidFill>
                <a:latin typeface="メイリオ"/>
              </a:rPr>
              <a:t>純増2.8枚/G
決闘で上乗せ
BB抽選</a:t>
            </a:r>
          </a:p>
        </p:txBody>
      </p:sp>
      <p:sp>
        <p:nvSpPr>
          <p:cNvPr id="33" name="Can 32"/>
          <p:cNvSpPr/>
          <p:nvPr/>
        </p:nvSpPr>
        <p:spPr>
          <a:xfrm>
            <a:off x="2051112" y="2443392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40280" y="1993392"/>
            <a:ext cx="1783080" cy="1080000"/>
          </a:xfrm>
          <a:prstGeom prst="rect">
            <a:avLst/>
          </a:prstGeom>
          <a:solidFill>
            <a:srgbClr val="0C101E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0280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游明朝"/>
              </a:rPr>
              <a:t>絶頂決戦
〜巌流島〜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70280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90AA"/>
                </a:solidFill>
                <a:latin typeface="メイリオ"/>
              </a:rPr>
              <a:t>差枚上乗せ特化
平均+700枚
特化ゾーン</a:t>
            </a:r>
          </a:p>
        </p:txBody>
      </p:sp>
      <p:sp>
        <p:nvSpPr>
          <p:cNvPr id="37" name="Can 36"/>
          <p:cNvSpPr/>
          <p:nvPr/>
        </p:nvSpPr>
        <p:spPr>
          <a:xfrm>
            <a:off x="4035360" y="2443392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24528" y="1993392"/>
            <a:ext cx="1783080" cy="1080000"/>
          </a:xfrm>
          <a:prstGeom prst="rect">
            <a:avLst/>
          </a:prstGeom>
          <a:solidFill>
            <a:srgbClr val="0C101E"/>
          </a:solidFill>
          <a:ln w="2286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4528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488FF"/>
                </a:solidFill>
                <a:latin typeface="游明朝"/>
              </a:rPr>
              <a:t>青頂ZBASH
（上位AT）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4528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90AA"/>
                </a:solidFill>
                <a:latin typeface="メイリオ"/>
              </a:rPr>
              <a:t>純増5.0枚/G
上乗せ強化
3桁上乗せ濃厚</a:t>
            </a:r>
          </a:p>
        </p:txBody>
      </p:sp>
      <p:sp>
        <p:nvSpPr>
          <p:cNvPr id="41" name="Can 40"/>
          <p:cNvSpPr/>
          <p:nvPr/>
        </p:nvSpPr>
        <p:spPr>
          <a:xfrm>
            <a:off x="6019608" y="2443392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8776" y="1993392"/>
            <a:ext cx="1783080" cy="1080000"/>
          </a:xfrm>
          <a:prstGeom prst="rect">
            <a:avLst/>
          </a:prstGeom>
          <a:solidFill>
            <a:srgbClr val="081028"/>
          </a:solidFill>
          <a:ln w="22860">
            <a:solidFill>
              <a:srgbClr val="FF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8776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D060"/>
                </a:solidFill>
                <a:latin typeface="游明朝"/>
              </a:rPr>
              <a:t>絶頂輪廻ループ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8776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90AA"/>
                </a:solidFill>
                <a:latin typeface="メイリオ"/>
              </a:rPr>
              <a:t>巌流島終了後
→青頂ZBASH
繰り返しループ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93024" y="1993392"/>
            <a:ext cx="1417320" cy="108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93024" y="1993392"/>
            <a:ext cx="30000" cy="108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43024" y="2063392"/>
            <a:ext cx="1188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CCDD"/>
                </a:solidFill>
                <a:latin typeface="游明朝"/>
              </a:rPr>
              <a:t>引き戻し
状態
(AT後)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3024" y="2483392"/>
            <a:ext cx="118872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ECE8"/>
                </a:solidFill>
                <a:latin typeface="メイリオ"/>
              </a:rPr>
              <a:t>前兆なし
確認後
ヤメ推奨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" y="3093392"/>
            <a:ext cx="50292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A840"/>
                </a:solidFill>
                <a:latin typeface="メイリオ"/>
              </a:rPr>
              <a:t>絶頂輪廻ループ：巌流島終了→青頂ZBASH→巌流島→…の繰り返しが出玉爆発の核心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" y="3333392"/>
            <a:ext cx="5029200" cy="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0AA"/>
                </a:solidFill>
                <a:latin typeface="メイリオ"/>
              </a:rPr>
              <a:t>※ネット解析情報より（ちょんぼりすた・一撃・altema・p-town）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上段=通常〜AT突入ルート（刺客ゾーンCZ経由・モード天井経由の2本）、下段=AT内の絶頂輪廻ループ構造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0AA"/>
                </a:solidFill>
                <a:latin typeface="メイリオ"/>
              </a:rPr>
              <a:t>刺客ゾーン：AT期待度約40%の自力CZ / 絶頂輪廻ループ：巌流島特化ゾーン→青頂ZBASH→繰り返し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通常時の遊び方 ── 全AT突入ルート・天井管理・刀ポイント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0AA"/>
                </a:solidFill>
                <a:latin typeface="メイリオ"/>
              </a:rPr>
              <a:t>3/9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290000"/>
          </a:xfrm>
          <a:prstGeom prst="rect">
            <a:avLst/>
          </a:prstGeom>
          <a:solidFill>
            <a:srgbClr val="15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8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メイリオ"/>
              </a:rPr>
              <a:t>通常時〜AT突入ルート（全3系統）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48368"/>
            <a:ext cx="4160520" cy="104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48368"/>
            <a:ext cx="45000" cy="1040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9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66FF"/>
                </a:solidFill>
                <a:latin typeface="メイリオ"/>
              </a:rPr>
              <a:t>ルート①  刺客ゾーン（CZ）経由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68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刀ポイントが規定量に到達するとCZ「刺客ゾーン」へ。
10G+αの自力バトル、約40%でAT当選。
レア役ヒットで色昇格・残G延長の恩恵あり。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48368"/>
            <a:ext cx="4160520" cy="104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048368"/>
            <a:ext cx="45000" cy="104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09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ルート②  規定G数（モード天井）到達→修行→対決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368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モードによって規定G数が異なり、天井到達で修行（前兆）へ。
修行ステージでの対決バトルでAT成否が決定する。
一部は刺客ゾーンをスキップして直接修行へ。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148368"/>
            <a:ext cx="4160520" cy="104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148368"/>
            <a:ext cx="45000" cy="104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19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メイリオ"/>
              </a:rPr>
              <a:t>ルート③  レア役直撃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468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強チェリー・チャンス目等のレア役成立時は
AT直当り抽選または刺客ゾーン高確移行を抽選。
通常時も常に役成立に期待を持てる設計。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248368"/>
            <a:ext cx="4160520" cy="104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248368"/>
            <a:ext cx="45000" cy="10400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32" y="429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488FF"/>
                </a:solidFill>
                <a:latin typeface="メイリオ"/>
              </a:rPr>
              <a:t>天井（モード管理）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32" y="4568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設定・モードで変化する規定G数を管理。
通常A/B・チャンスモード・天国モード等が存在。
AT後は引き戻し状態を必ず確認してからヤメること。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90000"/>
          </a:xfrm>
          <a:prstGeom prst="rect">
            <a:avLst/>
          </a:prstGeom>
          <a:solidFill>
            <a:srgbClr val="15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メイリオ"/>
              </a:rPr>
              <a:t>刀ポイントとチャンス役の期待度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48368"/>
            <a:ext cx="4297680" cy="690000"/>
          </a:xfrm>
          <a:prstGeom prst="rect">
            <a:avLst/>
          </a:prstGeom>
          <a:solidFill>
            <a:srgbClr val="0C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48368"/>
            <a:ext cx="35000" cy="690000"/>
          </a:xfrm>
          <a:prstGeom prst="rect">
            <a:avLst/>
          </a:prstGeom>
          <a:solidFill>
            <a:srgbClr val="88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7000" y="100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90AA"/>
                </a:solidFill>
                <a:latin typeface="メイリオ"/>
              </a:rPr>
              <a:t>ベル/ナビ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1400" y="1008368"/>
            <a:ext cx="7772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060"/>
                </a:solidFill>
                <a:latin typeface="メイリオ"/>
              </a:rPr>
              <a:t>毎G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7000" y="125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刀ポイント蓄積の主役（規定量で刺客ゾーンへ）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638368"/>
            <a:ext cx="4297680" cy="690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1638368"/>
            <a:ext cx="35000" cy="690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27000" y="169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3366FF"/>
                </a:solidFill>
                <a:latin typeface="メイリオ"/>
              </a:rPr>
              <a:t>弱チェリー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400" y="1698368"/>
            <a:ext cx="7772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060"/>
                </a:solidFill>
                <a:latin typeface="メイリオ"/>
              </a:rPr>
              <a:t>約1/50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7000" y="194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刀ポイント大量獲得・刺客ゾーン移行抽選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328368"/>
            <a:ext cx="4297680" cy="690000"/>
          </a:xfrm>
          <a:prstGeom prst="rect">
            <a:avLst/>
          </a:prstGeom>
          <a:solidFill>
            <a:srgbClr val="0C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2328368"/>
            <a:ext cx="35000" cy="69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7000" y="238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スイカ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41400" y="2388368"/>
            <a:ext cx="7772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060"/>
                </a:solidFill>
                <a:latin typeface="メイリオ"/>
              </a:rPr>
              <a:t>約1/100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27000" y="263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刀ポイント大量獲得・AT直当り抽選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018368"/>
            <a:ext cx="4297680" cy="690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018368"/>
            <a:ext cx="35000" cy="690000"/>
          </a:xfrm>
          <a:prstGeom prst="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7000" y="307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060"/>
                </a:solidFill>
                <a:latin typeface="メイリオ"/>
              </a:rPr>
              <a:t>強チェリー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41400" y="3078368"/>
            <a:ext cx="7772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060"/>
                </a:solidFill>
                <a:latin typeface="メイリオ"/>
              </a:rPr>
              <a:t>約1/200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7000" y="332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AT直当り濃厚・刺客ゾーン高確確定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708368"/>
            <a:ext cx="4297680" cy="690000"/>
          </a:xfrm>
          <a:prstGeom prst="rect">
            <a:avLst/>
          </a:prstGeom>
          <a:solidFill>
            <a:srgbClr val="0C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0" y="3708368"/>
            <a:ext cx="35000" cy="6900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27000" y="376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4488FF"/>
                </a:solidFill>
                <a:latin typeface="メイリオ"/>
              </a:rPr>
              <a:t>チャンス目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41400" y="3768368"/>
            <a:ext cx="7772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060"/>
                </a:solidFill>
                <a:latin typeface="メイリオ"/>
              </a:rPr>
              <a:t>約1/100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27000" y="401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刀ポイント加算・刺客ゾーン抽選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4398368"/>
            <a:ext cx="4297680" cy="690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4398368"/>
            <a:ext cx="35000" cy="69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27000" y="445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2CCDD"/>
                </a:solidFill>
                <a:latin typeface="メイリオ"/>
              </a:rPr>
              <a:t>レア役合算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41400" y="4458368"/>
            <a:ext cx="77724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060"/>
                </a:solidFill>
                <a:latin typeface="メイリオ"/>
              </a:rPr>
              <a:t>約1/30前後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27000" y="470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AT直当り・刺客ゾーン移行の全契機役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5108368"/>
            <a:ext cx="4297680" cy="490000"/>
          </a:xfrm>
          <a:prstGeom prst="rect">
            <a:avLst/>
          </a:prstGeom>
          <a:solidFill>
            <a:srgbClr val="101628"/>
          </a:solidFill>
          <a:ln w="19050">
            <a:solidFill>
              <a:srgbClr val="22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32000" y="5148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366FF"/>
                </a:solidFill>
                <a:latin typeface="メイリオ"/>
              </a:rPr>
              <a:t>打ち方：通常は順押し推奨（機種ナビに従う）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32000" y="5348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0AA"/>
                </a:solidFill>
                <a:latin typeface="メイリオ"/>
              </a:rPr>
              <a:t>AT終了後は引き戻し状態あり。前兆演出なしを確認してからヤメること。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0AA"/>
                </a:solidFill>
                <a:latin typeface="メイリオ"/>
              </a:rPr>
              <a:t>※ネット解析情報より（ちょんぼりすた・一撃・altema・p-town）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通常時の基本戦略：刀ポイント管理で刺客ゾーンを目指し、モード天井（規定G数）を把握して立ち回る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0AA"/>
                </a:solidFill>
                <a:latin typeface="メイリオ"/>
              </a:rPr>
              <a:t>引き戻し状態のヤメ判断は最重要。AT終了後すぐにヤメると当選を取り逃がすリスクあり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CZ/前兆の仕組み ── 刺客ゾーン×修行×対決バトル詳細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0AA"/>
                </a:solidFill>
                <a:latin typeface="メイリオ"/>
              </a:rPr>
              <a:t>4/9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270000"/>
          </a:xfrm>
          <a:prstGeom prst="rect">
            <a:avLst/>
          </a:prstGeom>
          <a:solidFill>
            <a:srgbClr val="15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80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66FF"/>
                </a:solidFill>
                <a:latin typeface="メイリオ"/>
              </a:rPr>
              <a:t>刺客ゾーン（CZ）── 自力ATバトル詳細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28368"/>
            <a:ext cx="416052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88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28368"/>
            <a:ext cx="45000" cy="1050000"/>
          </a:xfrm>
          <a:prstGeom prst="rect">
            <a:avLst/>
          </a:prstGeom>
          <a:solidFill>
            <a:srgbClr val="88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76368"/>
            <a:ext cx="406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90AA"/>
                </a:solidFill>
                <a:latin typeface="メイリオ"/>
              </a:rPr>
              <a:t>突入条件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48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刀ポイントが規定量到達でCZへ。
通常時の主要な攻略ポイント。
規定量はモード・設定で変動する。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43368"/>
            <a:ext cx="416052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043368"/>
            <a:ext cx="45000" cy="1050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091368"/>
            <a:ext cx="406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66FF"/>
                </a:solidFill>
                <a:latin typeface="メイリオ"/>
              </a:rPr>
              <a:t>ゲーム数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363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基本10G+αで消化。
レア役成立で残G延長（＋数G）。
チャンス演出が頻発するほど期待大。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158368"/>
            <a:ext cx="416052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158368"/>
            <a:ext cx="45000" cy="10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206368"/>
            <a:ext cx="406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メイリオ"/>
              </a:rPr>
              <a:t>AT当選率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478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CZ成功（AT当選）率：約40%以上。
成功時は一部番長ボーナス（BB）に当選。
成功後の一部で絶頂決戦〜巌流島〜突入。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273368"/>
            <a:ext cx="416052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273368"/>
            <a:ext cx="45000" cy="10500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32" y="4321368"/>
            <a:ext cx="406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488FF"/>
                </a:solidFill>
                <a:latin typeface="メイリオ"/>
              </a:rPr>
              <a:t>演出・色昇格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32" y="4593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刺客ゾーン中の演出色が昇格するほど期待度UP。
白→青→赤→金の順に当選期待度が高まる。
レア役は色昇格のトリガー。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70000"/>
          </a:xfrm>
          <a:prstGeom prst="rect">
            <a:avLst/>
          </a:prstGeom>
          <a:solidFill>
            <a:srgbClr val="15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メイリオ"/>
              </a:rPr>
              <a:t>修行（前兆ステージ）と対決バトル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28368"/>
            <a:ext cx="429768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28368"/>
            <a:ext cx="45000" cy="10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2000" y="976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メイリオ"/>
              </a:rPr>
              <a:t>修行ステージへの移行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2000" y="1248368"/>
            <a:ext cx="42076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規定G数到達・刺客ゾーン成功の後、
修行ステージ（前兆）へ移行する。
番長キャラが登場し対決前の緊張感を演出。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043368"/>
            <a:ext cx="429768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FF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043368"/>
            <a:ext cx="45000" cy="1050000"/>
          </a:xfrm>
          <a:prstGeom prst="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2000" y="2091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060"/>
                </a:solidFill>
                <a:latin typeface="メイリオ"/>
              </a:rPr>
              <a:t>対決バトルの仕組み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2000" y="2363368"/>
            <a:ext cx="42076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修行からの「対決」でAT入口を確定判定。
番長が刺客と闘い、勝利すればAT突入。
バトル中のキャラ・BGM・ナレーションで
期待度を演出する番長シリーズ伝統の要素。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158368"/>
            <a:ext cx="429768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158368"/>
            <a:ext cx="45000" cy="1050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2000" y="3206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66FF"/>
                </a:solidFill>
                <a:latin typeface="メイリオ"/>
              </a:rPr>
              <a:t>修行の法則・示唆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2000" y="3478368"/>
            <a:ext cx="42076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修行中の服装・背景・セリフに
AT当否や設定の示唆が含まれる場合がある。
「逆境からの逆転」演出は当選濃厚のサイン。
対決での敗北＝スルーはカウント管理が重要。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273368"/>
            <a:ext cx="429768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4273368"/>
            <a:ext cx="45000" cy="105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000" y="4321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CDD"/>
                </a:solidFill>
                <a:latin typeface="メイリオ"/>
              </a:rPr>
              <a:t>スルー後の優遇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2000" y="4593368"/>
            <a:ext cx="42076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修行→対決でのAT非当選（スルー）後は
次回の当選期待度が高まる。
低設定でも複数スルー後の当選チャンスは
高く設定されている可能性あり。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0AA"/>
                </a:solidFill>
                <a:latin typeface="メイリオ"/>
              </a:rPr>
              <a:t>※ネット解析情報より（ちょんぼりすた・一撃・altema・p-town）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CZ設計の核心：刀ポイント管理（能動性）→刺客ゾーン（自力感）→修行→対決（番長バトル伝統）の三層構造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0AA"/>
                </a:solidFill>
                <a:latin typeface="メイリオ"/>
              </a:rPr>
              <a:t>刺客ゾーン中のレア役色昇格演出が期待度の可視化装置として機能。約40%というCZ成功率は適度な緊張感を維持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AT「頂ZBASH」── 出玉を伸ばすための仕組みと戦略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0AA"/>
                </a:solidFill>
                <a:latin typeface="メイリオ"/>
              </a:rPr>
              <a:t>5/9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70000"/>
          </a:xfrm>
          <a:prstGeom prst="rect">
            <a:avLst/>
          </a:prstGeom>
          <a:solidFill>
            <a:srgbClr val="15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66FF"/>
                </a:solidFill>
                <a:latin typeface="メイリオ"/>
              </a:rPr>
              <a:t>頂ZBASH（AT）── 基本構造と出玉メカニズム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28368"/>
            <a:ext cx="411480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28368"/>
            <a:ext cx="45000" cy="1050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76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66FF"/>
                </a:solidFill>
                <a:latin typeface="メイリオ"/>
              </a:rPr>
              <a:t>AT基本仕様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48368"/>
            <a:ext cx="40148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差枚数管理型AT、純増約2.8枚/G。
初期差枚数：150枚+α（刺客ゾーン成功時）。
成立役に応じて決闘抽選・差枚上乗せ抽選を実施。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43368"/>
            <a:ext cx="411480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043368"/>
            <a:ext cx="45000" cy="10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091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メイリオ"/>
              </a:rPr>
              <a:t>番長ボーナス（BB）の種類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363368"/>
            <a:ext cx="40148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赤BB（20G+α）：消化中に上乗せ高確抽選＋差枚上乗せ抽選。
  上乗せ枚数：一撃100〜数百枚も可能。
青BB（20G）：常時上乗せ高確状態。差枚上乗せ期待大。
  青BBは赤BBより上乗せ期待値が高い。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158368"/>
            <a:ext cx="411480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FF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158368"/>
            <a:ext cx="45000" cy="1050000"/>
          </a:xfrm>
          <a:prstGeom prst="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206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060"/>
                </a:solidFill>
                <a:latin typeface="メイリオ"/>
              </a:rPr>
              <a:t>倍斬刀チャレンジ（上乗せ倍化）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478368"/>
            <a:ext cx="40148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3G間のCZで、レア役・斬揃い成立で上乗せ枚数が
2〜8倍に倍化。倍化成功を重ねると最大64倍まで可能。
獲得差枚数の爆発的増加の起点となる特化CZ。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273368"/>
            <a:ext cx="4114800" cy="105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273368"/>
            <a:ext cx="45000" cy="105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32" y="4321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CDD"/>
                </a:solidFill>
                <a:latin typeface="メイリオ"/>
              </a:rPr>
              <a:t>決闘と差枚上乗せ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32" y="4593368"/>
            <a:ext cx="40148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AT中は成立役ごとに決闘抽選を実施。
決闘勝利で報酬獲得（差枚上乗せ/番長BB/絶頂決戦）。
報酬の約25%が絶頂決戦〜巌流島〜突入のチャンス。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70000"/>
          </a:xfrm>
          <a:prstGeom prst="rect">
            <a:avLst/>
          </a:prstGeom>
          <a:solidFill>
            <a:srgbClr val="15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メイリオ"/>
              </a:rPr>
              <a:t>出玉を伸ばす3つのポイント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28368"/>
            <a:ext cx="4297680" cy="1420000"/>
          </a:xfrm>
          <a:prstGeom prst="rect">
            <a:avLst/>
          </a:prstGeom>
          <a:solidFill>
            <a:srgbClr val="0C101E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28368"/>
            <a:ext cx="45000" cy="142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7000" y="978368"/>
            <a:ext cx="4202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① 青BBを引く・引かせる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7000" y="1268368"/>
            <a:ext cx="420268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青BBは常時上乗せ高確のため1BB当たりの
期待差枚数が赤BBを大きく上回る。
AT中に青BBを何回引けるかが出玉規模を決める。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418368"/>
            <a:ext cx="4297680" cy="1420000"/>
          </a:xfrm>
          <a:prstGeom prst="rect">
            <a:avLst/>
          </a:prstGeom>
          <a:solidFill>
            <a:srgbClr val="0C101E"/>
          </a:solidFill>
          <a:ln w="2540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418368"/>
            <a:ext cx="45000" cy="1420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7000" y="2468368"/>
            <a:ext cx="4202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66FF"/>
                </a:solidFill>
                <a:latin typeface="游明朝"/>
              </a:rPr>
              <a:t>② 倍斬刀チャレンジで倍化積み上げ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7000" y="2758368"/>
            <a:ext cx="420268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上乗せ枚数の倍化チャンスを活かすことが
大量出玉への最短ルート。
2倍→4倍→8倍→16倍→32倍→64倍の段階があり
レア役が鍵を握る。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908368"/>
            <a:ext cx="4297680" cy="1420000"/>
          </a:xfrm>
          <a:prstGeom prst="rect">
            <a:avLst/>
          </a:prstGeom>
          <a:solidFill>
            <a:srgbClr val="0C101E"/>
          </a:solidFill>
          <a:ln w="25400">
            <a:solidFill>
              <a:srgbClr val="FF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908368"/>
            <a:ext cx="45000" cy="1420000"/>
          </a:xfrm>
          <a:prstGeom prst="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7000" y="3958368"/>
            <a:ext cx="4202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060"/>
                </a:solidFill>
                <a:latin typeface="游明朝"/>
              </a:rPr>
              <a:t>③ 絶頂決戦〜巌流島〜への到達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7000" y="4248368"/>
            <a:ext cx="420268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決闘勝利報酬で突入できる差枚上乗せ特化ゾーン。
平均上乗せ約700枚で終了後は上位AT「青頂ZBASH」へ。
絶頂輪廻ループへの入口として最重要の特化ゾーン。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0AA"/>
                </a:solidFill>
                <a:latin typeface="メイリオ"/>
              </a:rPr>
              <a:t>※ネット解析情報より（ちょんぼりすた・一撃・altema・p-town）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出玉の核心：「青BB連打×倍斬刀チャレンジの倍化×絶頂決戦〜巌流島〜突入」── この3要素が重なると大量出玉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0AA"/>
                </a:solidFill>
                <a:latin typeface="メイリオ"/>
              </a:rPr>
              <a:t>差枚管理型は消化中の上乗せが全て「残差枚数」として積み上がる設計。番長BBが出玉加速装置として機能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上位ATへの道 ── 絶頂決戦〜巌流島〜×青頂ZBASH×絶頂輪廻ループ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0AA"/>
                </a:solidFill>
                <a:latin typeface="メイリオ"/>
              </a:rPr>
              <a:t>6/9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"/>
            <a:ext cx="9144000" cy="260000"/>
          </a:xfrm>
          <a:prstGeom prst="rect">
            <a:avLst/>
          </a:prstGeom>
          <a:solidFill>
            <a:srgbClr val="15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90372"/>
            <a:ext cx="82296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上位AT到達ルートと絶頂輪廻ループの全容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48448"/>
            <a:ext cx="1920240" cy="110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040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66FF"/>
                </a:solidFill>
                <a:latin typeface="游明朝"/>
              </a:rPr>
              <a:t>頂ZBASH
（通常AT）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40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0AA"/>
                </a:solidFill>
                <a:latin typeface="メイリオ"/>
              </a:rPr>
              <a:t>純増2.8枚/G
決闘抽選
起点</a:t>
            </a:r>
          </a:p>
        </p:txBody>
      </p:sp>
      <p:sp>
        <p:nvSpPr>
          <p:cNvPr id="13" name="Can 12"/>
          <p:cNvSpPr/>
          <p:nvPr/>
        </p:nvSpPr>
        <p:spPr>
          <a:xfrm>
            <a:off x="2252280" y="1208448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78024" y="748448"/>
            <a:ext cx="1920240" cy="110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3024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游明朝"/>
              </a:rPr>
              <a:t>決闘勝利
→報酬獲得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8024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0AA"/>
                </a:solidFill>
                <a:latin typeface="メイリオ"/>
              </a:rPr>
              <a:t>報酬の約25%が
巌流島突入
チャンス</a:t>
            </a:r>
          </a:p>
        </p:txBody>
      </p:sp>
      <p:sp>
        <p:nvSpPr>
          <p:cNvPr id="17" name="Can 16"/>
          <p:cNvSpPr/>
          <p:nvPr/>
        </p:nvSpPr>
        <p:spPr>
          <a:xfrm>
            <a:off x="4410264" y="1208448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36008" y="748448"/>
            <a:ext cx="1920240" cy="1100000"/>
          </a:xfrm>
          <a:prstGeom prst="rect">
            <a:avLst/>
          </a:prstGeom>
          <a:solidFill>
            <a:srgbClr val="081228"/>
          </a:solidFill>
          <a:ln w="25400">
            <a:solidFill>
              <a:srgbClr val="FF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1008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D060"/>
                </a:solidFill>
                <a:latin typeface="游明朝"/>
              </a:rPr>
              <a:t>絶頂決戦
〜巌流島〜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6008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0AA"/>
                </a:solidFill>
                <a:latin typeface="メイリオ"/>
              </a:rPr>
              <a:t>差枚特化ゾーン
平均+700枚
終了後→上位AT</a:t>
            </a:r>
          </a:p>
        </p:txBody>
      </p:sp>
      <p:sp>
        <p:nvSpPr>
          <p:cNvPr id="21" name="Can 20"/>
          <p:cNvSpPr/>
          <p:nvPr/>
        </p:nvSpPr>
        <p:spPr>
          <a:xfrm>
            <a:off x="6568248" y="1208448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93992" y="748448"/>
            <a:ext cx="1920240" cy="1100000"/>
          </a:xfrm>
          <a:prstGeom prst="rect">
            <a:avLst/>
          </a:prstGeom>
          <a:solidFill>
            <a:srgbClr val="081228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8992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488FF"/>
                </a:solidFill>
                <a:latin typeface="游明朝"/>
              </a:rPr>
              <a:t>青頂ZBASH
（上位AT）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3992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0AA"/>
                </a:solidFill>
                <a:latin typeface="メイリオ"/>
              </a:rPr>
              <a:t>純増5.0枚/G
3桁上乗せ濃厚
超高性能AT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1828800"/>
            <a:ext cx="41148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D060"/>
                </a:solidFill>
                <a:latin typeface="メイリオ"/>
              </a:rPr>
              <a:t>← 絶頂輪廻ループ：青頂ZBASH→巌流島→青頂ZBASH→…を繰り返す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36008" y="2066543"/>
            <a:ext cx="4114800" cy="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157984"/>
            <a:ext cx="9144000" cy="5000"/>
          </a:xfrm>
          <a:prstGeom prst="rect">
            <a:avLst/>
          </a:prstGeom>
          <a:solidFill>
            <a:srgbClr val="22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2212848"/>
            <a:ext cx="4160520" cy="2500000"/>
          </a:xfrm>
          <a:prstGeom prst="rect">
            <a:avLst/>
          </a:prstGeom>
          <a:solidFill>
            <a:srgbClr val="0C101E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2212848"/>
            <a:ext cx="45000" cy="25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32" y="2262848"/>
            <a:ext cx="4065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絶頂決戦〜巌流島〜の全容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32" y="2552848"/>
            <a:ext cx="406552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【突入条件】
① AT頂ZBASH中の決闘勝利報酬（約25%で突入）
② 刺客ゾーン成功時の一部で直接突入
【特化ゾーンの内容】
差枚数上乗せに特化した特化ゾーン。
消化中の成立役に応じて大量の差枚数を上乗せ。
平均上乗せ枚数：約700枚。
【終了後の恩恵】
絶頂決戦〜巌流島〜終了後は無条件で
上位AT「青頂ZBASH」へ突入（絶頂輪廻ループ開始）。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2212848"/>
            <a:ext cx="4251960" cy="2500000"/>
          </a:xfrm>
          <a:prstGeom prst="rect">
            <a:avLst/>
          </a:prstGeom>
          <a:solidFill>
            <a:srgbClr val="081228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2212848"/>
            <a:ext cx="45000" cy="25000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2720" y="2262848"/>
            <a:ext cx="41569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88FF"/>
                </a:solidFill>
                <a:latin typeface="游明朝"/>
              </a:rPr>
              <a:t>青頂ZBASH（上位AT）の遊び方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2720" y="2552848"/>
            <a:ext cx="415696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【基本スペック】
純増：約5.0枚/G（通常ATの約1.8倍）
差枚数：巌流島で獲得した分から継続
【通常ATとの違い】
ゲーム性は頂ZBASHと同様の決闘システム。
ただし、レア小役成立時の上乗せ確率が大幅UP。
上乗せ時の枚数が3桁（100枚以上）濃厚。
【絶頂輪廻ループへ】
青頂ZBASH中も決闘→報酬で巌流島突入チャンス。
巌流島→青頂ZBASH→巌流島→…の
繰り返しループが最大の出玉爆発ルート。
このループに入ることが最終目標。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0AA"/>
                </a:solidFill>
                <a:latin typeface="メイリオ"/>
              </a:rPr>
              <a:t>※ネット解析情報より（ちょんぼりすた・一撃・altema・p-town）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上位ATの設計核心：「巌流島(+700枚)→青頂ZBASH(純増5.0枚)→巌流島→…」の絶頂輪廻ループが出玉爆発の本体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0AA"/>
                </a:solidFill>
                <a:latin typeface="メイリオ"/>
              </a:rPr>
              <a:t>青頂ZBASH中の上乗せは3桁濃厚。ループに入れば自動的に大量獲得が実現する設計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面白さの設計 ── 番長シリーズの設計哲学といざ番長の進化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0AA"/>
                </a:solidFill>
                <a:latin typeface="メイリオ"/>
              </a:rPr>
              <a:t>7/9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120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0000" cy="12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032" y="70836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游明朝"/>
              </a:rPr>
              <a:t>① 「男の自力感」── 番長シリーズのDNA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32" y="98836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押忍！番長3から受け継ぐ「自力でATを引き当てる感覚」。
刀ポイント管理→刺客ゾーン→対決という
能動的なゲームフローが硬派プレイヤーを引きつける。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7448" y="658368"/>
            <a:ext cx="4160520" cy="120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27448" y="658368"/>
            <a:ext cx="40000" cy="1200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7448" y="70836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66FF"/>
                </a:solidFill>
                <a:latin typeface="游明朝"/>
              </a:rPr>
              <a:t>② 刀ポイントという「蓄積型エンジン」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7448" y="98836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毎ゲームの役成立を刀ポイントとして積み上げる設計。
ベルが刺さるたびに「あと何G」という
目標意識が生まれ、回転率と滞在率を高める。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949808"/>
            <a:ext cx="4160520" cy="120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FF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1949808"/>
            <a:ext cx="40000" cy="1200000"/>
          </a:xfrm>
          <a:prstGeom prst="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032" y="199980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060"/>
                </a:solidFill>
                <a:latin typeface="游明朝"/>
              </a:rPr>
              <a:t>③ 絶頂輪廻ループという「夢の設計」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032" y="227980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一度ループに入ると止まらない連鎖が明確に見える。
「巌流島→青頂ZBASH→巌流島→…」という
エンドレスの上位ループが"夢"として機能する。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27448" y="1949808"/>
            <a:ext cx="4160520" cy="120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27448" y="1949808"/>
            <a:ext cx="40000" cy="12000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7448" y="199980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488FF"/>
                </a:solidFill>
                <a:latin typeface="游明朝"/>
              </a:rPr>
              <a:t>④ 差枚管理型×倍化という「出玉体験の民主化」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7448" y="227980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差枚数管理型はハマりでも残差枚が積み上がる。
倍斬刀チャレンジの最大64倍倍化が
低投資からでも一気に逆転できる「逆転劇」を可能にする。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3241248"/>
            <a:ext cx="8631936" cy="110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3241248"/>
            <a:ext cx="40000" cy="110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6032" y="3291248"/>
            <a:ext cx="854193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CDD"/>
                </a:solidFill>
                <a:latin typeface="游明朝"/>
              </a:rPr>
              <a:t>⑤ 2段階純増（2.8→5.0枚）という「到達感の演出」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032" y="3571248"/>
            <a:ext cx="8541936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通常AT→上位ATで純増が大幅アップする構造が
明確な「上振れ感」を生む。
青頂ZBASHへの突入が視覚的・体感的に
特別なイベントとして印象付けられる。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0AA"/>
                </a:solidFill>
                <a:latin typeface="メイリオ"/>
              </a:rPr>
              <a:t>※ネット解析情報より（ちょんぼりすた・一撃・altema・p-town）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設計哲学の核心：「蓄積（刀ポイント）→自力感（刺客ゾーン）→バトル（対決）→ループ（絶頂輪廻）」の硬派循環設計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0AA"/>
                </a:solidFill>
                <a:latin typeface="メイリオ"/>
              </a:rPr>
              <a:t>押忍！番長3で確立した伝統のゲームフローを差枚管理型×ループ型ATで現代化した進化作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良い点と課題 ── 設計の強みと改善余地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0AA"/>
                </a:solidFill>
                <a:latin typeface="メイリオ"/>
              </a:rPr>
              <a:t>8/9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6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0810"/>
                </a:solidFill>
                <a:latin typeface="メイリオ"/>
              </a:rPr>
              <a:t>良い点 ── 設計的強み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14800" cy="1070000"/>
          </a:xfrm>
          <a:prstGeom prst="rect">
            <a:avLst/>
          </a:prstGeom>
          <a:solidFill>
            <a:srgbClr val="0C101E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032" y="96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刀ポイント蓄積による能動的な通常遊技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032" y="121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毎G役成立を蓄積するシステムが
プレイヤーの「関与感」を高める。
単なる待ち時間を"積み上げる作業"に変える設計。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58368"/>
            <a:ext cx="4114800" cy="1070000"/>
          </a:xfrm>
          <a:prstGeom prst="rect">
            <a:avLst/>
          </a:prstGeom>
          <a:solidFill>
            <a:srgbClr val="0C101E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05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032" y="210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絶頂輪廻ループの爽快な出玉連鎖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032" y="235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巌流島→青頂ZBASHのループは
視覚・体感ともに圧倒的な出玉体験。
「止まらない感覚」が最大の差別化要素。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198368"/>
            <a:ext cx="4114800" cy="1070000"/>
          </a:xfrm>
          <a:prstGeom prst="rect">
            <a:avLst/>
          </a:prstGeom>
          <a:solidFill>
            <a:srgbClr val="0C101E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19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6032" y="324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差枚管理型×倍化で逆転劇が可能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032" y="349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倍斬刀チャレンジ最大64倍倍化で
少ない投資から大量出玉への逆転劇。
どのタイミングでも期待感を維持。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338368"/>
            <a:ext cx="4114800" cy="1070000"/>
          </a:xfrm>
          <a:prstGeom prst="rect">
            <a:avLst/>
          </a:prstGeom>
          <a:solidFill>
            <a:srgbClr val="0C101E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33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6032" y="438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パチスロアワード2025ノミネートの話題性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032" y="463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業界評価の高さがホール集客力に直結。
番長ブランドの認知度×最新設計で
ライト層からベテランまで幅広く集客。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ECE8"/>
                </a:solidFill>
                <a:latin typeface="メイリオ"/>
              </a:rPr>
              <a:t>課題 ── 改善余地・注意点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18368"/>
            <a:ext cx="4297680" cy="1070000"/>
          </a:xfrm>
          <a:prstGeom prst="rect">
            <a:avLst/>
          </a:prstGeom>
          <a:solidFill>
            <a:srgbClr val="0C101E"/>
          </a:solidFill>
          <a:ln w="15240">
            <a:solidFill>
              <a:srgbClr val="DD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18368"/>
            <a:ext cx="35000" cy="1070000"/>
          </a:xfrm>
          <a:prstGeom prst="rect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2000" y="96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D2222"/>
                </a:solidFill>
                <a:latin typeface="メイリオ"/>
              </a:rPr>
              <a:t>低設定でのゲーム数解除の薄さ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2000" y="121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低設定ではCZ成功率が下がり
ゲーム数解除もほとんど期待できない。
「CZ頼み」という声もあり、
設定差の体感が大きくなりがち。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058368"/>
            <a:ext cx="4297680" cy="1070000"/>
          </a:xfrm>
          <a:prstGeom prst="rect">
            <a:avLst/>
          </a:prstGeom>
          <a:solidFill>
            <a:srgbClr val="0C101E"/>
          </a:solidFill>
          <a:ln w="1524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058368"/>
            <a:ext cx="35000" cy="1070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2000" y="210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366FF"/>
                </a:solidFill>
                <a:latin typeface="メイリオ"/>
              </a:rPr>
              <a:t>モード管理の把握が必要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2000" y="235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モード別天井の理解がないと
立ち回りが難しく感じる。
ライトユーザーへの敷居がやや高い。
演出示唆の読み解きにも慣れが必要。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198368"/>
            <a:ext cx="4297680" cy="1070000"/>
          </a:xfrm>
          <a:prstGeom prst="rect">
            <a:avLst/>
          </a:prstGeom>
          <a:solidFill>
            <a:srgbClr val="0C101E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198368"/>
            <a:ext cx="35000" cy="107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2000" y="324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絶頂輪廻ループ到達率の偏り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2000" y="349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ループに入れると爆発するが
到達率は高くない。
巌流島突入機会が少ない台は
通常ATの消化を繰り返すだけになりがち。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338368"/>
            <a:ext cx="4297680" cy="1070000"/>
          </a:xfrm>
          <a:prstGeom prst="rect">
            <a:avLst/>
          </a:prstGeom>
          <a:solidFill>
            <a:srgbClr val="0C101E"/>
          </a:solidFill>
          <a:ln w="15240">
            <a:solidFill>
              <a:srgbClr val="88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4338368"/>
            <a:ext cx="35000" cy="1070000"/>
          </a:xfrm>
          <a:prstGeom prst="rect">
            <a:avLst/>
          </a:prstGeom>
          <a:solidFill>
            <a:srgbClr val="88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2000" y="438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890AA"/>
                </a:solidFill>
                <a:latin typeface="メイリオ"/>
              </a:rPr>
              <a:t>賛否両論の評価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2000" y="463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番長ファンには高評価だが
新規ユーザーには取っつきにくいとの声も。
シリーズ未経験者向けの
入口設計のさらなる改善余地あり。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0AA"/>
                </a:solidFill>
                <a:latin typeface="メイリオ"/>
              </a:rPr>
              <a:t>※ネット解析情報より（ちょんぼりすた・一撃・altema・p-town）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強みと課題の両面把握が設計学習の本質：絶頂輪廻ループの爽快感を活かしつつ、ライト層への間口拡大が次の課題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0AA"/>
                </a:solidFill>
                <a:latin typeface="メイリオ"/>
              </a:rPr>
              <a:t>パチスロアワード2025ノミネートは「業界が評価する設計」の証。その設計要素を分解して活用する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まとめ ── いざ！番長の設計から学べること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0AA"/>
                </a:solidFill>
                <a:latin typeface="メイリオ"/>
              </a:rPr>
              <a:t>9/9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60000"/>
          </a:xfrm>
          <a:prstGeom prst="rect">
            <a:avLst/>
          </a:prstGeom>
          <a:solidFill>
            <a:srgbClr val="15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メイリオ"/>
              </a:rPr>
              <a:t>いざ！番長 ── 設計的強み総括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14800" cy="121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40000" cy="1210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032" y="96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66FF"/>
                </a:solidFill>
                <a:latin typeface="メイリオ"/>
              </a:rPr>
              <a:t>刀ポイント蓄積フローという核心設計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032" y="124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毎G役成立を蓄積→刺客ゾーン→対決という
能動的な3ステップが「硬派な自力感」を演出。
番長シリーズDNAを現代スマスロに移植した設計。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98368"/>
            <a:ext cx="4114800" cy="121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198368"/>
            <a:ext cx="40000" cy="121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032" y="224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絶頂輪廻ループという「夢と現実の循環」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032" y="252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巌流島(+700枚)→青頂ZBASH(純増5.0枚)→
巌流島→…の繰り返しが視覚的・体感的に
「出玉が止まらない」圧倒的な爽快感を生む。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78368"/>
            <a:ext cx="4114800" cy="1210000"/>
          </a:xfrm>
          <a:prstGeom prst="rect">
            <a:avLst/>
          </a:prstGeom>
          <a:solidFill>
            <a:srgbClr val="0C101E"/>
          </a:solidFill>
          <a:ln w="19050">
            <a:solidFill>
              <a:srgbClr val="FF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78368"/>
            <a:ext cx="40000" cy="1210000"/>
          </a:xfrm>
          <a:prstGeom prst="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032" y="352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060"/>
                </a:solidFill>
                <a:latin typeface="メイリオ"/>
              </a:rPr>
              <a:t>差枚管理型×倍化×2段階純増の複合設計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032" y="380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差枚管理で安心感、倍斬刀チャレンジで逆転劇、
通常→上位ATの純増アップで到達感を演出。
3要素の組み合わせが多様な出玉体験を提供。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設計から学べる原則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18368"/>
            <a:ext cx="4297680" cy="710000"/>
          </a:xfrm>
          <a:prstGeom prst="rect">
            <a:avLst/>
          </a:prstGeom>
          <a:solidFill>
            <a:srgbClr val="0C101E"/>
          </a:solidFill>
          <a:ln w="12700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918368"/>
            <a:ext cx="30000" cy="710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7000" y="96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366FF"/>
                </a:solidFill>
                <a:latin typeface="メイリオ"/>
              </a:rPr>
              <a:t>蓄積型エンジンで毎Gに意味を持たせよ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7000" y="120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刀ポイントのように役成立を蓄積する
システムが通常時の単調さを解消する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678368"/>
            <a:ext cx="4297680" cy="710000"/>
          </a:xfrm>
          <a:prstGeom prst="rect">
            <a:avLst/>
          </a:prstGeom>
          <a:solidFill>
            <a:srgbClr val="0C101E"/>
          </a:solidFill>
          <a:ln w="127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1678368"/>
            <a:ext cx="30000" cy="71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7000" y="172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「夢の連鎖」は視覚化せよ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7000" y="196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絶頂輪廻ループのように繰り返しの
美しさを見せることで離席を防ぐ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438368"/>
            <a:ext cx="4297680" cy="710000"/>
          </a:xfrm>
          <a:prstGeom prst="rect">
            <a:avLst/>
          </a:prstGeom>
          <a:solidFill>
            <a:srgbClr val="0C101E"/>
          </a:solidFill>
          <a:ln w="12700">
            <a:solidFill>
              <a:srgbClr val="FF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438368"/>
            <a:ext cx="30000" cy="710000"/>
          </a:xfrm>
          <a:prstGeom prst="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7000" y="248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060"/>
                </a:solidFill>
                <a:latin typeface="メイリオ"/>
              </a:rPr>
              <a:t>純増の段差で「到達感」を演出せよ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7000" y="272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2.8→5.0枚/Gの切り替わりが
上位到達の明確な体感報酬になる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198368"/>
            <a:ext cx="4297680" cy="710000"/>
          </a:xfrm>
          <a:prstGeom prst="rect">
            <a:avLst/>
          </a:prstGeom>
          <a:solidFill>
            <a:srgbClr val="0C101E"/>
          </a:solidFill>
          <a:ln w="127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198368"/>
            <a:ext cx="30000" cy="71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7000" y="324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DD"/>
                </a:solidFill>
                <a:latin typeface="メイリオ"/>
              </a:rPr>
              <a:t>シリーズの文法を守りつつ進化せよ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7000" y="348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番長の「硬派バトル感」というDNAを
維持しながら差枚管理型に昇華した手法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968368"/>
            <a:ext cx="4297680" cy="1060000"/>
          </a:xfrm>
          <a:prstGeom prst="rect">
            <a:avLst/>
          </a:prstGeom>
          <a:solidFill>
            <a:srgbClr val="081028"/>
          </a:solidFill>
          <a:ln w="25400">
            <a:solidFill>
              <a:srgbClr val="22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3968368"/>
            <a:ext cx="40000" cy="1060000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7000" y="4018368"/>
            <a:ext cx="4212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66FF"/>
                </a:solidFill>
                <a:latin typeface="メイリオ"/>
              </a:rPr>
              <a:t>総括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7000" y="4278368"/>
            <a:ext cx="4212680" cy="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刀ポイント蓄積×刺客ゾーン自力感×対決番長バトル
×絶頂輪廻ループという4要素の統合設計。
番長シリーズのDNAを差枚管理型スマスロに
昇華した2025年の代表的な設計完成機。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0AA"/>
                </a:solidFill>
                <a:latin typeface="メイリオ"/>
              </a:rPr>
              <a:t>※ネット解析情報より（ちょんぼりすた・一撃・altema・p-town）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本機の設計思想：「蓄積・自力感・番長バトル・絶頂輪廻ループ」── 番長シリーズ第3弾が示した設計進化の方向性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0AA"/>
                </a:solidFill>
                <a:latin typeface="メイリオ"/>
              </a:rPr>
              <a:t>パチスロアワード2025ノミネートは「業界が認めた現代スマスロ設計の模範」としての評価の証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