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8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36576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E2222"/>
                </a:solidFill>
                <a:latin typeface="游明朝"/>
              </a:rPr>
              <a:t>機種説明＋分析 統合ガイド  v1（パチスロアワード2025ノミネート）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804672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C1111"/>
                </a:solidFill>
                <a:latin typeface="游明朝"/>
              </a:rPr>
              <a:t>スマスロ
バイオハザード5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468880"/>
            <a:ext cx="45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D8B0"/>
                </a:solidFill>
                <a:latin typeface="游明朝"/>
              </a:rPr>
              <a:t>スマスロ（Lパチスロ）── 増殖分裂×ゲーム数上乗せ×ホラーサバイバル設計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743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8880"/>
                </a:solidFill>
                <a:latin typeface="メイリオ"/>
              </a:rPr>
              <a:t>メーカー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743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エンターライズ　2025年3月3日導入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2978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8880"/>
                </a:solidFill>
                <a:latin typeface="メイリオ"/>
              </a:rPr>
              <a:t>設定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978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1〜6段階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3213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8880"/>
                </a:solidFill>
                <a:latin typeface="メイリオ"/>
              </a:rPr>
              <a:t>AT純増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3213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ハザードラッシュ：約2.5枚/G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448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8880"/>
                </a:solidFill>
                <a:latin typeface="メイリオ"/>
              </a:rPr>
              <a:t>上位AT純増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3448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プレミアムハザードラッシュ：約4.0枚/G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3683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8880"/>
                </a:solidFill>
                <a:latin typeface="メイリオ"/>
              </a:rPr>
              <a:t>設定1機械割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3683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97.3%（参考値）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918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8880"/>
                </a:solidFill>
                <a:latin typeface="メイリオ"/>
              </a:rPr>
              <a:t>設定6機械割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3918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110.8%（参考値）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4153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8880"/>
                </a:solidFill>
                <a:latin typeface="メイリオ"/>
              </a:rPr>
              <a:t>天井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153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通常時999G（恩恵：AT確定）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4388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8880"/>
                </a:solidFill>
                <a:latin typeface="メイリオ"/>
              </a:rPr>
              <a:t>初期AT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4388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50G＋α（増殖・変異上乗せあり）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623200"/>
            <a:ext cx="15544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8880"/>
                </a:solidFill>
                <a:latin typeface="メイリオ"/>
              </a:rPr>
              <a:t>最大上乗せ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4623200"/>
            <a:ext cx="301752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0ECE8"/>
                </a:solidFill>
                <a:latin typeface="メイリオ"/>
              </a:rPr>
              <a:t>810G（30G×27分裂）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502920"/>
            <a:ext cx="3749039" cy="1188720"/>
          </a:xfrm>
          <a:prstGeom prst="rect">
            <a:avLst/>
          </a:prstGeom>
          <a:solidFill>
            <a:srgbClr val="120404"/>
          </a:solidFill>
          <a:ln w="2540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6360" y="502920"/>
            <a:ext cx="60000" cy="118872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567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C1111"/>
                </a:solidFill>
                <a:latin typeface="游明朝"/>
              </a:rPr>
              <a:t>① 増殖×変異の上乗せシステム（核心）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882920"/>
            <a:ext cx="34747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CE8"/>
                </a:solidFill>
                <a:latin typeface="メイリオ"/>
              </a:rPr>
              <a:t>上乗せゲーム数が「増殖」で2倍に分裂。
10G→20G→40G→80Gと連鎖。
最大30G×27分裂＝810Gの爆発力。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60" y="2042920"/>
            <a:ext cx="3749039" cy="1188720"/>
          </a:xfrm>
          <a:prstGeom prst="rect">
            <a:avLst/>
          </a:prstGeom>
          <a:solidFill>
            <a:srgbClr val="120404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66360" y="2042920"/>
            <a:ext cx="60000" cy="1188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2107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6600"/>
                </a:solidFill>
                <a:latin typeface="游明朝"/>
              </a:rPr>
              <a:t>② 2層AT設計（通常AT＋上位AT）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2422920"/>
            <a:ext cx="34747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CE8"/>
                </a:solidFill>
                <a:latin typeface="メイリオ"/>
              </a:rPr>
              <a:t>ハザードラッシュ（純増2.5枚）で土台を作り
プレミアムハザードラッシュ（純増4.0枚）で
爆発。上位ATはゲーム数減算なしの特殊仕様。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66360" y="3582920"/>
            <a:ext cx="3749039" cy="1188720"/>
          </a:xfrm>
          <a:prstGeom prst="rect">
            <a:avLst/>
          </a:prstGeom>
          <a:solidFill>
            <a:srgbClr val="120404"/>
          </a:solidFill>
          <a:ln w="254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66360" y="3582920"/>
            <a:ext cx="60000" cy="118872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3647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2CCDD"/>
                </a:solidFill>
                <a:latin typeface="游明朝"/>
              </a:rPr>
              <a:t>③ ホラー×サバイバル世界観の継承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3962920"/>
            <a:ext cx="347472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ECE8"/>
                </a:solidFill>
                <a:latin typeface="メイリオ"/>
              </a:rPr>
              <a:t>5号機バイオ5の完全再現ゲーム性。
パニックゾーン・ウェスカーゾーンの
CZ演出で原作ホラー感を忠実に再現。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919472"/>
            <a:ext cx="26517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8880"/>
                </a:solidFill>
                <a:latin typeface="メイリオ"/>
              </a:rPr>
              <a:t>※ネット解析情報より（ちょんぼりすた・一撃・なな徹・アミュタメ）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6600"/>
                </a:solidFill>
                <a:latin typeface="メイリオ"/>
              </a:rPr>
              <a:t>設計核心：「増殖×分裂上乗せ×2層AT」── 5号機バイオ5のゲーム性をスマスロで完全再現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パチスロアワード2025ノミネート機種。純増2.5枚/Gのゲーム数上乗せ型で増殖連鎖が出玉の本体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游明朝"/>
              </a:rPr>
              <a:t>ゲームフロー全体図 ── 通常時→CZ→AT→上位ATの全ルート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2/9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85800"/>
            <a:ext cx="1463040" cy="1100000"/>
          </a:xfrm>
          <a:prstGeom prst="rect">
            <a:avLst/>
          </a:prstGeom>
          <a:solidFill>
            <a:srgbClr val="1A0606"/>
          </a:solidFill>
          <a:ln w="22860">
            <a:solidFill>
              <a:srgbClr val="998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032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998880"/>
                </a:solidFill>
                <a:latin typeface="游明朝"/>
              </a:rPr>
              <a:t>通常遊技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032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モード管理
レア役/ベル3連
でCZ抽選</a:t>
            </a:r>
          </a:p>
        </p:txBody>
      </p:sp>
      <p:sp>
        <p:nvSpPr>
          <p:cNvPr id="11" name="Can 10"/>
          <p:cNvSpPr/>
          <p:nvPr/>
        </p:nvSpPr>
        <p:spPr>
          <a:xfrm>
            <a:off x="1729072" y="1145800"/>
            <a:ext cx="200000" cy="180000"/>
          </a:xfrm>
          <a:prstGeom prst="can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685800"/>
            <a:ext cx="1463040" cy="1100000"/>
          </a:xfrm>
          <a:prstGeom prst="rect">
            <a:avLst/>
          </a:prstGeom>
          <a:solidFill>
            <a:srgbClr val="120404"/>
          </a:solidFill>
          <a:ln w="22860">
            <a:solidFill>
              <a:srgbClr val="EE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9520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EE2222"/>
                </a:solidFill>
                <a:latin typeface="游明朝"/>
              </a:rPr>
              <a:t>パニック
ゾーン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9520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AT期待度
約30〜50%</a:t>
            </a:r>
          </a:p>
        </p:txBody>
      </p:sp>
      <p:sp>
        <p:nvSpPr>
          <p:cNvPr id="15" name="Can 14"/>
          <p:cNvSpPr/>
          <p:nvPr/>
        </p:nvSpPr>
        <p:spPr>
          <a:xfrm>
            <a:off x="3347560" y="1145800"/>
            <a:ext cx="200000" cy="180000"/>
          </a:xfrm>
          <a:prstGeom prst="can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93008" y="685800"/>
            <a:ext cx="1463040" cy="1100000"/>
          </a:xfrm>
          <a:prstGeom prst="rect">
            <a:avLst/>
          </a:prstGeom>
          <a:solidFill>
            <a:srgbClr val="120404"/>
          </a:solidFill>
          <a:ln w="2286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8008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C1111"/>
                </a:solidFill>
                <a:latin typeface="游明朝"/>
              </a:rPr>
              <a:t>ウェスカー
ゾーン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8008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高期待度CZ
期待度アップ</a:t>
            </a:r>
          </a:p>
        </p:txBody>
      </p:sp>
      <p:sp>
        <p:nvSpPr>
          <p:cNvPr id="19" name="Can 18"/>
          <p:cNvSpPr/>
          <p:nvPr/>
        </p:nvSpPr>
        <p:spPr>
          <a:xfrm>
            <a:off x="4966048" y="1145800"/>
            <a:ext cx="200000" cy="180000"/>
          </a:xfrm>
          <a:prstGeom prst="can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1496" y="685800"/>
            <a:ext cx="1463040" cy="1100000"/>
          </a:xfrm>
          <a:prstGeom prst="rect">
            <a:avLst/>
          </a:prstGeom>
          <a:solidFill>
            <a:srgbClr val="120404"/>
          </a:solidFill>
          <a:ln w="2286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6496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6600"/>
                </a:solidFill>
                <a:latin typeface="游明朝"/>
              </a:rPr>
              <a:t>ハザード
ラッシュ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6496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初期50G+α
純増2.5枚/G</a:t>
            </a:r>
          </a:p>
        </p:txBody>
      </p:sp>
      <p:sp>
        <p:nvSpPr>
          <p:cNvPr id="23" name="Can 22"/>
          <p:cNvSpPr/>
          <p:nvPr/>
        </p:nvSpPr>
        <p:spPr>
          <a:xfrm>
            <a:off x="6584536" y="1145800"/>
            <a:ext cx="200000" cy="180000"/>
          </a:xfrm>
          <a:prstGeom prst="can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29984" y="685800"/>
            <a:ext cx="1463040" cy="1100000"/>
          </a:xfrm>
          <a:prstGeom prst="rect">
            <a:avLst/>
          </a:prstGeom>
          <a:solidFill>
            <a:srgbClr val="120404"/>
          </a:solidFill>
          <a:ln w="2286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4984" y="755800"/>
            <a:ext cx="1403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CAA22"/>
                </a:solidFill>
                <a:latin typeface="游明朝"/>
              </a:rPr>
              <a:t>プレミアム
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4984" y="1165800"/>
            <a:ext cx="14180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純増4.0枚
減算なし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1805800"/>
            <a:ext cx="27432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2CCDD"/>
                </a:solidFill>
                <a:latin typeface="メイリオ"/>
              </a:rPr>
              <a:t>天井：通常時999G → AT確定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045800"/>
            <a:ext cx="3200400" cy="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2" y="1805800"/>
            <a:ext cx="3657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E2222"/>
                </a:solidFill>
                <a:latin typeface="メイリオ"/>
              </a:rPr>
              <a:t>直撃：中段チェリー1/10 or ロングフリーズ → 上位AT直行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1920240"/>
            <a:ext cx="9144000" cy="5000"/>
          </a:xfrm>
          <a:prstGeom prst="rect">
            <a:avLst/>
          </a:prstGeom>
          <a:solidFill>
            <a:srgbClr val="44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1993392"/>
            <a:ext cx="1783080" cy="1080000"/>
          </a:xfrm>
          <a:prstGeom prst="rect">
            <a:avLst/>
          </a:prstGeom>
          <a:solidFill>
            <a:srgbClr val="120404"/>
          </a:solidFill>
          <a:ln w="2286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6032" y="2063392"/>
            <a:ext cx="17130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6600"/>
                </a:solidFill>
                <a:latin typeface="游明朝"/>
              </a:rPr>
              <a:t>ハザード
ラッシュ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6032" y="2483392"/>
            <a:ext cx="17280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8880"/>
                </a:solidFill>
                <a:latin typeface="メイリオ"/>
              </a:rPr>
              <a:t>初期50G
純増2.5枚/G
上乗せ型</a:t>
            </a:r>
          </a:p>
        </p:txBody>
      </p:sp>
      <p:sp>
        <p:nvSpPr>
          <p:cNvPr id="34" name="Can 33"/>
          <p:cNvSpPr/>
          <p:nvPr/>
        </p:nvSpPr>
        <p:spPr>
          <a:xfrm>
            <a:off x="2051112" y="2443392"/>
            <a:ext cx="200000" cy="180000"/>
          </a:xfrm>
          <a:prstGeom prst="can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40280" y="1993392"/>
            <a:ext cx="1783080" cy="1080000"/>
          </a:xfrm>
          <a:prstGeom prst="rect">
            <a:avLst/>
          </a:prstGeom>
          <a:solidFill>
            <a:srgbClr val="120404"/>
          </a:solidFill>
          <a:ln w="22860">
            <a:solidFill>
              <a:srgbClr val="EE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0280" y="2063392"/>
            <a:ext cx="17130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E2222"/>
                </a:solidFill>
                <a:latin typeface="游明朝"/>
              </a:rPr>
              <a:t>インフェク
ション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70280" y="2483392"/>
            <a:ext cx="17280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8880"/>
                </a:solidFill>
                <a:latin typeface="メイリオ"/>
              </a:rPr>
              <a:t>初期特化ゾーン
全役で上乗せ
増殖期待大</a:t>
            </a:r>
          </a:p>
        </p:txBody>
      </p:sp>
      <p:sp>
        <p:nvSpPr>
          <p:cNvPr id="38" name="Can 37"/>
          <p:cNvSpPr/>
          <p:nvPr/>
        </p:nvSpPr>
        <p:spPr>
          <a:xfrm>
            <a:off x="4035360" y="2443392"/>
            <a:ext cx="200000" cy="180000"/>
          </a:xfrm>
          <a:prstGeom prst="can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24528" y="1993392"/>
            <a:ext cx="1783080" cy="1080000"/>
          </a:xfrm>
          <a:prstGeom prst="rect">
            <a:avLst/>
          </a:prstGeom>
          <a:solidFill>
            <a:srgbClr val="120404"/>
          </a:solidFill>
          <a:ln w="2286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4528" y="2063392"/>
            <a:ext cx="17130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1111"/>
                </a:solidFill>
                <a:latin typeface="游明朝"/>
              </a:rPr>
              <a:t>上乗せ
ゾーン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4528" y="2483392"/>
            <a:ext cx="17280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8880"/>
                </a:solidFill>
                <a:latin typeface="メイリオ"/>
              </a:rPr>
              <a:t>特化ゾーン
変異上乗せ
連鎖可能</a:t>
            </a:r>
          </a:p>
        </p:txBody>
      </p:sp>
      <p:sp>
        <p:nvSpPr>
          <p:cNvPr id="42" name="Can 41"/>
          <p:cNvSpPr/>
          <p:nvPr/>
        </p:nvSpPr>
        <p:spPr>
          <a:xfrm>
            <a:off x="6019608" y="2443392"/>
            <a:ext cx="200000" cy="180000"/>
          </a:xfrm>
          <a:prstGeom prst="can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8776" y="1993392"/>
            <a:ext cx="1783080" cy="1080000"/>
          </a:xfrm>
          <a:prstGeom prst="rect">
            <a:avLst/>
          </a:prstGeom>
          <a:solidFill>
            <a:srgbClr val="180602"/>
          </a:solidFill>
          <a:ln w="2286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48776" y="2063392"/>
            <a:ext cx="17130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AA22"/>
                </a:solidFill>
                <a:latin typeface="游明朝"/>
              </a:rPr>
              <a:t>プレミアム
HR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8776" y="2483392"/>
            <a:ext cx="17280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8880"/>
                </a:solidFill>
                <a:latin typeface="メイリオ"/>
              </a:rPr>
              <a:t>上位AT
純増4.0枚/G
減算なし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93024" y="1993392"/>
            <a:ext cx="1417320" cy="108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93024" y="1993392"/>
            <a:ext cx="30000" cy="108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43024" y="2063392"/>
            <a:ext cx="1188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2CCDD"/>
                </a:solidFill>
                <a:latin typeface="游明朝"/>
              </a:rPr>
              <a:t>クライマックス
ウェスカーZ
(CZ)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3024" y="2483392"/>
            <a:ext cx="118872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ECE8"/>
                </a:solidFill>
                <a:latin typeface="メイリオ"/>
              </a:rPr>
              <a:t>AT終了後
一部突入
PHR確定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" y="3093392"/>
            <a:ext cx="45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6600"/>
                </a:solidFill>
                <a:latin typeface="メイリオ"/>
              </a:rPr>
              <a:t>増殖：10G→20G→40G→80G（連鎖で最大810G）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" y="3333392"/>
            <a:ext cx="4572000" cy="5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919472"/>
            <a:ext cx="26517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8880"/>
                </a:solidFill>
                <a:latin typeface="メイリオ"/>
              </a:rPr>
              <a:t>※ネット解析情報より（ちょんぼりすた・一撃・なな徹・アミュタメ）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6600"/>
                </a:solidFill>
                <a:latin typeface="メイリオ"/>
              </a:rPr>
              <a:t>上段=通常〜AT突入ルート（CZ2種＋直撃＋天井）、下段=AT内昇格フロー（増殖→インフェクション→プレミアムHR）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プレミアムハザードラッシュ（上位AT）はAT終了後のクライマックスウェスカーゾーン成功でも到達可能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游明朝"/>
              </a:rPr>
              <a:t>通常時の遊び方 ── 全AT突入ルート・モード・天井管理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3/9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290000"/>
          </a:xfrm>
          <a:prstGeom prst="rect">
            <a:avLst/>
          </a:prstGeom>
          <a:solidFill>
            <a:srgbClr val="5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805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600"/>
                </a:solidFill>
                <a:latin typeface="メイリオ"/>
              </a:rPr>
              <a:t>通常時〜AT突入ルート（全4系統）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48368"/>
            <a:ext cx="4160520" cy="106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EE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48368"/>
            <a:ext cx="45000" cy="1060000"/>
          </a:xfrm>
          <a:prstGeom prst="rect">
            <a:avLst/>
          </a:prstGeom>
          <a:solidFill>
            <a:srgbClr val="EE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998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E2222"/>
                </a:solidFill>
                <a:latin typeface="メイリオ"/>
              </a:rPr>
              <a:t>ルート①  CZ「パニックゾーン / ウェスカーゾーン」経由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68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ベル3連orレア役でCZ突入を抽選。
ウェスカーゾーンなら期待度アップ。
CZ成功でハザードラッシュ突入。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73368"/>
            <a:ext cx="4160520" cy="106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073368"/>
            <a:ext cx="45000" cy="1060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123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1111"/>
                </a:solidFill>
                <a:latin typeface="メイリオ"/>
              </a:rPr>
              <a:t>ルート②  中段チェリー特殊ルート（直行）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393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中段チェリー成立の約1/10で発生。
プレミアムハザードラッシュへ直行。
出現頻度は低いが最高ルートの一つ。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198368"/>
            <a:ext cx="4160520" cy="106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198368"/>
            <a:ext cx="45000" cy="106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248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600"/>
                </a:solidFill>
                <a:latin typeface="メイリオ"/>
              </a:rPr>
              <a:t>ルート③  ロングフリーズ直撃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518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ロングフリーズ発生でプレミアムHR直行。
フリーズ中の演出を楽しみながら待機。
出現頻度は極めてレア。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323368"/>
            <a:ext cx="4160520" cy="106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323368"/>
            <a:ext cx="45000" cy="106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32" y="4373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メイリオ"/>
              </a:rPr>
              <a:t>ルート④  天井（通常時999G）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32" y="4643368"/>
            <a:ext cx="4060520" cy="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通常時999GでAT確定の天井。
設定変更後は天井リセットの可能性あり。
深いゲーム数での立ち回りに有効。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290000"/>
          </a:xfrm>
          <a:prstGeom prst="rect">
            <a:avLst/>
          </a:prstGeom>
          <a:solidFill>
            <a:srgbClr val="5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13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600"/>
                </a:solidFill>
                <a:latin typeface="メイリオ"/>
              </a:rPr>
              <a:t>内部モード（4段階）とCZ期待度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48368"/>
            <a:ext cx="4297680" cy="690000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48368"/>
            <a:ext cx="35000" cy="690000"/>
          </a:xfrm>
          <a:prstGeom prst="rect">
            <a:avLst/>
          </a:prstGeom>
          <a:solidFill>
            <a:srgbClr val="998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7000" y="1003368"/>
            <a:ext cx="109728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998880"/>
                </a:solidFill>
                <a:latin typeface="メイリオ"/>
              </a:rPr>
              <a:t>LOW モード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24280" y="1008368"/>
            <a:ext cx="64008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9900"/>
                </a:solidFill>
                <a:latin typeface="メイリオ"/>
              </a:rPr>
              <a:t>最も低い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7000" y="1258368"/>
            <a:ext cx="42276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CZ当選期待度が最低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638368"/>
            <a:ext cx="4297680" cy="690000"/>
          </a:xfrm>
          <a:prstGeom prst="rect">
            <a:avLst/>
          </a:prstGeom>
          <a:solidFill>
            <a:srgbClr val="16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1638368"/>
            <a:ext cx="35000" cy="690000"/>
          </a:xfrm>
          <a:prstGeom prst="rect">
            <a:avLst/>
          </a:prstGeom>
          <a:solidFill>
            <a:srgbClr val="EE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27000" y="1693368"/>
            <a:ext cx="109728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EE2222"/>
                </a:solidFill>
                <a:latin typeface="メイリオ"/>
              </a:rPr>
              <a:t>MID モード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24280" y="1698368"/>
            <a:ext cx="64008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9900"/>
                </a:solidFill>
                <a:latin typeface="メイリオ"/>
              </a:rPr>
              <a:t>低〜中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7000" y="1948368"/>
            <a:ext cx="42276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通常遊技の基本モード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2328368"/>
            <a:ext cx="4297680" cy="690000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0" y="2328368"/>
            <a:ext cx="35000" cy="690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27000" y="2383368"/>
            <a:ext cx="109728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C1111"/>
                </a:solidFill>
                <a:latin typeface="メイリオ"/>
              </a:rPr>
              <a:t>HI モード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24280" y="2388368"/>
            <a:ext cx="64008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9900"/>
                </a:solidFill>
                <a:latin typeface="メイリオ"/>
              </a:rPr>
              <a:t>高め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27000" y="2638368"/>
            <a:ext cx="42276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レア役でCZ当選しやすい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018368"/>
            <a:ext cx="4297680" cy="690000"/>
          </a:xfrm>
          <a:prstGeom prst="rect">
            <a:avLst/>
          </a:prstGeom>
          <a:solidFill>
            <a:srgbClr val="16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018368"/>
            <a:ext cx="35000" cy="69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7000" y="3073368"/>
            <a:ext cx="109728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CAA22"/>
                </a:solidFill>
                <a:latin typeface="メイリオ"/>
              </a:rPr>
              <a:t>SP モード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24280" y="3078368"/>
            <a:ext cx="64008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9900"/>
                </a:solidFill>
                <a:latin typeface="メイリオ"/>
              </a:rPr>
              <a:t>最高確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7000" y="3328368"/>
            <a:ext cx="42276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AT/CZへの当選最優先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718368"/>
            <a:ext cx="4297680" cy="750000"/>
          </a:xfrm>
          <a:prstGeom prst="rect">
            <a:avLst/>
          </a:prstGeom>
          <a:solidFill>
            <a:srgbClr val="1A0606"/>
          </a:solidFill>
          <a:ln w="1905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32000" y="3768368"/>
            <a:ext cx="4217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1111"/>
                </a:solidFill>
                <a:latin typeface="メイリオ"/>
              </a:rPr>
              <a:t>モード管理ルール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32000" y="3998368"/>
            <a:ext cx="42176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8880"/>
                </a:solidFill>
                <a:latin typeface="メイリオ"/>
              </a:rPr>
              <a:t>設定変更時・CZorAT終了時にモード再抽選。
通常時のレア役でモード昇格を抽選（CZ/AT非当選時のみ）。
状態はCZかAT当選まで転落なし。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4488368"/>
            <a:ext cx="4297680" cy="590000"/>
          </a:xfrm>
          <a:prstGeom prst="rect">
            <a:avLst/>
          </a:prstGeom>
          <a:solidFill>
            <a:srgbClr val="1A0606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32000" y="4538368"/>
            <a:ext cx="42176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6600"/>
                </a:solidFill>
                <a:latin typeface="メイリオ"/>
              </a:rPr>
              <a:t>チャンス役：ベル3連・スイカ・チェリー・チャンス目がCZ抽選対象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32000" y="4768368"/>
            <a:ext cx="4217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8880"/>
                </a:solidFill>
                <a:latin typeface="メイリオ"/>
              </a:rPr>
              <a:t>ベル・リプレイ3連以上はモードに応じてCZ抽選。レア役はより高確率でCZ/AT直撃を抽選。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919472"/>
            <a:ext cx="26517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8880"/>
                </a:solidFill>
                <a:latin typeface="メイリオ"/>
              </a:rPr>
              <a:t>※ネット解析情報より（ちょんぼりすた・一撃・なな徹・アミュタメ）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6600"/>
                </a:solidFill>
                <a:latin typeface="メイリオ"/>
              </a:rPr>
              <a:t>通常時の戦略：モード（LOW/MID/HI/SP）を意識しCZ当選を見極め、天井999Gを基準に立ち回る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状態はCZ・AT当選まで転落しない安心設計。設定変更後のモード状況確認も重要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游明朝"/>
              </a:rPr>
              <a:t>CZ/前兆の仕組み ── パニックゾーン×ウェスカーゾーン×サバイバル演出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4/9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260000"/>
          </a:xfrm>
          <a:prstGeom prst="rect">
            <a:avLst/>
          </a:prstGeom>
          <a:solidFill>
            <a:srgbClr val="5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805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600"/>
                </a:solidFill>
                <a:latin typeface="メイリオ"/>
              </a:rPr>
              <a:t>CZ 2種：パニックゾーン vs ウェスカーゾーン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18368"/>
            <a:ext cx="4160520" cy="2100000"/>
          </a:xfrm>
          <a:prstGeom prst="rect">
            <a:avLst/>
          </a:prstGeom>
          <a:solidFill>
            <a:srgbClr val="120404"/>
          </a:solidFill>
          <a:ln w="25400">
            <a:solidFill>
              <a:srgbClr val="EE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18368"/>
            <a:ext cx="45000" cy="2100000"/>
          </a:xfrm>
          <a:prstGeom prst="rect">
            <a:avLst/>
          </a:prstGeom>
          <a:solidFill>
            <a:srgbClr val="EE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968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2222"/>
                </a:solidFill>
                <a:latin typeface="メイリオ"/>
              </a:rPr>
              <a:t>パニックゾーン（通常CZ）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48368"/>
            <a:ext cx="406052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通常時のCZ突入で発生。
成功でハザードラッシュ突入確定。
期待度：約30〜50%（モードにより変動）
ゾーン中はゾンビ軍団との攻防演出。
小役成立でサバイバー（主人公）のHP回復
→HP維持でCZ継続→成功確定の流れ。
ゾンビに囲まれる絶体絶命感がホラー体験を演出。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088368"/>
            <a:ext cx="4160520" cy="2100000"/>
          </a:xfrm>
          <a:prstGeom prst="rect">
            <a:avLst/>
          </a:prstGeom>
          <a:solidFill>
            <a:srgbClr val="120404"/>
          </a:solidFill>
          <a:ln w="2540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3088368"/>
            <a:ext cx="45000" cy="2100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3138368"/>
            <a:ext cx="4060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1111"/>
                </a:solidFill>
                <a:latin typeface="メイリオ"/>
              </a:rPr>
              <a:t>ウェスカーゾーン（上位CZ）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3418368"/>
            <a:ext cx="406052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パニックゾーンより高期待度のCZ。
モードが高い状態ほど突入しやすい。
期待度：パニックゾーンより明確に高め
アルバート・ウェスカーが登場する特殊ゾーン。
成功時は直接ハザードラッシュへ。
ウェスカーの登場演出が成功の鍵となり
原作プレイヤーには感情移入できる演出設計。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658368"/>
            <a:ext cx="4297680" cy="260000"/>
          </a:xfrm>
          <a:prstGeom prst="rect">
            <a:avLst/>
          </a:prstGeom>
          <a:solidFill>
            <a:srgbClr val="5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2000" y="713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600"/>
                </a:solidFill>
                <a:latin typeface="メイリオ"/>
              </a:rPr>
              <a:t>前兆と特殊CZ：クライマックスウェスカーゾーン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918368"/>
            <a:ext cx="4297680" cy="131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918368"/>
            <a:ext cx="40000" cy="131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2000" y="96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DD"/>
                </a:solidFill>
                <a:latin typeface="メイリオ"/>
              </a:rPr>
              <a:t>クライマックスウェスカーゾーン（AT後CZ）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2000" y="1238368"/>
            <a:ext cx="4207680" cy="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ハザードラッシュ（AT）終了後の一部で突入。
成功でプレミアムハザードラッシュへ昇格。
ウェスカーとの最終決戦演出が展開。
"810%到達"の期待度表示で到達濃厚演出。
セットストック5個以上保有時に突入しやすい。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298368"/>
            <a:ext cx="4297680" cy="131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2298368"/>
            <a:ext cx="40000" cy="131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2000" y="234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AA22"/>
                </a:solidFill>
                <a:latin typeface="メイリオ"/>
              </a:rPr>
              <a:t>セットストックと上位AT昇格抽選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2000" y="2618368"/>
            <a:ext cx="4207680" cy="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AT突入時のセットストック保有数で
上位ATへの昇格抽選が変化。
セットストック1個以上：昇格抽選対象
セットストック5個以上：昇格チャンス大
通常時のCZ・AT中の役成立で
セットストックを獲得できる。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678368"/>
            <a:ext cx="4297680" cy="131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3678368"/>
            <a:ext cx="40000" cy="131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2000" y="372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6600"/>
                </a:solidFill>
                <a:latin typeface="メイリオ"/>
              </a:rPr>
              <a:t>ホラー×サバイバルとパチスロの融合点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2000" y="3998368"/>
            <a:ext cx="4207680" cy="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CZ中のHP演出＝「生き残れるか？」の
サバイバル体験をゲーム内に取り込む設計。
成功時の緊張→解放の感情フローが
通常のボーナス告知より強い達成感を生む。
原作ゲームのジャンル感を維持した秀逸設計。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919472"/>
            <a:ext cx="26517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8880"/>
                </a:solidFill>
                <a:latin typeface="メイリオ"/>
              </a:rPr>
              <a:t>※ネット解析情報より（ちょんぼりすた・一撃・なな徹・アミュタメ）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6600"/>
                </a:solidFill>
                <a:latin typeface="メイリオ"/>
              </a:rPr>
              <a:t>CZ設計の核心：「パニック（通常）vs ウェスカー（上位）」の2段階構造でCZ出現時の期待感に差をつける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HP制サバイバル演出はゲーム内の緊張→解放フローをスロットCZ体験に直接移植した秀逸な設計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游明朝"/>
              </a:rPr>
              <a:t>AT「ハザードラッシュ」── 出玉を伸ばす増殖×変異の仕組み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5/9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60000"/>
          </a:xfrm>
          <a:prstGeom prst="rect">
            <a:avLst/>
          </a:prstGeom>
          <a:solidFill>
            <a:srgbClr val="5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600"/>
                </a:solidFill>
                <a:latin typeface="メイリオ"/>
              </a:rPr>
              <a:t>AT中の上乗せシステム（増殖×変異）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18368"/>
            <a:ext cx="4114800" cy="50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EE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18368"/>
            <a:ext cx="40000" cy="500000"/>
          </a:xfrm>
          <a:prstGeom prst="rect">
            <a:avLst/>
          </a:prstGeom>
          <a:solidFill>
            <a:srgbClr val="EE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032" y="968368"/>
            <a:ext cx="4024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E2222"/>
                </a:solidFill>
                <a:latin typeface="メイリオ"/>
              </a:rPr>
              <a:t>上乗せゲーム数の種類（6パターン）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4032" y="1238368"/>
            <a:ext cx="669800" cy="160000"/>
          </a:xfrm>
          <a:prstGeom prst="rect">
            <a:avLst/>
          </a:prstGeom>
          <a:solidFill>
            <a:srgbClr val="1A0606"/>
          </a:solidFill>
          <a:ln w="15240">
            <a:solidFill>
              <a:srgbClr val="998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032" y="1253368"/>
            <a:ext cx="669800" cy="1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998880"/>
                </a:solidFill>
                <a:latin typeface="メイリオ"/>
              </a:rPr>
              <a:t>10G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9832" y="1238368"/>
            <a:ext cx="669800" cy="160000"/>
          </a:xfrm>
          <a:prstGeom prst="rect">
            <a:avLst/>
          </a:prstGeom>
          <a:solidFill>
            <a:srgbClr val="1A0606"/>
          </a:solidFill>
          <a:ln w="15240">
            <a:solidFill>
              <a:srgbClr val="EE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832" y="1253368"/>
            <a:ext cx="669800" cy="1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EE2222"/>
                </a:solidFill>
                <a:latin typeface="メイリオ"/>
              </a:rPr>
              <a:t>20G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35632" y="1238368"/>
            <a:ext cx="669800" cy="160000"/>
          </a:xfrm>
          <a:prstGeom prst="rect">
            <a:avLst/>
          </a:prstGeom>
          <a:solidFill>
            <a:srgbClr val="1A0606"/>
          </a:solidFill>
          <a:ln w="1524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5632" y="1253368"/>
            <a:ext cx="669800" cy="1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1111"/>
                </a:solidFill>
                <a:latin typeface="メイリオ"/>
              </a:rPr>
              <a:t>30G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1432" y="1238368"/>
            <a:ext cx="669800" cy="160000"/>
          </a:xfrm>
          <a:prstGeom prst="rect">
            <a:avLst/>
          </a:prstGeom>
          <a:solidFill>
            <a:srgbClr val="1A0606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21432" y="1253368"/>
            <a:ext cx="669800" cy="1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6600"/>
                </a:solidFill>
                <a:latin typeface="メイリオ"/>
              </a:rPr>
              <a:t>33G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07232" y="1238368"/>
            <a:ext cx="669800" cy="160000"/>
          </a:xfrm>
          <a:prstGeom prst="rect">
            <a:avLst/>
          </a:prstGeom>
          <a:solidFill>
            <a:srgbClr val="1A0606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07232" y="1253368"/>
            <a:ext cx="669800" cy="1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9900"/>
                </a:solidFill>
                <a:latin typeface="メイリオ"/>
              </a:rPr>
              <a:t>50G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93032" y="1238368"/>
            <a:ext cx="669800" cy="160000"/>
          </a:xfrm>
          <a:prstGeom prst="rect">
            <a:avLst/>
          </a:prstGeom>
          <a:solidFill>
            <a:srgbClr val="1A0606"/>
          </a:solidFill>
          <a:ln w="1524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93032" y="1253368"/>
            <a:ext cx="669800" cy="1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AA22"/>
                </a:solidFill>
                <a:latin typeface="メイリオ"/>
              </a:rPr>
              <a:t>55G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032" y="1418368"/>
            <a:ext cx="40348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FF6600"/>
                </a:solidFill>
                <a:latin typeface="メイリオ"/>
              </a:rPr>
              <a:t>33G・55G成立時は「増殖 or 変異上乗せ」濃厚！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1668368"/>
            <a:ext cx="4114800" cy="1200000"/>
          </a:xfrm>
          <a:prstGeom prst="rect">
            <a:avLst/>
          </a:prstGeom>
          <a:solidFill>
            <a:srgbClr val="120404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1668368"/>
            <a:ext cx="40000" cy="120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6032" y="171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600"/>
                </a:solidFill>
                <a:latin typeface="游明朝"/>
              </a:rPr>
              <a:t>増殖上乗せ（分裂システム）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032" y="1988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上乗せゲーム数が「増殖」で2倍に分裂して連鎖。
10G → 20G → 40G → 80G（3連鎖）
20G → 40G → 80G（2連鎖）
30Gスタートの場合も連鎖で膨らむ
最大：30G × 27分裂 ＝ 810G上乗せが可能！
増殖成功ごとにゲーム数が加算される。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938368"/>
            <a:ext cx="4114800" cy="86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2938368"/>
            <a:ext cx="40000" cy="860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032" y="298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1111"/>
                </a:solidFill>
                <a:latin typeface="游明朝"/>
              </a:rPr>
              <a:t>変異上乗せ（特殊大量上乗せ）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032" y="3258368"/>
            <a:ext cx="40248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増殖とは別系統の大量上乗せ抽選。
変異が発動すると一気に大量Gを上乗せ。
33G・55Gの一部で変異に発展する。
上乗せ状態（通常/高確/超高確）により発生率変化。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658368"/>
            <a:ext cx="4297680" cy="260000"/>
          </a:xfrm>
          <a:prstGeom prst="rect">
            <a:avLst/>
          </a:prstGeom>
          <a:solidFill>
            <a:srgbClr val="5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2000" y="713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600"/>
                </a:solidFill>
                <a:latin typeface="メイリオ"/>
              </a:rPr>
              <a:t>上乗せ状態と消化フロー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918368"/>
            <a:ext cx="4297680" cy="92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998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918368"/>
            <a:ext cx="40000" cy="920000"/>
          </a:xfrm>
          <a:prstGeom prst="rect">
            <a:avLst/>
          </a:prstGeom>
          <a:solidFill>
            <a:srgbClr val="998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2000" y="96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8880"/>
                </a:solidFill>
                <a:latin typeface="メイリオ"/>
              </a:rPr>
              <a:t>上乗せ状態：通常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2000" y="1238368"/>
            <a:ext cx="4207680" cy="5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AT消化中の基本状態。
役成立時に上乗せ抽選。
増殖発生率は低め。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1908368"/>
            <a:ext cx="4297680" cy="92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EE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1908368"/>
            <a:ext cx="40000" cy="920000"/>
          </a:xfrm>
          <a:prstGeom prst="rect">
            <a:avLst/>
          </a:prstGeom>
          <a:solidFill>
            <a:srgbClr val="EE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000" y="195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E2222"/>
                </a:solidFill>
                <a:latin typeface="メイリオ"/>
              </a:rPr>
              <a:t>上乗せ状態：高確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2000" y="2228368"/>
            <a:ext cx="4207680" cy="5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上乗せ当選率・増殖率アップ。
ステージ開始時に一部移行。
積極的に出玉を積み重ねる状態。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2898368"/>
            <a:ext cx="4297680" cy="92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2898368"/>
            <a:ext cx="40000" cy="92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2000" y="294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AA22"/>
                </a:solidFill>
                <a:latin typeface="メイリオ"/>
              </a:rPr>
              <a:t>上乗せ状態：超高確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42000" y="3218368"/>
            <a:ext cx="4207680" cy="5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最高の上乗せ状態。
増殖・変異の発生率が大幅向上。
突入時は大量上乗せのチャンス。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888368"/>
            <a:ext cx="4297680" cy="1140000"/>
          </a:xfrm>
          <a:prstGeom prst="rect">
            <a:avLst/>
          </a:prstGeom>
          <a:solidFill>
            <a:srgbClr val="120404"/>
          </a:solidFill>
          <a:ln w="254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0" y="3888368"/>
            <a:ext cx="40000" cy="114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42000" y="393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CDD"/>
                </a:solidFill>
                <a:latin typeface="游明朝"/>
              </a:rPr>
              <a:t>インフェクション（初期特化ゾーン）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42000" y="4218368"/>
            <a:ext cx="420768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AT突入時に一定確率で発生する初期特化ゾーン。
全役で上乗せ抽選が行われる最高の初期状態。
上乗せ当選時は増殖発生に大きく期待できる。
インフェクション→増殖連鎖が出玉爆発の黄金ルート。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919472"/>
            <a:ext cx="26517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8880"/>
                </a:solidFill>
                <a:latin typeface="メイリオ"/>
              </a:rPr>
              <a:t>※ネット解析情報より（ちょんぼりすた・一撃・なな徹・アミュタメ）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6600"/>
                </a:solidFill>
                <a:latin typeface="メイリオ"/>
              </a:rPr>
              <a:t>出玉を伸ばす鍵：33G/55G上乗せからの増殖連鎖＋インフェクション突入＋超高確状態の重複が最大の上振れ条件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増殖システムは「2倍ずつ分裂」という直感的な楽しさ。最大810G上乗せが理論上の夢上限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游明朝"/>
              </a:rPr>
              <a:t>上位AT「プレミアムハザードラッシュ」── 到達ルートと遊び方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6/9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"/>
            <a:ext cx="9144000" cy="260000"/>
          </a:xfrm>
          <a:prstGeom prst="rect">
            <a:avLst/>
          </a:prstGeom>
          <a:solidFill>
            <a:srgbClr val="44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90372"/>
            <a:ext cx="82296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600"/>
                </a:solidFill>
                <a:latin typeface="メイリオ"/>
              </a:rPr>
              <a:t>プレミアムハザードラッシュ（PHR）到達ルート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748448"/>
            <a:ext cx="1920240" cy="110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EE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040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E2222"/>
                </a:solidFill>
                <a:latin typeface="游明朝"/>
              </a:rPr>
              <a:t>ハザード
ラッシュ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40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通常AT
純増2.5枚/G
土台を作る</a:t>
            </a:r>
          </a:p>
        </p:txBody>
      </p:sp>
      <p:sp>
        <p:nvSpPr>
          <p:cNvPr id="13" name="Can 12"/>
          <p:cNvSpPr/>
          <p:nvPr/>
        </p:nvSpPr>
        <p:spPr>
          <a:xfrm>
            <a:off x="2252280" y="1208448"/>
            <a:ext cx="200000" cy="180000"/>
          </a:xfrm>
          <a:prstGeom prst="can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78024" y="748448"/>
            <a:ext cx="1920240" cy="110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3024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1111"/>
                </a:solidFill>
                <a:latin typeface="游明朝"/>
              </a:rPr>
              <a:t>CWZ成功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8024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AT終了後
CZ成功で
PHR昇格</a:t>
            </a:r>
          </a:p>
        </p:txBody>
      </p:sp>
      <p:sp>
        <p:nvSpPr>
          <p:cNvPr id="17" name="Can 16"/>
          <p:cNvSpPr/>
          <p:nvPr/>
        </p:nvSpPr>
        <p:spPr>
          <a:xfrm>
            <a:off x="4410264" y="1208448"/>
            <a:ext cx="200000" cy="180000"/>
          </a:xfrm>
          <a:prstGeom prst="can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36008" y="748448"/>
            <a:ext cx="1920240" cy="1100000"/>
          </a:xfrm>
          <a:prstGeom prst="rect">
            <a:avLst/>
          </a:prstGeom>
          <a:solidFill>
            <a:srgbClr val="180600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1008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6600"/>
                </a:solidFill>
                <a:latin typeface="游明朝"/>
              </a:rPr>
              <a:t>中段チェリー
1/10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6008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通常時
直撃で
PHR直行</a:t>
            </a:r>
          </a:p>
        </p:txBody>
      </p:sp>
      <p:sp>
        <p:nvSpPr>
          <p:cNvPr id="21" name="Can 20"/>
          <p:cNvSpPr/>
          <p:nvPr/>
        </p:nvSpPr>
        <p:spPr>
          <a:xfrm>
            <a:off x="6568248" y="1208448"/>
            <a:ext cx="200000" cy="180000"/>
          </a:xfrm>
          <a:prstGeom prst="can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93992" y="748448"/>
            <a:ext cx="1920240" cy="1100000"/>
          </a:xfrm>
          <a:prstGeom prst="rect">
            <a:avLst/>
          </a:prstGeom>
          <a:solidFill>
            <a:srgbClr val="180600"/>
          </a:solidFill>
          <a:ln w="2540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8992" y="818448"/>
            <a:ext cx="186524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AA22"/>
                </a:solidFill>
                <a:latin typeface="游明朝"/>
              </a:rPr>
              <a:t>プレミアム
HR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3992" y="1208448"/>
            <a:ext cx="187524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98880"/>
                </a:solidFill>
                <a:latin typeface="メイリオ"/>
              </a:rPr>
              <a:t>上位AT
純増4.0枚
減算なし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1883664"/>
            <a:ext cx="9144000" cy="5000"/>
          </a:xfrm>
          <a:prstGeom prst="rect">
            <a:avLst/>
          </a:prstGeom>
          <a:solidFill>
            <a:srgbClr val="44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1938528"/>
            <a:ext cx="4160520" cy="2620000"/>
          </a:xfrm>
          <a:prstGeom prst="rect">
            <a:avLst/>
          </a:prstGeom>
          <a:solidFill>
            <a:srgbClr val="120404"/>
          </a:solidFill>
          <a:ln w="2540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1938528"/>
            <a:ext cx="45000" cy="262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32" y="1988528"/>
            <a:ext cx="40655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AA22"/>
                </a:solidFill>
                <a:latin typeface="游明朝"/>
              </a:rPr>
              <a:t>プレミアムHRの仕様と遊び方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32" y="2278528"/>
            <a:ext cx="4065520" cy="2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【純増約4.0枚/G】
通常AT（2.5枚/G）から大幅に純増アップ。
同じゲーム数でも1.6倍の出玉スピード。
【ゲーム数減算なし】
PHR消化中はゲーム数が減算されない特殊仕様。
消化中に上乗せしたゲーム数は
PHR終了後の下位ATで消化できる仕組み。
【810%到達でPHR濃厚】
ウェスカーゾーン中に期待度表示が810%になれば
プレミアムHR突入が濃厚。
【消化中の注意点】
PHR中はレア役ごとに上乗せ・特化ゾーン移行を抽選。
消化終了まで画面を見逃さないこと。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1938528"/>
            <a:ext cx="4251960" cy="2620000"/>
          </a:xfrm>
          <a:prstGeom prst="rect">
            <a:avLst/>
          </a:prstGeom>
          <a:solidFill>
            <a:srgbClr val="120404"/>
          </a:solidFill>
          <a:ln w="2286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1938528"/>
            <a:ext cx="45000" cy="262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2720" y="1988528"/>
            <a:ext cx="41569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DD"/>
                </a:solidFill>
                <a:latin typeface="游明朝"/>
              </a:rPr>
              <a:t>PHR突入条件の詳細と期待ゲーム数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2720" y="2278528"/>
            <a:ext cx="4156960" cy="2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【条件①：クライマックスウェスカーゾーン成功】
AT終了後の一部で突入するCZ。
成功でプレミアムHR確定。
セットストック5個以上で突入チャンス大。
【条件②：初当たり時のセットストック昇格】
AT突入時にセットストック1個以上保有→昇格抽選。
セットストック数が多いほど昇格期待度が上がる。
【条件③：中段チェリー（通常時）直撃】
通常時の中段チェリー成立の約1/10で
直接プレミアムHRへ突入する。
【条件④：ロングフリーズ】
発生確率は極めて低いが最も華やかな突入ルート。
プレミアムHR直行が確定する。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919472"/>
            <a:ext cx="26517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8880"/>
                </a:solidFill>
                <a:latin typeface="メイリオ"/>
              </a:rPr>
              <a:t>※ネット解析情報より（ちょんぼりすた・一撃・なな徹・アミュタメ）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6600"/>
                </a:solidFill>
                <a:latin typeface="メイリオ"/>
              </a:rPr>
              <a:t>PHRの価値：純増4.0枚/G×ゲーム数減算なし×上乗せゲーム数は下位ATで消化という構造が出玉の最高峰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810%到達演出はウェスカーゾーン内の特殊演出。到達時点でPHR突入が濃厚なサプライズ告知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游明朝"/>
              </a:rPr>
              <a:t>面白さの設計 ── ホラー×サバイバルとパチスロが融合する理由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7/9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60520" cy="120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0000" cy="1200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032" y="70836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C1111"/>
                </a:solidFill>
                <a:latin typeface="游明朝"/>
              </a:rPr>
              <a:t>① 増殖分裂という「目に見える爆発感」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032" y="988368"/>
            <a:ext cx="407052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10G→20G→40G→80Gと分裂表示を
リアルタイムで見せることで
「増えていく！」の快感を直接体験させる。
数字の可視化が興奮を加速させる設計。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7448" y="658368"/>
            <a:ext cx="4160520" cy="120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EE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27448" y="658368"/>
            <a:ext cx="40000" cy="1200000"/>
          </a:xfrm>
          <a:prstGeom prst="rect">
            <a:avLst/>
          </a:prstGeom>
          <a:solidFill>
            <a:srgbClr val="EE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7448" y="70836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E2222"/>
                </a:solidFill>
                <a:latin typeface="游明朝"/>
              </a:rPr>
              <a:t>② HP制サバイバル演出の緊張→解放フロー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7448" y="988368"/>
            <a:ext cx="407052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CZ中のHP管理演出がスロットに
ゲーム的緊張感を持ち込む。
瀕死からの逆転サバイバルで
達成感が通常演出の数倍に跳ね上がる。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1949808"/>
            <a:ext cx="4160520" cy="120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1949808"/>
            <a:ext cx="40000" cy="120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032" y="199980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6600"/>
                </a:solidFill>
                <a:latin typeface="游明朝"/>
              </a:rPr>
              <a:t>③ 5号機完全再現という「懐かしさ×新鮮さ」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032" y="2279808"/>
            <a:ext cx="407052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5号機時代の人気機種をスマスロ化。
往年のプレイヤーへのノスタルジー。
一方で増殖システムは当時にない新要素。
懐かしさと驚きの二重設計。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27448" y="1949808"/>
            <a:ext cx="4160520" cy="120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27448" y="1949808"/>
            <a:ext cx="40000" cy="120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7448" y="1999808"/>
            <a:ext cx="40705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CDD"/>
                </a:solidFill>
                <a:latin typeface="游明朝"/>
              </a:rPr>
              <a:t>④ ウェスカー＝危機という直感的演出設計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7448" y="2279808"/>
            <a:ext cx="407052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バイオ原作の「ウェスカー＝最強の脅威」を
ゾーン名に転用し期待度の高さを直感で伝える。
原作知識がなくてもウェスカーゾーンは
見た目の演出から「強い」と認識できる。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3241248"/>
            <a:ext cx="8631936" cy="110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3241248"/>
            <a:ext cx="40000" cy="110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6032" y="3291248"/>
            <a:ext cx="854193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CAA22"/>
                </a:solidFill>
                <a:latin typeface="游明朝"/>
              </a:rPr>
              <a:t>⑤ 2層AT構造による「もう一段上」の設計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032" y="3571248"/>
            <a:ext cx="8541936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ハザードラッシュ（通常AT）でも
プレミアムHR（上位AT）という
"次のステージ"が常に存在する。
目標の連鎖設計がプレイ継続を促す。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19472"/>
            <a:ext cx="26517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8880"/>
                </a:solidFill>
                <a:latin typeface="メイリオ"/>
              </a:rPr>
              <a:t>※ネット解析情報より（ちょんぼりすた・一撃・なな徹・アミュタメ）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6600"/>
                </a:solidFill>
                <a:latin typeface="メイリオ"/>
              </a:rPr>
              <a:t>面白さの核心：「増殖分裂の可視化×HP演出の緊張感×ノスタルジー×ウェスカー期待度×2層AT目標」の5要素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バイオハザードというIPの「恐怖・緊張・サバイバル」をパチスロのCZ/AT体験に直接落とし込んだ傑作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游明朝"/>
              </a:rPr>
              <a:t>良い点と課題 ── 設計の強みと改善余地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8/9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6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0202"/>
                </a:solidFill>
                <a:latin typeface="メイリオ"/>
              </a:rPr>
              <a:t>良い点 ── 設計的強み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18368"/>
            <a:ext cx="4114800" cy="1070000"/>
          </a:xfrm>
          <a:prstGeom prst="rect">
            <a:avLst/>
          </a:prstGeom>
          <a:solidFill>
            <a:srgbClr val="120404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18368"/>
            <a:ext cx="35000" cy="107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032" y="96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増殖分裂という直感的・視覚的上乗せ演出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032" y="121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10→20→40→80Gの分裂表示で
出玉が増える瞬間を視覚的に体験できる。
数字が増えていく快感は普遍的な楽しさ。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58368"/>
            <a:ext cx="4114800" cy="1070000"/>
          </a:xfrm>
          <a:prstGeom prst="rect">
            <a:avLst/>
          </a:prstGeom>
          <a:solidFill>
            <a:srgbClr val="120404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058368"/>
            <a:ext cx="35000" cy="107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032" y="210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5号機の完全再現によるIP活用の巧みさ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032" y="235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当時の人気機種を忠実に再現しつつ
スマスロの純増スペックを活用。
既存ファン層と新規層の両方に訴求可能。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198368"/>
            <a:ext cx="4114800" cy="1070000"/>
          </a:xfrm>
          <a:prstGeom prst="rect">
            <a:avLst/>
          </a:prstGeom>
          <a:solidFill>
            <a:srgbClr val="120404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198368"/>
            <a:ext cx="35000" cy="107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6032" y="324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2層AT設計で常に上位状態への目標がある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032" y="349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ハザードラッシュからプレミアムHRへ
という明確な昇格目標。
AT中に次の目標が常に見えている設計。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338368"/>
            <a:ext cx="4114800" cy="1070000"/>
          </a:xfrm>
          <a:prstGeom prst="rect">
            <a:avLst/>
          </a:prstGeom>
          <a:solidFill>
            <a:srgbClr val="120404"/>
          </a:solidFill>
          <a:ln w="1524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338368"/>
            <a:ext cx="35000" cy="107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6032" y="4386368"/>
            <a:ext cx="403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HP制サバイバル演出によるゲーム感の強化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032" y="4638368"/>
            <a:ext cx="40348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CZ中のサバイバル体験が通常演出と差別化。
原作の世界観とスロット演出が自然融合。
没入感と達成感が一般演出より高い。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260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13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ECE8"/>
                </a:solidFill>
                <a:latin typeface="メイリオ"/>
              </a:rPr>
              <a:t>課題 ── 改善余地・注意点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18368"/>
            <a:ext cx="4297680" cy="1070000"/>
          </a:xfrm>
          <a:prstGeom prst="rect">
            <a:avLst/>
          </a:prstGeom>
          <a:solidFill>
            <a:srgbClr val="120404"/>
          </a:solidFill>
          <a:ln w="1524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18368"/>
            <a:ext cx="35000" cy="1070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2000" y="96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1111"/>
                </a:solidFill>
                <a:latin typeface="メイリオ"/>
              </a:rPr>
              <a:t>純増2.5枚/Gは現スマスロ世代には低め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2000" y="121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スマスロ全般の高純増（5〜8枚）に慣れた
プレイヤーにはAT中の出玉速度が遅く感じる。
「高純増に慣れた世代には刺さらない」との声も。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058368"/>
            <a:ext cx="4297680" cy="1070000"/>
          </a:xfrm>
          <a:prstGeom prst="rect">
            <a:avLst/>
          </a:prstGeom>
          <a:solidFill>
            <a:srgbClr val="120404"/>
          </a:solidFill>
          <a:ln w="15240">
            <a:solidFill>
              <a:srgbClr val="EE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058368"/>
            <a:ext cx="35000" cy="1070000"/>
          </a:xfrm>
          <a:prstGeom prst="rect">
            <a:avLst/>
          </a:prstGeom>
          <a:solidFill>
            <a:srgbClr val="EE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2000" y="210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E2222"/>
                </a:solidFill>
                <a:latin typeface="メイリオ"/>
              </a:rPr>
              <a:t>ユーザー評価の低さ（1.74/5.0）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2000" y="235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DMMぱちタウン等での評価が低め。
完成度は評価されるも「時代のニーズに合わない」
という指摘が目立つ。稼働定着が課題。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198368"/>
            <a:ext cx="4297680" cy="1070000"/>
          </a:xfrm>
          <a:prstGeom prst="rect">
            <a:avLst/>
          </a:prstGeom>
          <a:solidFill>
            <a:srgbClr val="120404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198368"/>
            <a:ext cx="35000" cy="107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2000" y="324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6600"/>
                </a:solidFill>
                <a:latin typeface="メイリオ"/>
              </a:rPr>
              <a:t>増殖の分かりやすさと複雑さのバランス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2000" y="349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増殖・変異・上乗せ状態と仕組みが多岐に渡り
初心者には理解しにくい面もある。
解析情報を事前に調べておくことが重要。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338368"/>
            <a:ext cx="4297680" cy="1070000"/>
          </a:xfrm>
          <a:prstGeom prst="rect">
            <a:avLst/>
          </a:prstGeom>
          <a:solidFill>
            <a:srgbClr val="120404"/>
          </a:solidFill>
          <a:ln w="15240">
            <a:solidFill>
              <a:srgbClr val="998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4338368"/>
            <a:ext cx="35000" cy="1070000"/>
          </a:xfrm>
          <a:prstGeom prst="rect">
            <a:avLst/>
          </a:prstGeom>
          <a:solidFill>
            <a:srgbClr val="998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2000" y="4386368"/>
            <a:ext cx="421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98880"/>
                </a:solidFill>
                <a:latin typeface="メイリオ"/>
              </a:rPr>
              <a:t>セットストック概念の複雑さ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2000" y="4638368"/>
            <a:ext cx="421768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上位AT昇格の鍵となるセットストックだが
その仕組みを理解しないと立ち回りが困難。
ヘビーユーザー向けの設計にとどまっている。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919472"/>
            <a:ext cx="26517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8880"/>
                </a:solidFill>
                <a:latin typeface="メイリオ"/>
              </a:rPr>
              <a:t>※ネット解析情報より（ちょんぼりすた・一撃・なな徹・アミュタメ）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6600"/>
                </a:solidFill>
                <a:latin typeface="メイリオ"/>
              </a:rPr>
              <a:t>総評：設計完成度は高く5号機再現として秀逸だが、純増2.5枚/Gというスペックが現代スマスロ市場での壁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「完成度は高いが時代のニーズに合うかは難しい」という評価が示す通り、IP活用と時代感の両立が今後の課題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2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游明朝"/>
              </a:rPr>
              <a:t>まとめ ──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8880"/>
                </a:solidFill>
                <a:latin typeface="メイリオ"/>
              </a:rPr>
              <a:t>9/9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60000"/>
          </a:xfrm>
          <a:prstGeom prst="rect">
            <a:avLst/>
          </a:prstGeom>
          <a:solidFill>
            <a:srgbClr val="5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13368"/>
            <a:ext cx="4034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600"/>
                </a:solidFill>
                <a:latin typeface="メイリオ"/>
              </a:rPr>
              <a:t>スマスロ バイオハザード5 ── 設計的強み総括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18368"/>
            <a:ext cx="4114800" cy="121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18368"/>
            <a:ext cx="40000" cy="1210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032" y="96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1111"/>
                </a:solidFill>
                <a:latin typeface="メイリオ"/>
              </a:rPr>
              <a:t>増殖分裂という核心システム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032" y="1243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10→20→40→80Gという分裂連鎖が
出玉増加を直感的に体験させる。
最大810G上乗せの夢が常に存在する設計。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198368"/>
            <a:ext cx="4114800" cy="121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198368"/>
            <a:ext cx="40000" cy="121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032" y="224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600"/>
                </a:solidFill>
                <a:latin typeface="メイリオ"/>
              </a:rPr>
              <a:t>ホラー×サバイバル演出の融合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032" y="2523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HP制CZ・ウェスカーゾーンという
原作IPを活かした世界観整合設計。
緊張→解放フローがAT体験の質を高める。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478368"/>
            <a:ext cx="4114800" cy="1210000"/>
          </a:xfrm>
          <a:prstGeom prst="rect">
            <a:avLst/>
          </a:prstGeom>
          <a:solidFill>
            <a:srgbClr val="120404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478368"/>
            <a:ext cx="40000" cy="121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032" y="352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メイリオ"/>
              </a:rPr>
              <a:t>2層AT設計による目標の連鎖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032" y="3803368"/>
            <a:ext cx="40248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ハザードラッシュ→プレミアムHRという
明確な昇格構造が離席を防ぎ
「もう少し回そう」という動機を作る。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60000"/>
          </a:xfrm>
          <a:prstGeom prst="rect">
            <a:avLst/>
          </a:prstGeom>
          <a:solidFill>
            <a:srgbClr val="1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2000" y="713368"/>
            <a:ext cx="42176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600"/>
                </a:solidFill>
                <a:latin typeface="游明朝"/>
              </a:rPr>
              <a:t>設計から学べる原則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18368"/>
            <a:ext cx="4297680" cy="710000"/>
          </a:xfrm>
          <a:prstGeom prst="rect">
            <a:avLst/>
          </a:prstGeom>
          <a:solidFill>
            <a:srgbClr val="120404"/>
          </a:solidFill>
          <a:ln w="1270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918368"/>
            <a:ext cx="30000" cy="710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7000" y="96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1111"/>
                </a:solidFill>
                <a:latin typeface="メイリオ"/>
              </a:rPr>
              <a:t>爆発感は「見える化」で体験させよ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7000" y="120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増殖の分裂表示は数字増加を
リアルタイムで見せる最良の爆発感設計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678368"/>
            <a:ext cx="4297680" cy="710000"/>
          </a:xfrm>
          <a:prstGeom prst="rect">
            <a:avLst/>
          </a:prstGeom>
          <a:solidFill>
            <a:srgbClr val="120404"/>
          </a:solidFill>
          <a:ln w="12700">
            <a:solidFill>
              <a:srgbClr val="EE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1678368"/>
            <a:ext cx="30000" cy="710000"/>
          </a:xfrm>
          <a:prstGeom prst="rect">
            <a:avLst/>
          </a:prstGeom>
          <a:solidFill>
            <a:srgbClr val="EE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7000" y="172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E2222"/>
                </a:solidFill>
                <a:latin typeface="メイリオ"/>
              </a:rPr>
              <a:t>IPの感情構造をゲーム体験に転用せよ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7000" y="196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バイオ5の「恐怖→サバイバル→達成」を
CZ体験に直接落とし込んだ設計の秀逸さ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438368"/>
            <a:ext cx="4297680" cy="710000"/>
          </a:xfrm>
          <a:prstGeom prst="rect">
            <a:avLst/>
          </a:prstGeom>
          <a:solidFill>
            <a:srgbClr val="120404"/>
          </a:solidFill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438368"/>
            <a:ext cx="30000" cy="71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7000" y="248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6600"/>
                </a:solidFill>
                <a:latin typeface="メイリオ"/>
              </a:rPr>
              <a:t>常に「上の状態」を見せて目標を作れ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7000" y="272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2層AT（通常→上位）という
常在する昇格目標がリプレイ意欲を生む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198368"/>
            <a:ext cx="4297680" cy="710000"/>
          </a:xfrm>
          <a:prstGeom prst="rect">
            <a:avLst/>
          </a:prstGeom>
          <a:solidFill>
            <a:srgbClr val="120404"/>
          </a:solidFill>
          <a:ln w="127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198368"/>
            <a:ext cx="30000" cy="71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7000" y="3246368"/>
            <a:ext cx="4222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DD"/>
                </a:solidFill>
                <a:latin typeface="メイリオ"/>
              </a:rPr>
              <a:t>懐かしさと新しさを融合させよ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7000" y="3483368"/>
            <a:ext cx="4222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0ECE8"/>
                </a:solidFill>
                <a:latin typeface="メイリオ"/>
              </a:rPr>
              <a:t>5号機完全再現×増殖分裂（新要素）の
組み合わせが旧来ファンと新規を同時に引く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968368"/>
            <a:ext cx="4297680" cy="1060000"/>
          </a:xfrm>
          <a:prstGeom prst="rect">
            <a:avLst/>
          </a:prstGeom>
          <a:solidFill>
            <a:srgbClr val="1A0404"/>
          </a:solidFill>
          <a:ln w="2540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3968368"/>
            <a:ext cx="40000" cy="1060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37000" y="4018368"/>
            <a:ext cx="4212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1111"/>
                </a:solidFill>
                <a:latin typeface="メイリオ"/>
              </a:rPr>
              <a:t>総括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7000" y="4278368"/>
            <a:ext cx="4212680" cy="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ECE8"/>
                </a:solidFill>
                <a:latin typeface="メイリオ"/>
              </a:rPr>
              <a:t>増殖×分裂上乗せ×ホラー演出×2層AT設計の統合機種。
5号機バイオ5を忠実に再現しパチスロアワード2025に
ノミネートされた注目作。純増2.5枚/Gという
スペックが課題も設計の完成度は高い一台。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919472"/>
            <a:ext cx="26517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>
                <a:solidFill>
                  <a:srgbClr val="998880"/>
                </a:solidFill>
                <a:latin typeface="メイリオ"/>
              </a:rPr>
              <a:t>※ネット解析情報より（ちょんぼりすた・一撃・なな徹・アミュタメ）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E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645152"/>
            <a:ext cx="20000" cy="498348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" y="4685152"/>
            <a:ext cx="5029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6600"/>
                </a:solidFill>
                <a:latin typeface="メイリオ"/>
              </a:rPr>
              <a:t>設計思想：「増殖可視化・IP世界観転用・2層AT目標・懐古×新規融合」の4原則を次世代機設計に活用せよ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685152"/>
            <a:ext cx="3657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98880"/>
                </a:solidFill>
                <a:latin typeface="メイリオ"/>
              </a:rPr>
              <a:t>パチスロアワード2025ノミネートが示す通り、設計的注目度は高い。純増スペックの時代適合が今後の鍵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