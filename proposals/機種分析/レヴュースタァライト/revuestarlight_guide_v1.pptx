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4937760" cy="5143500"/>
          </a:xfrm>
          <a:prstGeom prst="rect">
            <a:avLst/>
          </a:prstGeom>
          <a:solidFill>
            <a:srgbClr val="0402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55000" cy="51435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937760" y="0"/>
            <a:ext cx="8000" cy="5143500"/>
          </a:xfrm>
          <a:prstGeom prst="rect">
            <a:avLst/>
          </a:prstGeom>
          <a:solidFill>
            <a:srgbClr val="CC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 y="347472"/>
            <a:ext cx="4572000" cy="290000"/>
          </a:xfrm>
          <a:prstGeom prst="rect">
            <a:avLst/>
          </a:prstGeom>
          <a:noFill/>
        </p:spPr>
        <p:txBody>
          <a:bodyPr wrap="square">
            <a:spAutoFit/>
          </a:bodyPr>
          <a:lstStyle/>
          <a:p>
            <a:pPr algn="l"/>
            <a:r>
              <a:rPr sz="900" b="0">
                <a:solidFill>
                  <a:srgbClr val="C8A840"/>
                </a:solidFill>
                <a:latin typeface="游明朝"/>
              </a:rPr>
              <a:t>機種説明＋分析資料　Part A: プレイヤー視点   パチスロアワード2025ノミネート</a:t>
            </a:r>
          </a:p>
        </p:txBody>
      </p:sp>
      <p:sp>
        <p:nvSpPr>
          <p:cNvPr id="7" name="TextBox 6"/>
          <p:cNvSpPr txBox="1"/>
          <p:nvPr/>
        </p:nvSpPr>
        <p:spPr>
          <a:xfrm>
            <a:off x="201168" y="749808"/>
            <a:ext cx="4663440" cy="800000"/>
          </a:xfrm>
          <a:prstGeom prst="rect">
            <a:avLst/>
          </a:prstGeom>
          <a:noFill/>
        </p:spPr>
        <p:txBody>
          <a:bodyPr wrap="square">
            <a:spAutoFit/>
          </a:bodyPr>
          <a:lstStyle/>
          <a:p>
            <a:pPr algn="l"/>
            <a:r>
              <a:rPr sz="2600" b="1">
                <a:solidFill>
                  <a:srgbClr val="FF77DD"/>
                </a:solidFill>
                <a:latin typeface="游明朝"/>
              </a:rPr>
              <a:t>L少女☆歌劇
レヴュースタァライト</a:t>
            </a:r>
          </a:p>
        </p:txBody>
      </p:sp>
      <p:sp>
        <p:nvSpPr>
          <p:cNvPr id="8" name="TextBox 7"/>
          <p:cNvSpPr txBox="1"/>
          <p:nvPr/>
        </p:nvSpPr>
        <p:spPr>
          <a:xfrm>
            <a:off x="201168" y="2395728"/>
            <a:ext cx="4663440" cy="290000"/>
          </a:xfrm>
          <a:prstGeom prst="rect">
            <a:avLst/>
          </a:prstGeom>
          <a:noFill/>
        </p:spPr>
        <p:txBody>
          <a:bodyPr wrap="square">
            <a:spAutoFit/>
          </a:bodyPr>
          <a:lstStyle/>
          <a:p>
            <a:pPr algn="l"/>
            <a:r>
              <a:rPr sz="1000" b="0">
                <a:solidFill>
                  <a:srgbClr val="D0C0A8"/>
                </a:solidFill>
                <a:latin typeface="游明朝"/>
              </a:rPr>
              <a:t>── 貫通型AT × 舞台効果強化 × 2種の上位AT</a:t>
            </a:r>
          </a:p>
        </p:txBody>
      </p:sp>
      <p:sp>
        <p:nvSpPr>
          <p:cNvPr id="9" name="TextBox 8"/>
          <p:cNvSpPr txBox="1"/>
          <p:nvPr/>
        </p:nvSpPr>
        <p:spPr>
          <a:xfrm>
            <a:off x="201168" y="2907792"/>
            <a:ext cx="4480560" cy="200000"/>
          </a:xfrm>
          <a:prstGeom prst="rect">
            <a:avLst/>
          </a:prstGeom>
          <a:noFill/>
        </p:spPr>
        <p:txBody>
          <a:bodyPr wrap="square">
            <a:spAutoFit/>
          </a:bodyPr>
          <a:lstStyle/>
          <a:p>
            <a:pPr algn="l"/>
            <a:r>
              <a:rPr sz="850" b="0">
                <a:solidFill>
                  <a:srgbClr val="8888AA"/>
                </a:solidFill>
                <a:latin typeface="メイリオ"/>
              </a:rPr>
              <a:t>メーカー：オーイズミ（OIZUMI）　　導入：2025年3月3日</a:t>
            </a:r>
          </a:p>
        </p:txBody>
      </p:sp>
      <p:sp>
        <p:nvSpPr>
          <p:cNvPr id="10" name="TextBox 9"/>
          <p:cNvSpPr txBox="1"/>
          <p:nvPr/>
        </p:nvSpPr>
        <p:spPr>
          <a:xfrm>
            <a:off x="201168" y="3136392"/>
            <a:ext cx="4480560" cy="200000"/>
          </a:xfrm>
          <a:prstGeom prst="rect">
            <a:avLst/>
          </a:prstGeom>
          <a:noFill/>
        </p:spPr>
        <p:txBody>
          <a:bodyPr wrap="square">
            <a:spAutoFit/>
          </a:bodyPr>
          <a:lstStyle/>
          <a:p>
            <a:pPr algn="l"/>
            <a:r>
              <a:rPr sz="850" b="0">
                <a:solidFill>
                  <a:srgbClr val="8888AA"/>
                </a:solidFill>
                <a:latin typeface="メイリオ"/>
              </a:rPr>
              <a:t>タイプ：A+AT（スマスロ）　設定：1〜6段階</a:t>
            </a:r>
          </a:p>
        </p:txBody>
      </p:sp>
      <p:sp>
        <p:nvSpPr>
          <p:cNvPr id="11" name="TextBox 10"/>
          <p:cNvSpPr txBox="1"/>
          <p:nvPr/>
        </p:nvSpPr>
        <p:spPr>
          <a:xfrm>
            <a:off x="201168" y="3364992"/>
            <a:ext cx="4480560" cy="200000"/>
          </a:xfrm>
          <a:prstGeom prst="rect">
            <a:avLst/>
          </a:prstGeom>
          <a:noFill/>
        </p:spPr>
        <p:txBody>
          <a:bodyPr wrap="square">
            <a:spAutoFit/>
          </a:bodyPr>
          <a:lstStyle/>
          <a:p>
            <a:pPr algn="l"/>
            <a:r>
              <a:rPr sz="850" b="0">
                <a:solidFill>
                  <a:srgbClr val="8888AA"/>
                </a:solidFill>
                <a:latin typeface="メイリオ"/>
              </a:rPr>
              <a:t>AT純増：約2.2枚/G（上位AT時 約3.4枚/G）　天井：最大900G+α</a:t>
            </a:r>
          </a:p>
        </p:txBody>
      </p:sp>
      <p:sp>
        <p:nvSpPr>
          <p:cNvPr id="12" name="TextBox 11"/>
          <p:cNvSpPr txBox="1"/>
          <p:nvPr/>
        </p:nvSpPr>
        <p:spPr>
          <a:xfrm>
            <a:off x="201168" y="3593592"/>
            <a:ext cx="4480560" cy="200000"/>
          </a:xfrm>
          <a:prstGeom prst="rect">
            <a:avLst/>
          </a:prstGeom>
          <a:noFill/>
        </p:spPr>
        <p:txBody>
          <a:bodyPr wrap="square">
            <a:spAutoFit/>
          </a:bodyPr>
          <a:lstStyle/>
          <a:p>
            <a:pPr algn="l"/>
            <a:r>
              <a:rPr sz="850" b="0">
                <a:solidFill>
                  <a:srgbClr val="8888AA"/>
                </a:solidFill>
                <a:latin typeface="メイリオ"/>
              </a:rPr>
              <a:t>機械割：設定1→97.8%　設定6→110.0%</a:t>
            </a:r>
          </a:p>
        </p:txBody>
      </p:sp>
      <p:sp>
        <p:nvSpPr>
          <p:cNvPr id="13" name="Rectangle 12"/>
          <p:cNvSpPr/>
          <p:nvPr/>
        </p:nvSpPr>
        <p:spPr>
          <a:xfrm>
            <a:off x="5166360" y="256032"/>
            <a:ext cx="3749039" cy="1430000"/>
          </a:xfrm>
          <a:prstGeom prst="rect">
            <a:avLst/>
          </a:prstGeom>
          <a:solidFill>
            <a:srgbClr val="080620"/>
          </a:solidFill>
          <a:ln w="2540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166360" y="256032"/>
            <a:ext cx="60000" cy="143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349240" y="316032"/>
            <a:ext cx="3474720" cy="300000"/>
          </a:xfrm>
          <a:prstGeom prst="rect">
            <a:avLst/>
          </a:prstGeom>
          <a:noFill/>
        </p:spPr>
        <p:txBody>
          <a:bodyPr wrap="square">
            <a:spAutoFit/>
          </a:bodyPr>
          <a:lstStyle/>
          <a:p>
            <a:pPr algn="l"/>
            <a:r>
              <a:rPr sz="1100" b="1">
                <a:solidFill>
                  <a:srgbClr val="CC2244"/>
                </a:solidFill>
                <a:latin typeface="游明朝"/>
              </a:rPr>
              <a:t>① 業界初「貫通型AT」</a:t>
            </a:r>
          </a:p>
        </p:txBody>
      </p:sp>
      <p:sp>
        <p:nvSpPr>
          <p:cNvPr id="16" name="TextBox 15"/>
          <p:cNvSpPr txBox="1"/>
          <p:nvPr/>
        </p:nvSpPr>
        <p:spPr>
          <a:xfrm>
            <a:off x="5349240" y="616032"/>
            <a:ext cx="3474720" cy="900000"/>
          </a:xfrm>
          <a:prstGeom prst="rect">
            <a:avLst/>
          </a:prstGeom>
          <a:noFill/>
        </p:spPr>
        <p:txBody>
          <a:bodyPr wrap="square">
            <a:spAutoFit/>
          </a:bodyPr>
          <a:lstStyle/>
          <a:p>
            <a:pPr algn="l"/>
            <a:r>
              <a:rPr sz="850" b="0">
                <a:solidFill>
                  <a:srgbClr val="ECE8F4"/>
                </a:solidFill>
                <a:latin typeface="メイリオ"/>
              </a:rPr>
              <a:t>ボーナス種類によってATの性能が変化する新設計
AT中にボーナスを引くほど純増・上乗せが強化される</a:t>
            </a:r>
          </a:p>
        </p:txBody>
      </p:sp>
      <p:sp>
        <p:nvSpPr>
          <p:cNvPr id="17" name="Rectangle 16"/>
          <p:cNvSpPr/>
          <p:nvPr/>
        </p:nvSpPr>
        <p:spPr>
          <a:xfrm>
            <a:off x="5166360" y="1786032"/>
            <a:ext cx="3749039" cy="1430000"/>
          </a:xfrm>
          <a:prstGeom prst="rect">
            <a:avLst/>
          </a:prstGeom>
          <a:solidFill>
            <a:srgbClr val="080620"/>
          </a:solidFill>
          <a:ln w="254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166360" y="1786032"/>
            <a:ext cx="60000" cy="143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49240" y="1846032"/>
            <a:ext cx="3474720" cy="300000"/>
          </a:xfrm>
          <a:prstGeom prst="rect">
            <a:avLst/>
          </a:prstGeom>
          <a:noFill/>
        </p:spPr>
        <p:txBody>
          <a:bodyPr wrap="square">
            <a:spAutoFit/>
          </a:bodyPr>
          <a:lstStyle/>
          <a:p>
            <a:pPr algn="l"/>
            <a:r>
              <a:rPr sz="1100" b="1">
                <a:solidFill>
                  <a:srgbClr val="C8A840"/>
                </a:solidFill>
                <a:latin typeface="游明朝"/>
              </a:rPr>
              <a:t>② 舞台効果で変わるATの強さ</a:t>
            </a:r>
          </a:p>
        </p:txBody>
      </p:sp>
      <p:sp>
        <p:nvSpPr>
          <p:cNvPr id="20" name="TextBox 19"/>
          <p:cNvSpPr txBox="1"/>
          <p:nvPr/>
        </p:nvSpPr>
        <p:spPr>
          <a:xfrm>
            <a:off x="5349240" y="2146032"/>
            <a:ext cx="3474720" cy="900000"/>
          </a:xfrm>
          <a:prstGeom prst="rect">
            <a:avLst/>
          </a:prstGeom>
          <a:noFill/>
        </p:spPr>
        <p:txBody>
          <a:bodyPr wrap="square">
            <a:spAutoFit/>
          </a:bodyPr>
          <a:lstStyle/>
          <a:p>
            <a:pPr algn="l"/>
            <a:r>
              <a:rPr sz="850" b="0">
                <a:solidFill>
                  <a:srgbClr val="ECE8F4"/>
                </a:solidFill>
                <a:latin typeface="メイリオ"/>
              </a:rPr>
              <a:t>スポットライト/ロンド/トップスターの3種舞台効果
「引いたボーナスの種類」がゲーム展開を大きく左右</a:t>
            </a:r>
          </a:p>
        </p:txBody>
      </p:sp>
      <p:sp>
        <p:nvSpPr>
          <p:cNvPr id="21" name="Rectangle 20"/>
          <p:cNvSpPr/>
          <p:nvPr/>
        </p:nvSpPr>
        <p:spPr>
          <a:xfrm>
            <a:off x="5166360" y="3316032"/>
            <a:ext cx="3749039" cy="1430000"/>
          </a:xfrm>
          <a:prstGeom prst="rect">
            <a:avLst/>
          </a:prstGeom>
          <a:solidFill>
            <a:srgbClr val="080620"/>
          </a:solidFill>
          <a:ln w="25400">
            <a:solidFill>
              <a:srgbClr val="CC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166360" y="3316032"/>
            <a:ext cx="60000" cy="1430000"/>
          </a:xfrm>
          <a:prstGeom prst="rect">
            <a:avLst/>
          </a:prstGeom>
          <a:solidFill>
            <a:srgbClr val="CC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349240" y="3376032"/>
            <a:ext cx="3474720" cy="300000"/>
          </a:xfrm>
          <a:prstGeom prst="rect">
            <a:avLst/>
          </a:prstGeom>
          <a:noFill/>
        </p:spPr>
        <p:txBody>
          <a:bodyPr wrap="square">
            <a:spAutoFit/>
          </a:bodyPr>
          <a:lstStyle/>
          <a:p>
            <a:pPr algn="l"/>
            <a:r>
              <a:rPr sz="1100" b="1">
                <a:solidFill>
                  <a:srgbClr val="CC44AA"/>
                </a:solidFill>
                <a:latin typeface="游明朝"/>
              </a:rPr>
              <a:t>③ 2種の上位AT・高ループ設計</a:t>
            </a:r>
          </a:p>
        </p:txBody>
      </p:sp>
      <p:sp>
        <p:nvSpPr>
          <p:cNvPr id="24" name="TextBox 23"/>
          <p:cNvSpPr txBox="1"/>
          <p:nvPr/>
        </p:nvSpPr>
        <p:spPr>
          <a:xfrm>
            <a:off x="5349240" y="3676032"/>
            <a:ext cx="3474720" cy="900000"/>
          </a:xfrm>
          <a:prstGeom prst="rect">
            <a:avLst/>
          </a:prstGeom>
          <a:noFill/>
        </p:spPr>
        <p:txBody>
          <a:bodyPr wrap="square">
            <a:spAutoFit/>
          </a:bodyPr>
          <a:lstStyle/>
          <a:p>
            <a:pPr algn="l"/>
            <a:r>
              <a:rPr sz="850" b="0">
                <a:solidFill>
                  <a:srgbClr val="ECE8F4"/>
                </a:solidFill>
                <a:latin typeface="メイリオ"/>
              </a:rPr>
              <a:t>レヴューデュエット（上乗せ特化）
星罪のレヴュー（継続率約90%・高ループ型）</a:t>
            </a:r>
          </a:p>
        </p:txBody>
      </p:sp>
      <p:sp>
        <p:nvSpPr>
          <p:cNvPr id="25" name="Rectangle 24"/>
          <p:cNvSpPr/>
          <p:nvPr/>
        </p:nvSpPr>
        <p:spPr>
          <a:xfrm>
            <a:off x="0" y="4663440"/>
            <a:ext cx="9144000" cy="380000"/>
          </a:xfrm>
          <a:prstGeom prst="rect">
            <a:avLst/>
          </a:prstGeom>
          <a:solidFill>
            <a:srgbClr val="0603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0" y="4663440"/>
            <a:ext cx="20000" cy="38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01168" y="4703440"/>
            <a:ext cx="5486400" cy="160000"/>
          </a:xfrm>
          <a:prstGeom prst="rect">
            <a:avLst/>
          </a:prstGeom>
          <a:noFill/>
        </p:spPr>
        <p:txBody>
          <a:bodyPr wrap="square">
            <a:spAutoFit/>
          </a:bodyPr>
          <a:lstStyle/>
          <a:p>
            <a:pPr algn="l"/>
            <a:r>
              <a:rPr sz="750" b="1">
                <a:solidFill>
                  <a:srgbClr val="FF4466"/>
                </a:solidFill>
                <a:latin typeface="メイリオ"/>
              </a:rPr>
              <a:t>設計コメント：「ボーナスを引いてATを育てる」貫通型ATは通常のG数上乗せ型とは一線を画す独自設計</a:t>
            </a:r>
          </a:p>
        </p:txBody>
      </p:sp>
      <p:sp>
        <p:nvSpPr>
          <p:cNvPr id="28" name="TextBox 27"/>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補足：原作「少女☆歌劇 レヴュースタァライト」のブシロード×キングレコード作品。舞台少女の演じ合う「レヴュー」をゲーム性に昇華</a:t>
            </a:r>
          </a:p>
        </p:txBody>
      </p:sp>
      <p:sp>
        <p:nvSpPr>
          <p:cNvPr id="29" name="TextBox 28"/>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C8A840"/>
                </a:solidFill>
                <a:latin typeface="游明朝"/>
              </a:rPr>
              <a:t>ゲームフロー全体図 ── 通常時→CZ→AT→上位ATへの全ルートを蛇行2段で可視化</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2/9</a:t>
            </a:r>
          </a:p>
        </p:txBody>
      </p:sp>
      <p:sp>
        <p:nvSpPr>
          <p:cNvPr id="7" name="Rectangle 6"/>
          <p:cNvSpPr/>
          <p:nvPr/>
        </p:nvSpPr>
        <p:spPr>
          <a:xfrm>
            <a:off x="0" y="530352"/>
            <a:ext cx="9144000" cy="7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594360"/>
            <a:ext cx="8229600" cy="230000"/>
          </a:xfrm>
          <a:prstGeom prst="rect">
            <a:avLst/>
          </a:prstGeom>
          <a:noFill/>
        </p:spPr>
        <p:txBody>
          <a:bodyPr wrap="square">
            <a:spAutoFit/>
          </a:bodyPr>
          <a:lstStyle/>
          <a:p>
            <a:pPr algn="l"/>
            <a:r>
              <a:rPr sz="850" b="1">
                <a:solidFill>
                  <a:srgbClr val="FF4466"/>
                </a:solidFill>
                <a:latin typeface="メイリオ"/>
              </a:rPr>
              <a:t>▶ 基本ルート（通常時からAT突入）</a:t>
            </a:r>
          </a:p>
        </p:txBody>
      </p:sp>
      <p:sp>
        <p:nvSpPr>
          <p:cNvPr id="9" name="Rectangle 8"/>
          <p:cNvSpPr/>
          <p:nvPr/>
        </p:nvSpPr>
        <p:spPr>
          <a:xfrm>
            <a:off x="795528" y="822960"/>
            <a:ext cx="1737360" cy="1550000"/>
          </a:xfrm>
          <a:prstGeom prst="rect">
            <a:avLst/>
          </a:prstGeom>
          <a:solidFill>
            <a:srgbClr val="444466"/>
          </a:solidFill>
          <a:ln w="22860">
            <a:solidFill>
              <a:srgbClr val="ECE8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5528" y="902960"/>
            <a:ext cx="1657360" cy="400000"/>
          </a:xfrm>
          <a:prstGeom prst="rect">
            <a:avLst/>
          </a:prstGeom>
          <a:noFill/>
        </p:spPr>
        <p:txBody>
          <a:bodyPr wrap="square">
            <a:spAutoFit/>
          </a:bodyPr>
          <a:lstStyle/>
          <a:p>
            <a:pPr algn="ctr"/>
            <a:r>
              <a:rPr sz="950" b="1">
                <a:solidFill>
                  <a:srgbClr val="ECE8F4"/>
                </a:solidFill>
                <a:latin typeface="游明朝"/>
              </a:rPr>
              <a:t>通常時</a:t>
            </a:r>
          </a:p>
        </p:txBody>
      </p:sp>
      <p:sp>
        <p:nvSpPr>
          <p:cNvPr id="11" name="TextBox 10"/>
          <p:cNvSpPr txBox="1"/>
          <p:nvPr/>
        </p:nvSpPr>
        <p:spPr>
          <a:xfrm>
            <a:off x="825528" y="1312960"/>
            <a:ext cx="1677360" cy="920000"/>
          </a:xfrm>
          <a:prstGeom prst="rect">
            <a:avLst/>
          </a:prstGeom>
          <a:noFill/>
        </p:spPr>
        <p:txBody>
          <a:bodyPr wrap="square">
            <a:spAutoFit/>
          </a:bodyPr>
          <a:lstStyle/>
          <a:p>
            <a:pPr algn="ctr"/>
            <a:r>
              <a:rPr sz="750" b="0">
                <a:solidFill>
                  <a:srgbClr val="8888AA"/>
                </a:solidFill>
                <a:latin typeface="メイリオ"/>
              </a:rPr>
              <a:t>CZポイント蓄積
レア役でCZ/BIG/
AT直撃抽選
天井:900G</a:t>
            </a:r>
          </a:p>
        </p:txBody>
      </p:sp>
      <p:sp>
        <p:nvSpPr>
          <p:cNvPr id="12" name="Can 11"/>
          <p:cNvSpPr/>
          <p:nvPr/>
        </p:nvSpPr>
        <p:spPr>
          <a:xfrm>
            <a:off x="2542888" y="1507960"/>
            <a:ext cx="200000" cy="180000"/>
          </a:xfrm>
          <a:prstGeom prst="can">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34056" y="822960"/>
            <a:ext cx="1737360" cy="1550000"/>
          </a:xfrm>
          <a:prstGeom prst="rect">
            <a:avLst/>
          </a:prstGeom>
          <a:solidFill>
            <a:srgbClr val="CC2244"/>
          </a:solidFill>
          <a:ln w="2286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74056" y="902960"/>
            <a:ext cx="1657360" cy="400000"/>
          </a:xfrm>
          <a:prstGeom prst="rect">
            <a:avLst/>
          </a:prstGeom>
          <a:noFill/>
        </p:spPr>
        <p:txBody>
          <a:bodyPr wrap="square">
            <a:spAutoFit/>
          </a:bodyPr>
          <a:lstStyle/>
          <a:p>
            <a:pPr algn="ctr"/>
            <a:r>
              <a:rPr sz="950" b="1">
                <a:solidFill>
                  <a:srgbClr val="FF4466"/>
                </a:solidFill>
                <a:latin typeface="游明朝"/>
              </a:rPr>
              <a:t>チャレンジ
レヴュー(CZ)</a:t>
            </a:r>
          </a:p>
        </p:txBody>
      </p:sp>
      <p:sp>
        <p:nvSpPr>
          <p:cNvPr id="15" name="TextBox 14"/>
          <p:cNvSpPr txBox="1"/>
          <p:nvPr/>
        </p:nvSpPr>
        <p:spPr>
          <a:xfrm>
            <a:off x="2764056" y="1312960"/>
            <a:ext cx="1677360" cy="920000"/>
          </a:xfrm>
          <a:prstGeom prst="rect">
            <a:avLst/>
          </a:prstGeom>
          <a:noFill/>
        </p:spPr>
        <p:txBody>
          <a:bodyPr wrap="square">
            <a:spAutoFit/>
          </a:bodyPr>
          <a:lstStyle/>
          <a:p>
            <a:pPr algn="ctr"/>
            <a:r>
              <a:rPr sz="750" b="0">
                <a:solidFill>
                  <a:srgbClr val="8888AA"/>
                </a:solidFill>
                <a:latin typeface="メイリオ"/>
              </a:rPr>
              <a:t>18G/2パート構成
成功期待度 約37%
キャラ参加で変化</a:t>
            </a:r>
          </a:p>
        </p:txBody>
      </p:sp>
      <p:sp>
        <p:nvSpPr>
          <p:cNvPr id="16" name="Can 15"/>
          <p:cNvSpPr/>
          <p:nvPr/>
        </p:nvSpPr>
        <p:spPr>
          <a:xfrm>
            <a:off x="4481416" y="1507960"/>
            <a:ext cx="200000" cy="180000"/>
          </a:xfrm>
          <a:prstGeom prst="can">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672584" y="822960"/>
            <a:ext cx="1737360" cy="1550000"/>
          </a:xfrm>
          <a:prstGeom prst="rect">
            <a:avLst/>
          </a:prstGeom>
          <a:solidFill>
            <a:srgbClr val="100828"/>
          </a:solidFill>
          <a:ln w="2286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12584" y="902960"/>
            <a:ext cx="1657360" cy="400000"/>
          </a:xfrm>
          <a:prstGeom prst="rect">
            <a:avLst/>
          </a:prstGeom>
          <a:noFill/>
        </p:spPr>
        <p:txBody>
          <a:bodyPr wrap="square">
            <a:spAutoFit/>
          </a:bodyPr>
          <a:lstStyle/>
          <a:p>
            <a:pPr algn="ctr"/>
            <a:r>
              <a:rPr sz="950" b="1">
                <a:solidFill>
                  <a:srgbClr val="C8A840"/>
                </a:solidFill>
                <a:latin typeface="游明朝"/>
              </a:rPr>
              <a:t>ボーナス
(BIG/REG)</a:t>
            </a:r>
          </a:p>
        </p:txBody>
      </p:sp>
      <p:sp>
        <p:nvSpPr>
          <p:cNvPr id="19" name="TextBox 18"/>
          <p:cNvSpPr txBox="1"/>
          <p:nvPr/>
        </p:nvSpPr>
        <p:spPr>
          <a:xfrm>
            <a:off x="4702584" y="1312960"/>
            <a:ext cx="1677360" cy="920000"/>
          </a:xfrm>
          <a:prstGeom prst="rect">
            <a:avLst/>
          </a:prstGeom>
          <a:noFill/>
        </p:spPr>
        <p:txBody>
          <a:bodyPr wrap="square">
            <a:spAutoFit/>
          </a:bodyPr>
          <a:lstStyle/>
          <a:p>
            <a:pPr algn="ctr"/>
            <a:r>
              <a:rPr sz="750" b="0">
                <a:solidFill>
                  <a:srgbClr val="8888AA"/>
                </a:solidFill>
                <a:latin typeface="メイリオ"/>
              </a:rPr>
              <a:t>BIG:AT抽選
REG:CZpt獲得
再生産モードも</a:t>
            </a:r>
          </a:p>
        </p:txBody>
      </p:sp>
      <p:sp>
        <p:nvSpPr>
          <p:cNvPr id="20" name="Can 19"/>
          <p:cNvSpPr/>
          <p:nvPr/>
        </p:nvSpPr>
        <p:spPr>
          <a:xfrm>
            <a:off x="6419944" y="1507960"/>
            <a:ext cx="200000" cy="180000"/>
          </a:xfrm>
          <a:prstGeom prst="can">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611112" y="822960"/>
            <a:ext cx="1737360" cy="1550000"/>
          </a:xfrm>
          <a:prstGeom prst="rect">
            <a:avLst/>
          </a:prstGeom>
          <a:solidFill>
            <a:srgbClr val="140420"/>
          </a:solidFill>
          <a:ln w="22860">
            <a:solidFill>
              <a:srgbClr val="FF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51112" y="902960"/>
            <a:ext cx="1657360" cy="400000"/>
          </a:xfrm>
          <a:prstGeom prst="rect">
            <a:avLst/>
          </a:prstGeom>
          <a:noFill/>
        </p:spPr>
        <p:txBody>
          <a:bodyPr wrap="square">
            <a:spAutoFit/>
          </a:bodyPr>
          <a:lstStyle/>
          <a:p>
            <a:pPr algn="ctr"/>
            <a:r>
              <a:rPr sz="950" b="1">
                <a:solidFill>
                  <a:srgbClr val="FF77DD"/>
                </a:solidFill>
                <a:latin typeface="游明朝"/>
              </a:rPr>
              <a:t>AT
レヴュースタァライト</a:t>
            </a:r>
          </a:p>
        </p:txBody>
      </p:sp>
      <p:sp>
        <p:nvSpPr>
          <p:cNvPr id="23" name="TextBox 22"/>
          <p:cNvSpPr txBox="1"/>
          <p:nvPr/>
        </p:nvSpPr>
        <p:spPr>
          <a:xfrm>
            <a:off x="6641112" y="1312960"/>
            <a:ext cx="1677360" cy="920000"/>
          </a:xfrm>
          <a:prstGeom prst="rect">
            <a:avLst/>
          </a:prstGeom>
          <a:noFill/>
        </p:spPr>
        <p:txBody>
          <a:bodyPr wrap="square">
            <a:spAutoFit/>
          </a:bodyPr>
          <a:lstStyle/>
          <a:p>
            <a:pPr algn="ctr"/>
            <a:r>
              <a:rPr sz="750" b="0">
                <a:solidFill>
                  <a:srgbClr val="8888AA"/>
                </a:solidFill>
                <a:latin typeface="メイリオ"/>
              </a:rPr>
              <a:t>初期30G
純増約2.2枚/G
G数/セット管理</a:t>
            </a:r>
          </a:p>
        </p:txBody>
      </p:sp>
      <p:sp>
        <p:nvSpPr>
          <p:cNvPr id="24" name="TextBox 23"/>
          <p:cNvSpPr txBox="1"/>
          <p:nvPr/>
        </p:nvSpPr>
        <p:spPr>
          <a:xfrm>
            <a:off x="256032" y="2651760"/>
            <a:ext cx="8229600" cy="230000"/>
          </a:xfrm>
          <a:prstGeom prst="rect">
            <a:avLst/>
          </a:prstGeom>
          <a:noFill/>
        </p:spPr>
        <p:txBody>
          <a:bodyPr wrap="square">
            <a:spAutoFit/>
          </a:bodyPr>
          <a:lstStyle/>
          <a:p>
            <a:pPr algn="l"/>
            <a:r>
              <a:rPr sz="850" b="1">
                <a:solidFill>
                  <a:srgbClr val="C8A840"/>
                </a:solidFill>
                <a:latin typeface="メイリオ"/>
              </a:rPr>
              <a:t>▶ AT内部から上位ATへのルート（貫通型ATの特徴）</a:t>
            </a:r>
          </a:p>
        </p:txBody>
      </p:sp>
      <p:sp>
        <p:nvSpPr>
          <p:cNvPr id="25" name="Rectangle 24"/>
          <p:cNvSpPr/>
          <p:nvPr/>
        </p:nvSpPr>
        <p:spPr>
          <a:xfrm>
            <a:off x="795528" y="2852928"/>
            <a:ext cx="1737360" cy="1600000"/>
          </a:xfrm>
          <a:prstGeom prst="rect">
            <a:avLst/>
          </a:prstGeom>
          <a:solidFill>
            <a:srgbClr val="140420"/>
          </a:solidFill>
          <a:ln w="22860">
            <a:solidFill>
              <a:srgbClr val="FF77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5528" y="2932928"/>
            <a:ext cx="1657360" cy="400000"/>
          </a:xfrm>
          <a:prstGeom prst="rect">
            <a:avLst/>
          </a:prstGeom>
          <a:noFill/>
        </p:spPr>
        <p:txBody>
          <a:bodyPr wrap="square">
            <a:spAutoFit/>
          </a:bodyPr>
          <a:lstStyle/>
          <a:p>
            <a:pPr algn="ctr"/>
            <a:r>
              <a:rPr sz="900" b="1">
                <a:solidFill>
                  <a:srgbClr val="FF77DD"/>
                </a:solidFill>
                <a:latin typeface="游明朝"/>
              </a:rPr>
              <a:t>AT中
ボーナス当選</a:t>
            </a:r>
          </a:p>
        </p:txBody>
      </p:sp>
      <p:sp>
        <p:nvSpPr>
          <p:cNvPr id="27" name="TextBox 26"/>
          <p:cNvSpPr txBox="1"/>
          <p:nvPr/>
        </p:nvSpPr>
        <p:spPr>
          <a:xfrm>
            <a:off x="825528" y="3342928"/>
            <a:ext cx="1677360" cy="980000"/>
          </a:xfrm>
          <a:prstGeom prst="rect">
            <a:avLst/>
          </a:prstGeom>
          <a:noFill/>
        </p:spPr>
        <p:txBody>
          <a:bodyPr wrap="square">
            <a:spAutoFit/>
          </a:bodyPr>
          <a:lstStyle/>
          <a:p>
            <a:pPr algn="ctr"/>
            <a:r>
              <a:rPr sz="750" b="0">
                <a:solidFill>
                  <a:srgbClr val="8888AA"/>
                </a:solidFill>
                <a:latin typeface="メイリオ"/>
              </a:rPr>
              <a:t>BIG/REG引くほど
AT性能が上がる
「貫通型」の核心</a:t>
            </a:r>
          </a:p>
        </p:txBody>
      </p:sp>
      <p:sp>
        <p:nvSpPr>
          <p:cNvPr id="28" name="Can 27"/>
          <p:cNvSpPr/>
          <p:nvPr/>
        </p:nvSpPr>
        <p:spPr>
          <a:xfrm>
            <a:off x="2542888" y="3562928"/>
            <a:ext cx="200000" cy="180000"/>
          </a:xfrm>
          <a:prstGeom prst="can">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2734056" y="2852928"/>
            <a:ext cx="1737360" cy="1600000"/>
          </a:xfrm>
          <a:prstGeom prst="rect">
            <a:avLst/>
          </a:prstGeom>
          <a:solidFill>
            <a:srgbClr val="100828"/>
          </a:solidFill>
          <a:ln w="2286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2774056" y="2932928"/>
            <a:ext cx="1657360" cy="400000"/>
          </a:xfrm>
          <a:prstGeom prst="rect">
            <a:avLst/>
          </a:prstGeom>
          <a:noFill/>
        </p:spPr>
        <p:txBody>
          <a:bodyPr wrap="square">
            <a:spAutoFit/>
          </a:bodyPr>
          <a:lstStyle/>
          <a:p>
            <a:pPr algn="ctr"/>
            <a:r>
              <a:rPr sz="900" b="1">
                <a:solidFill>
                  <a:srgbClr val="FF4466"/>
                </a:solidFill>
                <a:latin typeface="游明朝"/>
              </a:rPr>
              <a:t>クライマックス
レヴュー</a:t>
            </a:r>
          </a:p>
        </p:txBody>
      </p:sp>
      <p:sp>
        <p:nvSpPr>
          <p:cNvPr id="31" name="TextBox 30"/>
          <p:cNvSpPr txBox="1"/>
          <p:nvPr/>
        </p:nvSpPr>
        <p:spPr>
          <a:xfrm>
            <a:off x="2764056" y="3342928"/>
            <a:ext cx="1677360" cy="980000"/>
          </a:xfrm>
          <a:prstGeom prst="rect">
            <a:avLst/>
          </a:prstGeom>
          <a:noFill/>
        </p:spPr>
        <p:txBody>
          <a:bodyPr wrap="square">
            <a:spAutoFit/>
          </a:bodyPr>
          <a:lstStyle/>
          <a:p>
            <a:pPr algn="ctr"/>
            <a:r>
              <a:rPr sz="750" b="0">
                <a:solidFill>
                  <a:srgbClr val="8888AA"/>
                </a:solidFill>
                <a:latin typeface="メイリオ"/>
              </a:rPr>
              <a:t>G数上乗せ特化ゾーン
成立役×背景色倍率
で上乗せ算出</a:t>
            </a:r>
          </a:p>
        </p:txBody>
      </p:sp>
      <p:sp>
        <p:nvSpPr>
          <p:cNvPr id="32" name="Can 31"/>
          <p:cNvSpPr/>
          <p:nvPr/>
        </p:nvSpPr>
        <p:spPr>
          <a:xfrm>
            <a:off x="4481416" y="3562928"/>
            <a:ext cx="200000" cy="180000"/>
          </a:xfrm>
          <a:prstGeom prst="can">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72584" y="2852928"/>
            <a:ext cx="1737360" cy="1600000"/>
          </a:xfrm>
          <a:prstGeom prst="rect">
            <a:avLst/>
          </a:prstGeom>
          <a:solidFill>
            <a:srgbClr val="100828"/>
          </a:solidFill>
          <a:ln w="2286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712584" y="2932928"/>
            <a:ext cx="1657360" cy="400000"/>
          </a:xfrm>
          <a:prstGeom prst="rect">
            <a:avLst/>
          </a:prstGeom>
          <a:noFill/>
        </p:spPr>
        <p:txBody>
          <a:bodyPr wrap="square">
            <a:spAutoFit/>
          </a:bodyPr>
          <a:lstStyle/>
          <a:p>
            <a:pPr algn="ctr"/>
            <a:r>
              <a:rPr sz="900" b="1">
                <a:solidFill>
                  <a:srgbClr val="C8A840"/>
                </a:solidFill>
                <a:latin typeface="游明朝"/>
              </a:rPr>
              <a:t>舞台効果
発動</a:t>
            </a:r>
          </a:p>
        </p:txBody>
      </p:sp>
      <p:sp>
        <p:nvSpPr>
          <p:cNvPr id="35" name="TextBox 34"/>
          <p:cNvSpPr txBox="1"/>
          <p:nvPr/>
        </p:nvSpPr>
        <p:spPr>
          <a:xfrm>
            <a:off x="4702584" y="3342928"/>
            <a:ext cx="1677360" cy="980000"/>
          </a:xfrm>
          <a:prstGeom prst="rect">
            <a:avLst/>
          </a:prstGeom>
          <a:noFill/>
        </p:spPr>
        <p:txBody>
          <a:bodyPr wrap="square">
            <a:spAutoFit/>
          </a:bodyPr>
          <a:lstStyle/>
          <a:p>
            <a:pPr algn="ctr"/>
            <a:r>
              <a:rPr sz="750" b="0">
                <a:solidFill>
                  <a:srgbClr val="8888AA"/>
                </a:solidFill>
                <a:latin typeface="メイリオ"/>
              </a:rPr>
              <a:t>スポットライト/
ロンド/トップスター
3種でAT強化</a:t>
            </a:r>
          </a:p>
        </p:txBody>
      </p:sp>
      <p:sp>
        <p:nvSpPr>
          <p:cNvPr id="36" name="Can 35"/>
          <p:cNvSpPr/>
          <p:nvPr/>
        </p:nvSpPr>
        <p:spPr>
          <a:xfrm>
            <a:off x="6419944" y="3562928"/>
            <a:ext cx="200000" cy="180000"/>
          </a:xfrm>
          <a:prstGeom prst="can">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611112" y="2852928"/>
            <a:ext cx="1737360" cy="1600000"/>
          </a:xfrm>
          <a:prstGeom prst="rect">
            <a:avLst/>
          </a:prstGeom>
          <a:solidFill>
            <a:srgbClr val="100220"/>
          </a:solidFill>
          <a:ln w="22860">
            <a:solidFill>
              <a:srgbClr val="FFDD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651112" y="2932928"/>
            <a:ext cx="1657360" cy="400000"/>
          </a:xfrm>
          <a:prstGeom prst="rect">
            <a:avLst/>
          </a:prstGeom>
          <a:noFill/>
        </p:spPr>
        <p:txBody>
          <a:bodyPr wrap="square">
            <a:spAutoFit/>
          </a:bodyPr>
          <a:lstStyle/>
          <a:p>
            <a:pPr algn="ctr"/>
            <a:r>
              <a:rPr sz="900" b="1">
                <a:solidFill>
                  <a:srgbClr val="FFDD66"/>
                </a:solidFill>
                <a:latin typeface="游明朝"/>
              </a:rPr>
              <a:t>上位AT</a:t>
            </a:r>
          </a:p>
        </p:txBody>
      </p:sp>
      <p:sp>
        <p:nvSpPr>
          <p:cNvPr id="39" name="TextBox 38"/>
          <p:cNvSpPr txBox="1"/>
          <p:nvPr/>
        </p:nvSpPr>
        <p:spPr>
          <a:xfrm>
            <a:off x="6641112" y="3342928"/>
            <a:ext cx="1677360" cy="980000"/>
          </a:xfrm>
          <a:prstGeom prst="rect">
            <a:avLst/>
          </a:prstGeom>
          <a:noFill/>
        </p:spPr>
        <p:txBody>
          <a:bodyPr wrap="square">
            <a:spAutoFit/>
          </a:bodyPr>
          <a:lstStyle/>
          <a:p>
            <a:pPr algn="ctr"/>
            <a:r>
              <a:rPr sz="750" b="0">
                <a:solidFill>
                  <a:srgbClr val="8888AA"/>
                </a:solidFill>
                <a:latin typeface="メイリオ"/>
              </a:rPr>
              <a:t>レヴューデュエット
(上乗せ特化)
星罪のレヴュー
(90%ループ)</a:t>
            </a:r>
          </a:p>
        </p:txBody>
      </p:sp>
      <p:sp>
        <p:nvSpPr>
          <p:cNvPr id="40" name="Block Arc 39"/>
          <p:cNvSpPr/>
          <p:nvPr/>
        </p:nvSpPr>
        <p:spPr>
          <a:xfrm>
            <a:off x="7389792" y="2402960"/>
            <a:ext cx="180000" cy="200000"/>
          </a:xfrm>
          <a:prstGeom prst="blockArc">
            <a:avLst/>
          </a:prstGeom>
          <a:solidFill>
            <a:srgbClr val="CC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0" y="4663440"/>
            <a:ext cx="9144000" cy="380000"/>
          </a:xfrm>
          <a:prstGeom prst="rect">
            <a:avLst/>
          </a:prstGeom>
          <a:solidFill>
            <a:srgbClr val="0603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4663440"/>
            <a:ext cx="20000" cy="38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01168" y="4703440"/>
            <a:ext cx="5486400" cy="160000"/>
          </a:xfrm>
          <a:prstGeom prst="rect">
            <a:avLst/>
          </a:prstGeom>
          <a:noFill/>
        </p:spPr>
        <p:txBody>
          <a:bodyPr wrap="square">
            <a:spAutoFit/>
          </a:bodyPr>
          <a:lstStyle/>
          <a:p>
            <a:pPr algn="l"/>
            <a:r>
              <a:rPr sz="750" b="1">
                <a:solidFill>
                  <a:srgbClr val="FF4466"/>
                </a:solidFill>
                <a:latin typeface="メイリオ"/>
              </a:rPr>
              <a:t>設計コメント：通常時は「CZポイント蓄積→CZ→AT」。AT内は「BIG引くほど強化」の貫通型が他機種との決定的な差</a:t>
            </a:r>
          </a:p>
        </p:txBody>
      </p:sp>
      <p:sp>
        <p:nvSpPr>
          <p:cNvPr id="44" name="TextBox 43"/>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補足：上段=AT突入への旅路、下段=AT内部で更に強化されていく過程。天井900G+αは最長ルート</a:t>
            </a:r>
          </a:p>
        </p:txBody>
      </p:sp>
      <p:sp>
        <p:nvSpPr>
          <p:cNvPr id="45" name="TextBox 44"/>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C8A840"/>
                </a:solidFill>
                <a:latin typeface="游明朝"/>
              </a:rPr>
              <a:t>通常時の遊び方 ── CZポイント蓄積・天井・AT直撃・3つのルート</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3/9</a:t>
            </a:r>
          </a:p>
        </p:txBody>
      </p:sp>
      <p:sp>
        <p:nvSpPr>
          <p:cNvPr id="7" name="Rectangle 6"/>
          <p:cNvSpPr/>
          <p:nvPr/>
        </p:nvSpPr>
        <p:spPr>
          <a:xfrm>
            <a:off x="0" y="530352"/>
            <a:ext cx="9144000" cy="7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2651760" cy="3800000"/>
          </a:xfrm>
          <a:prstGeom prst="rect">
            <a:avLst/>
          </a:prstGeom>
          <a:solidFill>
            <a:srgbClr val="080620"/>
          </a:solidFill>
          <a:ln w="2286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658368"/>
            <a:ext cx="45000" cy="380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01032" y="658368"/>
            <a:ext cx="2606760" cy="350000"/>
          </a:xfrm>
          <a:prstGeom prst="rect">
            <a:avLst/>
          </a:prstGeom>
          <a:solidFill>
            <a:srgbClr val="0C0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1032" y="718368"/>
            <a:ext cx="2551760" cy="270000"/>
          </a:xfrm>
          <a:prstGeom prst="rect">
            <a:avLst/>
          </a:prstGeom>
          <a:noFill/>
        </p:spPr>
        <p:txBody>
          <a:bodyPr wrap="square">
            <a:spAutoFit/>
          </a:bodyPr>
          <a:lstStyle/>
          <a:p>
            <a:pPr algn="l"/>
            <a:r>
              <a:rPr sz="1100" b="1">
                <a:solidFill>
                  <a:srgbClr val="CC2244"/>
                </a:solidFill>
                <a:latin typeface="游明朝"/>
              </a:rPr>
              <a:t>CZポイント蓄積</a:t>
            </a:r>
          </a:p>
        </p:txBody>
      </p:sp>
      <p:sp>
        <p:nvSpPr>
          <p:cNvPr id="12" name="TextBox 11"/>
          <p:cNvSpPr txBox="1"/>
          <p:nvPr/>
        </p:nvSpPr>
        <p:spPr>
          <a:xfrm>
            <a:off x="331032" y="1038368"/>
            <a:ext cx="2551760" cy="3180000"/>
          </a:xfrm>
          <a:prstGeom prst="rect">
            <a:avLst/>
          </a:prstGeom>
          <a:noFill/>
        </p:spPr>
        <p:txBody>
          <a:bodyPr wrap="square">
            <a:spAutoFit/>
          </a:bodyPr>
          <a:lstStyle/>
          <a:p>
            <a:pPr algn="l"/>
            <a:r>
              <a:rPr sz="800" b="0">
                <a:solidFill>
                  <a:srgbClr val="ECE8F4"/>
                </a:solidFill>
                <a:latin typeface="メイリオ"/>
              </a:rPr>
              <a:t>レア役成立でCZポイントを獲得。
10pt到達ごとにCZ
「チャレンジ・レヴュー」の
突入抽選が行われる。
ポイントはモードに応じた
テーブルで管理され、
何G目にCZが発動するかの
見通しが変わる。
RBボーナスではCZポイントが
直接加算される特典あり。</a:t>
            </a:r>
          </a:p>
        </p:txBody>
      </p:sp>
      <p:sp>
        <p:nvSpPr>
          <p:cNvPr id="13" name="Rectangle 12"/>
          <p:cNvSpPr/>
          <p:nvPr/>
        </p:nvSpPr>
        <p:spPr>
          <a:xfrm>
            <a:off x="2087792" y="718368"/>
            <a:ext cx="790000" cy="230000"/>
          </a:xfrm>
          <a:prstGeom prst="rect">
            <a:avLst/>
          </a:prstGeom>
          <a:solidFill>
            <a:srgbClr val="100828"/>
          </a:solidFill>
          <a:ln w="1270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97792" y="728368"/>
            <a:ext cx="780000" cy="210000"/>
          </a:xfrm>
          <a:prstGeom prst="rect">
            <a:avLst/>
          </a:prstGeom>
          <a:noFill/>
        </p:spPr>
        <p:txBody>
          <a:bodyPr wrap="square">
            <a:spAutoFit/>
          </a:bodyPr>
          <a:lstStyle/>
          <a:p>
            <a:pPr algn="ctr"/>
            <a:r>
              <a:rPr sz="700" b="1">
                <a:solidFill>
                  <a:srgbClr val="CC2244"/>
                </a:solidFill>
                <a:latin typeface="メイリオ"/>
              </a:rPr>
              <a:t>pt積み上げが
CZへの道</a:t>
            </a:r>
          </a:p>
        </p:txBody>
      </p:sp>
      <p:sp>
        <p:nvSpPr>
          <p:cNvPr id="15" name="Rectangle 14"/>
          <p:cNvSpPr/>
          <p:nvPr/>
        </p:nvSpPr>
        <p:spPr>
          <a:xfrm>
            <a:off x="3090672" y="658368"/>
            <a:ext cx="2651760" cy="3800000"/>
          </a:xfrm>
          <a:prstGeom prst="rect">
            <a:avLst/>
          </a:prstGeom>
          <a:solidFill>
            <a:srgbClr val="080620"/>
          </a:solidFill>
          <a:ln w="2286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90672" y="658368"/>
            <a:ext cx="45000" cy="38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135672" y="658368"/>
            <a:ext cx="2606760" cy="350000"/>
          </a:xfrm>
          <a:prstGeom prst="rect">
            <a:avLst/>
          </a:prstGeom>
          <a:solidFill>
            <a:srgbClr val="0C0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165672" y="718368"/>
            <a:ext cx="2551760" cy="270000"/>
          </a:xfrm>
          <a:prstGeom prst="rect">
            <a:avLst/>
          </a:prstGeom>
          <a:noFill/>
        </p:spPr>
        <p:txBody>
          <a:bodyPr wrap="square">
            <a:spAutoFit/>
          </a:bodyPr>
          <a:lstStyle/>
          <a:p>
            <a:pPr algn="l"/>
            <a:r>
              <a:rPr sz="1100" b="1">
                <a:solidFill>
                  <a:srgbClr val="C8A840"/>
                </a:solidFill>
                <a:latin typeface="游明朝"/>
              </a:rPr>
              <a:t>天井・AT直撃高確</a:t>
            </a:r>
          </a:p>
        </p:txBody>
      </p:sp>
      <p:sp>
        <p:nvSpPr>
          <p:cNvPr id="19" name="TextBox 18"/>
          <p:cNvSpPr txBox="1"/>
          <p:nvPr/>
        </p:nvSpPr>
        <p:spPr>
          <a:xfrm>
            <a:off x="3165672" y="1038368"/>
            <a:ext cx="2551760" cy="3180000"/>
          </a:xfrm>
          <a:prstGeom prst="rect">
            <a:avLst/>
          </a:prstGeom>
          <a:noFill/>
        </p:spPr>
        <p:txBody>
          <a:bodyPr wrap="square">
            <a:spAutoFit/>
          </a:bodyPr>
          <a:lstStyle/>
          <a:p>
            <a:pPr algn="l"/>
            <a:r>
              <a:rPr sz="800" b="0">
                <a:solidFill>
                  <a:srgbClr val="ECE8F4"/>
                </a:solidFill>
                <a:latin typeface="メイリオ"/>
              </a:rPr>
              <a:t>【天井】最大900G+α到達で
前兆を経由してAT当選。
リセット時は600G+αに短縮。
【AT直撃高確】
300G付近・600G付近で
内部的に移行する高確率状態。
移行後はレア役成立時に
前兆を経由してAT直撃。
高確中はボーナス・AT当選まで
通常状態に転落しない。</a:t>
            </a:r>
          </a:p>
        </p:txBody>
      </p:sp>
      <p:sp>
        <p:nvSpPr>
          <p:cNvPr id="20" name="Rectangle 19"/>
          <p:cNvSpPr/>
          <p:nvPr/>
        </p:nvSpPr>
        <p:spPr>
          <a:xfrm>
            <a:off x="4922432" y="718368"/>
            <a:ext cx="790000" cy="230000"/>
          </a:xfrm>
          <a:prstGeom prst="rect">
            <a:avLst/>
          </a:prstGeom>
          <a:solidFill>
            <a:srgbClr val="100828"/>
          </a:solidFill>
          <a:ln w="127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932432" y="728368"/>
            <a:ext cx="780000" cy="210000"/>
          </a:xfrm>
          <a:prstGeom prst="rect">
            <a:avLst/>
          </a:prstGeom>
          <a:noFill/>
        </p:spPr>
        <p:txBody>
          <a:bodyPr wrap="square">
            <a:spAutoFit/>
          </a:bodyPr>
          <a:lstStyle/>
          <a:p>
            <a:pPr algn="ctr"/>
            <a:r>
              <a:rPr sz="700" b="1">
                <a:solidFill>
                  <a:srgbClr val="C8A840"/>
                </a:solidFill>
                <a:latin typeface="メイリオ"/>
              </a:rPr>
              <a:t>リセット後は
600G天井</a:t>
            </a:r>
          </a:p>
        </p:txBody>
      </p:sp>
      <p:sp>
        <p:nvSpPr>
          <p:cNvPr id="22" name="Rectangle 21"/>
          <p:cNvSpPr/>
          <p:nvPr/>
        </p:nvSpPr>
        <p:spPr>
          <a:xfrm>
            <a:off x="5925312" y="658368"/>
            <a:ext cx="2651760" cy="3800000"/>
          </a:xfrm>
          <a:prstGeom prst="rect">
            <a:avLst/>
          </a:prstGeom>
          <a:solidFill>
            <a:srgbClr val="080620"/>
          </a:solidFill>
          <a:ln w="22860">
            <a:solidFill>
              <a:srgbClr val="CC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925312" y="658368"/>
            <a:ext cx="45000" cy="3800000"/>
          </a:xfrm>
          <a:prstGeom prst="rect">
            <a:avLst/>
          </a:prstGeom>
          <a:solidFill>
            <a:srgbClr val="CC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970312" y="658368"/>
            <a:ext cx="2606760" cy="350000"/>
          </a:xfrm>
          <a:prstGeom prst="rect">
            <a:avLst/>
          </a:prstGeom>
          <a:solidFill>
            <a:srgbClr val="0C06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00312" y="718368"/>
            <a:ext cx="2551760" cy="270000"/>
          </a:xfrm>
          <a:prstGeom prst="rect">
            <a:avLst/>
          </a:prstGeom>
          <a:noFill/>
        </p:spPr>
        <p:txBody>
          <a:bodyPr wrap="square">
            <a:spAutoFit/>
          </a:bodyPr>
          <a:lstStyle/>
          <a:p>
            <a:pPr algn="l"/>
            <a:r>
              <a:rPr sz="1100" b="1">
                <a:solidFill>
                  <a:srgbClr val="CC44AA"/>
                </a:solidFill>
                <a:latin typeface="游明朝"/>
              </a:rPr>
              <a:t>再生産モード</a:t>
            </a:r>
          </a:p>
        </p:txBody>
      </p:sp>
      <p:sp>
        <p:nvSpPr>
          <p:cNvPr id="26" name="TextBox 25"/>
          <p:cNvSpPr txBox="1"/>
          <p:nvPr/>
        </p:nvSpPr>
        <p:spPr>
          <a:xfrm>
            <a:off x="6000312" y="1038368"/>
            <a:ext cx="2551760" cy="3180000"/>
          </a:xfrm>
          <a:prstGeom prst="rect">
            <a:avLst/>
          </a:prstGeom>
          <a:noFill/>
        </p:spPr>
        <p:txBody>
          <a:bodyPr wrap="square">
            <a:spAutoFit/>
          </a:bodyPr>
          <a:lstStyle/>
          <a:p>
            <a:pPr algn="l"/>
            <a:r>
              <a:rPr sz="800" b="0">
                <a:solidFill>
                  <a:srgbClr val="ECE8F4"/>
                </a:solidFill>
                <a:latin typeface="メイリオ"/>
              </a:rPr>
              <a:t>赤7 BIG成立後に移行する
特殊な報酬ゾーン（20G）。
消化中に成立役を参照して
「再生産アイコン」を
獲得できる。
獲得アイコン数に応じた
ボーナスや上位状態が
期待できる特殊ルート。
通常ルート外の
サプライズ体験として機能。</a:t>
            </a:r>
          </a:p>
        </p:txBody>
      </p:sp>
      <p:sp>
        <p:nvSpPr>
          <p:cNvPr id="27" name="Rectangle 26"/>
          <p:cNvSpPr/>
          <p:nvPr/>
        </p:nvSpPr>
        <p:spPr>
          <a:xfrm>
            <a:off x="7757072" y="718368"/>
            <a:ext cx="790000" cy="230000"/>
          </a:xfrm>
          <a:prstGeom prst="rect">
            <a:avLst/>
          </a:prstGeom>
          <a:solidFill>
            <a:srgbClr val="100828"/>
          </a:solidFill>
          <a:ln w="12700">
            <a:solidFill>
              <a:srgbClr val="CC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67072" y="728368"/>
            <a:ext cx="780000" cy="210000"/>
          </a:xfrm>
          <a:prstGeom prst="rect">
            <a:avLst/>
          </a:prstGeom>
          <a:noFill/>
        </p:spPr>
        <p:txBody>
          <a:bodyPr wrap="square">
            <a:spAutoFit/>
          </a:bodyPr>
          <a:lstStyle/>
          <a:p>
            <a:pPr algn="ctr"/>
            <a:r>
              <a:rPr sz="700" b="1">
                <a:solidFill>
                  <a:srgbClr val="CC44AA"/>
                </a:solidFill>
                <a:latin typeface="メイリオ"/>
              </a:rPr>
              <a:t>赤7BIG後の
隠しルート</a:t>
            </a:r>
          </a:p>
        </p:txBody>
      </p:sp>
      <p:sp>
        <p:nvSpPr>
          <p:cNvPr id="29" name="Rectangle 28"/>
          <p:cNvSpPr/>
          <p:nvPr/>
        </p:nvSpPr>
        <p:spPr>
          <a:xfrm>
            <a:off x="8759952" y="658368"/>
            <a:ext cx="184048" cy="3800000"/>
          </a:xfrm>
          <a:prstGeom prst="rect">
            <a:avLst/>
          </a:prstGeom>
          <a:solidFill>
            <a:srgbClr val="06041C"/>
          </a:solidFill>
          <a:ln w="1905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819952" y="718368"/>
            <a:ext cx="104048" cy="260000"/>
          </a:xfrm>
          <a:prstGeom prst="rect">
            <a:avLst/>
          </a:prstGeom>
          <a:noFill/>
        </p:spPr>
        <p:txBody>
          <a:bodyPr wrap="square">
            <a:spAutoFit/>
          </a:bodyPr>
          <a:lstStyle/>
          <a:p>
            <a:pPr algn="l"/>
            <a:r>
              <a:rPr sz="1000" b="1">
                <a:solidFill>
                  <a:srgbClr val="FF4466"/>
                </a:solidFill>
                <a:latin typeface="游明朝"/>
              </a:rPr>
              <a:t>攻略TIP</a:t>
            </a:r>
          </a:p>
        </p:txBody>
      </p:sp>
      <p:sp>
        <p:nvSpPr>
          <p:cNvPr id="31" name="Rectangle 30"/>
          <p:cNvSpPr/>
          <p:nvPr/>
        </p:nvSpPr>
        <p:spPr>
          <a:xfrm>
            <a:off x="8789952" y="1008368"/>
            <a:ext cx="15000" cy="1100000"/>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39952" y="1038368"/>
            <a:ext cx="74048" cy="1080000"/>
          </a:xfrm>
          <a:prstGeom prst="rect">
            <a:avLst/>
          </a:prstGeom>
          <a:noFill/>
        </p:spPr>
        <p:txBody>
          <a:bodyPr wrap="square">
            <a:spAutoFit/>
          </a:bodyPr>
          <a:lstStyle/>
          <a:p>
            <a:pPr algn="l"/>
            <a:r>
              <a:rPr sz="750" b="0">
                <a:solidFill>
                  <a:srgbClr val="ECE8F4"/>
                </a:solidFill>
                <a:latin typeface="メイリオ"/>
              </a:rPr>
              <a:t>リセット後は
600G天井短縮
朝一狙い有利</a:t>
            </a:r>
          </a:p>
        </p:txBody>
      </p:sp>
      <p:sp>
        <p:nvSpPr>
          <p:cNvPr id="33" name="Rectangle 32"/>
          <p:cNvSpPr/>
          <p:nvPr/>
        </p:nvSpPr>
        <p:spPr>
          <a:xfrm>
            <a:off x="8789952" y="2168368"/>
            <a:ext cx="15000" cy="11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39952" y="2198368"/>
            <a:ext cx="74048" cy="1080000"/>
          </a:xfrm>
          <a:prstGeom prst="rect">
            <a:avLst/>
          </a:prstGeom>
          <a:noFill/>
        </p:spPr>
        <p:txBody>
          <a:bodyPr wrap="square">
            <a:spAutoFit/>
          </a:bodyPr>
          <a:lstStyle/>
          <a:p>
            <a:pPr algn="l"/>
            <a:r>
              <a:rPr sz="750" b="0">
                <a:solidFill>
                  <a:srgbClr val="ECE8F4"/>
                </a:solidFill>
                <a:latin typeface="メイリオ"/>
              </a:rPr>
              <a:t>300G/600G付近は
AT直撃高確
期待が高まる</a:t>
            </a:r>
          </a:p>
        </p:txBody>
      </p:sp>
      <p:sp>
        <p:nvSpPr>
          <p:cNvPr id="35" name="Rectangle 34"/>
          <p:cNvSpPr/>
          <p:nvPr/>
        </p:nvSpPr>
        <p:spPr>
          <a:xfrm>
            <a:off x="8789952" y="3328368"/>
            <a:ext cx="15000" cy="1100000"/>
          </a:xfrm>
          <a:prstGeom prst="rect">
            <a:avLst/>
          </a:prstGeom>
          <a:solidFill>
            <a:srgbClr val="CC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39952" y="3358368"/>
            <a:ext cx="74048" cy="1080000"/>
          </a:xfrm>
          <a:prstGeom prst="rect">
            <a:avLst/>
          </a:prstGeom>
          <a:noFill/>
        </p:spPr>
        <p:txBody>
          <a:bodyPr wrap="square">
            <a:spAutoFit/>
          </a:bodyPr>
          <a:lstStyle/>
          <a:p>
            <a:pPr algn="l"/>
            <a:r>
              <a:rPr sz="750" b="0">
                <a:solidFill>
                  <a:srgbClr val="ECE8F4"/>
                </a:solidFill>
                <a:latin typeface="メイリオ"/>
              </a:rPr>
              <a:t>AT終了後の
引き戻しCZ
期待度約75%</a:t>
            </a:r>
          </a:p>
        </p:txBody>
      </p:sp>
      <p:sp>
        <p:nvSpPr>
          <p:cNvPr id="37" name="Rectangle 36"/>
          <p:cNvSpPr/>
          <p:nvPr/>
        </p:nvSpPr>
        <p:spPr>
          <a:xfrm>
            <a:off x="0" y="4663440"/>
            <a:ext cx="9144000" cy="380000"/>
          </a:xfrm>
          <a:prstGeom prst="rect">
            <a:avLst/>
          </a:prstGeom>
          <a:solidFill>
            <a:srgbClr val="0603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4663440"/>
            <a:ext cx="20000" cy="38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1168" y="4703440"/>
            <a:ext cx="5486400" cy="160000"/>
          </a:xfrm>
          <a:prstGeom prst="rect">
            <a:avLst/>
          </a:prstGeom>
          <a:noFill/>
        </p:spPr>
        <p:txBody>
          <a:bodyPr wrap="square">
            <a:spAutoFit/>
          </a:bodyPr>
          <a:lstStyle/>
          <a:p>
            <a:pPr algn="l"/>
            <a:r>
              <a:rPr sz="750" b="1">
                <a:solidFill>
                  <a:srgbClr val="FF4466"/>
                </a:solidFill>
                <a:latin typeface="メイリオ"/>
              </a:rPr>
              <a:t>設計コメント：CZポイント蓄積（基本）+ AT直撃高確（300/600G付近）+ 天井（900G）の3重安全網設計</a:t>
            </a:r>
          </a:p>
        </p:txBody>
      </p:sp>
      <p:sp>
        <p:nvSpPr>
          <p:cNvPr id="40" name="TextBox 39"/>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補足：再生産モード（赤7BIG後）はボーナス当選後の特別ルート。通常より多いアイコン獲得で大量上乗せに繋がる</a:t>
            </a:r>
          </a:p>
        </p:txBody>
      </p:sp>
      <p:sp>
        <p:nvSpPr>
          <p:cNvPr id="41" name="TextBox 40"/>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C8A840"/>
                </a:solidFill>
                <a:latin typeface="游明朝"/>
              </a:rPr>
              <a:t>CZ「チャレンジ・レヴュー」の仕組み ── 舞台少女たちのレヴューと前兆演出</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4/9</a:t>
            </a:r>
          </a:p>
        </p:txBody>
      </p:sp>
      <p:sp>
        <p:nvSpPr>
          <p:cNvPr id="7" name="Rectangle 6"/>
          <p:cNvSpPr/>
          <p:nvPr/>
        </p:nvSpPr>
        <p:spPr>
          <a:xfrm>
            <a:off x="0" y="530352"/>
            <a:ext cx="9144000" cy="7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60520" cy="330000"/>
          </a:xfrm>
          <a:prstGeom prst="rect">
            <a:avLst/>
          </a:prstGeom>
          <a:solidFill>
            <a:srgbClr val="4410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80520" cy="240000"/>
          </a:xfrm>
          <a:prstGeom prst="rect">
            <a:avLst/>
          </a:prstGeom>
          <a:noFill/>
        </p:spPr>
        <p:txBody>
          <a:bodyPr wrap="square">
            <a:spAutoFit/>
          </a:bodyPr>
          <a:lstStyle/>
          <a:p>
            <a:pPr algn="l"/>
            <a:r>
              <a:rPr sz="900" b="1">
                <a:solidFill>
                  <a:srgbClr val="FF4466"/>
                </a:solidFill>
                <a:latin typeface="メイリオ"/>
              </a:rPr>
              <a:t>CZ基本仕様：18G消化・前半12G＋後半6G・2パート構成　成功期待度：約37%</a:t>
            </a:r>
          </a:p>
        </p:txBody>
      </p:sp>
      <p:sp>
        <p:nvSpPr>
          <p:cNvPr id="10" name="Rectangle 9"/>
          <p:cNvSpPr/>
          <p:nvPr/>
        </p:nvSpPr>
        <p:spPr>
          <a:xfrm>
            <a:off x="256032" y="1048368"/>
            <a:ext cx="2050260" cy="1050000"/>
          </a:xfrm>
          <a:prstGeom prst="rect">
            <a:avLst/>
          </a:prstGeom>
          <a:solidFill>
            <a:srgbClr val="080620"/>
          </a:solidFill>
          <a:ln w="1905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1048368"/>
            <a:ext cx="2050260" cy="180000"/>
          </a:xfrm>
          <a:prstGeom prst="rect">
            <a:avLst/>
          </a:prstGeom>
          <a:solidFill>
            <a:srgbClr val="180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56032" y="1048368"/>
            <a:ext cx="18000" cy="105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6032" y="1078368"/>
            <a:ext cx="2000260" cy="150000"/>
          </a:xfrm>
          <a:prstGeom prst="rect">
            <a:avLst/>
          </a:prstGeom>
          <a:noFill/>
        </p:spPr>
        <p:txBody>
          <a:bodyPr wrap="square">
            <a:spAutoFit/>
          </a:bodyPr>
          <a:lstStyle/>
          <a:p>
            <a:pPr algn="l"/>
            <a:r>
              <a:rPr sz="850" b="1">
                <a:solidFill>
                  <a:srgbClr val="CC2244"/>
                </a:solidFill>
                <a:latin typeface="メイリオ"/>
              </a:rPr>
              <a:t>前半パート（12G）</a:t>
            </a:r>
          </a:p>
        </p:txBody>
      </p:sp>
      <p:sp>
        <p:nvSpPr>
          <p:cNvPr id="14" name="TextBox 13"/>
          <p:cNvSpPr txBox="1"/>
          <p:nvPr/>
        </p:nvSpPr>
        <p:spPr>
          <a:xfrm>
            <a:off x="286032" y="1258368"/>
            <a:ext cx="2000260" cy="790000"/>
          </a:xfrm>
          <a:prstGeom prst="rect">
            <a:avLst/>
          </a:prstGeom>
          <a:noFill/>
        </p:spPr>
        <p:txBody>
          <a:bodyPr wrap="square">
            <a:spAutoFit/>
          </a:bodyPr>
          <a:lstStyle/>
          <a:p>
            <a:pPr algn="l"/>
            <a:r>
              <a:rPr sz="800" b="0">
                <a:solidFill>
                  <a:srgbClr val="ECE8F4"/>
                </a:solidFill>
                <a:latin typeface="メイリオ"/>
              </a:rPr>
              <a:t>参加するキャラクター（舞台少女）によって
演出の強さが変わる。
ヒカリ参加で期待度大幅アップ</a:t>
            </a:r>
          </a:p>
        </p:txBody>
      </p:sp>
      <p:sp>
        <p:nvSpPr>
          <p:cNvPr id="15" name="Rectangle 14"/>
          <p:cNvSpPr/>
          <p:nvPr/>
        </p:nvSpPr>
        <p:spPr>
          <a:xfrm>
            <a:off x="2336292" y="1048368"/>
            <a:ext cx="2050260" cy="1050000"/>
          </a:xfrm>
          <a:prstGeom prst="rect">
            <a:avLst/>
          </a:prstGeom>
          <a:solidFill>
            <a:srgbClr val="080620"/>
          </a:solidFill>
          <a:ln w="1905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336292" y="1048368"/>
            <a:ext cx="2050260" cy="180000"/>
          </a:xfrm>
          <a:prstGeom prst="rect">
            <a:avLst/>
          </a:prstGeom>
          <a:solidFill>
            <a:srgbClr val="180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336292" y="1048368"/>
            <a:ext cx="18000" cy="105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76292" y="1078368"/>
            <a:ext cx="2000260" cy="150000"/>
          </a:xfrm>
          <a:prstGeom prst="rect">
            <a:avLst/>
          </a:prstGeom>
          <a:noFill/>
        </p:spPr>
        <p:txBody>
          <a:bodyPr wrap="square">
            <a:spAutoFit/>
          </a:bodyPr>
          <a:lstStyle/>
          <a:p>
            <a:pPr algn="l"/>
            <a:r>
              <a:rPr sz="850" b="1">
                <a:solidFill>
                  <a:srgbClr val="C8A840"/>
                </a:solidFill>
                <a:latin typeface="メイリオ"/>
              </a:rPr>
              <a:t>後半パート（5G）</a:t>
            </a:r>
          </a:p>
        </p:txBody>
      </p:sp>
      <p:sp>
        <p:nvSpPr>
          <p:cNvPr id="19" name="TextBox 18"/>
          <p:cNvSpPr txBox="1"/>
          <p:nvPr/>
        </p:nvSpPr>
        <p:spPr>
          <a:xfrm>
            <a:off x="2366292" y="1258368"/>
            <a:ext cx="2000260" cy="790000"/>
          </a:xfrm>
          <a:prstGeom prst="rect">
            <a:avLst/>
          </a:prstGeom>
          <a:noFill/>
        </p:spPr>
        <p:txBody>
          <a:bodyPr wrap="square">
            <a:spAutoFit/>
          </a:bodyPr>
          <a:lstStyle/>
          <a:p>
            <a:pPr algn="l"/>
            <a:r>
              <a:rPr sz="800" b="0">
                <a:solidFill>
                  <a:srgbClr val="ECE8F4"/>
                </a:solidFill>
                <a:latin typeface="メイリオ"/>
              </a:rPr>
              <a:t>最終判定パート。
ここでのボーナス当選でAT濃厚。
背景・演出でAT当選を告知</a:t>
            </a:r>
          </a:p>
        </p:txBody>
      </p:sp>
      <p:sp>
        <p:nvSpPr>
          <p:cNvPr id="20" name="Rectangle 19"/>
          <p:cNvSpPr/>
          <p:nvPr/>
        </p:nvSpPr>
        <p:spPr>
          <a:xfrm>
            <a:off x="256032" y="2148368"/>
            <a:ext cx="4160520" cy="1050000"/>
          </a:xfrm>
          <a:prstGeom prst="rect">
            <a:avLst/>
          </a:prstGeom>
          <a:solidFill>
            <a:srgbClr val="080620"/>
          </a:solidFill>
          <a:ln w="19050">
            <a:solidFill>
              <a:srgbClr val="CC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56032" y="2148368"/>
            <a:ext cx="45000" cy="1050000"/>
          </a:xfrm>
          <a:prstGeom prst="rect">
            <a:avLst/>
          </a:prstGeom>
          <a:solidFill>
            <a:srgbClr val="CC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1032" y="2203368"/>
            <a:ext cx="4060520" cy="260000"/>
          </a:xfrm>
          <a:prstGeom prst="rect">
            <a:avLst/>
          </a:prstGeom>
          <a:noFill/>
        </p:spPr>
        <p:txBody>
          <a:bodyPr wrap="square">
            <a:spAutoFit/>
          </a:bodyPr>
          <a:lstStyle/>
          <a:p>
            <a:pPr algn="l"/>
            <a:r>
              <a:rPr sz="1000" b="1">
                <a:solidFill>
                  <a:srgbClr val="CC44AA"/>
                </a:solidFill>
                <a:latin typeface="游明朝"/>
              </a:rPr>
              <a:t>CZポイントテーブルとCZ突入タイミング</a:t>
            </a:r>
          </a:p>
        </p:txBody>
      </p:sp>
      <p:sp>
        <p:nvSpPr>
          <p:cNvPr id="23" name="TextBox 22"/>
          <p:cNvSpPr txBox="1"/>
          <p:nvPr/>
        </p:nvSpPr>
        <p:spPr>
          <a:xfrm>
            <a:off x="331032" y="2463368"/>
            <a:ext cx="4060520" cy="680000"/>
          </a:xfrm>
          <a:prstGeom prst="rect">
            <a:avLst/>
          </a:prstGeom>
          <a:noFill/>
        </p:spPr>
        <p:txBody>
          <a:bodyPr wrap="square">
            <a:spAutoFit/>
          </a:bodyPr>
          <a:lstStyle/>
          <a:p>
            <a:pPr algn="l"/>
            <a:r>
              <a:rPr sz="800" b="0">
                <a:solidFill>
                  <a:srgbClr val="ECE8F4"/>
                </a:solidFill>
                <a:latin typeface="メイリオ"/>
              </a:rPr>
              <a:t>・通常時はテーブルに沿ったG数でCZポイントを獲得
・10pt到達 → CZ突入抽選（テーブルにより発動G数が変わる）
・REGボーナス消化中もCZポイント獲得の抽選あり
・AT終了後は引き戻しCZが発生（期待度約75%）</a:t>
            </a:r>
          </a:p>
        </p:txBody>
      </p:sp>
      <p:sp>
        <p:nvSpPr>
          <p:cNvPr id="24" name="Rectangle 23"/>
          <p:cNvSpPr/>
          <p:nvPr/>
        </p:nvSpPr>
        <p:spPr>
          <a:xfrm>
            <a:off x="4617720" y="658368"/>
            <a:ext cx="4251960" cy="1320000"/>
          </a:xfrm>
          <a:prstGeom prst="rect">
            <a:avLst/>
          </a:prstGeom>
          <a:solidFill>
            <a:srgbClr val="080620"/>
          </a:solidFill>
          <a:ln w="1905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617720" y="658368"/>
            <a:ext cx="45000" cy="132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662720" y="658368"/>
            <a:ext cx="4206960" cy="310000"/>
          </a:xfrm>
          <a:prstGeom prst="rect">
            <a:avLst/>
          </a:prstGeom>
          <a:solidFill>
            <a:srgbClr val="0C0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92720" y="713368"/>
            <a:ext cx="4151960" cy="240000"/>
          </a:xfrm>
          <a:prstGeom prst="rect">
            <a:avLst/>
          </a:prstGeom>
          <a:noFill/>
        </p:spPr>
        <p:txBody>
          <a:bodyPr wrap="square">
            <a:spAutoFit/>
          </a:bodyPr>
          <a:lstStyle/>
          <a:p>
            <a:pPr algn="l"/>
            <a:r>
              <a:rPr sz="1000" b="1">
                <a:solidFill>
                  <a:srgbClr val="CC2244"/>
                </a:solidFill>
                <a:latin typeface="游明朝"/>
              </a:rPr>
              <a:t>① CZポイント経由</a:t>
            </a:r>
          </a:p>
        </p:txBody>
      </p:sp>
      <p:sp>
        <p:nvSpPr>
          <p:cNvPr id="28" name="TextBox 27"/>
          <p:cNvSpPr txBox="1"/>
          <p:nvPr/>
        </p:nvSpPr>
        <p:spPr>
          <a:xfrm>
            <a:off x="4692720" y="1008368"/>
            <a:ext cx="4151960" cy="920000"/>
          </a:xfrm>
          <a:prstGeom prst="rect">
            <a:avLst/>
          </a:prstGeom>
          <a:noFill/>
        </p:spPr>
        <p:txBody>
          <a:bodyPr wrap="square">
            <a:spAutoFit/>
          </a:bodyPr>
          <a:lstStyle/>
          <a:p>
            <a:pPr algn="l"/>
            <a:r>
              <a:rPr sz="850" b="0">
                <a:solidFill>
                  <a:srgbClr val="ECE8F4"/>
                </a:solidFill>
                <a:latin typeface="メイリオ"/>
              </a:rPr>
              <a:t>10pt蓄積 → CZ突入抽選
テーブル次第でG数が変動
最も頻繁に発生するルート</a:t>
            </a:r>
          </a:p>
        </p:txBody>
      </p:sp>
      <p:sp>
        <p:nvSpPr>
          <p:cNvPr id="29" name="Rectangle 28"/>
          <p:cNvSpPr/>
          <p:nvPr/>
        </p:nvSpPr>
        <p:spPr>
          <a:xfrm>
            <a:off x="4617720" y="2018368"/>
            <a:ext cx="4251960" cy="1320000"/>
          </a:xfrm>
          <a:prstGeom prst="rect">
            <a:avLst/>
          </a:prstGeom>
          <a:solidFill>
            <a:srgbClr val="080620"/>
          </a:solidFill>
          <a:ln w="1905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617720" y="2018368"/>
            <a:ext cx="45000" cy="132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62720" y="2018368"/>
            <a:ext cx="4206960" cy="310000"/>
          </a:xfrm>
          <a:prstGeom prst="rect">
            <a:avLst/>
          </a:prstGeom>
          <a:solidFill>
            <a:srgbClr val="0C0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692720" y="2073368"/>
            <a:ext cx="4151960" cy="240000"/>
          </a:xfrm>
          <a:prstGeom prst="rect">
            <a:avLst/>
          </a:prstGeom>
          <a:noFill/>
        </p:spPr>
        <p:txBody>
          <a:bodyPr wrap="square">
            <a:spAutoFit/>
          </a:bodyPr>
          <a:lstStyle/>
          <a:p>
            <a:pPr algn="l"/>
            <a:r>
              <a:rPr sz="1000" b="1">
                <a:solidFill>
                  <a:srgbClr val="C8A840"/>
                </a:solidFill>
                <a:latin typeface="游明朝"/>
              </a:rPr>
              <a:t>② BIG/REGボーナス経由</a:t>
            </a:r>
          </a:p>
        </p:txBody>
      </p:sp>
      <p:sp>
        <p:nvSpPr>
          <p:cNvPr id="33" name="TextBox 32"/>
          <p:cNvSpPr txBox="1"/>
          <p:nvPr/>
        </p:nvSpPr>
        <p:spPr>
          <a:xfrm>
            <a:off x="4692720" y="2368368"/>
            <a:ext cx="4151960" cy="920000"/>
          </a:xfrm>
          <a:prstGeom prst="rect">
            <a:avLst/>
          </a:prstGeom>
          <a:noFill/>
        </p:spPr>
        <p:txBody>
          <a:bodyPr wrap="square">
            <a:spAutoFit/>
          </a:bodyPr>
          <a:lstStyle/>
          <a:p>
            <a:pPr algn="l"/>
            <a:r>
              <a:rPr sz="850" b="0">
                <a:solidFill>
                  <a:srgbClr val="ECE8F4"/>
                </a:solidFill>
                <a:latin typeface="メイリオ"/>
              </a:rPr>
              <a:t>BIG消化中:BAR揃いでAT当選濃厚
REG消化中:CZpt獲得抽選が行われる
ボーナスが次の起点になる</a:t>
            </a:r>
          </a:p>
        </p:txBody>
      </p:sp>
      <p:sp>
        <p:nvSpPr>
          <p:cNvPr id="34" name="Rectangle 33"/>
          <p:cNvSpPr/>
          <p:nvPr/>
        </p:nvSpPr>
        <p:spPr>
          <a:xfrm>
            <a:off x="4617720" y="3378368"/>
            <a:ext cx="4251960" cy="1320000"/>
          </a:xfrm>
          <a:prstGeom prst="rect">
            <a:avLst/>
          </a:prstGeom>
          <a:solidFill>
            <a:srgbClr val="080620"/>
          </a:solidFill>
          <a:ln w="19050">
            <a:solidFill>
              <a:srgbClr val="CC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3378368"/>
            <a:ext cx="45000" cy="1320000"/>
          </a:xfrm>
          <a:prstGeom prst="rect">
            <a:avLst/>
          </a:prstGeom>
          <a:solidFill>
            <a:srgbClr val="CC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662720" y="3378368"/>
            <a:ext cx="4206960" cy="310000"/>
          </a:xfrm>
          <a:prstGeom prst="rect">
            <a:avLst/>
          </a:prstGeom>
          <a:solidFill>
            <a:srgbClr val="0C0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692720" y="3433368"/>
            <a:ext cx="4151960" cy="240000"/>
          </a:xfrm>
          <a:prstGeom prst="rect">
            <a:avLst/>
          </a:prstGeom>
          <a:noFill/>
        </p:spPr>
        <p:txBody>
          <a:bodyPr wrap="square">
            <a:spAutoFit/>
          </a:bodyPr>
          <a:lstStyle/>
          <a:p>
            <a:pPr algn="l"/>
            <a:r>
              <a:rPr sz="1000" b="1">
                <a:solidFill>
                  <a:srgbClr val="CC44AA"/>
                </a:solidFill>
                <a:latin typeface="游明朝"/>
              </a:rPr>
              <a:t>③ AT直撃高確経由</a:t>
            </a:r>
          </a:p>
        </p:txBody>
      </p:sp>
      <p:sp>
        <p:nvSpPr>
          <p:cNvPr id="38" name="TextBox 37"/>
          <p:cNvSpPr txBox="1"/>
          <p:nvPr/>
        </p:nvSpPr>
        <p:spPr>
          <a:xfrm>
            <a:off x="4692720" y="3728368"/>
            <a:ext cx="4151960" cy="920000"/>
          </a:xfrm>
          <a:prstGeom prst="rect">
            <a:avLst/>
          </a:prstGeom>
          <a:noFill/>
        </p:spPr>
        <p:txBody>
          <a:bodyPr wrap="square">
            <a:spAutoFit/>
          </a:bodyPr>
          <a:lstStyle/>
          <a:p>
            <a:pPr algn="l"/>
            <a:r>
              <a:rPr sz="850" b="0">
                <a:solidFill>
                  <a:srgbClr val="ECE8F4"/>
                </a:solidFill>
                <a:latin typeface="メイリオ"/>
              </a:rPr>
              <a:t>300G/600G付近で内部移行
レア役 → 前兆 → AT直撃
転落なしで確実に引き込む</a:t>
            </a:r>
          </a:p>
        </p:txBody>
      </p:sp>
      <p:sp>
        <p:nvSpPr>
          <p:cNvPr id="39" name="Rectangle 38"/>
          <p:cNvSpPr/>
          <p:nvPr/>
        </p:nvSpPr>
        <p:spPr>
          <a:xfrm>
            <a:off x="0" y="4663440"/>
            <a:ext cx="9144000" cy="380000"/>
          </a:xfrm>
          <a:prstGeom prst="rect">
            <a:avLst/>
          </a:prstGeom>
          <a:solidFill>
            <a:srgbClr val="0603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0" y="4663440"/>
            <a:ext cx="20000" cy="38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01168" y="4703440"/>
            <a:ext cx="5486400" cy="160000"/>
          </a:xfrm>
          <a:prstGeom prst="rect">
            <a:avLst/>
          </a:prstGeom>
          <a:noFill/>
        </p:spPr>
        <p:txBody>
          <a:bodyPr wrap="square">
            <a:spAutoFit/>
          </a:bodyPr>
          <a:lstStyle/>
          <a:p>
            <a:pPr algn="l"/>
            <a:r>
              <a:rPr sz="750" b="1">
                <a:solidFill>
                  <a:srgbClr val="FF4466"/>
                </a:solidFill>
                <a:latin typeface="メイリオ"/>
              </a:rPr>
              <a:t>設計コメント：「CZポイント積み上げ」→「CZ」→「ボーナス」→「AT」という4段ステップが通常時の緊張感を持続させる</a:t>
            </a:r>
          </a:p>
        </p:txBody>
      </p:sp>
      <p:sp>
        <p:nvSpPr>
          <p:cNvPr id="42" name="TextBox 41"/>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補足：前兆演出中はキャラクターの「レヴュー（演じ合い）」が発展し、成功か失敗かが18Gかけて判明する演出設計</a:t>
            </a:r>
          </a:p>
        </p:txBody>
      </p:sp>
      <p:sp>
        <p:nvSpPr>
          <p:cNvPr id="43" name="TextBox 42"/>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C8A840"/>
                </a:solidFill>
                <a:latin typeface="游明朝"/>
              </a:rPr>
              <a:t>AT「レヴュースタァライト」── 何をすれば出玉が伸びるか</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5/9</a:t>
            </a:r>
          </a:p>
        </p:txBody>
      </p:sp>
      <p:sp>
        <p:nvSpPr>
          <p:cNvPr id="7" name="Rectangle 6"/>
          <p:cNvSpPr/>
          <p:nvPr/>
        </p:nvSpPr>
        <p:spPr>
          <a:xfrm>
            <a:off x="0" y="530352"/>
            <a:ext cx="9144000" cy="7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56032" y="621792"/>
            <a:ext cx="8595360" cy="220000"/>
          </a:xfrm>
          <a:prstGeom prst="rect">
            <a:avLst/>
          </a:prstGeom>
          <a:noFill/>
        </p:spPr>
        <p:txBody>
          <a:bodyPr wrap="square">
            <a:spAutoFit/>
          </a:bodyPr>
          <a:lstStyle/>
          <a:p>
            <a:pPr algn="l"/>
            <a:r>
              <a:rPr sz="900" b="1">
                <a:solidFill>
                  <a:srgbClr val="FF4466"/>
                </a:solidFill>
                <a:latin typeface="メイリオ"/>
              </a:rPr>
              <a:t>▶ AT基本仕様と出玉を伸ばす2つのアクション</a:t>
            </a:r>
          </a:p>
        </p:txBody>
      </p:sp>
      <p:sp>
        <p:nvSpPr>
          <p:cNvPr id="9" name="Rectangle 8"/>
          <p:cNvSpPr/>
          <p:nvPr/>
        </p:nvSpPr>
        <p:spPr>
          <a:xfrm>
            <a:off x="256032" y="822960"/>
            <a:ext cx="8631936" cy="520000"/>
          </a:xfrm>
          <a:prstGeom prst="rect">
            <a:avLst/>
          </a:prstGeom>
          <a:solidFill>
            <a:srgbClr val="080620"/>
          </a:solidFill>
          <a:ln w="1905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56032" y="822960"/>
            <a:ext cx="45000" cy="52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859536"/>
            <a:ext cx="8229600" cy="250000"/>
          </a:xfrm>
          <a:prstGeom prst="rect">
            <a:avLst/>
          </a:prstGeom>
          <a:noFill/>
        </p:spPr>
        <p:txBody>
          <a:bodyPr wrap="square">
            <a:spAutoFit/>
          </a:bodyPr>
          <a:lstStyle/>
          <a:p>
            <a:pPr algn="l"/>
            <a:r>
              <a:rPr sz="900" b="1">
                <a:solidFill>
                  <a:srgbClr val="FF4466"/>
                </a:solidFill>
                <a:latin typeface="游明朝"/>
              </a:rPr>
              <a:t>AT「レヴュースタァライト」：初期30G以上・純増約2.2枚/G（貫通時 約3.4枚/G）・G数＆セット数管理型</a:t>
            </a:r>
          </a:p>
        </p:txBody>
      </p:sp>
      <p:sp>
        <p:nvSpPr>
          <p:cNvPr id="12" name="TextBox 11"/>
          <p:cNvSpPr txBox="1"/>
          <p:nvPr/>
        </p:nvSpPr>
        <p:spPr>
          <a:xfrm>
            <a:off x="457200" y="1115568"/>
            <a:ext cx="8229600" cy="170000"/>
          </a:xfrm>
          <a:prstGeom prst="rect">
            <a:avLst/>
          </a:prstGeom>
          <a:noFill/>
        </p:spPr>
        <p:txBody>
          <a:bodyPr wrap="square">
            <a:spAutoFit/>
          </a:bodyPr>
          <a:lstStyle/>
          <a:p>
            <a:pPr algn="l"/>
            <a:r>
              <a:rPr sz="800" b="0">
                <a:solidFill>
                  <a:srgbClr val="ECE8F4"/>
                </a:solidFill>
                <a:latin typeface="メイリオ"/>
              </a:rPr>
              <a:t>消化中はレア役でG数上乗せ・セットストック・特化ゾーン（クライマックス・レヴュー）を抽選。G数カウンター100G到達後は上乗せが全てセットストックに変換される。</a:t>
            </a:r>
          </a:p>
        </p:txBody>
      </p:sp>
      <p:sp>
        <p:nvSpPr>
          <p:cNvPr id="13" name="Rectangle 12"/>
          <p:cNvSpPr/>
          <p:nvPr/>
        </p:nvSpPr>
        <p:spPr>
          <a:xfrm>
            <a:off x="256032" y="1417320"/>
            <a:ext cx="4114800" cy="2800000"/>
          </a:xfrm>
          <a:prstGeom prst="rect">
            <a:avLst/>
          </a:prstGeom>
          <a:solidFill>
            <a:srgbClr val="080620"/>
          </a:solidFill>
          <a:ln w="1905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56032" y="1417320"/>
            <a:ext cx="45000" cy="280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1467320"/>
            <a:ext cx="4014800" cy="270000"/>
          </a:xfrm>
          <a:prstGeom prst="rect">
            <a:avLst/>
          </a:prstGeom>
          <a:noFill/>
        </p:spPr>
        <p:txBody>
          <a:bodyPr wrap="square">
            <a:spAutoFit/>
          </a:bodyPr>
          <a:lstStyle/>
          <a:p>
            <a:pPr algn="l"/>
            <a:r>
              <a:rPr sz="1000" b="1">
                <a:solidFill>
                  <a:srgbClr val="CC2244"/>
                </a:solidFill>
                <a:latin typeface="游明朝"/>
              </a:rPr>
              <a:t>① AT中のボーナスでAT性能を強化（貫通型）</a:t>
            </a:r>
          </a:p>
        </p:txBody>
      </p:sp>
      <p:sp>
        <p:nvSpPr>
          <p:cNvPr id="16" name="Rectangle 15"/>
          <p:cNvSpPr/>
          <p:nvPr/>
        </p:nvSpPr>
        <p:spPr>
          <a:xfrm>
            <a:off x="365760" y="1757320"/>
            <a:ext cx="3934800" cy="786666"/>
          </a:xfrm>
          <a:prstGeom prst="rect">
            <a:avLst/>
          </a:prstGeom>
          <a:solidFill>
            <a:srgbClr val="100828"/>
          </a:solidFill>
          <a:ln w="1270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5760" y="1757320"/>
            <a:ext cx="20000" cy="786666"/>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1787320"/>
            <a:ext cx="3874800" cy="240000"/>
          </a:xfrm>
          <a:prstGeom prst="rect">
            <a:avLst/>
          </a:prstGeom>
          <a:noFill/>
        </p:spPr>
        <p:txBody>
          <a:bodyPr wrap="square">
            <a:spAutoFit/>
          </a:bodyPr>
          <a:lstStyle/>
          <a:p>
            <a:pPr algn="l"/>
            <a:r>
              <a:rPr sz="850" b="1">
                <a:solidFill>
                  <a:srgbClr val="FF4466"/>
                </a:solidFill>
                <a:latin typeface="メイリオ"/>
              </a:rPr>
              <a:t>BIGボーナス当選</a:t>
            </a:r>
          </a:p>
        </p:txBody>
      </p:sp>
      <p:sp>
        <p:nvSpPr>
          <p:cNvPr id="19" name="TextBox 18"/>
          <p:cNvSpPr txBox="1"/>
          <p:nvPr/>
        </p:nvSpPr>
        <p:spPr>
          <a:xfrm>
            <a:off x="502920" y="2027320"/>
            <a:ext cx="3874800" cy="496666"/>
          </a:xfrm>
          <a:prstGeom prst="rect">
            <a:avLst/>
          </a:prstGeom>
          <a:noFill/>
        </p:spPr>
        <p:txBody>
          <a:bodyPr wrap="square">
            <a:spAutoFit/>
          </a:bodyPr>
          <a:lstStyle/>
          <a:p>
            <a:pPr algn="l"/>
            <a:r>
              <a:rPr sz="750" b="0">
                <a:solidFill>
                  <a:srgbClr val="ECE8F4"/>
                </a:solidFill>
                <a:latin typeface="メイリオ"/>
              </a:rPr>
              <a:t>AT中にBIGを引くとATの純増が上昇
「貫通型AT」の核心。
引けば引くほどAT性能が向上する</a:t>
            </a:r>
          </a:p>
        </p:txBody>
      </p:sp>
      <p:sp>
        <p:nvSpPr>
          <p:cNvPr id="20" name="Rectangle 19"/>
          <p:cNvSpPr/>
          <p:nvPr/>
        </p:nvSpPr>
        <p:spPr>
          <a:xfrm>
            <a:off x="365760" y="2583986"/>
            <a:ext cx="3934800" cy="786666"/>
          </a:xfrm>
          <a:prstGeom prst="rect">
            <a:avLst/>
          </a:prstGeom>
          <a:solidFill>
            <a:srgbClr val="100828"/>
          </a:solidFill>
          <a:ln w="127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65760" y="2583986"/>
            <a:ext cx="20000" cy="786666"/>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02920" y="2613986"/>
            <a:ext cx="3874800" cy="240000"/>
          </a:xfrm>
          <a:prstGeom prst="rect">
            <a:avLst/>
          </a:prstGeom>
          <a:noFill/>
        </p:spPr>
        <p:txBody>
          <a:bodyPr wrap="square">
            <a:spAutoFit/>
          </a:bodyPr>
          <a:lstStyle/>
          <a:p>
            <a:pPr algn="l"/>
            <a:r>
              <a:rPr sz="850" b="1">
                <a:solidFill>
                  <a:srgbClr val="C8A840"/>
                </a:solidFill>
                <a:latin typeface="メイリオ"/>
              </a:rPr>
              <a:t>REGボーナス当選</a:t>
            </a:r>
          </a:p>
        </p:txBody>
      </p:sp>
      <p:sp>
        <p:nvSpPr>
          <p:cNvPr id="23" name="TextBox 22"/>
          <p:cNvSpPr txBox="1"/>
          <p:nvPr/>
        </p:nvSpPr>
        <p:spPr>
          <a:xfrm>
            <a:off x="502920" y="2853986"/>
            <a:ext cx="3874800" cy="496666"/>
          </a:xfrm>
          <a:prstGeom prst="rect">
            <a:avLst/>
          </a:prstGeom>
          <a:noFill/>
        </p:spPr>
        <p:txBody>
          <a:bodyPr wrap="square">
            <a:spAutoFit/>
          </a:bodyPr>
          <a:lstStyle/>
          <a:p>
            <a:pPr algn="l"/>
            <a:r>
              <a:rPr sz="750" b="0">
                <a:solidFill>
                  <a:srgbClr val="ECE8F4"/>
                </a:solidFill>
                <a:latin typeface="メイリオ"/>
              </a:rPr>
              <a:t>CZポイント追加獲得のチャンス
セットストック抽選にも期待
AT継続の下支えとして機能</a:t>
            </a:r>
          </a:p>
        </p:txBody>
      </p:sp>
      <p:sp>
        <p:nvSpPr>
          <p:cNvPr id="24" name="Rectangle 23"/>
          <p:cNvSpPr/>
          <p:nvPr/>
        </p:nvSpPr>
        <p:spPr>
          <a:xfrm>
            <a:off x="365760" y="3410652"/>
            <a:ext cx="3934800" cy="786666"/>
          </a:xfrm>
          <a:prstGeom prst="rect">
            <a:avLst/>
          </a:prstGeom>
          <a:solidFill>
            <a:srgbClr val="100828"/>
          </a:solidFill>
          <a:ln w="12700">
            <a:solidFill>
              <a:srgbClr val="CC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65760" y="3410652"/>
            <a:ext cx="20000" cy="786666"/>
          </a:xfrm>
          <a:prstGeom prst="rect">
            <a:avLst/>
          </a:prstGeom>
          <a:solidFill>
            <a:srgbClr val="CC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3440652"/>
            <a:ext cx="3874800" cy="240000"/>
          </a:xfrm>
          <a:prstGeom prst="rect">
            <a:avLst/>
          </a:prstGeom>
          <a:noFill/>
        </p:spPr>
        <p:txBody>
          <a:bodyPr wrap="square">
            <a:spAutoFit/>
          </a:bodyPr>
          <a:lstStyle/>
          <a:p>
            <a:pPr algn="l"/>
            <a:r>
              <a:rPr sz="850" b="1">
                <a:solidFill>
                  <a:srgbClr val="CC44AA"/>
                </a:solidFill>
                <a:latin typeface="メイリオ"/>
              </a:rPr>
              <a:t>特殊ボーナス（赤7等）</a:t>
            </a:r>
          </a:p>
        </p:txBody>
      </p:sp>
      <p:sp>
        <p:nvSpPr>
          <p:cNvPr id="27" name="TextBox 26"/>
          <p:cNvSpPr txBox="1"/>
          <p:nvPr/>
        </p:nvSpPr>
        <p:spPr>
          <a:xfrm>
            <a:off x="502920" y="3680652"/>
            <a:ext cx="3874800" cy="496666"/>
          </a:xfrm>
          <a:prstGeom prst="rect">
            <a:avLst/>
          </a:prstGeom>
          <a:noFill/>
        </p:spPr>
        <p:txBody>
          <a:bodyPr wrap="square">
            <a:spAutoFit/>
          </a:bodyPr>
          <a:lstStyle/>
          <a:p>
            <a:pPr algn="l"/>
            <a:r>
              <a:rPr sz="750" b="0">
                <a:solidFill>
                  <a:srgbClr val="ECE8F4"/>
                </a:solidFill>
                <a:latin typeface="メイリオ"/>
              </a:rPr>
              <a:t>再生産モードや上位AT突入の起点
通常よりも強い上乗せ・ストック獲得
引き時の演出が大きく発展</a:t>
            </a:r>
          </a:p>
        </p:txBody>
      </p:sp>
      <p:sp>
        <p:nvSpPr>
          <p:cNvPr id="28" name="Rectangle 27"/>
          <p:cNvSpPr/>
          <p:nvPr/>
        </p:nvSpPr>
        <p:spPr>
          <a:xfrm>
            <a:off x="4617720" y="1417320"/>
            <a:ext cx="4251960" cy="2800000"/>
          </a:xfrm>
          <a:prstGeom prst="rect">
            <a:avLst/>
          </a:prstGeom>
          <a:solidFill>
            <a:srgbClr val="080620"/>
          </a:solidFill>
          <a:ln w="1905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617720" y="1417320"/>
            <a:ext cx="45000" cy="28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18888" y="1467320"/>
            <a:ext cx="4151960" cy="270000"/>
          </a:xfrm>
          <a:prstGeom prst="rect">
            <a:avLst/>
          </a:prstGeom>
          <a:noFill/>
        </p:spPr>
        <p:txBody>
          <a:bodyPr wrap="square">
            <a:spAutoFit/>
          </a:bodyPr>
          <a:lstStyle/>
          <a:p>
            <a:pPr algn="l"/>
            <a:r>
              <a:rPr sz="1000" b="1">
                <a:solidFill>
                  <a:srgbClr val="C8A840"/>
                </a:solidFill>
                <a:latin typeface="游明朝"/>
              </a:rPr>
              <a:t>② 特化ゾーン「クライマックス・レヴュー」</a:t>
            </a:r>
          </a:p>
        </p:txBody>
      </p:sp>
      <p:sp>
        <p:nvSpPr>
          <p:cNvPr id="31" name="Rectangle 30"/>
          <p:cNvSpPr/>
          <p:nvPr/>
        </p:nvSpPr>
        <p:spPr>
          <a:xfrm>
            <a:off x="4727448" y="1757320"/>
            <a:ext cx="4071960" cy="580000"/>
          </a:xfrm>
          <a:prstGeom prst="rect">
            <a:avLst/>
          </a:prstGeom>
          <a:solidFill>
            <a:srgbClr val="100828"/>
          </a:solidFill>
          <a:ln w="12700">
            <a:solidFill>
              <a:srgbClr val="FFDD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27448" y="1757320"/>
            <a:ext cx="20000" cy="580000"/>
          </a:xfrm>
          <a:prstGeom prst="rect">
            <a:avLst/>
          </a:prstGeom>
          <a:solidFill>
            <a:srgbClr val="FFDD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64608" y="1787320"/>
            <a:ext cx="4001960" cy="240000"/>
          </a:xfrm>
          <a:prstGeom prst="rect">
            <a:avLst/>
          </a:prstGeom>
          <a:noFill/>
        </p:spPr>
        <p:txBody>
          <a:bodyPr wrap="square">
            <a:spAutoFit/>
          </a:bodyPr>
          <a:lstStyle/>
          <a:p>
            <a:pPr algn="l"/>
            <a:r>
              <a:rPr sz="850" b="1">
                <a:solidFill>
                  <a:srgbClr val="FFDD66"/>
                </a:solidFill>
                <a:latin typeface="メイリオ"/>
              </a:rPr>
              <a:t>発動条件</a:t>
            </a:r>
          </a:p>
        </p:txBody>
      </p:sp>
      <p:sp>
        <p:nvSpPr>
          <p:cNvPr id="34" name="TextBox 33"/>
          <p:cNvSpPr txBox="1"/>
          <p:nvPr/>
        </p:nvSpPr>
        <p:spPr>
          <a:xfrm>
            <a:off x="4864608" y="2027320"/>
            <a:ext cx="4001960" cy="290000"/>
          </a:xfrm>
          <a:prstGeom prst="rect">
            <a:avLst/>
          </a:prstGeom>
          <a:noFill/>
        </p:spPr>
        <p:txBody>
          <a:bodyPr wrap="square">
            <a:spAutoFit/>
          </a:bodyPr>
          <a:lstStyle/>
          <a:p>
            <a:pPr algn="l"/>
            <a:r>
              <a:rPr sz="750" b="0">
                <a:solidFill>
                  <a:srgbClr val="ECE8F4"/>
                </a:solidFill>
                <a:latin typeface="メイリオ"/>
              </a:rPr>
              <a:t>AT中のレア役一部で突入する
G数上乗せ特化ゾーン</a:t>
            </a:r>
          </a:p>
        </p:txBody>
      </p:sp>
      <p:sp>
        <p:nvSpPr>
          <p:cNvPr id="35" name="Rectangle 34"/>
          <p:cNvSpPr/>
          <p:nvPr/>
        </p:nvSpPr>
        <p:spPr>
          <a:xfrm>
            <a:off x="4727448" y="2377320"/>
            <a:ext cx="4071960" cy="580000"/>
          </a:xfrm>
          <a:prstGeom prst="rect">
            <a:avLst/>
          </a:prstGeom>
          <a:solidFill>
            <a:srgbClr val="100828"/>
          </a:solidFill>
          <a:ln w="1270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27448" y="2377320"/>
            <a:ext cx="20000" cy="580000"/>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864608" y="2407320"/>
            <a:ext cx="4001960" cy="240000"/>
          </a:xfrm>
          <a:prstGeom prst="rect">
            <a:avLst/>
          </a:prstGeom>
          <a:noFill/>
        </p:spPr>
        <p:txBody>
          <a:bodyPr wrap="square">
            <a:spAutoFit/>
          </a:bodyPr>
          <a:lstStyle/>
          <a:p>
            <a:pPr algn="l"/>
            <a:r>
              <a:rPr sz="850" b="1">
                <a:solidFill>
                  <a:srgbClr val="FF4466"/>
                </a:solidFill>
                <a:latin typeface="メイリオ"/>
              </a:rPr>
              <a:t>上乗せ計算方式</a:t>
            </a:r>
          </a:p>
        </p:txBody>
      </p:sp>
      <p:sp>
        <p:nvSpPr>
          <p:cNvPr id="38" name="TextBox 37"/>
          <p:cNvSpPr txBox="1"/>
          <p:nvPr/>
        </p:nvSpPr>
        <p:spPr>
          <a:xfrm>
            <a:off x="4864608" y="2647320"/>
            <a:ext cx="4001960" cy="290000"/>
          </a:xfrm>
          <a:prstGeom prst="rect">
            <a:avLst/>
          </a:prstGeom>
          <a:noFill/>
        </p:spPr>
        <p:txBody>
          <a:bodyPr wrap="square">
            <a:spAutoFit/>
          </a:bodyPr>
          <a:lstStyle/>
          <a:p>
            <a:pPr algn="l"/>
            <a:r>
              <a:rPr sz="750" b="0">
                <a:solidFill>
                  <a:srgbClr val="ECE8F4"/>
                </a:solidFill>
                <a:latin typeface="メイリオ"/>
              </a:rPr>
              <a:t>「成立役が決める基本G数」×
「背景色に対応した倍率」
で上乗せゲーム数が算出</a:t>
            </a:r>
          </a:p>
        </p:txBody>
      </p:sp>
      <p:sp>
        <p:nvSpPr>
          <p:cNvPr id="39" name="Rectangle 38"/>
          <p:cNvSpPr/>
          <p:nvPr/>
        </p:nvSpPr>
        <p:spPr>
          <a:xfrm>
            <a:off x="4727448" y="2997320"/>
            <a:ext cx="4071960" cy="580000"/>
          </a:xfrm>
          <a:prstGeom prst="rect">
            <a:avLst/>
          </a:prstGeom>
          <a:solidFill>
            <a:srgbClr val="100828"/>
          </a:solidFill>
          <a:ln w="12700">
            <a:solidFill>
              <a:srgbClr val="CC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27448" y="2997320"/>
            <a:ext cx="20000" cy="580000"/>
          </a:xfrm>
          <a:prstGeom prst="rect">
            <a:avLst/>
          </a:prstGeom>
          <a:solidFill>
            <a:srgbClr val="CC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864608" y="3027320"/>
            <a:ext cx="4001960" cy="240000"/>
          </a:xfrm>
          <a:prstGeom prst="rect">
            <a:avLst/>
          </a:prstGeom>
          <a:noFill/>
        </p:spPr>
        <p:txBody>
          <a:bodyPr wrap="square">
            <a:spAutoFit/>
          </a:bodyPr>
          <a:lstStyle/>
          <a:p>
            <a:pPr algn="l"/>
            <a:r>
              <a:rPr sz="850" b="1">
                <a:solidFill>
                  <a:srgbClr val="CC44AA"/>
                </a:solidFill>
                <a:latin typeface="メイリオ"/>
              </a:rPr>
              <a:t>背景色の倍率</a:t>
            </a:r>
          </a:p>
        </p:txBody>
      </p:sp>
      <p:sp>
        <p:nvSpPr>
          <p:cNvPr id="42" name="TextBox 41"/>
          <p:cNvSpPr txBox="1"/>
          <p:nvPr/>
        </p:nvSpPr>
        <p:spPr>
          <a:xfrm>
            <a:off x="4864608" y="3267320"/>
            <a:ext cx="4001960" cy="290000"/>
          </a:xfrm>
          <a:prstGeom prst="rect">
            <a:avLst/>
          </a:prstGeom>
          <a:noFill/>
        </p:spPr>
        <p:txBody>
          <a:bodyPr wrap="square">
            <a:spAutoFit/>
          </a:bodyPr>
          <a:lstStyle/>
          <a:p>
            <a:pPr algn="l"/>
            <a:r>
              <a:rPr sz="750" b="0">
                <a:solidFill>
                  <a:srgbClr val="ECE8F4"/>
                </a:solidFill>
                <a:latin typeface="メイリオ"/>
              </a:rPr>
              <a:t>背景が赤/金になるほど
倍率が上昇する演出設計
「赤背景＝激アツ」の直感設計</a:t>
            </a:r>
          </a:p>
        </p:txBody>
      </p:sp>
      <p:sp>
        <p:nvSpPr>
          <p:cNvPr id="43" name="Rectangle 42"/>
          <p:cNvSpPr/>
          <p:nvPr/>
        </p:nvSpPr>
        <p:spPr>
          <a:xfrm>
            <a:off x="4727448" y="3617320"/>
            <a:ext cx="4071960" cy="580000"/>
          </a:xfrm>
          <a:prstGeom prst="rect">
            <a:avLst/>
          </a:prstGeom>
          <a:solidFill>
            <a:srgbClr val="100828"/>
          </a:solidFill>
          <a:ln w="1270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27448" y="3617320"/>
            <a:ext cx="20000" cy="58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64608" y="3647320"/>
            <a:ext cx="4001960" cy="240000"/>
          </a:xfrm>
          <a:prstGeom prst="rect">
            <a:avLst/>
          </a:prstGeom>
          <a:noFill/>
        </p:spPr>
        <p:txBody>
          <a:bodyPr wrap="square">
            <a:spAutoFit/>
          </a:bodyPr>
          <a:lstStyle/>
          <a:p>
            <a:pPr algn="l"/>
            <a:r>
              <a:rPr sz="850" b="1">
                <a:solidFill>
                  <a:srgbClr val="22AACC"/>
                </a:solidFill>
                <a:latin typeface="メイリオ"/>
              </a:rPr>
              <a:t>100Gカウンター到達</a:t>
            </a:r>
          </a:p>
        </p:txBody>
      </p:sp>
      <p:sp>
        <p:nvSpPr>
          <p:cNvPr id="46" name="TextBox 45"/>
          <p:cNvSpPr txBox="1"/>
          <p:nvPr/>
        </p:nvSpPr>
        <p:spPr>
          <a:xfrm>
            <a:off x="4864608" y="3887320"/>
            <a:ext cx="4001960" cy="290000"/>
          </a:xfrm>
          <a:prstGeom prst="rect">
            <a:avLst/>
          </a:prstGeom>
          <a:noFill/>
        </p:spPr>
        <p:txBody>
          <a:bodyPr wrap="square">
            <a:spAutoFit/>
          </a:bodyPr>
          <a:lstStyle/>
          <a:p>
            <a:pPr algn="l"/>
            <a:r>
              <a:rPr sz="750" b="0">
                <a:solidFill>
                  <a:srgbClr val="ECE8F4"/>
                </a:solidFill>
                <a:latin typeface="メイリオ"/>
              </a:rPr>
              <a:t>G数カウンターが100Gに達すると
以降のG数上乗せがすべて
セットストックに変換</a:t>
            </a:r>
          </a:p>
        </p:txBody>
      </p:sp>
      <p:sp>
        <p:nvSpPr>
          <p:cNvPr id="47" name="Rectangle 46"/>
          <p:cNvSpPr/>
          <p:nvPr/>
        </p:nvSpPr>
        <p:spPr>
          <a:xfrm>
            <a:off x="0" y="4663440"/>
            <a:ext cx="9144000" cy="380000"/>
          </a:xfrm>
          <a:prstGeom prst="rect">
            <a:avLst/>
          </a:prstGeom>
          <a:solidFill>
            <a:srgbClr val="0603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0" y="4663440"/>
            <a:ext cx="20000" cy="38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01168" y="4703440"/>
            <a:ext cx="5486400" cy="160000"/>
          </a:xfrm>
          <a:prstGeom prst="rect">
            <a:avLst/>
          </a:prstGeom>
          <a:noFill/>
        </p:spPr>
        <p:txBody>
          <a:bodyPr wrap="square">
            <a:spAutoFit/>
          </a:bodyPr>
          <a:lstStyle/>
          <a:p>
            <a:pPr algn="l"/>
            <a:r>
              <a:rPr sz="750" b="1">
                <a:solidFill>
                  <a:srgbClr val="FF4466"/>
                </a:solidFill>
                <a:latin typeface="メイリオ"/>
              </a:rPr>
              <a:t>設計コメント：「ボーナスを引いてATを強化（貫通型）」と「クライマックス・レヴューで上乗せ（特化ゾーン）」の二本柱で出玉を伸ばす</a:t>
            </a:r>
          </a:p>
        </p:txBody>
      </p:sp>
      <p:sp>
        <p:nvSpPr>
          <p:cNvPr id="50" name="TextBox 49"/>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補足：100G到達後のセットストック変換はAT継続セット数の積み増し設計。G数が消化されるほど枚数ではなく「継続」として蓄積される</a:t>
            </a:r>
          </a:p>
        </p:txBody>
      </p:sp>
      <p:sp>
        <p:nvSpPr>
          <p:cNvPr id="51" name="TextBox 50"/>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C8A840"/>
                </a:solidFill>
                <a:latin typeface="游明朝"/>
              </a:rPr>
              <a:t>上位ATへの道と遊び方 ── レヴューデュエット・星罪のレヴュー・舞台効果</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6/9</a:t>
            </a:r>
          </a:p>
        </p:txBody>
      </p:sp>
      <p:sp>
        <p:nvSpPr>
          <p:cNvPr id="7" name="Rectangle 6"/>
          <p:cNvSpPr/>
          <p:nvPr/>
        </p:nvSpPr>
        <p:spPr>
          <a:xfrm>
            <a:off x="0" y="530352"/>
            <a:ext cx="9144000" cy="7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21792"/>
            <a:ext cx="8631936" cy="500000"/>
          </a:xfrm>
          <a:prstGeom prst="rect">
            <a:avLst/>
          </a:prstGeom>
          <a:solidFill>
            <a:srgbClr val="140828"/>
          </a:solidFill>
          <a:ln w="19050">
            <a:solidFill>
              <a:srgbClr val="CC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621792"/>
            <a:ext cx="45000" cy="500000"/>
          </a:xfrm>
          <a:prstGeom prst="rect">
            <a:avLst/>
          </a:prstGeom>
          <a:solidFill>
            <a:srgbClr val="CC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58368"/>
            <a:ext cx="8229600" cy="240000"/>
          </a:xfrm>
          <a:prstGeom prst="rect">
            <a:avLst/>
          </a:prstGeom>
          <a:noFill/>
        </p:spPr>
        <p:txBody>
          <a:bodyPr wrap="square">
            <a:spAutoFit/>
          </a:bodyPr>
          <a:lstStyle/>
          <a:p>
            <a:pPr algn="l"/>
            <a:r>
              <a:rPr sz="1000" b="1">
                <a:solidFill>
                  <a:srgbClr val="CC44AA"/>
                </a:solidFill>
                <a:latin typeface="游明朝"/>
              </a:rPr>
              <a:t>舞台効果（3種）── AT中に発動しATの性能を段階的に強化する</a:t>
            </a:r>
          </a:p>
        </p:txBody>
      </p:sp>
      <p:sp>
        <p:nvSpPr>
          <p:cNvPr id="11" name="Rectangle 10"/>
          <p:cNvSpPr/>
          <p:nvPr/>
        </p:nvSpPr>
        <p:spPr>
          <a:xfrm>
            <a:off x="548640" y="932688"/>
            <a:ext cx="2377440" cy="930000"/>
          </a:xfrm>
          <a:prstGeom prst="rect">
            <a:avLst/>
          </a:prstGeom>
          <a:solidFill>
            <a:srgbClr val="080620"/>
          </a:solidFill>
          <a:ln w="2540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932688"/>
            <a:ext cx="2377440" cy="180000"/>
          </a:xfrm>
          <a:prstGeom prst="rect">
            <a:avLst/>
          </a:prstGeom>
          <a:solidFill>
            <a:srgbClr val="0C0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932688"/>
            <a:ext cx="30000" cy="930000"/>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8640" y="962688"/>
            <a:ext cx="2307440" cy="150000"/>
          </a:xfrm>
          <a:prstGeom prst="rect">
            <a:avLst/>
          </a:prstGeom>
          <a:noFill/>
        </p:spPr>
        <p:txBody>
          <a:bodyPr wrap="square">
            <a:spAutoFit/>
          </a:bodyPr>
          <a:lstStyle/>
          <a:p>
            <a:pPr algn="ctr"/>
            <a:r>
              <a:rPr sz="1000" b="1">
                <a:solidFill>
                  <a:srgbClr val="FF4466"/>
                </a:solidFill>
                <a:latin typeface="メイリオ"/>
              </a:rPr>
              <a:t>スポットライト</a:t>
            </a:r>
          </a:p>
        </p:txBody>
      </p:sp>
      <p:sp>
        <p:nvSpPr>
          <p:cNvPr id="15" name="TextBox 14"/>
          <p:cNvSpPr txBox="1"/>
          <p:nvPr/>
        </p:nvSpPr>
        <p:spPr>
          <a:xfrm>
            <a:off x="578640" y="1142688"/>
            <a:ext cx="2317440" cy="670000"/>
          </a:xfrm>
          <a:prstGeom prst="rect">
            <a:avLst/>
          </a:prstGeom>
          <a:noFill/>
        </p:spPr>
        <p:txBody>
          <a:bodyPr wrap="square">
            <a:spAutoFit/>
          </a:bodyPr>
          <a:lstStyle/>
          <a:p>
            <a:pPr algn="ctr"/>
            <a:r>
              <a:rPr sz="900" b="0">
                <a:solidFill>
                  <a:srgbClr val="ECE8F4"/>
                </a:solidFill>
                <a:latin typeface="メイリオ"/>
              </a:rPr>
              <a:t>レア役で
100%G数上乗せ
常時発動</a:t>
            </a:r>
          </a:p>
        </p:txBody>
      </p:sp>
      <p:sp>
        <p:nvSpPr>
          <p:cNvPr id="16" name="Rectangle 15"/>
          <p:cNvSpPr/>
          <p:nvPr/>
        </p:nvSpPr>
        <p:spPr>
          <a:xfrm>
            <a:off x="3383280" y="932688"/>
            <a:ext cx="2377440" cy="930000"/>
          </a:xfrm>
          <a:prstGeom prst="rect">
            <a:avLst/>
          </a:prstGeom>
          <a:solidFill>
            <a:srgbClr val="080620"/>
          </a:solidFill>
          <a:ln w="254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83280" y="932688"/>
            <a:ext cx="2377440" cy="180000"/>
          </a:xfrm>
          <a:prstGeom prst="rect">
            <a:avLst/>
          </a:prstGeom>
          <a:solidFill>
            <a:srgbClr val="0C0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83280" y="932688"/>
            <a:ext cx="30000" cy="93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33280" y="962688"/>
            <a:ext cx="2307440" cy="150000"/>
          </a:xfrm>
          <a:prstGeom prst="rect">
            <a:avLst/>
          </a:prstGeom>
          <a:noFill/>
        </p:spPr>
        <p:txBody>
          <a:bodyPr wrap="square">
            <a:spAutoFit/>
          </a:bodyPr>
          <a:lstStyle/>
          <a:p>
            <a:pPr algn="ctr"/>
            <a:r>
              <a:rPr sz="1000" b="1">
                <a:solidFill>
                  <a:srgbClr val="C8A840"/>
                </a:solidFill>
                <a:latin typeface="メイリオ"/>
              </a:rPr>
              <a:t>ロンド</a:t>
            </a:r>
          </a:p>
        </p:txBody>
      </p:sp>
      <p:sp>
        <p:nvSpPr>
          <p:cNvPr id="20" name="TextBox 19"/>
          <p:cNvSpPr txBox="1"/>
          <p:nvPr/>
        </p:nvSpPr>
        <p:spPr>
          <a:xfrm>
            <a:off x="3413280" y="1142688"/>
            <a:ext cx="2317440" cy="670000"/>
          </a:xfrm>
          <a:prstGeom prst="rect">
            <a:avLst/>
          </a:prstGeom>
          <a:noFill/>
        </p:spPr>
        <p:txBody>
          <a:bodyPr wrap="square">
            <a:spAutoFit/>
          </a:bodyPr>
          <a:lstStyle/>
          <a:p>
            <a:pPr algn="ctr"/>
            <a:r>
              <a:rPr sz="900" b="0">
                <a:solidFill>
                  <a:srgbClr val="ECE8F4"/>
                </a:solidFill>
                <a:latin typeface="メイリオ"/>
              </a:rPr>
              <a:t>セットストック発生時
70%で特殊ループ
継続重視</a:t>
            </a:r>
          </a:p>
        </p:txBody>
      </p:sp>
      <p:sp>
        <p:nvSpPr>
          <p:cNvPr id="21" name="Rectangle 20"/>
          <p:cNvSpPr/>
          <p:nvPr/>
        </p:nvSpPr>
        <p:spPr>
          <a:xfrm>
            <a:off x="6217920" y="932688"/>
            <a:ext cx="2377440" cy="930000"/>
          </a:xfrm>
          <a:prstGeom prst="rect">
            <a:avLst/>
          </a:prstGeom>
          <a:solidFill>
            <a:srgbClr val="080620"/>
          </a:solidFill>
          <a:ln w="25400">
            <a:solidFill>
              <a:srgbClr val="22AA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217920" y="932688"/>
            <a:ext cx="2377440" cy="180000"/>
          </a:xfrm>
          <a:prstGeom prst="rect">
            <a:avLst/>
          </a:prstGeom>
          <a:solidFill>
            <a:srgbClr val="0C06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932688"/>
            <a:ext cx="30000" cy="93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7920" y="962688"/>
            <a:ext cx="2307440" cy="150000"/>
          </a:xfrm>
          <a:prstGeom prst="rect">
            <a:avLst/>
          </a:prstGeom>
          <a:noFill/>
        </p:spPr>
        <p:txBody>
          <a:bodyPr wrap="square">
            <a:spAutoFit/>
          </a:bodyPr>
          <a:lstStyle/>
          <a:p>
            <a:pPr algn="ctr"/>
            <a:r>
              <a:rPr sz="1000" b="1">
                <a:solidFill>
                  <a:srgbClr val="22AACC"/>
                </a:solidFill>
                <a:latin typeface="メイリオ"/>
              </a:rPr>
              <a:t>トップスター</a:t>
            </a:r>
          </a:p>
        </p:txBody>
      </p:sp>
      <p:sp>
        <p:nvSpPr>
          <p:cNvPr id="25" name="TextBox 24"/>
          <p:cNvSpPr txBox="1"/>
          <p:nvPr/>
        </p:nvSpPr>
        <p:spPr>
          <a:xfrm>
            <a:off x="6247920" y="1142688"/>
            <a:ext cx="2317440" cy="670000"/>
          </a:xfrm>
          <a:prstGeom prst="rect">
            <a:avLst/>
          </a:prstGeom>
          <a:noFill/>
        </p:spPr>
        <p:txBody>
          <a:bodyPr wrap="square">
            <a:spAutoFit/>
          </a:bodyPr>
          <a:lstStyle/>
          <a:p>
            <a:pPr algn="ctr"/>
            <a:r>
              <a:rPr sz="900" b="0">
                <a:solidFill>
                  <a:srgbClr val="ECE8F4"/>
                </a:solidFill>
                <a:latin typeface="メイリオ"/>
              </a:rPr>
              <a:t>ボーナスランクが
改善・強化
上位ATへの鍵</a:t>
            </a:r>
          </a:p>
        </p:txBody>
      </p:sp>
      <p:sp>
        <p:nvSpPr>
          <p:cNvPr id="26" name="TextBox 25"/>
          <p:cNvSpPr txBox="1"/>
          <p:nvPr/>
        </p:nvSpPr>
        <p:spPr>
          <a:xfrm>
            <a:off x="256032" y="2057400"/>
            <a:ext cx="8595360" cy="220000"/>
          </a:xfrm>
          <a:prstGeom prst="rect">
            <a:avLst/>
          </a:prstGeom>
          <a:noFill/>
        </p:spPr>
        <p:txBody>
          <a:bodyPr wrap="square">
            <a:spAutoFit/>
          </a:bodyPr>
          <a:lstStyle/>
          <a:p>
            <a:pPr algn="l"/>
            <a:r>
              <a:rPr sz="900" b="1">
                <a:solidFill>
                  <a:srgbClr val="C8A840"/>
                </a:solidFill>
                <a:latin typeface="メイリオ"/>
              </a:rPr>
              <a:t>▶ 2種の上位AT ── 目指す頂点は2つある</a:t>
            </a:r>
          </a:p>
        </p:txBody>
      </p:sp>
      <p:sp>
        <p:nvSpPr>
          <p:cNvPr id="27" name="Rectangle 26"/>
          <p:cNvSpPr/>
          <p:nvPr/>
        </p:nvSpPr>
        <p:spPr>
          <a:xfrm>
            <a:off x="256032" y="2249424"/>
            <a:ext cx="4114800" cy="2020000"/>
          </a:xfrm>
          <a:prstGeom prst="rect">
            <a:avLst/>
          </a:prstGeom>
          <a:solidFill>
            <a:srgbClr val="080620"/>
          </a:solidFill>
          <a:ln w="2540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256032" y="2249424"/>
            <a:ext cx="45000" cy="202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01032" y="2249424"/>
            <a:ext cx="4069800" cy="340000"/>
          </a:xfrm>
          <a:prstGeom prst="rect">
            <a:avLst/>
          </a:prstGeom>
          <a:solidFill>
            <a:srgbClr val="180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57200" y="2309424"/>
            <a:ext cx="4014800" cy="270000"/>
          </a:xfrm>
          <a:prstGeom prst="rect">
            <a:avLst/>
          </a:prstGeom>
          <a:noFill/>
        </p:spPr>
        <p:txBody>
          <a:bodyPr wrap="square">
            <a:spAutoFit/>
          </a:bodyPr>
          <a:lstStyle/>
          <a:p>
            <a:pPr algn="l"/>
            <a:r>
              <a:rPr sz="1100" b="1">
                <a:solidFill>
                  <a:srgbClr val="CC2244"/>
                </a:solidFill>
                <a:latin typeface="游明朝"/>
              </a:rPr>
              <a:t>上位AT①「レヴューデュエット」（上乗せ特化）</a:t>
            </a:r>
          </a:p>
        </p:txBody>
      </p:sp>
      <p:sp>
        <p:nvSpPr>
          <p:cNvPr id="31" name="TextBox 30"/>
          <p:cNvSpPr txBox="1"/>
          <p:nvPr/>
        </p:nvSpPr>
        <p:spPr>
          <a:xfrm>
            <a:off x="457200" y="2629424"/>
            <a:ext cx="4014800" cy="1600000"/>
          </a:xfrm>
          <a:prstGeom prst="rect">
            <a:avLst/>
          </a:prstGeom>
          <a:noFill/>
        </p:spPr>
        <p:txBody>
          <a:bodyPr wrap="square">
            <a:spAutoFit/>
          </a:bodyPr>
          <a:lstStyle/>
          <a:p>
            <a:pPr algn="l"/>
            <a:r>
              <a:rPr sz="800" b="0">
                <a:solidFill>
                  <a:srgbClr val="ECE8F4"/>
                </a:solidFill>
                <a:latin typeface="メイリオ"/>
              </a:rPr>
              <a:t>■ 上乗せ発生率：約1/13（通常ATより格段にアップ）
■ 突入契機：AT初当たり時の一部 / セットストック当選後の一部 /
　　　　　　CZ成功時の一部 / BIG消化中の一部
■ 特徴：「キラめき目」が必ず発生するとレア役扱いとなり
　　　　さらなる上乗せが連発。出玉が最も速く増える状態
■ AT中のボーナス→舞台効果→デュエット突入が理想ルート</a:t>
            </a:r>
          </a:p>
        </p:txBody>
      </p:sp>
      <p:sp>
        <p:nvSpPr>
          <p:cNvPr id="32" name="Rectangle 31"/>
          <p:cNvSpPr/>
          <p:nvPr/>
        </p:nvSpPr>
        <p:spPr>
          <a:xfrm>
            <a:off x="4617720" y="2249424"/>
            <a:ext cx="4251960" cy="2020000"/>
          </a:xfrm>
          <a:prstGeom prst="rect">
            <a:avLst/>
          </a:prstGeom>
          <a:solidFill>
            <a:srgbClr val="080620"/>
          </a:solidFill>
          <a:ln w="254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617720" y="2249424"/>
            <a:ext cx="45000" cy="202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662720" y="2249424"/>
            <a:ext cx="4206960" cy="340000"/>
          </a:xfrm>
          <a:prstGeom prst="rect">
            <a:avLst/>
          </a:prstGeom>
          <a:solidFill>
            <a:srgbClr val="16100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18888" y="2309424"/>
            <a:ext cx="4151960" cy="270000"/>
          </a:xfrm>
          <a:prstGeom prst="rect">
            <a:avLst/>
          </a:prstGeom>
          <a:noFill/>
        </p:spPr>
        <p:txBody>
          <a:bodyPr wrap="square">
            <a:spAutoFit/>
          </a:bodyPr>
          <a:lstStyle/>
          <a:p>
            <a:pPr algn="l"/>
            <a:r>
              <a:rPr sz="1100" b="1">
                <a:solidFill>
                  <a:srgbClr val="C8A840"/>
                </a:solidFill>
                <a:latin typeface="游明朝"/>
              </a:rPr>
              <a:t>上位AT②「星罪のレヴュー」（高ループ型・最上位）</a:t>
            </a:r>
          </a:p>
        </p:txBody>
      </p:sp>
      <p:sp>
        <p:nvSpPr>
          <p:cNvPr id="36" name="TextBox 35"/>
          <p:cNvSpPr txBox="1"/>
          <p:nvPr/>
        </p:nvSpPr>
        <p:spPr>
          <a:xfrm>
            <a:off x="4818888" y="2629424"/>
            <a:ext cx="4151960" cy="1600000"/>
          </a:xfrm>
          <a:prstGeom prst="rect">
            <a:avLst/>
          </a:prstGeom>
          <a:noFill/>
        </p:spPr>
        <p:txBody>
          <a:bodyPr wrap="square">
            <a:spAutoFit/>
          </a:bodyPr>
          <a:lstStyle/>
          <a:p>
            <a:pPr algn="l"/>
            <a:r>
              <a:rPr sz="800" b="0">
                <a:solidFill>
                  <a:srgbClr val="ECE8F4"/>
                </a:solidFill>
                <a:latin typeface="メイリオ"/>
              </a:rPr>
              <a:t>■ 継続期待度：約90%（高ループ型の最上位AT）
■ 突入契機：エピソード「されど舞台はつづく」終了後 /
　　　　　　AT規定セット終了時の抽選 /
　　　　　　レヴューデュエット中のBBの一部
■ 特徴：突入前に保持しているストックが全て上位ATのループ
　　　　ストックに変換される。ジャッジパートでのストック
　　　　獲得率が大幅に上昇し、実質的な長期継続ATとなる</a:t>
            </a:r>
          </a:p>
        </p:txBody>
      </p:sp>
      <p:sp>
        <p:nvSpPr>
          <p:cNvPr id="37" name="Rectangle 36"/>
          <p:cNvSpPr/>
          <p:nvPr/>
        </p:nvSpPr>
        <p:spPr>
          <a:xfrm>
            <a:off x="0" y="4663440"/>
            <a:ext cx="9144000" cy="380000"/>
          </a:xfrm>
          <a:prstGeom prst="rect">
            <a:avLst/>
          </a:prstGeom>
          <a:solidFill>
            <a:srgbClr val="0603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0" y="4663440"/>
            <a:ext cx="20000" cy="38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01168" y="4703440"/>
            <a:ext cx="5486400" cy="160000"/>
          </a:xfrm>
          <a:prstGeom prst="rect">
            <a:avLst/>
          </a:prstGeom>
          <a:noFill/>
        </p:spPr>
        <p:txBody>
          <a:bodyPr wrap="square">
            <a:spAutoFit/>
          </a:bodyPr>
          <a:lstStyle/>
          <a:p>
            <a:pPr algn="l"/>
            <a:r>
              <a:rPr sz="750" b="1">
                <a:solidFill>
                  <a:srgbClr val="FF4466"/>
                </a:solidFill>
                <a:latin typeface="メイリオ"/>
              </a:rPr>
              <a:t>設計コメント：舞台効果3種×上位AT2種の組み合わせがAT中の「今どの強さか」を体感させる多層構造</a:t>
            </a:r>
          </a:p>
        </p:txBody>
      </p:sp>
      <p:sp>
        <p:nvSpPr>
          <p:cNvPr id="40" name="TextBox 39"/>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補足：レヴューデュエット=短期爆発型、星罪のレヴュー=長期継続型と、性格の異なる上位ATを2つ用意した設計</a:t>
            </a:r>
          </a:p>
        </p:txBody>
      </p:sp>
      <p:sp>
        <p:nvSpPr>
          <p:cNvPr id="41" name="TextBox 40"/>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C8A840"/>
                </a:solidFill>
                <a:latin typeface="游明朝"/>
              </a:rPr>
              <a:t>Part B 分析 ── 面白さの設計（舞台演劇×パチスロの融合・貫通型ATの独自性）</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7/9</a:t>
            </a:r>
          </a:p>
        </p:txBody>
      </p:sp>
      <p:sp>
        <p:nvSpPr>
          <p:cNvPr id="7" name="Rectangle 6"/>
          <p:cNvSpPr/>
          <p:nvPr/>
        </p:nvSpPr>
        <p:spPr>
          <a:xfrm>
            <a:off x="0" y="530352"/>
            <a:ext cx="9144000" cy="7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8631936" cy="280000"/>
          </a:xfrm>
          <a:prstGeom prst="rect">
            <a:avLst/>
          </a:prstGeom>
          <a:solidFill>
            <a:srgbClr val="44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676656"/>
            <a:ext cx="8229600" cy="250000"/>
          </a:xfrm>
          <a:prstGeom prst="rect">
            <a:avLst/>
          </a:prstGeom>
          <a:noFill/>
        </p:spPr>
        <p:txBody>
          <a:bodyPr wrap="square">
            <a:spAutoFit/>
          </a:bodyPr>
          <a:lstStyle/>
          <a:p>
            <a:pPr algn="l"/>
            <a:r>
              <a:rPr sz="900" b="1">
                <a:solidFill>
                  <a:srgbClr val="FF4466"/>
                </a:solidFill>
                <a:latin typeface="メイリオ"/>
              </a:rPr>
              <a:t>核心：「舞台少女たちの演じ合い（レヴュー）」がゲーム進行そのものになっている世界観融合設計</a:t>
            </a:r>
          </a:p>
        </p:txBody>
      </p:sp>
      <p:sp>
        <p:nvSpPr>
          <p:cNvPr id="10" name="Rectangle 9"/>
          <p:cNvSpPr/>
          <p:nvPr/>
        </p:nvSpPr>
        <p:spPr>
          <a:xfrm>
            <a:off x="256032" y="1005840"/>
            <a:ext cx="4114800" cy="3200000"/>
          </a:xfrm>
          <a:prstGeom prst="rect">
            <a:avLst/>
          </a:prstGeom>
          <a:solidFill>
            <a:srgbClr val="080620"/>
          </a:solidFill>
          <a:ln w="1905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1005840"/>
            <a:ext cx="45000" cy="320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32" y="1055840"/>
            <a:ext cx="4014800" cy="270000"/>
          </a:xfrm>
          <a:prstGeom prst="rect">
            <a:avLst/>
          </a:prstGeom>
          <a:noFill/>
        </p:spPr>
        <p:txBody>
          <a:bodyPr wrap="square">
            <a:spAutoFit/>
          </a:bodyPr>
          <a:lstStyle/>
          <a:p>
            <a:pPr algn="l"/>
            <a:r>
              <a:rPr sz="1000" b="1">
                <a:solidFill>
                  <a:srgbClr val="CC2244"/>
                </a:solidFill>
                <a:latin typeface="游明朝"/>
              </a:rPr>
              <a:t>貫通型ATという設計的発明</a:t>
            </a:r>
          </a:p>
        </p:txBody>
      </p:sp>
      <p:sp>
        <p:nvSpPr>
          <p:cNvPr id="13" name="Rectangle 12"/>
          <p:cNvSpPr/>
          <p:nvPr/>
        </p:nvSpPr>
        <p:spPr>
          <a:xfrm>
            <a:off x="306032" y="1335840"/>
            <a:ext cx="4014800" cy="680000"/>
          </a:xfrm>
          <a:prstGeom prst="rect">
            <a:avLst/>
          </a:prstGeom>
          <a:solidFill>
            <a:srgbClr val="100828"/>
          </a:solidFill>
          <a:ln w="15240">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6032" y="1335840"/>
            <a:ext cx="30000" cy="680000"/>
          </a:xfrm>
          <a:prstGeom prst="rect">
            <a:avLst/>
          </a:prstGeom>
          <a:solidFill>
            <a:srgbClr val="44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76032" y="1395840"/>
            <a:ext cx="3914800" cy="250000"/>
          </a:xfrm>
          <a:prstGeom prst="rect">
            <a:avLst/>
          </a:prstGeom>
          <a:noFill/>
        </p:spPr>
        <p:txBody>
          <a:bodyPr wrap="square">
            <a:spAutoFit/>
          </a:bodyPr>
          <a:lstStyle/>
          <a:p>
            <a:pPr algn="l"/>
            <a:r>
              <a:rPr sz="900" b="1">
                <a:solidFill>
                  <a:srgbClr val="444466"/>
                </a:solidFill>
                <a:latin typeface="メイリオ"/>
              </a:rPr>
              <a:t>一般的なAT</a:t>
            </a:r>
          </a:p>
        </p:txBody>
      </p:sp>
      <p:sp>
        <p:nvSpPr>
          <p:cNvPr id="16" name="TextBox 15"/>
          <p:cNvSpPr txBox="1"/>
          <p:nvPr/>
        </p:nvSpPr>
        <p:spPr>
          <a:xfrm>
            <a:off x="376032" y="1645840"/>
            <a:ext cx="3914800" cy="320000"/>
          </a:xfrm>
          <a:prstGeom prst="rect">
            <a:avLst/>
          </a:prstGeom>
          <a:noFill/>
        </p:spPr>
        <p:txBody>
          <a:bodyPr wrap="square">
            <a:spAutoFit/>
          </a:bodyPr>
          <a:lstStyle/>
          <a:p>
            <a:pPr algn="l"/>
            <a:r>
              <a:rPr sz="800" b="0">
                <a:solidFill>
                  <a:srgbClr val="ECE8F4"/>
                </a:solidFill>
                <a:latin typeface="メイリオ"/>
              </a:rPr>
              <a:t>G数が減るだけ → 上乗せ待ちの受動的体験
ボーナスはAT前後にしか意味を持たない</a:t>
            </a:r>
          </a:p>
        </p:txBody>
      </p:sp>
      <p:sp>
        <p:nvSpPr>
          <p:cNvPr id="17" name="Rectangle 16"/>
          <p:cNvSpPr/>
          <p:nvPr/>
        </p:nvSpPr>
        <p:spPr>
          <a:xfrm>
            <a:off x="306032" y="2065840"/>
            <a:ext cx="4014800" cy="680000"/>
          </a:xfrm>
          <a:prstGeom prst="rect">
            <a:avLst/>
          </a:prstGeom>
          <a:solidFill>
            <a:srgbClr val="100828"/>
          </a:solidFill>
          <a:ln w="1524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06032" y="2065840"/>
            <a:ext cx="30000" cy="68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6032" y="2125840"/>
            <a:ext cx="3914800" cy="250000"/>
          </a:xfrm>
          <a:prstGeom prst="rect">
            <a:avLst/>
          </a:prstGeom>
          <a:noFill/>
        </p:spPr>
        <p:txBody>
          <a:bodyPr wrap="square">
            <a:spAutoFit/>
          </a:bodyPr>
          <a:lstStyle/>
          <a:p>
            <a:pPr algn="l"/>
            <a:r>
              <a:rPr sz="900" b="1">
                <a:solidFill>
                  <a:srgbClr val="CC2244"/>
                </a:solidFill>
                <a:latin typeface="メイリオ"/>
              </a:rPr>
              <a:t>貫通型AT（本機）</a:t>
            </a:r>
          </a:p>
        </p:txBody>
      </p:sp>
      <p:sp>
        <p:nvSpPr>
          <p:cNvPr id="20" name="TextBox 19"/>
          <p:cNvSpPr txBox="1"/>
          <p:nvPr/>
        </p:nvSpPr>
        <p:spPr>
          <a:xfrm>
            <a:off x="376032" y="2375840"/>
            <a:ext cx="3914800" cy="320000"/>
          </a:xfrm>
          <a:prstGeom prst="rect">
            <a:avLst/>
          </a:prstGeom>
          <a:noFill/>
        </p:spPr>
        <p:txBody>
          <a:bodyPr wrap="square">
            <a:spAutoFit/>
          </a:bodyPr>
          <a:lstStyle/>
          <a:p>
            <a:pPr algn="l"/>
            <a:r>
              <a:rPr sz="800" b="0">
                <a:solidFill>
                  <a:srgbClr val="ECE8F4"/>
                </a:solidFill>
                <a:latin typeface="メイリオ"/>
              </a:rPr>
              <a:t>AT中にボーナスを引くほどATが強化される
ボーナス当選自体が「強化のイベント」になる</a:t>
            </a:r>
          </a:p>
        </p:txBody>
      </p:sp>
      <p:sp>
        <p:nvSpPr>
          <p:cNvPr id="21" name="TextBox 20"/>
          <p:cNvSpPr txBox="1"/>
          <p:nvPr/>
        </p:nvSpPr>
        <p:spPr>
          <a:xfrm>
            <a:off x="316032" y="2875840"/>
            <a:ext cx="4014800" cy="220000"/>
          </a:xfrm>
          <a:prstGeom prst="rect">
            <a:avLst/>
          </a:prstGeom>
          <a:noFill/>
        </p:spPr>
        <p:txBody>
          <a:bodyPr wrap="square">
            <a:spAutoFit/>
          </a:bodyPr>
          <a:lstStyle/>
          <a:p>
            <a:pPr algn="l"/>
            <a:r>
              <a:rPr sz="850" b="1">
                <a:solidFill>
                  <a:srgbClr val="FF4466"/>
                </a:solidFill>
                <a:latin typeface="メイリオ"/>
              </a:rPr>
              <a:t>生まれる心理効果</a:t>
            </a:r>
          </a:p>
        </p:txBody>
      </p:sp>
      <p:sp>
        <p:nvSpPr>
          <p:cNvPr id="22" name="TextBox 21"/>
          <p:cNvSpPr txBox="1"/>
          <p:nvPr/>
        </p:nvSpPr>
        <p:spPr>
          <a:xfrm>
            <a:off x="316032" y="3115840"/>
            <a:ext cx="4014800" cy="260000"/>
          </a:xfrm>
          <a:prstGeom prst="rect">
            <a:avLst/>
          </a:prstGeom>
          <a:noFill/>
        </p:spPr>
        <p:txBody>
          <a:bodyPr wrap="square">
            <a:spAutoFit/>
          </a:bodyPr>
          <a:lstStyle/>
          <a:p>
            <a:pPr algn="l"/>
            <a:r>
              <a:rPr sz="800" b="0">
                <a:solidFill>
                  <a:srgbClr val="ECE8F4"/>
                </a:solidFill>
                <a:latin typeface="メイリオ"/>
              </a:rPr>
              <a:t>① AT中に「次のボーナスを期待する」能動的参加感</a:t>
            </a:r>
          </a:p>
        </p:txBody>
      </p:sp>
      <p:sp>
        <p:nvSpPr>
          <p:cNvPr id="23" name="TextBox 22"/>
          <p:cNvSpPr txBox="1"/>
          <p:nvPr/>
        </p:nvSpPr>
        <p:spPr>
          <a:xfrm>
            <a:off x="316032" y="3405840"/>
            <a:ext cx="4014800" cy="260000"/>
          </a:xfrm>
          <a:prstGeom prst="rect">
            <a:avLst/>
          </a:prstGeom>
          <a:noFill/>
        </p:spPr>
        <p:txBody>
          <a:bodyPr wrap="square">
            <a:spAutoFit/>
          </a:bodyPr>
          <a:lstStyle/>
          <a:p>
            <a:pPr algn="l"/>
            <a:r>
              <a:rPr sz="800" b="0">
                <a:solidFill>
                  <a:srgbClr val="ECE8F4"/>
                </a:solidFill>
                <a:latin typeface="メイリオ"/>
              </a:rPr>
              <a:t>② ボーナスが引けるたびに「AT進化」の達成感</a:t>
            </a:r>
          </a:p>
        </p:txBody>
      </p:sp>
      <p:sp>
        <p:nvSpPr>
          <p:cNvPr id="24" name="TextBox 23"/>
          <p:cNvSpPr txBox="1"/>
          <p:nvPr/>
        </p:nvSpPr>
        <p:spPr>
          <a:xfrm>
            <a:off x="316032" y="3695840"/>
            <a:ext cx="4014800" cy="260000"/>
          </a:xfrm>
          <a:prstGeom prst="rect">
            <a:avLst/>
          </a:prstGeom>
          <a:noFill/>
        </p:spPr>
        <p:txBody>
          <a:bodyPr wrap="square">
            <a:spAutoFit/>
          </a:bodyPr>
          <a:lstStyle/>
          <a:p>
            <a:pPr algn="l"/>
            <a:r>
              <a:rPr sz="800" b="0">
                <a:solidFill>
                  <a:srgbClr val="ECE8F4"/>
                </a:solidFill>
                <a:latin typeface="メイリオ"/>
              </a:rPr>
              <a:t>③ 「どの舞台効果が発動するか」のドキドキ感</a:t>
            </a:r>
          </a:p>
        </p:txBody>
      </p:sp>
      <p:sp>
        <p:nvSpPr>
          <p:cNvPr id="25" name="TextBox 24"/>
          <p:cNvSpPr txBox="1"/>
          <p:nvPr/>
        </p:nvSpPr>
        <p:spPr>
          <a:xfrm>
            <a:off x="316032" y="3985840"/>
            <a:ext cx="4014800" cy="260000"/>
          </a:xfrm>
          <a:prstGeom prst="rect">
            <a:avLst/>
          </a:prstGeom>
          <a:noFill/>
        </p:spPr>
        <p:txBody>
          <a:bodyPr wrap="square">
            <a:spAutoFit/>
          </a:bodyPr>
          <a:lstStyle/>
          <a:p>
            <a:pPr algn="l"/>
            <a:r>
              <a:rPr sz="800" b="0">
                <a:solidFill>
                  <a:srgbClr val="ECE8F4"/>
                </a:solidFill>
                <a:latin typeface="メイリオ"/>
              </a:rPr>
              <a:t>④ 上位ATへ到達した時の「積み上げ報酬」感</a:t>
            </a:r>
          </a:p>
        </p:txBody>
      </p:sp>
      <p:sp>
        <p:nvSpPr>
          <p:cNvPr id="26" name="Rectangle 25"/>
          <p:cNvSpPr/>
          <p:nvPr/>
        </p:nvSpPr>
        <p:spPr>
          <a:xfrm>
            <a:off x="4617720" y="1005840"/>
            <a:ext cx="4251960" cy="3200000"/>
          </a:xfrm>
          <a:prstGeom prst="rect">
            <a:avLst/>
          </a:prstGeom>
          <a:solidFill>
            <a:srgbClr val="080620"/>
          </a:solidFill>
          <a:ln w="19050">
            <a:solidFill>
              <a:srgbClr val="CC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17720" y="1005840"/>
            <a:ext cx="45000" cy="3200000"/>
          </a:xfrm>
          <a:prstGeom prst="rect">
            <a:avLst/>
          </a:prstGeom>
          <a:solidFill>
            <a:srgbClr val="CC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92720" y="1055840"/>
            <a:ext cx="4151960" cy="270000"/>
          </a:xfrm>
          <a:prstGeom prst="rect">
            <a:avLst/>
          </a:prstGeom>
          <a:noFill/>
        </p:spPr>
        <p:txBody>
          <a:bodyPr wrap="square">
            <a:spAutoFit/>
          </a:bodyPr>
          <a:lstStyle/>
          <a:p>
            <a:pPr algn="l"/>
            <a:r>
              <a:rPr sz="1000" b="1">
                <a:solidFill>
                  <a:srgbClr val="CC44AA"/>
                </a:solidFill>
                <a:latin typeface="游明朝"/>
              </a:rPr>
              <a:t>舞台演劇×パチスロの融合設計</a:t>
            </a:r>
          </a:p>
        </p:txBody>
      </p:sp>
      <p:sp>
        <p:nvSpPr>
          <p:cNvPr id="29" name="Rectangle 28"/>
          <p:cNvSpPr/>
          <p:nvPr/>
        </p:nvSpPr>
        <p:spPr>
          <a:xfrm>
            <a:off x="4667720" y="1355840"/>
            <a:ext cx="25000" cy="660000"/>
          </a:xfrm>
          <a:prstGeom prst="rect">
            <a:avLst/>
          </a:prstGeom>
          <a:solidFill>
            <a:srgbClr val="FF77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727720" y="1385840"/>
            <a:ext cx="4091960" cy="250000"/>
          </a:xfrm>
          <a:prstGeom prst="rect">
            <a:avLst/>
          </a:prstGeom>
          <a:noFill/>
        </p:spPr>
        <p:txBody>
          <a:bodyPr wrap="square">
            <a:spAutoFit/>
          </a:bodyPr>
          <a:lstStyle/>
          <a:p>
            <a:pPr algn="l"/>
            <a:r>
              <a:rPr sz="900" b="1">
                <a:solidFill>
                  <a:srgbClr val="FF77DD"/>
                </a:solidFill>
                <a:latin typeface="メイリオ"/>
              </a:rPr>
              <a:t>「レヴュー」＝戦い＝CZ成否</a:t>
            </a:r>
          </a:p>
        </p:txBody>
      </p:sp>
      <p:sp>
        <p:nvSpPr>
          <p:cNvPr id="31" name="TextBox 30"/>
          <p:cNvSpPr txBox="1"/>
          <p:nvPr/>
        </p:nvSpPr>
        <p:spPr>
          <a:xfrm>
            <a:off x="4727720" y="1635840"/>
            <a:ext cx="4091960" cy="360000"/>
          </a:xfrm>
          <a:prstGeom prst="rect">
            <a:avLst/>
          </a:prstGeom>
          <a:noFill/>
        </p:spPr>
        <p:txBody>
          <a:bodyPr wrap="square">
            <a:spAutoFit/>
          </a:bodyPr>
          <a:lstStyle/>
          <a:p>
            <a:pPr algn="l"/>
            <a:r>
              <a:rPr sz="800" b="0">
                <a:solidFill>
                  <a:srgbClr val="ECE8F4"/>
                </a:solidFill>
                <a:latin typeface="メイリオ"/>
              </a:rPr>
              <a:t>原作の「レヴュー（演じ合い・戦い）」が
CZ「チャレンジ・レヴュー」に直結している
キャラが戦う=プレイヤーの勝負が同期する</a:t>
            </a:r>
          </a:p>
        </p:txBody>
      </p:sp>
      <p:sp>
        <p:nvSpPr>
          <p:cNvPr id="32" name="Rectangle 31"/>
          <p:cNvSpPr/>
          <p:nvPr/>
        </p:nvSpPr>
        <p:spPr>
          <a:xfrm>
            <a:off x="4667720" y="2075840"/>
            <a:ext cx="25000" cy="66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727720" y="2105840"/>
            <a:ext cx="4091960" cy="250000"/>
          </a:xfrm>
          <a:prstGeom prst="rect">
            <a:avLst/>
          </a:prstGeom>
          <a:noFill/>
        </p:spPr>
        <p:txBody>
          <a:bodyPr wrap="square">
            <a:spAutoFit/>
          </a:bodyPr>
          <a:lstStyle/>
          <a:p>
            <a:pPr algn="l"/>
            <a:r>
              <a:rPr sz="900" b="1">
                <a:solidFill>
                  <a:srgbClr val="C8A840"/>
                </a:solidFill>
                <a:latin typeface="メイリオ"/>
              </a:rPr>
              <a:t>舞台効果＝AT進化の可視化</a:t>
            </a:r>
          </a:p>
        </p:txBody>
      </p:sp>
      <p:sp>
        <p:nvSpPr>
          <p:cNvPr id="34" name="TextBox 33"/>
          <p:cNvSpPr txBox="1"/>
          <p:nvPr/>
        </p:nvSpPr>
        <p:spPr>
          <a:xfrm>
            <a:off x="4727720" y="2355840"/>
            <a:ext cx="4091960" cy="360000"/>
          </a:xfrm>
          <a:prstGeom prst="rect">
            <a:avLst/>
          </a:prstGeom>
          <a:noFill/>
        </p:spPr>
        <p:txBody>
          <a:bodyPr wrap="square">
            <a:spAutoFit/>
          </a:bodyPr>
          <a:lstStyle/>
          <a:p>
            <a:pPr algn="l"/>
            <a:r>
              <a:rPr sz="800" b="0">
                <a:solidFill>
                  <a:srgbClr val="ECE8F4"/>
                </a:solidFill>
                <a:latin typeface="メイリオ"/>
              </a:rPr>
              <a:t>「スポットライトを浴びる」「ロンド（輪舞）」
「トップスター」という舞台用語がそのままAT
強化要素の名前になっている世界観一致</a:t>
            </a:r>
          </a:p>
        </p:txBody>
      </p:sp>
      <p:sp>
        <p:nvSpPr>
          <p:cNvPr id="35" name="Rectangle 34"/>
          <p:cNvSpPr/>
          <p:nvPr/>
        </p:nvSpPr>
        <p:spPr>
          <a:xfrm>
            <a:off x="4667720" y="2795840"/>
            <a:ext cx="25000" cy="660000"/>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727720" y="2825840"/>
            <a:ext cx="4091960" cy="250000"/>
          </a:xfrm>
          <a:prstGeom prst="rect">
            <a:avLst/>
          </a:prstGeom>
          <a:noFill/>
        </p:spPr>
        <p:txBody>
          <a:bodyPr wrap="square">
            <a:spAutoFit/>
          </a:bodyPr>
          <a:lstStyle/>
          <a:p>
            <a:pPr algn="l"/>
            <a:r>
              <a:rPr sz="900" b="1">
                <a:solidFill>
                  <a:srgbClr val="FF4466"/>
                </a:solidFill>
                <a:latin typeface="メイリオ"/>
              </a:rPr>
              <a:t>キャラの出演＝CZ期待度変化</a:t>
            </a:r>
          </a:p>
        </p:txBody>
      </p:sp>
      <p:sp>
        <p:nvSpPr>
          <p:cNvPr id="37" name="TextBox 36"/>
          <p:cNvSpPr txBox="1"/>
          <p:nvPr/>
        </p:nvSpPr>
        <p:spPr>
          <a:xfrm>
            <a:off x="4727720" y="3075840"/>
            <a:ext cx="4091960" cy="360000"/>
          </a:xfrm>
          <a:prstGeom prst="rect">
            <a:avLst/>
          </a:prstGeom>
          <a:noFill/>
        </p:spPr>
        <p:txBody>
          <a:bodyPr wrap="square">
            <a:spAutoFit/>
          </a:bodyPr>
          <a:lstStyle/>
          <a:p>
            <a:pPr algn="l"/>
            <a:r>
              <a:rPr sz="800" b="0">
                <a:solidFill>
                  <a:srgbClr val="ECE8F4"/>
                </a:solidFill>
                <a:latin typeface="メイリオ"/>
              </a:rPr>
              <a:t>どのキャラが「参加する（演じる）」かで
CZの期待度が変わる。お気に入りキャラの
登場が確率的な変化要素になっている</a:t>
            </a:r>
          </a:p>
        </p:txBody>
      </p:sp>
      <p:sp>
        <p:nvSpPr>
          <p:cNvPr id="38" name="Rectangle 37"/>
          <p:cNvSpPr/>
          <p:nvPr/>
        </p:nvSpPr>
        <p:spPr>
          <a:xfrm>
            <a:off x="4667720" y="3515840"/>
            <a:ext cx="25000" cy="660000"/>
          </a:xfrm>
          <a:prstGeom prst="rect">
            <a:avLst/>
          </a:prstGeom>
          <a:solidFill>
            <a:srgbClr val="22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727720" y="3545840"/>
            <a:ext cx="4091960" cy="250000"/>
          </a:xfrm>
          <a:prstGeom prst="rect">
            <a:avLst/>
          </a:prstGeom>
          <a:noFill/>
        </p:spPr>
        <p:txBody>
          <a:bodyPr wrap="square">
            <a:spAutoFit/>
          </a:bodyPr>
          <a:lstStyle/>
          <a:p>
            <a:pPr algn="l"/>
            <a:r>
              <a:rPr sz="900" b="1">
                <a:solidFill>
                  <a:srgbClr val="22AACC"/>
                </a:solidFill>
                <a:latin typeface="メイリオ"/>
              </a:rPr>
              <a:t>「されど舞台はつづく」エンドレス</a:t>
            </a:r>
          </a:p>
        </p:txBody>
      </p:sp>
      <p:sp>
        <p:nvSpPr>
          <p:cNvPr id="40" name="TextBox 39"/>
          <p:cNvSpPr txBox="1"/>
          <p:nvPr/>
        </p:nvSpPr>
        <p:spPr>
          <a:xfrm>
            <a:off x="4727720" y="3795840"/>
            <a:ext cx="4091960" cy="360000"/>
          </a:xfrm>
          <a:prstGeom prst="rect">
            <a:avLst/>
          </a:prstGeom>
          <a:noFill/>
        </p:spPr>
        <p:txBody>
          <a:bodyPr wrap="square">
            <a:spAutoFit/>
          </a:bodyPr>
          <a:lstStyle/>
          <a:p>
            <a:pPr algn="l"/>
            <a:r>
              <a:rPr sz="800" b="0">
                <a:solidFill>
                  <a:srgbClr val="ECE8F4"/>
                </a:solidFill>
                <a:latin typeface="メイリオ"/>
              </a:rPr>
              <a:t>原作テーマ「舞台は終わらない」が
上位AT突入条件に使われている
原作ファンへのファンサービスと機能設計の融合</a:t>
            </a:r>
          </a:p>
        </p:txBody>
      </p:sp>
      <p:sp>
        <p:nvSpPr>
          <p:cNvPr id="41" name="Rectangle 40"/>
          <p:cNvSpPr/>
          <p:nvPr/>
        </p:nvSpPr>
        <p:spPr>
          <a:xfrm>
            <a:off x="0" y="4663440"/>
            <a:ext cx="9144000" cy="380000"/>
          </a:xfrm>
          <a:prstGeom prst="rect">
            <a:avLst/>
          </a:prstGeom>
          <a:solidFill>
            <a:srgbClr val="0603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0" y="4663440"/>
            <a:ext cx="20000" cy="38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201168" y="4703440"/>
            <a:ext cx="5486400" cy="160000"/>
          </a:xfrm>
          <a:prstGeom prst="rect">
            <a:avLst/>
          </a:prstGeom>
          <a:noFill/>
        </p:spPr>
        <p:txBody>
          <a:bodyPr wrap="square">
            <a:spAutoFit/>
          </a:bodyPr>
          <a:lstStyle/>
          <a:p>
            <a:pPr algn="l"/>
            <a:r>
              <a:rPr sz="750" b="1">
                <a:solidFill>
                  <a:srgbClr val="FF4466"/>
                </a:solidFill>
                <a:latin typeface="メイリオ"/>
              </a:rPr>
              <a:t>設計コメント：貫通型ATは「AT中も能動的に楽しむ」新設計。舞台用語の機能化は原作ファンとパチスロ初心者の両方を取り込む</a:t>
            </a:r>
          </a:p>
        </p:txBody>
      </p:sp>
      <p:sp>
        <p:nvSpPr>
          <p:cNvPr id="44" name="TextBox 43"/>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補足：「舞台少女が演じ合う＝レヴュー」というコンセプトがゲームフロー全体に統一的に貫かれている意欲的な世界観設計</a:t>
            </a:r>
          </a:p>
        </p:txBody>
      </p:sp>
      <p:sp>
        <p:nvSpPr>
          <p:cNvPr id="45" name="TextBox 44"/>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C8A840"/>
                </a:solidFill>
                <a:latin typeface="游明朝"/>
              </a:rPr>
              <a:t>良い点と課題 ── 独自設計の革新性 vs ユーザー評価の二極化</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8/9</a:t>
            </a:r>
          </a:p>
        </p:txBody>
      </p:sp>
      <p:sp>
        <p:nvSpPr>
          <p:cNvPr id="7" name="Rectangle 6"/>
          <p:cNvSpPr/>
          <p:nvPr/>
        </p:nvSpPr>
        <p:spPr>
          <a:xfrm>
            <a:off x="0" y="530352"/>
            <a:ext cx="9144000" cy="7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8631936" cy="540000"/>
          </a:xfrm>
          <a:prstGeom prst="rect">
            <a:avLst/>
          </a:prstGeom>
          <a:solidFill>
            <a:srgbClr val="080620"/>
          </a:solidFill>
          <a:ln w="1905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6032" y="658368"/>
            <a:ext cx="45000" cy="54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94944"/>
            <a:ext cx="8229600" cy="260000"/>
          </a:xfrm>
          <a:prstGeom prst="rect">
            <a:avLst/>
          </a:prstGeom>
          <a:noFill/>
        </p:spPr>
        <p:txBody>
          <a:bodyPr wrap="square">
            <a:spAutoFit/>
          </a:bodyPr>
          <a:lstStyle/>
          <a:p>
            <a:pPr algn="l"/>
            <a:r>
              <a:rPr sz="900" b="1">
                <a:solidFill>
                  <a:srgbClr val="FF4466"/>
                </a:solidFill>
                <a:latin typeface="游明朝"/>
              </a:rPr>
              <a:t>評価の現実：ユーザー評価2.27点（低め） vs 継続率90%・多彩な上乗せルートという設計的革新</a:t>
            </a:r>
          </a:p>
        </p:txBody>
      </p:sp>
      <p:sp>
        <p:nvSpPr>
          <p:cNvPr id="11" name="TextBox 10"/>
          <p:cNvSpPr txBox="1"/>
          <p:nvPr/>
        </p:nvSpPr>
        <p:spPr>
          <a:xfrm>
            <a:off x="457200" y="969264"/>
            <a:ext cx="8229600" cy="220000"/>
          </a:xfrm>
          <a:prstGeom prst="rect">
            <a:avLst/>
          </a:prstGeom>
          <a:noFill/>
        </p:spPr>
        <p:txBody>
          <a:bodyPr wrap="square">
            <a:spAutoFit/>
          </a:bodyPr>
          <a:lstStyle/>
          <a:p>
            <a:pPr algn="l"/>
            <a:r>
              <a:rPr sz="800" b="0">
                <a:solidFill>
                  <a:srgbClr val="ECE8F4"/>
                </a:solidFill>
                <a:latin typeface="メイリオ"/>
              </a:rPr>
              <a:t>「仕組み理解まで大変だが引けると楽しい」という声が示す通り、システム複雑性がリテラシーの壁になっている</a:t>
            </a:r>
          </a:p>
        </p:txBody>
      </p:sp>
      <p:sp>
        <p:nvSpPr>
          <p:cNvPr id="12" name="Rectangle 11"/>
          <p:cNvSpPr/>
          <p:nvPr/>
        </p:nvSpPr>
        <p:spPr>
          <a:xfrm>
            <a:off x="256032" y="1298448"/>
            <a:ext cx="4114800" cy="2750000"/>
          </a:xfrm>
          <a:prstGeom prst="rect">
            <a:avLst/>
          </a:prstGeom>
          <a:solidFill>
            <a:srgbClr val="080620"/>
          </a:solidFill>
          <a:ln w="1905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6032" y="1298448"/>
            <a:ext cx="45000" cy="275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1348448"/>
            <a:ext cx="4014800" cy="270000"/>
          </a:xfrm>
          <a:prstGeom prst="rect">
            <a:avLst/>
          </a:prstGeom>
          <a:noFill/>
        </p:spPr>
        <p:txBody>
          <a:bodyPr wrap="square">
            <a:spAutoFit/>
          </a:bodyPr>
          <a:lstStyle/>
          <a:p>
            <a:pPr algn="l"/>
            <a:r>
              <a:rPr sz="1100" b="1">
                <a:solidFill>
                  <a:srgbClr val="22CC66"/>
                </a:solidFill>
                <a:latin typeface="游明朝"/>
              </a:rPr>
              <a:t>良い点（革新性・継続性・爆発力）</a:t>
            </a:r>
          </a:p>
        </p:txBody>
      </p:sp>
      <p:sp>
        <p:nvSpPr>
          <p:cNvPr id="15" name="Rectangle 14"/>
          <p:cNvSpPr/>
          <p:nvPr/>
        </p:nvSpPr>
        <p:spPr>
          <a:xfrm>
            <a:off x="365760" y="1638448"/>
            <a:ext cx="3934800" cy="567500"/>
          </a:xfrm>
          <a:prstGeom prst="rect">
            <a:avLst/>
          </a:prstGeom>
          <a:solidFill>
            <a:srgbClr val="100828"/>
          </a:solidFill>
          <a:ln w="12700">
            <a:solidFill>
              <a:srgbClr val="22CC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65760" y="1638448"/>
            <a:ext cx="20000" cy="5675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1668448"/>
            <a:ext cx="3874800" cy="240000"/>
          </a:xfrm>
          <a:prstGeom prst="rect">
            <a:avLst/>
          </a:prstGeom>
          <a:noFill/>
        </p:spPr>
        <p:txBody>
          <a:bodyPr wrap="square">
            <a:spAutoFit/>
          </a:bodyPr>
          <a:lstStyle/>
          <a:p>
            <a:pPr algn="l"/>
            <a:r>
              <a:rPr sz="850" b="1">
                <a:solidFill>
                  <a:srgbClr val="22CC66"/>
                </a:solidFill>
                <a:latin typeface="メイリオ"/>
              </a:rPr>
              <a:t>業界初「貫通型AT」設計</a:t>
            </a:r>
          </a:p>
        </p:txBody>
      </p:sp>
      <p:sp>
        <p:nvSpPr>
          <p:cNvPr id="18" name="TextBox 17"/>
          <p:cNvSpPr txBox="1"/>
          <p:nvPr/>
        </p:nvSpPr>
        <p:spPr>
          <a:xfrm>
            <a:off x="502920" y="1908448"/>
            <a:ext cx="3874800" cy="277500"/>
          </a:xfrm>
          <a:prstGeom prst="rect">
            <a:avLst/>
          </a:prstGeom>
          <a:noFill/>
        </p:spPr>
        <p:txBody>
          <a:bodyPr wrap="square">
            <a:spAutoFit/>
          </a:bodyPr>
          <a:lstStyle/>
          <a:p>
            <a:pPr algn="l"/>
            <a:r>
              <a:rPr sz="750" b="0">
                <a:solidFill>
                  <a:srgbClr val="ECE8F4"/>
                </a:solidFill>
                <a:latin typeface="メイリオ"/>
              </a:rPr>
              <a:t>AT中のボーナム当選がATを強化する新発想。
受動的なG数消化から能動的な強化体験へ。</a:t>
            </a:r>
          </a:p>
        </p:txBody>
      </p:sp>
      <p:sp>
        <p:nvSpPr>
          <p:cNvPr id="19" name="Rectangle 18"/>
          <p:cNvSpPr/>
          <p:nvPr/>
        </p:nvSpPr>
        <p:spPr>
          <a:xfrm>
            <a:off x="365760" y="2245948"/>
            <a:ext cx="3934800" cy="567500"/>
          </a:xfrm>
          <a:prstGeom prst="rect">
            <a:avLst/>
          </a:prstGeom>
          <a:solidFill>
            <a:srgbClr val="100828"/>
          </a:solidFill>
          <a:ln w="1270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5760" y="2245948"/>
            <a:ext cx="20000" cy="567500"/>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2275948"/>
            <a:ext cx="3874800" cy="240000"/>
          </a:xfrm>
          <a:prstGeom prst="rect">
            <a:avLst/>
          </a:prstGeom>
          <a:noFill/>
        </p:spPr>
        <p:txBody>
          <a:bodyPr wrap="square">
            <a:spAutoFit/>
          </a:bodyPr>
          <a:lstStyle/>
          <a:p>
            <a:pPr algn="l"/>
            <a:r>
              <a:rPr sz="850" b="1">
                <a:solidFill>
                  <a:srgbClr val="FF4466"/>
                </a:solidFill>
                <a:latin typeface="メイリオ"/>
              </a:rPr>
              <a:t>引き戻しCZ 約75%と高継続性</a:t>
            </a:r>
          </a:p>
        </p:txBody>
      </p:sp>
      <p:sp>
        <p:nvSpPr>
          <p:cNvPr id="22" name="TextBox 21"/>
          <p:cNvSpPr txBox="1"/>
          <p:nvPr/>
        </p:nvSpPr>
        <p:spPr>
          <a:xfrm>
            <a:off x="502920" y="2515948"/>
            <a:ext cx="3874800" cy="277500"/>
          </a:xfrm>
          <a:prstGeom prst="rect">
            <a:avLst/>
          </a:prstGeom>
          <a:noFill/>
        </p:spPr>
        <p:txBody>
          <a:bodyPr wrap="square">
            <a:spAutoFit/>
          </a:bodyPr>
          <a:lstStyle/>
          <a:p>
            <a:pPr algn="l"/>
            <a:r>
              <a:rPr sz="750" b="0">
                <a:solidFill>
                  <a:srgbClr val="ECE8F4"/>
                </a:solidFill>
                <a:latin typeface="メイリオ"/>
              </a:rPr>
              <a:t>AT終了後も引き戻しCZが約75%の期待度で発動。
星罪のレヴューの継続率約90%と合わせて長期稼働を後押し。</a:t>
            </a:r>
          </a:p>
        </p:txBody>
      </p:sp>
      <p:sp>
        <p:nvSpPr>
          <p:cNvPr id="23" name="Rectangle 22"/>
          <p:cNvSpPr/>
          <p:nvPr/>
        </p:nvSpPr>
        <p:spPr>
          <a:xfrm>
            <a:off x="365760" y="2853448"/>
            <a:ext cx="3934800" cy="567500"/>
          </a:xfrm>
          <a:prstGeom prst="rect">
            <a:avLst/>
          </a:prstGeom>
          <a:solidFill>
            <a:srgbClr val="100828"/>
          </a:solidFill>
          <a:ln w="127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2853448"/>
            <a:ext cx="20000" cy="5675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2883448"/>
            <a:ext cx="3874800" cy="240000"/>
          </a:xfrm>
          <a:prstGeom prst="rect">
            <a:avLst/>
          </a:prstGeom>
          <a:noFill/>
        </p:spPr>
        <p:txBody>
          <a:bodyPr wrap="square">
            <a:spAutoFit/>
          </a:bodyPr>
          <a:lstStyle/>
          <a:p>
            <a:pPr algn="l"/>
            <a:r>
              <a:rPr sz="850" b="1">
                <a:solidFill>
                  <a:srgbClr val="C8A840"/>
                </a:solidFill>
                <a:latin typeface="メイリオ"/>
              </a:rPr>
              <a:t>2種の上位ATで2つの爆発ルート</a:t>
            </a:r>
          </a:p>
        </p:txBody>
      </p:sp>
      <p:sp>
        <p:nvSpPr>
          <p:cNvPr id="26" name="TextBox 25"/>
          <p:cNvSpPr txBox="1"/>
          <p:nvPr/>
        </p:nvSpPr>
        <p:spPr>
          <a:xfrm>
            <a:off x="502920" y="3123448"/>
            <a:ext cx="3874800" cy="277500"/>
          </a:xfrm>
          <a:prstGeom prst="rect">
            <a:avLst/>
          </a:prstGeom>
          <a:noFill/>
        </p:spPr>
        <p:txBody>
          <a:bodyPr wrap="square">
            <a:spAutoFit/>
          </a:bodyPr>
          <a:lstStyle/>
          <a:p>
            <a:pPr algn="l"/>
            <a:r>
              <a:rPr sz="750" b="0">
                <a:solidFill>
                  <a:srgbClr val="ECE8F4"/>
                </a:solidFill>
                <a:latin typeface="メイリオ"/>
              </a:rPr>
              <a:t>デュエット（高速上乗せ）と星罪（高ループ）という
性格の異なる上位ATが2種存在し、到達後の体験が豊富。</a:t>
            </a:r>
          </a:p>
        </p:txBody>
      </p:sp>
      <p:sp>
        <p:nvSpPr>
          <p:cNvPr id="27" name="Rectangle 26"/>
          <p:cNvSpPr/>
          <p:nvPr/>
        </p:nvSpPr>
        <p:spPr>
          <a:xfrm>
            <a:off x="365760" y="3460948"/>
            <a:ext cx="3934800" cy="567500"/>
          </a:xfrm>
          <a:prstGeom prst="rect">
            <a:avLst/>
          </a:prstGeom>
          <a:solidFill>
            <a:srgbClr val="100828"/>
          </a:solidFill>
          <a:ln w="12700">
            <a:solidFill>
              <a:srgbClr val="CC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65760" y="3460948"/>
            <a:ext cx="20000" cy="567500"/>
          </a:xfrm>
          <a:prstGeom prst="rect">
            <a:avLst/>
          </a:prstGeom>
          <a:solidFill>
            <a:srgbClr val="CC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02920" y="3490948"/>
            <a:ext cx="3874800" cy="240000"/>
          </a:xfrm>
          <a:prstGeom prst="rect">
            <a:avLst/>
          </a:prstGeom>
          <a:noFill/>
        </p:spPr>
        <p:txBody>
          <a:bodyPr wrap="square">
            <a:spAutoFit/>
          </a:bodyPr>
          <a:lstStyle/>
          <a:p>
            <a:pPr algn="l"/>
            <a:r>
              <a:rPr sz="850" b="1">
                <a:solidFill>
                  <a:srgbClr val="CC44AA"/>
                </a:solidFill>
                <a:latin typeface="メイリオ"/>
              </a:rPr>
              <a:t>舞台世界観との高い一体感</a:t>
            </a:r>
          </a:p>
        </p:txBody>
      </p:sp>
      <p:sp>
        <p:nvSpPr>
          <p:cNvPr id="30" name="TextBox 29"/>
          <p:cNvSpPr txBox="1"/>
          <p:nvPr/>
        </p:nvSpPr>
        <p:spPr>
          <a:xfrm>
            <a:off x="502920" y="3730948"/>
            <a:ext cx="3874800" cy="277500"/>
          </a:xfrm>
          <a:prstGeom prst="rect">
            <a:avLst/>
          </a:prstGeom>
          <a:noFill/>
        </p:spPr>
        <p:txBody>
          <a:bodyPr wrap="square">
            <a:spAutoFit/>
          </a:bodyPr>
          <a:lstStyle/>
          <a:p>
            <a:pPr algn="l"/>
            <a:r>
              <a:rPr sz="750" b="0">
                <a:solidFill>
                  <a:srgbClr val="ECE8F4"/>
                </a:solidFill>
                <a:latin typeface="メイリオ"/>
              </a:rPr>
              <a:t>舞台効果名・CZ名・上位AT突入条件すべてに
原作「レヴュースタァライト」の世界観が貫かれている。</a:t>
            </a:r>
          </a:p>
        </p:txBody>
      </p:sp>
      <p:sp>
        <p:nvSpPr>
          <p:cNvPr id="31" name="Rectangle 30"/>
          <p:cNvSpPr/>
          <p:nvPr/>
        </p:nvSpPr>
        <p:spPr>
          <a:xfrm>
            <a:off x="4617720" y="1298448"/>
            <a:ext cx="4251960" cy="2750000"/>
          </a:xfrm>
          <a:prstGeom prst="rect">
            <a:avLst/>
          </a:prstGeom>
          <a:solidFill>
            <a:srgbClr val="080620"/>
          </a:solidFill>
          <a:ln w="1905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617720" y="1298448"/>
            <a:ext cx="45000" cy="275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818888" y="1348448"/>
            <a:ext cx="4151960" cy="270000"/>
          </a:xfrm>
          <a:prstGeom prst="rect">
            <a:avLst/>
          </a:prstGeom>
          <a:noFill/>
        </p:spPr>
        <p:txBody>
          <a:bodyPr wrap="square">
            <a:spAutoFit/>
          </a:bodyPr>
          <a:lstStyle/>
          <a:p>
            <a:pPr algn="l"/>
            <a:r>
              <a:rPr sz="1100" b="1">
                <a:solidFill>
                  <a:srgbClr val="FF4466"/>
                </a:solidFill>
                <a:latin typeface="游明朝"/>
              </a:rPr>
              <a:t>課題（複雑性・機械割・リテラシー）</a:t>
            </a:r>
          </a:p>
        </p:txBody>
      </p:sp>
      <p:sp>
        <p:nvSpPr>
          <p:cNvPr id="34" name="Rectangle 33"/>
          <p:cNvSpPr/>
          <p:nvPr/>
        </p:nvSpPr>
        <p:spPr>
          <a:xfrm>
            <a:off x="4727448" y="1638448"/>
            <a:ext cx="4071960" cy="567500"/>
          </a:xfrm>
          <a:prstGeom prst="rect">
            <a:avLst/>
          </a:prstGeom>
          <a:solidFill>
            <a:srgbClr val="100828"/>
          </a:solidFill>
          <a:ln w="12700">
            <a:solidFill>
              <a:srgbClr val="FF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27448" y="1638448"/>
            <a:ext cx="20000" cy="567500"/>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64608" y="1668448"/>
            <a:ext cx="4001960" cy="240000"/>
          </a:xfrm>
          <a:prstGeom prst="rect">
            <a:avLst/>
          </a:prstGeom>
          <a:noFill/>
        </p:spPr>
        <p:txBody>
          <a:bodyPr wrap="square">
            <a:spAutoFit/>
          </a:bodyPr>
          <a:lstStyle/>
          <a:p>
            <a:pPr algn="l"/>
            <a:r>
              <a:rPr sz="850" b="1">
                <a:solidFill>
                  <a:srgbClr val="FF4466"/>
                </a:solidFill>
                <a:latin typeface="メイリオ"/>
              </a:rPr>
              <a:t>システム複雑性・リテラシーの壁</a:t>
            </a:r>
          </a:p>
        </p:txBody>
      </p:sp>
      <p:sp>
        <p:nvSpPr>
          <p:cNvPr id="37" name="TextBox 36"/>
          <p:cNvSpPr txBox="1"/>
          <p:nvPr/>
        </p:nvSpPr>
        <p:spPr>
          <a:xfrm>
            <a:off x="4864608" y="1908448"/>
            <a:ext cx="4001960" cy="277500"/>
          </a:xfrm>
          <a:prstGeom prst="rect">
            <a:avLst/>
          </a:prstGeom>
          <a:noFill/>
        </p:spPr>
        <p:txBody>
          <a:bodyPr wrap="square">
            <a:spAutoFit/>
          </a:bodyPr>
          <a:lstStyle/>
          <a:p>
            <a:pPr algn="l"/>
            <a:r>
              <a:rPr sz="750" b="0">
                <a:solidFill>
                  <a:srgbClr val="ECE8F4"/>
                </a:solidFill>
                <a:latin typeface="メイリオ"/>
              </a:rPr>
              <a:t>貫通型AT・舞台効果・上位AT2種の理解が
必要で、初心者には仕組みが分かりづらい。</a:t>
            </a:r>
          </a:p>
        </p:txBody>
      </p:sp>
      <p:sp>
        <p:nvSpPr>
          <p:cNvPr id="38" name="Rectangle 37"/>
          <p:cNvSpPr/>
          <p:nvPr/>
        </p:nvSpPr>
        <p:spPr>
          <a:xfrm>
            <a:off x="4727448" y="2245948"/>
            <a:ext cx="4071960" cy="567500"/>
          </a:xfrm>
          <a:prstGeom prst="rect">
            <a:avLst/>
          </a:prstGeom>
          <a:solidFill>
            <a:srgbClr val="100828"/>
          </a:solidFill>
          <a:ln w="1270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727448" y="2245948"/>
            <a:ext cx="20000" cy="5675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64608" y="2275948"/>
            <a:ext cx="4001960" cy="240000"/>
          </a:xfrm>
          <a:prstGeom prst="rect">
            <a:avLst/>
          </a:prstGeom>
          <a:noFill/>
        </p:spPr>
        <p:txBody>
          <a:bodyPr wrap="square">
            <a:spAutoFit/>
          </a:bodyPr>
          <a:lstStyle/>
          <a:p>
            <a:pPr algn="l"/>
            <a:r>
              <a:rPr sz="850" b="1">
                <a:solidFill>
                  <a:srgbClr val="C8A840"/>
                </a:solidFill>
                <a:latin typeface="メイリオ"/>
              </a:rPr>
              <a:t>AT純増が約2.2枚/Gと控えめ</a:t>
            </a:r>
          </a:p>
        </p:txBody>
      </p:sp>
      <p:sp>
        <p:nvSpPr>
          <p:cNvPr id="41" name="TextBox 40"/>
          <p:cNvSpPr txBox="1"/>
          <p:nvPr/>
        </p:nvSpPr>
        <p:spPr>
          <a:xfrm>
            <a:off x="4864608" y="2515948"/>
            <a:ext cx="4001960" cy="277500"/>
          </a:xfrm>
          <a:prstGeom prst="rect">
            <a:avLst/>
          </a:prstGeom>
          <a:noFill/>
        </p:spPr>
        <p:txBody>
          <a:bodyPr wrap="square">
            <a:spAutoFit/>
          </a:bodyPr>
          <a:lstStyle/>
          <a:p>
            <a:pPr algn="l"/>
            <a:r>
              <a:rPr sz="750" b="0">
                <a:solidFill>
                  <a:srgbClr val="ECE8F4"/>
                </a:solidFill>
                <a:latin typeface="メイリオ"/>
              </a:rPr>
              <a:t>通常AT時の純増2.2枚/Gは中程度。
貫通型を活かす前に終わると物足りない体験に。</a:t>
            </a:r>
          </a:p>
        </p:txBody>
      </p:sp>
      <p:sp>
        <p:nvSpPr>
          <p:cNvPr id="42" name="Rectangle 41"/>
          <p:cNvSpPr/>
          <p:nvPr/>
        </p:nvSpPr>
        <p:spPr>
          <a:xfrm>
            <a:off x="4727448" y="2853448"/>
            <a:ext cx="4071960" cy="567500"/>
          </a:xfrm>
          <a:prstGeom prst="rect">
            <a:avLst/>
          </a:prstGeom>
          <a:solidFill>
            <a:srgbClr val="100828"/>
          </a:solidFill>
          <a:ln w="12700">
            <a:solidFill>
              <a:srgbClr val="8888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27448" y="2853448"/>
            <a:ext cx="20000" cy="567500"/>
          </a:xfrm>
          <a:prstGeom prst="rect">
            <a:avLst/>
          </a:prstGeom>
          <a:solidFill>
            <a:srgbClr val="888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864608" y="2883448"/>
            <a:ext cx="4001960" cy="240000"/>
          </a:xfrm>
          <a:prstGeom prst="rect">
            <a:avLst/>
          </a:prstGeom>
          <a:noFill/>
        </p:spPr>
        <p:txBody>
          <a:bodyPr wrap="square">
            <a:spAutoFit/>
          </a:bodyPr>
          <a:lstStyle/>
          <a:p>
            <a:pPr algn="l"/>
            <a:r>
              <a:rPr sz="850" b="1">
                <a:solidFill>
                  <a:srgbClr val="8888AA"/>
                </a:solidFill>
                <a:latin typeface="メイリオ"/>
              </a:rPr>
              <a:t>設定1の機械割 97.8%と低め</a:t>
            </a:r>
          </a:p>
        </p:txBody>
      </p:sp>
      <p:sp>
        <p:nvSpPr>
          <p:cNvPr id="45" name="TextBox 44"/>
          <p:cNvSpPr txBox="1"/>
          <p:nvPr/>
        </p:nvSpPr>
        <p:spPr>
          <a:xfrm>
            <a:off x="4864608" y="3123448"/>
            <a:ext cx="4001960" cy="277500"/>
          </a:xfrm>
          <a:prstGeom prst="rect">
            <a:avLst/>
          </a:prstGeom>
          <a:noFill/>
        </p:spPr>
        <p:txBody>
          <a:bodyPr wrap="square">
            <a:spAutoFit/>
          </a:bodyPr>
          <a:lstStyle/>
          <a:p>
            <a:pPr algn="l"/>
            <a:r>
              <a:rPr sz="750" b="0">
                <a:solidFill>
                  <a:srgbClr val="ECE8F4"/>
                </a:solidFill>
                <a:latin typeface="メイリオ"/>
              </a:rPr>
              <a:t>低設定での稼働が多い現実では
プレイヤーが「負ける体験」から離脱しやすい。</a:t>
            </a:r>
          </a:p>
        </p:txBody>
      </p:sp>
      <p:sp>
        <p:nvSpPr>
          <p:cNvPr id="46" name="Rectangle 45"/>
          <p:cNvSpPr/>
          <p:nvPr/>
        </p:nvSpPr>
        <p:spPr>
          <a:xfrm>
            <a:off x="4727448" y="3460948"/>
            <a:ext cx="4071960" cy="567500"/>
          </a:xfrm>
          <a:prstGeom prst="rect">
            <a:avLst/>
          </a:prstGeom>
          <a:solidFill>
            <a:srgbClr val="100828"/>
          </a:solidFill>
          <a:ln w="12700">
            <a:solidFill>
              <a:srgbClr val="44446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727448" y="3460948"/>
            <a:ext cx="20000" cy="567500"/>
          </a:xfrm>
          <a:prstGeom prst="rect">
            <a:avLst/>
          </a:prstGeom>
          <a:solidFill>
            <a:srgbClr val="44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864608" y="3490948"/>
            <a:ext cx="4001960" cy="240000"/>
          </a:xfrm>
          <a:prstGeom prst="rect">
            <a:avLst/>
          </a:prstGeom>
          <a:noFill/>
        </p:spPr>
        <p:txBody>
          <a:bodyPr wrap="square">
            <a:spAutoFit/>
          </a:bodyPr>
          <a:lstStyle/>
          <a:p>
            <a:pPr algn="l"/>
            <a:r>
              <a:rPr sz="850" b="1">
                <a:solidFill>
                  <a:srgbClr val="444466"/>
                </a:solidFill>
                <a:latin typeface="メイリオ"/>
              </a:rPr>
              <a:t>上位AT「星罪のレヴュー」への到達難度</a:t>
            </a:r>
          </a:p>
        </p:txBody>
      </p:sp>
      <p:sp>
        <p:nvSpPr>
          <p:cNvPr id="49" name="TextBox 48"/>
          <p:cNvSpPr txBox="1"/>
          <p:nvPr/>
        </p:nvSpPr>
        <p:spPr>
          <a:xfrm>
            <a:off x="4864608" y="3730948"/>
            <a:ext cx="4001960" cy="277500"/>
          </a:xfrm>
          <a:prstGeom prst="rect">
            <a:avLst/>
          </a:prstGeom>
          <a:noFill/>
        </p:spPr>
        <p:txBody>
          <a:bodyPr wrap="square">
            <a:spAutoFit/>
          </a:bodyPr>
          <a:lstStyle/>
          <a:p>
            <a:pPr algn="l"/>
            <a:r>
              <a:rPr sz="750" b="0">
                <a:solidFill>
                  <a:srgbClr val="ECE8F4"/>
                </a:solidFill>
                <a:latin typeface="メイリオ"/>
              </a:rPr>
              <a:t>最上位ATへの道筋が複数段階あり
高設定以外ではなかなか到達できない。</a:t>
            </a:r>
          </a:p>
        </p:txBody>
      </p:sp>
      <p:sp>
        <p:nvSpPr>
          <p:cNvPr id="50" name="Rectangle 49"/>
          <p:cNvSpPr/>
          <p:nvPr/>
        </p:nvSpPr>
        <p:spPr>
          <a:xfrm>
            <a:off x="0" y="4663440"/>
            <a:ext cx="9144000" cy="380000"/>
          </a:xfrm>
          <a:prstGeom prst="rect">
            <a:avLst/>
          </a:prstGeom>
          <a:solidFill>
            <a:srgbClr val="0603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0" y="4663440"/>
            <a:ext cx="20000" cy="38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01168" y="4703440"/>
            <a:ext cx="5486400" cy="160000"/>
          </a:xfrm>
          <a:prstGeom prst="rect">
            <a:avLst/>
          </a:prstGeom>
          <a:noFill/>
        </p:spPr>
        <p:txBody>
          <a:bodyPr wrap="square">
            <a:spAutoFit/>
          </a:bodyPr>
          <a:lstStyle/>
          <a:p>
            <a:pPr algn="l"/>
            <a:r>
              <a:rPr sz="750" b="1">
                <a:solidFill>
                  <a:srgbClr val="FF4466"/>
                </a:solidFill>
                <a:latin typeface="メイリオ"/>
              </a:rPr>
              <a:t>設計コメント：「仕組みを理解すると楽しい」台の典型。チュートリアル演出・分かりやすい目標設定の追加で評価が大きく変わる余地あり</a:t>
            </a:r>
          </a:p>
        </p:txBody>
      </p:sp>
      <p:sp>
        <p:nvSpPr>
          <p:cNvPr id="53" name="TextBox 52"/>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補足：低評価の主因は「低設定での体験」と「複雑さによる挫折感」。原作ファン以外へのゲーム性の伝え方が課題</a:t>
            </a:r>
          </a:p>
        </p:txBody>
      </p:sp>
      <p:sp>
        <p:nvSpPr>
          <p:cNvPr id="54" name="TextBox 53"/>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0" y="0"/>
            <a:ext cx="9144000" cy="5143500"/>
          </a:xfrm>
          <a:prstGeom prst="rect">
            <a:avLst/>
          </a:prstGeom>
        </p:spPr>
      </p:pic>
      <p:sp>
        <p:nvSpPr>
          <p:cNvPr id="3" name="Rectangle 2"/>
          <p:cNvSpPr/>
          <p:nvPr/>
        </p:nvSpPr>
        <p:spPr>
          <a:xfrm>
            <a:off x="0" y="0"/>
            <a:ext cx="9144000" cy="530352"/>
          </a:xfrm>
          <a:prstGeom prst="rect">
            <a:avLst/>
          </a:prstGeom>
          <a:solidFill>
            <a:srgbClr val="0806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0"/>
            <a:ext cx="45000" cy="530352"/>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 y="28000"/>
            <a:ext cx="7772400" cy="410000"/>
          </a:xfrm>
          <a:prstGeom prst="rect">
            <a:avLst/>
          </a:prstGeom>
          <a:noFill/>
        </p:spPr>
        <p:txBody>
          <a:bodyPr wrap="square">
            <a:spAutoFit/>
          </a:bodyPr>
          <a:lstStyle/>
          <a:p>
            <a:pPr algn="l"/>
            <a:r>
              <a:rPr sz="1400" b="1">
                <a:solidFill>
                  <a:srgbClr val="C8A840"/>
                </a:solidFill>
                <a:latin typeface="游明朝"/>
              </a:rPr>
              <a:t>まとめ ── L少女☆歌劇 レヴュースタァライト 設計から学べること</a:t>
            </a:r>
          </a:p>
        </p:txBody>
      </p:sp>
      <p:sp>
        <p:nvSpPr>
          <p:cNvPr id="6" name="TextBox 5"/>
          <p:cNvSpPr txBox="1"/>
          <p:nvPr/>
        </p:nvSpPr>
        <p:spPr>
          <a:xfrm>
            <a:off x="8046720" y="45000"/>
            <a:ext cx="914400" cy="340000"/>
          </a:xfrm>
          <a:prstGeom prst="rect">
            <a:avLst/>
          </a:prstGeom>
          <a:noFill/>
        </p:spPr>
        <p:txBody>
          <a:bodyPr wrap="square">
            <a:spAutoFit/>
          </a:bodyPr>
          <a:lstStyle/>
          <a:p>
            <a:pPr algn="r"/>
            <a:r>
              <a:rPr sz="800" b="0">
                <a:solidFill>
                  <a:srgbClr val="8888AA"/>
                </a:solidFill>
                <a:latin typeface="メイリオ"/>
              </a:rPr>
              <a:t>9/9</a:t>
            </a:r>
          </a:p>
        </p:txBody>
      </p:sp>
      <p:sp>
        <p:nvSpPr>
          <p:cNvPr id="7" name="Rectangle 6"/>
          <p:cNvSpPr/>
          <p:nvPr/>
        </p:nvSpPr>
        <p:spPr>
          <a:xfrm>
            <a:off x="0" y="530352"/>
            <a:ext cx="9144000" cy="7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56032" y="658368"/>
            <a:ext cx="4160520" cy="300000"/>
          </a:xfrm>
          <a:prstGeom prst="rect">
            <a:avLst/>
          </a:prstGeom>
          <a:solidFill>
            <a:srgbClr val="4410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16032" y="713368"/>
            <a:ext cx="4080520" cy="225000"/>
          </a:xfrm>
          <a:prstGeom prst="rect">
            <a:avLst/>
          </a:prstGeom>
          <a:noFill/>
        </p:spPr>
        <p:txBody>
          <a:bodyPr wrap="square">
            <a:spAutoFit/>
          </a:bodyPr>
          <a:lstStyle/>
          <a:p>
            <a:pPr algn="l"/>
            <a:r>
              <a:rPr sz="1000" b="1">
                <a:solidFill>
                  <a:srgbClr val="C8A840"/>
                </a:solidFill>
                <a:latin typeface="游明朝"/>
              </a:rPr>
              <a:t>設計から学べる3つのエッセンス</a:t>
            </a:r>
          </a:p>
        </p:txBody>
      </p:sp>
      <p:sp>
        <p:nvSpPr>
          <p:cNvPr id="10" name="Rectangle 9"/>
          <p:cNvSpPr/>
          <p:nvPr/>
        </p:nvSpPr>
        <p:spPr>
          <a:xfrm>
            <a:off x="256032" y="958368"/>
            <a:ext cx="4160520" cy="1200000"/>
          </a:xfrm>
          <a:prstGeom prst="rect">
            <a:avLst/>
          </a:prstGeom>
          <a:solidFill>
            <a:srgbClr val="080620"/>
          </a:solidFill>
          <a:ln w="1905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56032" y="958368"/>
            <a:ext cx="45000" cy="120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1032" y="1008368"/>
            <a:ext cx="4065520" cy="260000"/>
          </a:xfrm>
          <a:prstGeom prst="rect">
            <a:avLst/>
          </a:prstGeom>
          <a:noFill/>
        </p:spPr>
        <p:txBody>
          <a:bodyPr wrap="square">
            <a:spAutoFit/>
          </a:bodyPr>
          <a:lstStyle/>
          <a:p>
            <a:pPr algn="l"/>
            <a:r>
              <a:rPr sz="900" b="1">
                <a:solidFill>
                  <a:srgbClr val="CC2244"/>
                </a:solidFill>
                <a:latin typeface="メイリオ"/>
              </a:rPr>
              <a:t>① 貫通型ATという「強化参加型」設計</a:t>
            </a:r>
          </a:p>
        </p:txBody>
      </p:sp>
      <p:sp>
        <p:nvSpPr>
          <p:cNvPr id="13" name="TextBox 12"/>
          <p:cNvSpPr txBox="1"/>
          <p:nvPr/>
        </p:nvSpPr>
        <p:spPr>
          <a:xfrm>
            <a:off x="331032" y="1263368"/>
            <a:ext cx="4065520" cy="830000"/>
          </a:xfrm>
          <a:prstGeom prst="rect">
            <a:avLst/>
          </a:prstGeom>
          <a:noFill/>
        </p:spPr>
        <p:txBody>
          <a:bodyPr wrap="square">
            <a:spAutoFit/>
          </a:bodyPr>
          <a:lstStyle/>
          <a:p>
            <a:pPr algn="l"/>
            <a:r>
              <a:rPr sz="800" b="0">
                <a:solidFill>
                  <a:srgbClr val="ECE8F4"/>
                </a:solidFill>
                <a:latin typeface="メイリオ"/>
              </a:rPr>
              <a:t>AT中のボーナム当選がATを育てる設計は
「受動的なG数消化」から「能動的な強化体験」への転換。
プレイヤーを「育てる主体」にすることで没入感を高める。</a:t>
            </a:r>
          </a:p>
        </p:txBody>
      </p:sp>
      <p:sp>
        <p:nvSpPr>
          <p:cNvPr id="14" name="Rectangle 13"/>
          <p:cNvSpPr/>
          <p:nvPr/>
        </p:nvSpPr>
        <p:spPr>
          <a:xfrm>
            <a:off x="256032" y="2208368"/>
            <a:ext cx="4160520" cy="1200000"/>
          </a:xfrm>
          <a:prstGeom prst="rect">
            <a:avLst/>
          </a:prstGeom>
          <a:solidFill>
            <a:srgbClr val="080620"/>
          </a:solidFill>
          <a:ln w="19050">
            <a:solidFill>
              <a:srgbClr val="C8A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56032" y="2208368"/>
            <a:ext cx="45000" cy="120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1032" y="2258368"/>
            <a:ext cx="4065520" cy="260000"/>
          </a:xfrm>
          <a:prstGeom prst="rect">
            <a:avLst/>
          </a:prstGeom>
          <a:noFill/>
        </p:spPr>
        <p:txBody>
          <a:bodyPr wrap="square">
            <a:spAutoFit/>
          </a:bodyPr>
          <a:lstStyle/>
          <a:p>
            <a:pPr algn="l"/>
            <a:r>
              <a:rPr sz="900" b="1">
                <a:solidFill>
                  <a:srgbClr val="C8A840"/>
                </a:solidFill>
                <a:latin typeface="メイリオ"/>
              </a:rPr>
              <a:t>② 舞台効果名・システム名の世界観一致</a:t>
            </a:r>
          </a:p>
        </p:txBody>
      </p:sp>
      <p:sp>
        <p:nvSpPr>
          <p:cNvPr id="17" name="TextBox 16"/>
          <p:cNvSpPr txBox="1"/>
          <p:nvPr/>
        </p:nvSpPr>
        <p:spPr>
          <a:xfrm>
            <a:off x="331032" y="2513368"/>
            <a:ext cx="4065520" cy="830000"/>
          </a:xfrm>
          <a:prstGeom prst="rect">
            <a:avLst/>
          </a:prstGeom>
          <a:noFill/>
        </p:spPr>
        <p:txBody>
          <a:bodyPr wrap="square">
            <a:spAutoFit/>
          </a:bodyPr>
          <a:lstStyle/>
          <a:p>
            <a:pPr algn="l"/>
            <a:r>
              <a:rPr sz="800" b="0">
                <a:solidFill>
                  <a:srgbClr val="ECE8F4"/>
                </a:solidFill>
                <a:latin typeface="メイリオ"/>
              </a:rPr>
              <a:t>スポットライト/ロンド/トップスター/レヴューという
舞台用語がそのまま機能名として使われる設計は
原作IPとゲーム性の融合として模範的な実例。</a:t>
            </a:r>
          </a:p>
        </p:txBody>
      </p:sp>
      <p:sp>
        <p:nvSpPr>
          <p:cNvPr id="18" name="Rectangle 17"/>
          <p:cNvSpPr/>
          <p:nvPr/>
        </p:nvSpPr>
        <p:spPr>
          <a:xfrm>
            <a:off x="256032" y="3458368"/>
            <a:ext cx="4160520" cy="1200000"/>
          </a:xfrm>
          <a:prstGeom prst="rect">
            <a:avLst/>
          </a:prstGeom>
          <a:solidFill>
            <a:srgbClr val="080620"/>
          </a:solidFill>
          <a:ln w="19050">
            <a:solidFill>
              <a:srgbClr val="CC44A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6032" y="3458368"/>
            <a:ext cx="45000" cy="1200000"/>
          </a:xfrm>
          <a:prstGeom prst="rect">
            <a:avLst/>
          </a:prstGeom>
          <a:solidFill>
            <a:srgbClr val="CC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1032" y="3508368"/>
            <a:ext cx="4065520" cy="260000"/>
          </a:xfrm>
          <a:prstGeom prst="rect">
            <a:avLst/>
          </a:prstGeom>
          <a:noFill/>
        </p:spPr>
        <p:txBody>
          <a:bodyPr wrap="square">
            <a:spAutoFit/>
          </a:bodyPr>
          <a:lstStyle/>
          <a:p>
            <a:pPr algn="l"/>
            <a:r>
              <a:rPr sz="900" b="1">
                <a:solidFill>
                  <a:srgbClr val="CC44AA"/>
                </a:solidFill>
                <a:latin typeface="メイリオ"/>
              </a:rPr>
              <a:t>③ 上位ATの性格分け（爆発型 vs ループ型）</a:t>
            </a:r>
          </a:p>
        </p:txBody>
      </p:sp>
      <p:sp>
        <p:nvSpPr>
          <p:cNvPr id="21" name="TextBox 20"/>
          <p:cNvSpPr txBox="1"/>
          <p:nvPr/>
        </p:nvSpPr>
        <p:spPr>
          <a:xfrm>
            <a:off x="331032" y="3763368"/>
            <a:ext cx="4065520" cy="830000"/>
          </a:xfrm>
          <a:prstGeom prst="rect">
            <a:avLst/>
          </a:prstGeom>
          <a:noFill/>
        </p:spPr>
        <p:txBody>
          <a:bodyPr wrap="square">
            <a:spAutoFit/>
          </a:bodyPr>
          <a:lstStyle/>
          <a:p>
            <a:pPr algn="l"/>
            <a:r>
              <a:rPr sz="800" b="0">
                <a:solidFill>
                  <a:srgbClr val="ECE8F4"/>
                </a:solidFill>
                <a:latin typeface="メイリオ"/>
              </a:rPr>
              <a:t>デュエット（速攻上乗せ）と星罪（長期継続）という
2種の上位ATはプレイヤーに「2つの夢」を提供する。
「短期で爆発か」「長く続くか」を選べない緊張感。</a:t>
            </a:r>
          </a:p>
        </p:txBody>
      </p:sp>
      <p:sp>
        <p:nvSpPr>
          <p:cNvPr id="22" name="Rectangle 21"/>
          <p:cNvSpPr/>
          <p:nvPr/>
        </p:nvSpPr>
        <p:spPr>
          <a:xfrm>
            <a:off x="4617720" y="658368"/>
            <a:ext cx="4251960" cy="280000"/>
          </a:xfrm>
          <a:prstGeom prst="rect">
            <a:avLst/>
          </a:prstGeom>
          <a:solidFill>
            <a:srgbClr val="100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7720" y="703368"/>
            <a:ext cx="4181960" cy="215000"/>
          </a:xfrm>
          <a:prstGeom prst="rect">
            <a:avLst/>
          </a:prstGeom>
          <a:noFill/>
        </p:spPr>
        <p:txBody>
          <a:bodyPr wrap="square">
            <a:spAutoFit/>
          </a:bodyPr>
          <a:lstStyle/>
          <a:p>
            <a:pPr algn="l"/>
            <a:r>
              <a:rPr sz="1000" b="1">
                <a:solidFill>
                  <a:srgbClr val="C8A840"/>
                </a:solidFill>
                <a:latin typeface="游明朝"/>
              </a:rPr>
              <a:t>設計原則（他機種への応用）</a:t>
            </a:r>
          </a:p>
        </p:txBody>
      </p:sp>
      <p:sp>
        <p:nvSpPr>
          <p:cNvPr id="24" name="Rectangle 23"/>
          <p:cNvSpPr/>
          <p:nvPr/>
        </p:nvSpPr>
        <p:spPr>
          <a:xfrm>
            <a:off x="4617720" y="938368"/>
            <a:ext cx="20000" cy="44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67720" y="993368"/>
            <a:ext cx="4191960" cy="360000"/>
          </a:xfrm>
          <a:prstGeom prst="rect">
            <a:avLst/>
          </a:prstGeom>
          <a:noFill/>
        </p:spPr>
        <p:txBody>
          <a:bodyPr wrap="square">
            <a:spAutoFit/>
          </a:bodyPr>
          <a:lstStyle/>
          <a:p>
            <a:pPr algn="l"/>
            <a:r>
              <a:rPr sz="800" b="0">
                <a:solidFill>
                  <a:srgbClr val="ECE8F4"/>
                </a:solidFill>
                <a:latin typeface="メイリオ"/>
              </a:rPr>
              <a:t>AT中もボーナスが「育成イベント」になる貫通型設計は継続動機を強化する</a:t>
            </a:r>
          </a:p>
        </p:txBody>
      </p:sp>
      <p:sp>
        <p:nvSpPr>
          <p:cNvPr id="26" name="Rectangle 25"/>
          <p:cNvSpPr/>
          <p:nvPr/>
        </p:nvSpPr>
        <p:spPr>
          <a:xfrm>
            <a:off x="4617720" y="1418368"/>
            <a:ext cx="20000" cy="440000"/>
          </a:xfrm>
          <a:prstGeom prst="rect">
            <a:avLst/>
          </a:prstGeom>
          <a:solidFill>
            <a:srgbClr val="CC4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667720" y="1473368"/>
            <a:ext cx="4191960" cy="360000"/>
          </a:xfrm>
          <a:prstGeom prst="rect">
            <a:avLst/>
          </a:prstGeom>
          <a:noFill/>
        </p:spPr>
        <p:txBody>
          <a:bodyPr wrap="square">
            <a:spAutoFit/>
          </a:bodyPr>
          <a:lstStyle/>
          <a:p>
            <a:pPr algn="l"/>
            <a:r>
              <a:rPr sz="800" b="0">
                <a:solidFill>
                  <a:srgbClr val="ECE8F4"/>
                </a:solidFill>
                <a:latin typeface="メイリオ"/>
              </a:rPr>
              <a:t>IPのコアワード（舞台/レヴュー）を機能名に転用するとIP理解がゲーム理解になる</a:t>
            </a:r>
          </a:p>
        </p:txBody>
      </p:sp>
      <p:sp>
        <p:nvSpPr>
          <p:cNvPr id="28" name="Rectangle 27"/>
          <p:cNvSpPr/>
          <p:nvPr/>
        </p:nvSpPr>
        <p:spPr>
          <a:xfrm>
            <a:off x="4617720" y="1898368"/>
            <a:ext cx="20000" cy="440000"/>
          </a:xfrm>
          <a:prstGeom prst="rect">
            <a:avLst/>
          </a:prstGeom>
          <a:solidFill>
            <a:srgbClr val="C8A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667720" y="1953368"/>
            <a:ext cx="4191960" cy="360000"/>
          </a:xfrm>
          <a:prstGeom prst="rect">
            <a:avLst/>
          </a:prstGeom>
          <a:noFill/>
        </p:spPr>
        <p:txBody>
          <a:bodyPr wrap="square">
            <a:spAutoFit/>
          </a:bodyPr>
          <a:lstStyle/>
          <a:p>
            <a:pPr algn="l"/>
            <a:r>
              <a:rPr sz="800" b="0">
                <a:solidFill>
                  <a:srgbClr val="ECE8F4"/>
                </a:solidFill>
                <a:latin typeface="メイリオ"/>
              </a:rPr>
              <a:t>舞台効果3種＝「今のATの強さ」の可視化で現状把握を直感的にする</a:t>
            </a:r>
          </a:p>
        </p:txBody>
      </p:sp>
      <p:sp>
        <p:nvSpPr>
          <p:cNvPr id="30" name="Rectangle 29"/>
          <p:cNvSpPr/>
          <p:nvPr/>
        </p:nvSpPr>
        <p:spPr>
          <a:xfrm>
            <a:off x="4617720" y="2378368"/>
            <a:ext cx="20000" cy="440000"/>
          </a:xfrm>
          <a:prstGeom prst="rect">
            <a:avLst/>
          </a:prstGeom>
          <a:solidFill>
            <a:srgbClr val="22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67720" y="2433368"/>
            <a:ext cx="4191960" cy="360000"/>
          </a:xfrm>
          <a:prstGeom prst="rect">
            <a:avLst/>
          </a:prstGeom>
          <a:noFill/>
        </p:spPr>
        <p:txBody>
          <a:bodyPr wrap="square">
            <a:spAutoFit/>
          </a:bodyPr>
          <a:lstStyle/>
          <a:p>
            <a:pPr algn="l"/>
            <a:r>
              <a:rPr sz="800" b="0">
                <a:solidFill>
                  <a:srgbClr val="ECE8F4"/>
                </a:solidFill>
                <a:latin typeface="メイリオ"/>
              </a:rPr>
              <a:t>上位AT2種（速攻型/ループ型）は「どちらに行くか」の期待感の分岐を作る</a:t>
            </a:r>
          </a:p>
        </p:txBody>
      </p:sp>
      <p:sp>
        <p:nvSpPr>
          <p:cNvPr id="32" name="Rectangle 31"/>
          <p:cNvSpPr/>
          <p:nvPr/>
        </p:nvSpPr>
        <p:spPr>
          <a:xfrm>
            <a:off x="4617720" y="2858368"/>
            <a:ext cx="20000" cy="440000"/>
          </a:xfrm>
          <a:prstGeom prst="rect">
            <a:avLst/>
          </a:prstGeom>
          <a:solidFill>
            <a:srgbClr val="FF44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667720" y="2913368"/>
            <a:ext cx="4191960" cy="360000"/>
          </a:xfrm>
          <a:prstGeom prst="rect">
            <a:avLst/>
          </a:prstGeom>
          <a:noFill/>
        </p:spPr>
        <p:txBody>
          <a:bodyPr wrap="square">
            <a:spAutoFit/>
          </a:bodyPr>
          <a:lstStyle/>
          <a:p>
            <a:pPr algn="l"/>
            <a:r>
              <a:rPr sz="800" b="1">
                <a:solidFill>
                  <a:srgbClr val="FF4466"/>
                </a:solidFill>
                <a:latin typeface="メイリオ"/>
              </a:rPr>
              <a:t>複雑な仕組みこそ「最初の1時間に分かる化」の演出設計が評価を左右する</a:t>
            </a:r>
          </a:p>
        </p:txBody>
      </p:sp>
      <p:sp>
        <p:nvSpPr>
          <p:cNvPr id="34" name="Rectangle 33"/>
          <p:cNvSpPr/>
          <p:nvPr/>
        </p:nvSpPr>
        <p:spPr>
          <a:xfrm>
            <a:off x="4617720" y="3358368"/>
            <a:ext cx="4251960" cy="1050000"/>
          </a:xfrm>
          <a:prstGeom prst="rect">
            <a:avLst/>
          </a:prstGeom>
          <a:solidFill>
            <a:srgbClr val="06031C"/>
          </a:solidFill>
          <a:ln w="19050">
            <a:solidFill>
              <a:srgbClr val="CC22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617720" y="3358368"/>
            <a:ext cx="45000" cy="105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92720" y="3408368"/>
            <a:ext cx="4156960" cy="270000"/>
          </a:xfrm>
          <a:prstGeom prst="rect">
            <a:avLst/>
          </a:prstGeom>
          <a:noFill/>
        </p:spPr>
        <p:txBody>
          <a:bodyPr wrap="square">
            <a:spAutoFit/>
          </a:bodyPr>
          <a:lstStyle/>
          <a:p>
            <a:pPr algn="l"/>
            <a:r>
              <a:rPr sz="1000" b="1">
                <a:solidFill>
                  <a:srgbClr val="FF4466"/>
                </a:solidFill>
                <a:latin typeface="游明朝"/>
              </a:rPr>
              <a:t>総括</a:t>
            </a:r>
          </a:p>
        </p:txBody>
      </p:sp>
      <p:sp>
        <p:nvSpPr>
          <p:cNvPr id="37" name="TextBox 36"/>
          <p:cNvSpPr txBox="1"/>
          <p:nvPr/>
        </p:nvSpPr>
        <p:spPr>
          <a:xfrm>
            <a:off x="4692720" y="3678368"/>
            <a:ext cx="4156960" cy="680000"/>
          </a:xfrm>
          <a:prstGeom prst="rect">
            <a:avLst/>
          </a:prstGeom>
          <a:noFill/>
        </p:spPr>
        <p:txBody>
          <a:bodyPr wrap="square">
            <a:spAutoFit/>
          </a:bodyPr>
          <a:lstStyle/>
          <a:p>
            <a:pPr algn="l"/>
            <a:r>
              <a:rPr sz="850" b="0">
                <a:solidFill>
                  <a:srgbClr val="ECE8F4"/>
                </a:solidFill>
                <a:latin typeface="メイリオ"/>
              </a:rPr>
              <a:t>貫通型ATと舞台演劇世界観の融合は意欲的な革新設計。
複雑性の「入口のハードル」を下げることができれば
パチスロアワード2025ノミネートの期待に応えうる台。</a:t>
            </a:r>
          </a:p>
        </p:txBody>
      </p:sp>
      <p:sp>
        <p:nvSpPr>
          <p:cNvPr id="38" name="Rectangle 37"/>
          <p:cNvSpPr/>
          <p:nvPr/>
        </p:nvSpPr>
        <p:spPr>
          <a:xfrm>
            <a:off x="0" y="4663440"/>
            <a:ext cx="9144000" cy="380000"/>
          </a:xfrm>
          <a:prstGeom prst="rect">
            <a:avLst/>
          </a:prstGeom>
          <a:solidFill>
            <a:srgbClr val="0603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0" y="4663440"/>
            <a:ext cx="20000" cy="380000"/>
          </a:xfrm>
          <a:prstGeom prst="rect">
            <a:avLst/>
          </a:prstGeom>
          <a:solidFill>
            <a:srgbClr val="CC22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01168" y="4703440"/>
            <a:ext cx="5486400" cy="160000"/>
          </a:xfrm>
          <a:prstGeom prst="rect">
            <a:avLst/>
          </a:prstGeom>
          <a:noFill/>
        </p:spPr>
        <p:txBody>
          <a:bodyPr wrap="square">
            <a:spAutoFit/>
          </a:bodyPr>
          <a:lstStyle/>
          <a:p>
            <a:pPr algn="l"/>
            <a:r>
              <a:rPr sz="750" b="1">
                <a:solidFill>
                  <a:srgbClr val="FF4466"/>
                </a:solidFill>
                <a:latin typeface="メイリオ"/>
              </a:rPr>
              <a:t>設計コメント：「ボーナスを引くほどATが育つ」という分かりやすい一言コンセプトに集約できれば訴求力は大きく変わる</a:t>
            </a:r>
          </a:p>
        </p:txBody>
      </p:sp>
      <p:sp>
        <p:nvSpPr>
          <p:cNvPr id="41" name="TextBox 40"/>
          <p:cNvSpPr txBox="1"/>
          <p:nvPr/>
        </p:nvSpPr>
        <p:spPr>
          <a:xfrm>
            <a:off x="201168" y="4863440"/>
            <a:ext cx="8412480" cy="160000"/>
          </a:xfrm>
          <a:prstGeom prst="rect">
            <a:avLst/>
          </a:prstGeom>
          <a:noFill/>
        </p:spPr>
        <p:txBody>
          <a:bodyPr wrap="square">
            <a:spAutoFit/>
          </a:bodyPr>
          <a:lstStyle/>
          <a:p>
            <a:pPr algn="l"/>
            <a:r>
              <a:rPr sz="700" b="0">
                <a:solidFill>
                  <a:srgbClr val="8888AA"/>
                </a:solidFill>
                <a:latin typeface="メイリオ"/>
              </a:rPr>
              <a:t>補足：原作「少女☆歌劇 レヴュースタァライト」のファン層＋パチスロファン層の両方を取り込める設計ポテンシャルを持つ</a:t>
            </a:r>
          </a:p>
        </p:txBody>
      </p:sp>
      <p:sp>
        <p:nvSpPr>
          <p:cNvPr id="42" name="TextBox 41"/>
          <p:cNvSpPr txBox="1"/>
          <p:nvPr/>
        </p:nvSpPr>
        <p:spPr>
          <a:xfrm>
            <a:off x="7498079" y="4919472"/>
            <a:ext cx="1554480" cy="180000"/>
          </a:xfrm>
          <a:prstGeom prst="rect">
            <a:avLst/>
          </a:prstGeom>
          <a:noFill/>
        </p:spPr>
        <p:txBody>
          <a:bodyPr wrap="square">
            <a:spAutoFit/>
          </a:bodyPr>
          <a:lstStyle/>
          <a:p>
            <a:pPr algn="r"/>
            <a:r>
              <a:rPr sz="700" b="0">
                <a:solidFill>
                  <a:srgbClr val="8888AA"/>
                </a:solidFill>
                <a:latin typeface="メイリオ"/>
              </a:rPr>
              <a:t>※ネット解析情報より</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