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スマスロ マギアレコード 魔法少女まどか☆マギカ外伝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Part A: 機種解説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13232"/>
            <a:ext cx="4297680" cy="210312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E88CC"/>
                </a:solidFill>
                <a:latin typeface="游明朝"/>
              </a:rPr>
              <a:t>基本スペック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07899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メーカー：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07899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ミズホ（ユニバーサルエンタ）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335024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導入日：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335024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2025年4月7日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591056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純増：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1591056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約2.6枚/G（AT中）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84708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天井：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1847088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ボーナス間950pt+α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21031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機械割：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9072" y="210312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97.6〜114.9%（設定1〜6）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35915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AT確率：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1/654.6〜1/416.7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713232"/>
            <a:ext cx="4251960" cy="21031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7498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4CCEE"/>
                </a:solidFill>
                <a:latin typeface="游明朝"/>
              </a:rPr>
              <a:t>この台の3ポイント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107899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① ストーリー×コンプリート体験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33502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8種ストーリーを集めてエンディングへ到達する物語体験型AT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157276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② 穢れシステム「ドッペルモード」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1828800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AT中に穢れが溜まると期待枚数3000枚超の爆発モードへ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066543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③ まどマギ世界観を完全再現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22576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初代ファン向けサウンド・演出・キャラが深く作り込まれた完成度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00600" y="2596896"/>
            <a:ext cx="4069080" cy="201168"/>
          </a:xfrm>
          <a:prstGeom prst="rect">
            <a:avLst/>
          </a:prstGeom>
          <a:solidFill>
            <a:srgbClr val="4422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2615184"/>
            <a:ext cx="3977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パチスロアワード 2025 SILVER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852928"/>
            <a:ext cx="8778240" cy="475488"/>
          </a:xfrm>
          <a:prstGeom prst="rect">
            <a:avLst/>
          </a:prstGeom>
          <a:solidFill>
            <a:srgbClr val="220022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889504"/>
            <a:ext cx="8503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初代『SLOT魔法少女まどか☆マギカ』のDNAを受け継ぎ、スマスロで進化──ストーリー攻略＋穢れ爆発の二重構造が今の等価市場で輝く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410712"/>
            <a:ext cx="8778240" cy="1234440"/>
          </a:xfrm>
          <a:prstGeom prst="rect">
            <a:avLst/>
          </a:prstGeom>
          <a:solidFill>
            <a:srgbClr val="14143A"/>
          </a:solidFill>
          <a:ln w="1524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34472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ボーナス4種類（AT突入への足掛かり）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749039"/>
            <a:ext cx="2084831" cy="749808"/>
          </a:xfrm>
          <a:prstGeom prst="rect">
            <a:avLst/>
          </a:prstGeom>
          <a:solidFill>
            <a:srgbClr val="180828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37856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CC44AA"/>
                </a:solidFill>
                <a:latin typeface="メイリオ"/>
              </a:rPr>
              <a:t>エピソードボーナス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" y="407822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50G継続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1" y="3749039"/>
            <a:ext cx="2084831" cy="749808"/>
          </a:xfrm>
          <a:prstGeom prst="rect">
            <a:avLst/>
          </a:prstGeom>
          <a:solidFill>
            <a:srgbClr val="1808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23744" y="37856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ビッグボーナス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3744" y="407822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30G+α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26864" y="3749039"/>
            <a:ext cx="2084831" cy="749808"/>
          </a:xfrm>
          <a:prstGeom prst="rect">
            <a:avLst/>
          </a:prstGeom>
          <a:solidFill>
            <a:srgbClr val="180828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0016" y="37856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CCEE"/>
                </a:solidFill>
                <a:latin typeface="メイリオ"/>
              </a:rPr>
              <a:t>みたまボーナス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0016" y="407822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ベルナビ8回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03136" y="3749039"/>
            <a:ext cx="2084831" cy="749808"/>
          </a:xfrm>
          <a:prstGeom prst="rect">
            <a:avLst/>
          </a:prstGeom>
          <a:solidFill>
            <a:srgbClr val="180828"/>
          </a:solidFill>
          <a:ln w="1905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37856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E88CC"/>
                </a:solidFill>
                <a:latin typeface="メイリオ"/>
              </a:rPr>
              <a:t>アリナミュージアム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8" y="407822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30G継続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設計：スマスロ×物語体験×穢れ爆発の三位一体設計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情報源: 一撃・ちょんぼりすた・パチセブン・P-WORLD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ゲームフロー全体図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全ルートを蛇行2段で可視化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658368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上段ルート（メインフロー）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" y="896112"/>
            <a:ext cx="1371600" cy="73152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通常時
（ポイント蓄積）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896112"/>
            <a:ext cx="1371600" cy="731520"/>
          </a:xfrm>
          <a:prstGeom prst="rect">
            <a:avLst/>
          </a:prstGeom>
          <a:solidFill>
            <a:srgbClr val="201030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マギア
チャレンジCZ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90672" y="896112"/>
            <a:ext cx="1371600" cy="731520"/>
          </a:xfrm>
          <a:prstGeom prst="rect">
            <a:avLst/>
          </a:prstGeom>
          <a:solidFill>
            <a:srgbClr val="101035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45536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ボーナス
4種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1144" y="896112"/>
            <a:ext cx="1371600" cy="731520"/>
          </a:xfrm>
          <a:prstGeom prst="rect">
            <a:avLst/>
          </a:prstGeom>
          <a:solidFill>
            <a:srgbClr val="3000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マギア
ラッシュAT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616" y="896112"/>
            <a:ext cx="1371600" cy="731520"/>
          </a:xfrm>
          <a:prstGeom prst="rect">
            <a:avLst/>
          </a:prstGeom>
          <a:solidFill>
            <a:srgbClr val="152510"/>
          </a:solidFill>
          <a:ln w="1905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ストーリー
コンプリート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62087" y="896112"/>
            <a:ext cx="1371600" cy="731520"/>
          </a:xfrm>
          <a:prstGeom prst="rect">
            <a:avLst/>
          </a:prstGeom>
          <a:solidFill>
            <a:srgbClr val="3010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1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エンディング
到達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" y="166420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▼ 天井 950pt+α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90472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62892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80944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53364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71416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43836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4308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360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24780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3687" y="1261872"/>
            <a:ext cx="109728" cy="64008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9728" y="1901952"/>
            <a:ext cx="8933687" cy="9144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1920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44AA"/>
                </a:solidFill>
                <a:latin typeface="メイリオ"/>
              </a:rPr>
              <a:t>↩ 折り返し（エンディング → 上位AT突入）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" y="2185415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下段ルート（上位AT・爆発ルート）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728" y="2423160"/>
            <a:ext cx="1371600" cy="914400"/>
          </a:xfrm>
          <a:prstGeom prst="rect">
            <a:avLst/>
          </a:prstGeom>
          <a:solidFill>
            <a:srgbClr val="3510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エンブリオ
イブ覚醒
(上位AT)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00200" y="2423160"/>
            <a:ext cx="1371600" cy="914400"/>
          </a:xfrm>
          <a:prstGeom prst="rect">
            <a:avLst/>
          </a:prstGeom>
          <a:solidFill>
            <a:srgbClr val="3015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55064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エンブリオ
イブアタック
(特化)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90672" y="2423160"/>
            <a:ext cx="1371600" cy="914400"/>
          </a:xfrm>
          <a:prstGeom prst="rect">
            <a:avLst/>
          </a:prstGeom>
          <a:solidFill>
            <a:srgbClr val="001535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45536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決戦
神浜聖女
(ST特化)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81144" y="2423160"/>
            <a:ext cx="1371600" cy="914400"/>
          </a:xfrm>
          <a:prstGeom prst="rect">
            <a:avLst/>
          </a:prstGeom>
          <a:solidFill>
            <a:srgbClr val="350008"/>
          </a:solidFill>
          <a:ln w="3175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36007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ドッペル
モード
(穢れ爆発)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71616" y="2423160"/>
            <a:ext cx="1371600" cy="914400"/>
          </a:xfrm>
          <a:prstGeom prst="rect">
            <a:avLst/>
          </a:prstGeom>
          <a:solidFill>
            <a:srgbClr val="250025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79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マギウス
バトル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62087" y="2423160"/>
            <a:ext cx="1371600" cy="914400"/>
          </a:xfrm>
          <a:prstGeom prst="rect">
            <a:avLst/>
          </a:prstGeom>
          <a:solidFill>
            <a:srgbClr val="101010"/>
          </a:solidFill>
          <a:ln w="190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16951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AT終了
→有利区間
リセット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90472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562892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80944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53364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1416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43836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61888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34308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52360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24780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9728" y="3566160"/>
            <a:ext cx="2889504" cy="658368"/>
          </a:xfrm>
          <a:prstGeom prst="rect">
            <a:avLst/>
          </a:prstGeom>
          <a:solidFill>
            <a:srgbClr val="08082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024" y="3611879"/>
            <a:ext cx="2724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天井 950pt+α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2024" y="3840480"/>
            <a:ext cx="2724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BBBBCC"/>
                </a:solidFill>
                <a:latin typeface="メイリオ"/>
              </a:rPr>
              <a:t>ポイント蓄積上限で強制ボーナス当選。スルー回数が増えるほど初当たりAT期待値が上昇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27248" y="3566160"/>
            <a:ext cx="2889504" cy="658368"/>
          </a:xfrm>
          <a:prstGeom prst="rect">
            <a:avLst/>
          </a:prstGeom>
          <a:solidFill>
            <a:srgbClr val="080820"/>
          </a:solidFill>
          <a:ln w="127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09544" y="3611879"/>
            <a:ext cx="2724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5555"/>
                </a:solidFill>
                <a:latin typeface="メイリオ"/>
              </a:rPr>
              <a:t>ドッペル爆発 3000枚超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9544" y="3840480"/>
            <a:ext cx="2724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BBBBCC"/>
                </a:solidFill>
                <a:latin typeface="メイリオ"/>
              </a:rPr>
              <a:t>穢れ解放で突入。AT終了まで上乗せ倍増。設定6以外でも3000枚超は十分現実的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44768" y="3566160"/>
            <a:ext cx="2889504" cy="658368"/>
          </a:xfrm>
          <a:prstGeom prst="rect">
            <a:avLst/>
          </a:prstGeom>
          <a:solidFill>
            <a:srgbClr val="080820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27064" y="3611879"/>
            <a:ext cx="2724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CCEE"/>
                </a:solidFill>
                <a:latin typeface="メイリオ"/>
              </a:rPr>
              <a:t>コンプ体験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7064" y="3840480"/>
            <a:ext cx="2724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BBBBCC"/>
                </a:solidFill>
                <a:latin typeface="メイリオ"/>
              </a:rPr>
              <a:t>8ストーリーをATで収集してエンディングへ。明確なゴールがAT継続モチベを維持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設計：通常→CZ→ボーナス→AT→コンプ→上位ATの二段構造が特徴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ゲームフロー：一撃/flick7/ちょんぼりすた 各解析より構成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通常時の遊び方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全ルート・天井・魔法少女モード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4206240" cy="182880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4980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ポイント蓄積システム（メイン突入経路）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7899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・毎ゲーム最低1pt以上獲得（液晶右下に表示）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35331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・有利区間開始・ボーナス終了・AT終了時に規定ptを再抽選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62763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・規定pt到達 → ボーナス当選（天井は950pt+α）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90195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・レア役（強チェリー・強スイカ等）で直接ボーナス抽選あり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17627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・魔法少女モードがAorBで抽選性能が変化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" y="2606040"/>
            <a:ext cx="4206240" cy="594360"/>
          </a:xfrm>
          <a:prstGeom prst="rect">
            <a:avLst/>
          </a:prstGeom>
          <a:solidFill>
            <a:srgbClr val="200020"/>
          </a:solidFill>
          <a:ln w="2286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4261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天井：ボーナス間 950pt+α 到達で強制当選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89864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＊スルー回数が増えるほど初当たりAT期待値UP（スルー狙い有効）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713232"/>
            <a:ext cx="4434840" cy="173736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74980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CZ種別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078992"/>
            <a:ext cx="4206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▶ マギアチャレンジ（通常）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298448"/>
            <a:ext cx="4206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スイカ/ポイント消化で突入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499616"/>
            <a:ext cx="4206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▶ 黒江チャレンジ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1719072"/>
            <a:ext cx="4206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突入した時点でAT濃厚！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1920240"/>
            <a:ext cx="4206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▶ 前兆中の昇格抽選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139696"/>
            <a:ext cx="4206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マギアCZ→黒江CZへアップグレード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2532888"/>
            <a:ext cx="4434840" cy="128016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5694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魔法少女モード（隠し内部モード）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8986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・モードA（通常）：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8986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標準的な抽選テーブルで運用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2095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・モードB（高確）：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CZ突入率・AT直撃率が大幅アップ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52043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・モード移行：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520439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ボーナス/AT終了時・特定役で再抽選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3877056"/>
            <a:ext cx="8823960" cy="804672"/>
          </a:xfrm>
          <a:prstGeom prst="rect">
            <a:avLst/>
          </a:prstGeom>
          <a:solidFill>
            <a:srgbClr val="0C0C28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390448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打ち方メモ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4114800"/>
            <a:ext cx="85039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・通常時：左リール枠上〜上段にBARを目押し（チェリー・スイカ取得のため）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297680"/>
            <a:ext cx="85039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・ナビ発生時：押し順ナビに従う（ペナルティあり）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4480560"/>
            <a:ext cx="85039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・朝一：設定変更後は有利区間ランプ消灯→規定ptリセット→狙い目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設計：黒江CZ=AT濃厚という演出設計がモチベーションを生む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通常時の核心：ポイント蓄積＋モード管理でCZ/ボーナスを引く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CZ・前兆の仕組み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突破条件と演出の見方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5440680" cy="283464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498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44AA"/>
                </a:solidFill>
                <a:latin typeface="游明朝"/>
              </a:rPr>
              <a:t>マギアチャレンジ（CZ）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突入条件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11556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①規定ポイント消化  ②スイカ/強レア役  ③前兆経由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356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ゲーム数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435607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最大30G程度（成功/失敗で抽選）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7556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突破条件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75564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CZ中のレア役成立・ゲーム数消化・特定演出成功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07568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成功時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07568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メイリオ"/>
              </a:rPr>
              <a:t>ボーナス当選（4種のいずれか）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失敗時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39572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CC"/>
                </a:solidFill>
                <a:latin typeface="メイリオ"/>
              </a:rPr>
              <a:t>通常に戻る（ポイントは引き継ぎ）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40280"/>
            <a:ext cx="5120640" cy="804672"/>
          </a:xfrm>
          <a:prstGeom prst="rect">
            <a:avLst/>
          </a:prstGeom>
          <a:solidFill>
            <a:srgbClr val="2818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28600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黒江チャレンジ ＝ AT濃厚！（最重要CZ）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57860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マギアCZの本前兆中に昇格抽選あり。発生時点でAT当確レベルの強CZ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" y="3108960"/>
            <a:ext cx="5440680" cy="658368"/>
          </a:xfrm>
          <a:prstGeom prst="rect">
            <a:avLst/>
          </a:prstGeom>
          <a:solidFill>
            <a:srgbClr val="14143A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CZ中の演出示唆（見方）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・ホムラ登場 → 高期待度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・4人集合演出 → ボーナス濃厚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・テロップ色変化 → 昇格示唆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713232"/>
            <a:ext cx="3291840" cy="3054096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0" y="7498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4CCEE"/>
                </a:solidFill>
                <a:latin typeface="游明朝"/>
              </a:rPr>
              <a:t>前兆の種類と見分け方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06440" y="1115568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11612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本前兆（弱）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138988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画面色が薄く変化
小役連続で少し期待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1828800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1874519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本前兆（強）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210312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ステージ移行＋キャラ会話
ボーナス確率大幅UP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2542032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258775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CC"/>
                </a:solidFill>
                <a:latin typeface="メイリオ"/>
              </a:rPr>
              <a:t>ガセ前兆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281635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通常時にも発生
演出で見分けが難しい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255264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330098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黒江前兆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52958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固有演出で出現
AT確定レベル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設計：黒江チャレンジのAT確定演出が「打ち続ける動機」を作る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CZ設計：弱→強→黒江の段階的期待感とガセの使い方が秀逸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AT「マギアラッシュ」の仕組み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何をすれば出玉が伸びる？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8869680" cy="548640"/>
          </a:xfrm>
          <a:prstGeom prst="rect">
            <a:avLst/>
          </a:prstGeom>
          <a:solidFill>
            <a:srgbClr val="200028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純増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約2.6枚/G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タイプ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ゲーム数管理型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初期G数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マギアアタックで決定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79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最大目標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ストーリー8種コンプ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" y="1371600"/>
            <a:ext cx="4297680" cy="2487168"/>
          </a:xfrm>
          <a:prstGeom prst="rect">
            <a:avLst/>
          </a:prstGeom>
          <a:solidFill>
            <a:srgbClr val="14143A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408176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上乗せ手段（出玉の伸ばし方）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1737360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177393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レア役直乗せ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1773936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5〜100G
レア役成立時に直接G数上乗せ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221991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25856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ストーリー当選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5856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コンプ数UP
全8種集めるとエンディング権利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2706624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74320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決戦神浜聖女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274320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ST型特化ゾーン
成立役で連続G数上乗せ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3191256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322783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44AA"/>
                </a:solidFill>
                <a:latin typeface="メイリオ"/>
              </a:rPr>
              <a:t>マギウスバトル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2278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バトル勝利でAT継続/上乗せ
敗北で転落リスク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3675888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712464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ドッペルモード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12464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穢れ解放で突入
上乗せ倍増・3000枚超期待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1371600"/>
            <a:ext cx="4434840" cy="2487168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140817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ストーリーシステム（AT継続の核）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173736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AT中に8種のストーリーを収集し、コンプリートでエンディング→上位AT権利獲得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76272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219456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① 覚醒のマギア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79" y="2176272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219456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② 禁断の実験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505456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09160" y="25237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③ 闇のウワサ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12279" y="2505456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25237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④ 聖女の誓い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2834639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285292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⑤ 魔女の誘惑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79" y="2834639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285292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⑥ 因果の轍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163823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318211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⑦ 決意の代償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12279" y="3163823"/>
            <a:ext cx="2084831" cy="274320"/>
          </a:xfrm>
          <a:prstGeom prst="rect">
            <a:avLst/>
          </a:prstGeom>
          <a:solidFill>
            <a:srgbClr val="301500"/>
          </a:solidFill>
          <a:ln w="1016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0" y="318211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D700"/>
                </a:solidFill>
                <a:latin typeface="メイリオ"/>
              </a:rPr>
              <a:t>⑧ 真実の扉（コンプ）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3886200"/>
            <a:ext cx="4434840" cy="612648"/>
          </a:xfrm>
          <a:prstGeom prst="rect">
            <a:avLst/>
          </a:prstGeom>
          <a:solidFill>
            <a:srgbClr val="1A001A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09160" y="3922776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C44AA"/>
                </a:solidFill>
                <a:latin typeface="メイリオ"/>
              </a:rPr>
              <a:t>マギアアタック（AT開幕）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9160" y="417880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キャラカード×属性×成立役で初期G数を決定。対応役を引けば上乗せ優遇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設計：「引き続ける疲労感」と「コンプ達成感」がトレードオフ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出玉設計：G数直乗せ×ストーリーコンプ×ドッペル爆発の三段階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上位ATへの道と遊び方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エンブリオ・イブ覚醒 ＆ ドッペルモード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5257800" cy="32004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2560320" cy="347472"/>
          </a:xfrm>
          <a:prstGeom prst="rect">
            <a:avLst/>
          </a:prstGeom>
          <a:solidFill>
            <a:srgbClr val="4018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768096"/>
            <a:ext cx="24688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エンブリオ・イブ覚醒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170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ストーリー8種コンプリートでエンディング到達後に突入する上位AT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417320"/>
            <a:ext cx="914400" cy="329184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444752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63040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ストーリー8種をAT中に収集（コンプ）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1746504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856232"/>
            <a:ext cx="914400" cy="329184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" y="1883664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1901952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エンディング（コンプリート報酬）到達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2185416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2295144"/>
            <a:ext cx="914400" cy="329184"/>
          </a:xfrm>
          <a:prstGeom prst="rect">
            <a:avLst/>
          </a:prstGeom>
          <a:solidFill>
            <a:srgbClr val="281000"/>
          </a:solidFill>
          <a:ln w="1270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" y="2322576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E88CC"/>
                </a:solidFill>
                <a:latin typeface="メイリオ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340864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エンブリオ・イブ覚醒準備（32G）※左第一停止厳守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2624328"/>
            <a:ext cx="109728" cy="109728"/>
          </a:xfrm>
          <a:prstGeom prst="rect">
            <a:avLst/>
          </a:prstGeom>
          <a:solidFill>
            <a:srgbClr val="EE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2734056"/>
            <a:ext cx="914400" cy="329184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" y="2761488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2779776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エンブリオ・イブアタック突入（10G+α特化）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" y="3063240"/>
            <a:ext cx="109728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172968"/>
            <a:ext cx="914400" cy="329184"/>
          </a:xfrm>
          <a:prstGeom prst="rect">
            <a:avLst/>
          </a:prstGeom>
          <a:solidFill>
            <a:srgbClr val="281000"/>
          </a:solidFill>
          <a:ln w="1270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3200400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44EE88"/>
                </a:solidFill>
                <a:latin typeface="メイリオ"/>
              </a:rPr>
              <a:t>STEP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3218688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特化中に大量G数を上乗せ → 超長期AT突入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3502152"/>
            <a:ext cx="109728" cy="109728"/>
          </a:xfrm>
          <a:prstGeom prst="rect">
            <a:avLst/>
          </a:prstGeom>
          <a:solidFill>
            <a:srgbClr val="44E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36576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5555"/>
                </a:solidFill>
                <a:latin typeface="メイリオ"/>
              </a:rPr>
              <a:t>※準備区間中はペナルティあり。必ず左第一停止を守ること！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2120" y="713232"/>
            <a:ext cx="3401568" cy="32004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23560" y="749808"/>
            <a:ext cx="3218688" cy="347472"/>
          </a:xfrm>
          <a:prstGeom prst="rect">
            <a:avLst/>
          </a:prstGeom>
          <a:solidFill>
            <a:srgbClr val="35001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768096"/>
            <a:ext cx="3127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5555"/>
                </a:solidFill>
                <a:latin typeface="メイリオ"/>
              </a:rPr>
              <a:t>ドッペルモード（穢れ爆発）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1170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発動条件：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11704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穢れが一定量蓄積→解放抽選通過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23560" y="1508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継続期間：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1508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AT終了まで継続（永続）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184708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上乗せ性能：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184708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通常の数倍の上乗せ期待値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60" y="21854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期待枚数：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21854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3000枚超（6以外でも到達可）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23560" y="25237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穢れの蓄積：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25237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通常時の特定演出・負けた回数で加算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23560" y="2788920"/>
            <a:ext cx="3218688" cy="868680"/>
          </a:xfrm>
          <a:prstGeom prst="rect">
            <a:avLst/>
          </a:prstGeom>
          <a:solidFill>
            <a:srgbClr val="250008"/>
          </a:solidFill>
          <a:ln w="127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15000" y="282549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ドッペルモード演出サイン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0" y="308152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・画面が赤黒く染まる
・魔女側のBGMに切り替わる
・上乗せ数字が激増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設計：穢れは「負けた積み上げが報われる」逆転設計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上位AT設計：コンプリート達成感 ＋ ドッペル爆発の二軸で中長期モチベ維持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面白さの設計分析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なぜパチスロアワード2025 SILVERを獲れたのか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8869680" cy="420624"/>
          </a:xfrm>
          <a:prstGeom prst="rect">
            <a:avLst/>
          </a:prstGeom>
          <a:solidFill>
            <a:srgbClr val="3015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58952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D700"/>
                </a:solidFill>
                <a:latin typeface="メイリオ"/>
              </a:rPr>
              <a:t>パチスロアワード2025 SILVER受賞 ──「遊技台としての完成度の高さ」と「現在のユーザーニーズへの合致」が評価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" y="123444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271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CCEE"/>
                </a:solidFill>
                <a:latin typeface="メイリオ"/>
              </a:rPr>
              <a:t>🎯 ゴール設計  物語体験の設計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52704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8種ストーリーを1AT中に少しずつ集める「コレクション欲求」を刺激。コンプリートという明確なゴールがAT継続中ずっとプレイヤーを引きつける。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23444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271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5555"/>
                </a:solidFill>
                <a:latin typeface="メイリオ"/>
              </a:rPr>
              <a:t>🔄 逆転快感  逆転設計（穢れシステム）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52704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通常時の負けが「穢れ」として蓄積し、ドッペルモードで爆発する設計。「負けるほど強くなる」という逆転快感がロングセッションを促進。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" y="228600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23225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EE88"/>
                </a:solidFill>
                <a:latin typeface="メイリオ"/>
              </a:rPr>
              <a:t>⏱ 時間設計  マイルドな投資/出玉速度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257860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純増2.6枚/Gというスマスロ基準では控えめな数値が「疲れにくいペース」を実現。ゆったり打ちたい層・ライトユーザー需要に合致した遊技体験。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228600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3225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E88CC"/>
                </a:solidFill>
                <a:latin typeface="メイリオ"/>
              </a:rPr>
              <a:t>🌟 IP活用  IPとゲーム性の融合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57860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まどかマギカの「魔法少女の穢れと絶望」というテーマをドッペルモードに昇華。世界観とゲーム性が一致しているため演出に説得力がある。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333756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23160" y="33741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♻ 継承設計  初代ファンへの継承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363016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初代SLOT魔法少女まどか☆マギカのサウンド・キャラ・演出を踏襲しつつスマスロで新機軸を加えた「懐かし×新鮮」のバランス設計。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設計：等価市場でも戦える機械割97.6〜114.9%が後押し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受賞の核：テーマ×逆転×コレクションの三位一体が完成度を押し上げた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良い点と課題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Part B: ユーザー評価＋設計視点の分析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4297680" cy="3794760"/>
          </a:xfrm>
          <a:prstGeom prst="rect">
            <a:avLst/>
          </a:prstGeom>
          <a:solidFill>
            <a:srgbClr val="14143A"/>
          </a:solidFill>
          <a:ln w="2540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2011680" cy="347472"/>
          </a:xfrm>
          <a:prstGeom prst="rect">
            <a:avLst/>
          </a:prstGeom>
          <a:solidFill>
            <a:srgbClr val="002A1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76809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EE88"/>
                </a:solidFill>
                <a:latin typeface="メイリオ"/>
              </a:rPr>
              <a:t>良い点 PROS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17043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2070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世界観の完成度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2070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まどかマギカIPを機種性能と直結させた演出作りが秀逸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71907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75564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コンプリート体験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75564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8ストーリー集めの達成感が他機種にない一体感を生む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226771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3042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穢れ→ドッペル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30428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「負けが報われる」逆転設計がロングセッションを促進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81635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85292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マイルドな純増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85292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2.6枚/GでATが長く続く安心感。疲れにくい遊技体験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36499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40156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設定差の明確さ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340156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機械割97.6〜114.9%の幅で高設定を打つ意義が明確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391363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万枚実績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9502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稼働初期から万枚・コンプリート報告が相次いだ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713232"/>
            <a:ext cx="4297680" cy="379476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0" y="749808"/>
            <a:ext cx="1828800" cy="347472"/>
          </a:xfrm>
          <a:prstGeom prst="rect">
            <a:avLst/>
          </a:prstGeom>
          <a:solidFill>
            <a:srgbClr val="2A0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768096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5555"/>
                </a:solidFill>
                <a:latin typeface="メイリオ"/>
              </a:rPr>
              <a:t>課題 CONS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17043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3752" y="12070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疲労感の強さ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2070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常に何かを引き続けないとATが伸びない構造。集中力消耗が大きい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171907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3752" y="175564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ライト層の離脱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75564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ストーリーコンプの難易度が初心者には高く感じられる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26771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73752" y="23042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ガセ前兆の多さ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30428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通常時のガセ前兆が多く「空振りが続く」ストレスが蓄積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281635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73752" y="285292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準備区間ペナ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85292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エンブリオイブ覚醒準備中のペナルティが知らないと損失大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336499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73752" y="340156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ドッペル依存度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340156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爆発力がドッペルモード頼みで非突入時の出玉がやや物足りない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391363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73752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IP知識格差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9502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原作未視聴者には演出の背景が伝わりにくく没入感に差が出る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設計：情報源: アミュタメ/DMM PALOR/ONEHALLサービス/パーラーフルスロットル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総評：コアユーザー向け高完成度機。ライト向け間口の広げ方が次世代への課題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まとめ・設計から学べること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7315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E88CC"/>
                </a:solidFill>
                <a:latin typeface="メイリオ"/>
              </a:rPr>
              <a:t>スロクリ設計視点からの総括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游明朝"/>
              </a:rPr>
              <a:t>この機種が示す「現代スマスロ設計の成功方程式」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4CCEE"/>
                </a:solidFill>
                <a:latin typeface="游明朝"/>
              </a:rPr>
              <a:t>学び①
ゴール設計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コンプリートという「明確なゴール」を設けることで、AT中のプレイヤーの動機が持続する。ゴールが見えるゲームは打ち手を能動的にする。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1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7832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5555"/>
                </a:solidFill>
                <a:latin typeface="游明朝"/>
              </a:rPr>
              <a:t>学び②
逆転設計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「穢れ」のように不利な状況を貯蓄して有利に転換する仕組みは、敗北体験を「投資感」に変換し、継続遊技へのモチベを生み出す。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3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3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  <a:latin typeface="游明朝"/>
              </a:rPr>
              <a:t>学び③
IP×ゲーム性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3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テーマ（魔法少女の絶望と穢れ）とゲームメカニクス（ドッペルモード）を直結させることで「演出に説得力」が生まれ、世界観浸透度が向上する。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" y="2834640"/>
            <a:ext cx="8869680" cy="1572768"/>
          </a:xfrm>
          <a:prstGeom prst="rect">
            <a:avLst/>
          </a:prstGeom>
          <a:solidFill>
            <a:srgbClr val="080820"/>
          </a:solidFill>
          <a:ln w="1016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28712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BBCC"/>
                </a:solidFill>
                <a:latin typeface="メイリオ"/>
              </a:rPr>
              <a:t>総括スコア（設計視点）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ゲーム性完成度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★★★★★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出玉設計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EE88"/>
                </a:solidFill>
                <a:latin typeface="メイリオ"/>
              </a:rPr>
              <a:t>★★★★☆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演出・世界観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ライト向け間口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★★★☆☆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設定差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E88CC"/>
                </a:solidFill>
                <a:latin typeface="メイリオ"/>
              </a:rPr>
              <a:t>★★★★☆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" y="4059936"/>
            <a:ext cx="8869680" cy="502920"/>
          </a:xfrm>
          <a:prstGeom prst="rect">
            <a:avLst/>
          </a:prstGeom>
          <a:solidFill>
            <a:srgbClr val="3010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096512"/>
            <a:ext cx="8503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D700"/>
                </a:solidFill>
                <a:latin typeface="メイリオ"/>
              </a:rPr>
              <a:t>総合評価：IP活用×逆転設計×コレクション体験を高水準で統合した、現代スマスロの教科書的設計機。コア層には強く刺さり、アワードSILVER受賞は必然。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設計：次世代機への示唆：ライト向け短期セッションへの対応が残課題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設計の本質：「負け→蓄積→爆発」のサイクルと「物語の完結」が共存する稀有な設計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