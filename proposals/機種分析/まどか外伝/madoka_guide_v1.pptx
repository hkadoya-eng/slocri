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550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游明朝"/>
              </a:rPr>
              <a:t>スマスロ マギアレコード 魔法少女まどか☆マギカ外伝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EE88CC"/>
                </a:solidFill>
                <a:latin typeface="メイリオ"/>
              </a:rPr>
              <a:t>Part A: 機種解説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685800"/>
            <a:ext cx="3063240" cy="347472"/>
          </a:xfrm>
          <a:prstGeom prst="rect">
            <a:avLst/>
          </a:prstGeom>
          <a:solidFill>
            <a:srgbClr val="44220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89320" y="704088"/>
            <a:ext cx="2971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D700"/>
                </a:solidFill>
                <a:latin typeface="メイリオ"/>
              </a:rPr>
              <a:t>パチスロアワード 2025 SILVER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713232"/>
            <a:ext cx="4297680" cy="1783080"/>
          </a:xfrm>
          <a:prstGeom prst="rect">
            <a:avLst/>
          </a:prstGeom>
          <a:solidFill>
            <a:srgbClr val="14143A"/>
          </a:solidFill>
          <a:ln w="1905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749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E88CC"/>
                </a:solidFill>
                <a:latin typeface="游明朝"/>
              </a:rPr>
              <a:t>基本スペック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078992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メーカー：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9072" y="107899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ミズホ（ユニバーサルエンタ）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1362456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導入日：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19072" y="1362456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2025年4月7日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1645920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純増：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19072" y="1645920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約2.6枚/G（AT中）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1929384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天井：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19072" y="1929384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ボーナス間950pt+α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2212848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機械割：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2212848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97.6〜114.9%（設定1〜6）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2496312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AT確率：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19072" y="249631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1/654.6〜1/416.7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09160" y="713232"/>
            <a:ext cx="4251960" cy="1783080"/>
          </a:xfrm>
          <a:prstGeom prst="rect">
            <a:avLst/>
          </a:prstGeom>
          <a:solidFill>
            <a:srgbClr val="14143A"/>
          </a:solidFill>
          <a:ln w="1905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74980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4CCEE"/>
                </a:solidFill>
                <a:latin typeface="游明朝"/>
              </a:rPr>
              <a:t>この台の3ポイント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1078992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メイリオ"/>
              </a:rPr>
              <a:t>① ストーリー×コンプリート体験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1335024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8種ストーリーを集めてエンディングへ到達する物語体験型AT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1645919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メイリオ"/>
              </a:rPr>
              <a:t>② 穢れシステム「ドッペルモード」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1901952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AT中に穢れが溜まると期待枚数3000枚超の爆発モードへ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2212848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メイリオ"/>
              </a:rPr>
              <a:t>③ まどマギ世界観を完全再現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468880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初代ファン向けサウンド・演出・キャラが深く作り込まれた完成度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880" y="2606040"/>
            <a:ext cx="8778240" cy="475488"/>
          </a:xfrm>
          <a:prstGeom prst="rect">
            <a:avLst/>
          </a:prstGeom>
          <a:solidFill>
            <a:srgbClr val="220022"/>
          </a:solidFill>
          <a:ln w="1270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2642616"/>
            <a:ext cx="8503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メイリオ"/>
              </a:rPr>
              <a:t>初代『SLOT魔法少女まどか☆マギカ』のDNAを受け継ぎ、スマスロで進化──ストーリー攻略＋穢れ爆発の二重構造が今の等価市場で輝く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3182112"/>
            <a:ext cx="8778240" cy="1298448"/>
          </a:xfrm>
          <a:prstGeom prst="rect">
            <a:avLst/>
          </a:prstGeom>
          <a:solidFill>
            <a:srgbClr val="14143A"/>
          </a:solidFill>
          <a:ln w="1524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32186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4CCEE"/>
                </a:solidFill>
                <a:latin typeface="メイリオ"/>
              </a:rPr>
              <a:t>ボーナス4種類（AT突入への足掛かり）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3520440"/>
            <a:ext cx="2084831" cy="804672"/>
          </a:xfrm>
          <a:prstGeom prst="rect">
            <a:avLst/>
          </a:prstGeom>
          <a:solidFill>
            <a:srgbClr val="180828"/>
          </a:solidFill>
          <a:ln w="1905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" y="355701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CC44AA"/>
                </a:solidFill>
                <a:latin typeface="メイリオ"/>
              </a:rPr>
              <a:t>エピソードボーナス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" y="3877056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50G継続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50591" y="3520440"/>
            <a:ext cx="2084831" cy="804672"/>
          </a:xfrm>
          <a:prstGeom prst="rect">
            <a:avLst/>
          </a:prstGeom>
          <a:solidFill>
            <a:srgbClr val="180828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23744" y="355701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D700"/>
                </a:solidFill>
                <a:latin typeface="メイリオ"/>
              </a:rPr>
              <a:t>ビッグボーナス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23744" y="3877056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30G+α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26864" y="3520440"/>
            <a:ext cx="2084831" cy="804672"/>
          </a:xfrm>
          <a:prstGeom prst="rect">
            <a:avLst/>
          </a:prstGeom>
          <a:solidFill>
            <a:srgbClr val="180828"/>
          </a:solidFill>
          <a:ln w="1905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00016" y="355701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44CCEE"/>
                </a:solidFill>
                <a:latin typeface="メイリオ"/>
              </a:rPr>
              <a:t>みたまボーナス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00016" y="3877056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ベルナビ8回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03136" y="3520440"/>
            <a:ext cx="2084831" cy="804672"/>
          </a:xfrm>
          <a:prstGeom prst="rect">
            <a:avLst/>
          </a:prstGeom>
          <a:solidFill>
            <a:srgbClr val="180828"/>
          </a:solidFill>
          <a:ln w="19050">
            <a:solidFill>
              <a:srgbClr val="EE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76288" y="355701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E88CC"/>
                </a:solidFill>
                <a:latin typeface="メイリオ"/>
              </a:rPr>
              <a:t>アリナミュージアム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76288" y="3877056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30G継続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50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160" y="4727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設計：スマスロ×物語体験×穢れ爆発の三位一体設計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0" y="472744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BBBCC"/>
                </a:solidFill>
                <a:latin typeface="メイリオ"/>
              </a:rPr>
              <a:t>情報源: 一撃・ちょんぼりすた・パチセブン・P-WORLD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550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游明朝"/>
              </a:rPr>
              <a:t>ゲームフロー全体図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EE88CC"/>
                </a:solidFill>
                <a:latin typeface="メイリオ"/>
              </a:rPr>
              <a:t>全ルートを蛇行2段で可視化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" y="658368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上段ルート（メインフロー）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" y="896112"/>
            <a:ext cx="1371600" cy="731520"/>
          </a:xfrm>
          <a:prstGeom prst="rect">
            <a:avLst/>
          </a:prstGeom>
          <a:solidFill>
            <a:srgbClr val="14143A"/>
          </a:solidFill>
          <a:ln w="1905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" y="969264"/>
            <a:ext cx="1261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メイリオ"/>
              </a:rPr>
              <a:t>通常時
（ポイント蓄積）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896112"/>
            <a:ext cx="1371600" cy="731520"/>
          </a:xfrm>
          <a:prstGeom prst="rect">
            <a:avLst/>
          </a:prstGeom>
          <a:solidFill>
            <a:srgbClr val="201030"/>
          </a:solidFill>
          <a:ln w="1905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5064" y="969264"/>
            <a:ext cx="1261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メイリオ"/>
              </a:rPr>
              <a:t>マギア
チャレンジCZ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90672" y="896112"/>
            <a:ext cx="1371600" cy="731520"/>
          </a:xfrm>
          <a:prstGeom prst="rect">
            <a:avLst/>
          </a:prstGeom>
          <a:solidFill>
            <a:srgbClr val="101035"/>
          </a:solidFill>
          <a:ln w="1905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45536" y="969264"/>
            <a:ext cx="1261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メイリオ"/>
              </a:rPr>
              <a:t>ボーナス
4種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81144" y="896112"/>
            <a:ext cx="1371600" cy="731520"/>
          </a:xfrm>
          <a:prstGeom prst="rect">
            <a:avLst/>
          </a:prstGeom>
          <a:solidFill>
            <a:srgbClr val="3000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969264"/>
            <a:ext cx="1261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メイリオ"/>
              </a:rPr>
              <a:t>マギア
ラッシュAT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71616" y="896112"/>
            <a:ext cx="1371600" cy="731520"/>
          </a:xfrm>
          <a:prstGeom prst="rect">
            <a:avLst/>
          </a:prstGeom>
          <a:solidFill>
            <a:srgbClr val="152510"/>
          </a:solidFill>
          <a:ln w="19050">
            <a:solidFill>
              <a:srgbClr val="44EE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79" y="969264"/>
            <a:ext cx="1261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メイリオ"/>
              </a:rPr>
              <a:t>ストーリー
コンプリート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62087" y="896112"/>
            <a:ext cx="1371600" cy="731520"/>
          </a:xfrm>
          <a:prstGeom prst="rect">
            <a:avLst/>
          </a:prstGeom>
          <a:solidFill>
            <a:srgbClr val="30100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16951" y="969264"/>
            <a:ext cx="1261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メイリオ"/>
              </a:rPr>
              <a:t>エンディング
到達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" y="166420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D700"/>
                </a:solidFill>
                <a:latin typeface="メイリオ"/>
              </a:rPr>
              <a:t>▼ 天井 950pt+α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90472" y="1225295"/>
            <a:ext cx="75438" cy="8229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62892" y="1152143"/>
            <a:ext cx="28163" cy="22860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980944" y="1225295"/>
            <a:ext cx="75438" cy="8229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053364" y="1152143"/>
            <a:ext cx="28163" cy="22860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71416" y="1225295"/>
            <a:ext cx="75438" cy="8229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43836" y="1152143"/>
            <a:ext cx="28163" cy="22860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61888" y="1225295"/>
            <a:ext cx="75438" cy="8229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34308" y="1152143"/>
            <a:ext cx="28163" cy="22860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52360" y="1225295"/>
            <a:ext cx="75438" cy="8229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524780" y="1152143"/>
            <a:ext cx="28163" cy="22860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33687" y="1261872"/>
            <a:ext cx="109728" cy="64008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9728" y="1901952"/>
            <a:ext cx="8933687" cy="9144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17520" y="19202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44AA"/>
                </a:solidFill>
                <a:latin typeface="メイリオ"/>
              </a:rPr>
              <a:t>↩ 折り返し（エンディング → 上位AT突入）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" y="2185415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下段ルート（上位AT・爆発ルート）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9728" y="2423160"/>
            <a:ext cx="1371600" cy="914400"/>
          </a:xfrm>
          <a:prstGeom prst="rect">
            <a:avLst/>
          </a:prstGeom>
          <a:solidFill>
            <a:srgbClr val="3510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4592" y="2514600"/>
            <a:ext cx="126187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メイリオ"/>
              </a:rPr>
              <a:t>エンブリオ
イブ覚醒
(上位AT)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600200" y="2423160"/>
            <a:ext cx="1371600" cy="914400"/>
          </a:xfrm>
          <a:prstGeom prst="rect">
            <a:avLst/>
          </a:prstGeom>
          <a:solidFill>
            <a:srgbClr val="30150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55064" y="2514600"/>
            <a:ext cx="126187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メイリオ"/>
              </a:rPr>
              <a:t>エンブリオ
イブアタック
(特化)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90672" y="2423160"/>
            <a:ext cx="1371600" cy="914400"/>
          </a:xfrm>
          <a:prstGeom prst="rect">
            <a:avLst/>
          </a:prstGeom>
          <a:solidFill>
            <a:srgbClr val="001535"/>
          </a:solidFill>
          <a:ln w="1905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45536" y="2514600"/>
            <a:ext cx="126187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メイリオ"/>
              </a:rPr>
              <a:t>決戦
神浜聖女
(ST特化)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81144" y="2423160"/>
            <a:ext cx="1371600" cy="914400"/>
          </a:xfrm>
          <a:prstGeom prst="rect">
            <a:avLst/>
          </a:prstGeom>
          <a:solidFill>
            <a:srgbClr val="350008"/>
          </a:solidFill>
          <a:ln w="3175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36007" y="2514600"/>
            <a:ext cx="126187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メイリオ"/>
              </a:rPr>
              <a:t>ドッペル
モード
(穢れ爆発)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71616" y="2423160"/>
            <a:ext cx="1371600" cy="914400"/>
          </a:xfrm>
          <a:prstGeom prst="rect">
            <a:avLst/>
          </a:prstGeom>
          <a:solidFill>
            <a:srgbClr val="250025"/>
          </a:solidFill>
          <a:ln w="1905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26479" y="2514600"/>
            <a:ext cx="126187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メイリオ"/>
              </a:rPr>
              <a:t>マギウス
バトル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62087" y="2423160"/>
            <a:ext cx="1371600" cy="914400"/>
          </a:xfrm>
          <a:prstGeom prst="rect">
            <a:avLst/>
          </a:prstGeom>
          <a:solidFill>
            <a:srgbClr val="101010"/>
          </a:solidFill>
          <a:ln w="1905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16951" y="2514600"/>
            <a:ext cx="126187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メイリオ"/>
              </a:rPr>
              <a:t>AT終了
→有利区間
リセット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90472" y="2843784"/>
            <a:ext cx="75438" cy="8229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562892" y="2770632"/>
            <a:ext cx="28163" cy="22860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80944" y="2843784"/>
            <a:ext cx="75438" cy="8229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053364" y="2770632"/>
            <a:ext cx="28163" cy="22860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71416" y="2843784"/>
            <a:ext cx="75438" cy="8229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43836" y="2770632"/>
            <a:ext cx="28163" cy="22860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961888" y="2843784"/>
            <a:ext cx="75438" cy="8229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34308" y="2770632"/>
            <a:ext cx="28163" cy="22860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452360" y="2843784"/>
            <a:ext cx="75438" cy="82296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24780" y="2770632"/>
            <a:ext cx="28163" cy="228600"/>
          </a:xfrm>
          <a:prstGeom prst="rect">
            <a:avLst/>
          </a:prstGeom>
          <a:solidFill>
            <a:srgbClr val="CC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9728" y="3566160"/>
            <a:ext cx="2889504" cy="658368"/>
          </a:xfrm>
          <a:prstGeom prst="rect">
            <a:avLst/>
          </a:prstGeom>
          <a:solidFill>
            <a:srgbClr val="08082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92024" y="3611879"/>
            <a:ext cx="2724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D700"/>
                </a:solidFill>
                <a:latin typeface="メイリオ"/>
              </a:rPr>
              <a:t>天井 950pt+α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92024" y="3840480"/>
            <a:ext cx="2724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BBBBCC"/>
                </a:solidFill>
                <a:latin typeface="メイリオ"/>
              </a:rPr>
              <a:t>ポイント蓄積上限で強制ボーナス当選。スルー回数が増えるほど初当たりAT期待値が上昇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27248" y="3566160"/>
            <a:ext cx="2889504" cy="658368"/>
          </a:xfrm>
          <a:prstGeom prst="rect">
            <a:avLst/>
          </a:prstGeom>
          <a:solidFill>
            <a:srgbClr val="080820"/>
          </a:solidFill>
          <a:ln w="1270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209544" y="3611879"/>
            <a:ext cx="2724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5555"/>
                </a:solidFill>
                <a:latin typeface="メイリオ"/>
              </a:rPr>
              <a:t>ドッペル爆発 3000枚超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09544" y="3840480"/>
            <a:ext cx="2724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BBBBCC"/>
                </a:solidFill>
                <a:latin typeface="メイリオ"/>
              </a:rPr>
              <a:t>穢れ解放で突入。AT終了まで上乗せ倍増。設定6以外でも3000枚超は十分現実的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44768" y="3566160"/>
            <a:ext cx="2889504" cy="658368"/>
          </a:xfrm>
          <a:prstGeom prst="rect">
            <a:avLst/>
          </a:prstGeom>
          <a:solidFill>
            <a:srgbClr val="080820"/>
          </a:solidFill>
          <a:ln w="1270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27064" y="3611879"/>
            <a:ext cx="2724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44CCEE"/>
                </a:solidFill>
                <a:latin typeface="メイリオ"/>
              </a:rPr>
              <a:t>コンプ体験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27064" y="3840480"/>
            <a:ext cx="2724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BBBBCC"/>
                </a:solidFill>
                <a:latin typeface="メイリオ"/>
              </a:rPr>
              <a:t>8ストーリーをATで収集してエンディングへ。明確なゴールがAT継続モチベを維持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50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7160" y="4727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設計：通常→CZ→ボーナス→AT→コンプ→上位ATの二段構造が特徴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0" y="472744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BBBCC"/>
                </a:solidFill>
                <a:latin typeface="メイリオ"/>
              </a:rPr>
              <a:t>ゲームフロー：一撃/flick7/ちょんぼりすた 各解析より構成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550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游明朝"/>
              </a:rPr>
              <a:t>通常時の遊び方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EE88CC"/>
                </a:solidFill>
                <a:latin typeface="メイリオ"/>
              </a:rPr>
              <a:t>全ルート・天井・魔法少女モード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" y="713232"/>
            <a:ext cx="4206240" cy="2331720"/>
          </a:xfrm>
          <a:prstGeom prst="rect">
            <a:avLst/>
          </a:prstGeom>
          <a:solidFill>
            <a:srgbClr val="14143A"/>
          </a:solidFill>
          <a:ln w="1905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749808"/>
            <a:ext cx="3931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44AA"/>
                </a:solidFill>
                <a:latin typeface="メイリオ"/>
              </a:rPr>
              <a:t>ポイント蓄積システム（メイン突入経路）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07899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・毎ゲーム最低1pt以上獲得（液晶右下に表示）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37160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・有利区間開始・ボーナス終了・AT終了時に規定ptを再抽選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664208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・規定pt到達 → ボーナス当選（天井は950pt+α）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956816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・レア役（強チェリー・強スイカ等）で直接ボーナス抽選あり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249424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・魔法少女モードがAorBで抽選性能が変化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" y="3090672"/>
            <a:ext cx="4206240" cy="594360"/>
          </a:xfrm>
          <a:prstGeom prst="rect">
            <a:avLst/>
          </a:prstGeom>
          <a:solidFill>
            <a:srgbClr val="200020"/>
          </a:solidFill>
          <a:ln w="2286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3127248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D700"/>
                </a:solidFill>
                <a:latin typeface="メイリオ"/>
              </a:rPr>
              <a:t>天井：ボーナス間 950pt+α 到達で強制当選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383280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＊スルー回数が増えるほど初当たりAT期待値UP（スルー狙い有効）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6280" y="713232"/>
            <a:ext cx="4434840" cy="1417320"/>
          </a:xfrm>
          <a:prstGeom prst="rect">
            <a:avLst/>
          </a:prstGeom>
          <a:solidFill>
            <a:srgbClr val="14143A"/>
          </a:solidFill>
          <a:ln w="1905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74980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4CCEE"/>
                </a:solidFill>
                <a:latin typeface="メイリオ"/>
              </a:rPr>
              <a:t>CZ種別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078992"/>
            <a:ext cx="4206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メイリオ"/>
              </a:rPr>
              <a:t>▶ マギアチャレンジ（通常）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1298448"/>
            <a:ext cx="4206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   スイカ/ポイント消化で突入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1572768"/>
            <a:ext cx="4206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▶ 黒江チャレンジ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1792224"/>
            <a:ext cx="4206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   突入した時点でAT濃厚！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2066543"/>
            <a:ext cx="4206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▶ 前兆中の昇格抽選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2286000"/>
            <a:ext cx="4206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   マギアCZ→黒江CZへアップグレード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6280" y="2212848"/>
            <a:ext cx="4434840" cy="1481328"/>
          </a:xfrm>
          <a:prstGeom prst="rect">
            <a:avLst/>
          </a:prstGeom>
          <a:solidFill>
            <a:srgbClr val="14143A"/>
          </a:solidFill>
          <a:ln w="1905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2249424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44AA"/>
                </a:solidFill>
                <a:latin typeface="メイリオ"/>
              </a:rPr>
              <a:t>魔法少女モード（隠し内部モード）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25786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・モードA（通常）：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57860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標準的な抽選テーブルで運用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2889503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・モードB（高確）：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2889503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CZ突入率・AT直撃率が大幅アップ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3200399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・モード移行：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3200399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ボーナス/AT終了時・特定役で再抽選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3749039"/>
            <a:ext cx="8823960" cy="777240"/>
          </a:xfrm>
          <a:prstGeom prst="rect">
            <a:avLst/>
          </a:prstGeom>
          <a:solidFill>
            <a:srgbClr val="0C0C28"/>
          </a:solidFill>
          <a:ln w="1270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37764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CCEE"/>
                </a:solidFill>
                <a:latin typeface="メイリオ"/>
              </a:rPr>
              <a:t>打ち方メモ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4041648"/>
            <a:ext cx="85039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・通常時：左リール枠上〜上段にBARを目押し（チェリー・スイカ取得のため）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4251960"/>
            <a:ext cx="85039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・ナビ発生時：押し順ナビに従う（ペナルティあり）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4462272"/>
            <a:ext cx="85039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・朝一：設定変更後は有利区間ランプ消灯→規定ptリセット→狙い目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50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7160" y="4727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設計：黒江CZ=AT濃厚という演出設計がモチベーションを生む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0" y="472744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BBBCC"/>
                </a:solidFill>
                <a:latin typeface="メイリオ"/>
              </a:rPr>
              <a:t>通常時の核心：ポイント蓄積＋モード管理でCZ/ボーナスを引く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550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游明朝"/>
              </a:rPr>
              <a:t>CZ・前兆の仕組み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EE88CC"/>
                </a:solidFill>
                <a:latin typeface="メイリオ"/>
              </a:rPr>
              <a:t>突破条件と演出の見方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" y="713232"/>
            <a:ext cx="5440680" cy="2834640"/>
          </a:xfrm>
          <a:prstGeom prst="rect">
            <a:avLst/>
          </a:prstGeom>
          <a:solidFill>
            <a:srgbClr val="14143A"/>
          </a:solidFill>
          <a:ln w="1905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74980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44AA"/>
                </a:solidFill>
                <a:latin typeface="游明朝"/>
              </a:rPr>
              <a:t>マギアチャレンジ（CZ）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11556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突入条件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115568"/>
            <a:ext cx="3611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①規定ポイント消化  ②スイカ/強レア役  ③前兆経由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435607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ゲーム数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435607"/>
            <a:ext cx="3611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最大30G程度（成功/失敗で抽選）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175564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突破条件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1755648"/>
            <a:ext cx="3611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CZ中のレア役成立・ゲーム数消化・特定演出成功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207568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成功時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075688"/>
            <a:ext cx="3611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D700"/>
                </a:solidFill>
                <a:latin typeface="メイリオ"/>
              </a:rPr>
              <a:t>ボーナス当選（4種のいずれか）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239572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失敗時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395728"/>
            <a:ext cx="3611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BBBCC"/>
                </a:solidFill>
                <a:latin typeface="メイリオ"/>
              </a:rPr>
              <a:t>通常に戻る（ポイントは引き継ぎ）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240280"/>
            <a:ext cx="5120640" cy="804672"/>
          </a:xfrm>
          <a:prstGeom prst="rect">
            <a:avLst/>
          </a:prstGeom>
          <a:solidFill>
            <a:srgbClr val="281800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286000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メイリオ"/>
              </a:rPr>
              <a:t>黒江チャレンジ ＝ AT濃厚！（最重要CZ）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2578608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マギアCZの本前兆中に昇格抽選あり。発生時点でAT当確レベルの強CZ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" y="3108960"/>
            <a:ext cx="5440680" cy="658368"/>
          </a:xfrm>
          <a:prstGeom prst="rect">
            <a:avLst/>
          </a:prstGeom>
          <a:solidFill>
            <a:srgbClr val="14143A"/>
          </a:solidFill>
          <a:ln w="1270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314553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CCEE"/>
                </a:solidFill>
                <a:latin typeface="メイリオ"/>
              </a:rPr>
              <a:t>CZ中の演出示唆（見方）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340156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・ホムラ登場 → 高期待度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40156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・4人集合演出 → ボーナス濃厚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340156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・テロップ色変化 → 昇格示唆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15000" y="713232"/>
            <a:ext cx="3291840" cy="3054096"/>
          </a:xfrm>
          <a:prstGeom prst="rect">
            <a:avLst/>
          </a:prstGeom>
          <a:solidFill>
            <a:srgbClr val="14143A"/>
          </a:solidFill>
          <a:ln w="1905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0" y="74980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4CCEE"/>
                </a:solidFill>
                <a:latin typeface="游明朝"/>
              </a:rPr>
              <a:t>前兆の種類と見分け方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06440" y="1115568"/>
            <a:ext cx="3108960" cy="658368"/>
          </a:xfrm>
          <a:prstGeom prst="rect">
            <a:avLst/>
          </a:prstGeom>
          <a:solidFill>
            <a:srgbClr val="12122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0" y="116128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メイリオ"/>
              </a:rPr>
              <a:t>本前兆（弱）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1389888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画面色が薄く変化
小役連続で少し期待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06440" y="1828800"/>
            <a:ext cx="3108960" cy="658368"/>
          </a:xfrm>
          <a:prstGeom prst="rect">
            <a:avLst/>
          </a:prstGeom>
          <a:solidFill>
            <a:srgbClr val="12122E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0" y="1874519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本前兆（強）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2103120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ステージ移行＋キャラ会話
ボーナス確率大幅UP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06440" y="2542032"/>
            <a:ext cx="3108960" cy="658368"/>
          </a:xfrm>
          <a:prstGeom prst="rect">
            <a:avLst/>
          </a:prstGeom>
          <a:solidFill>
            <a:srgbClr val="12122E"/>
          </a:solidFill>
          <a:ln w="127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0" y="258775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BBBCC"/>
                </a:solidFill>
                <a:latin typeface="メイリオ"/>
              </a:rPr>
              <a:t>ガセ前兆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2816352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通常時にも発生
演出で見分けが難しい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3255264"/>
            <a:ext cx="3108960" cy="658368"/>
          </a:xfrm>
          <a:prstGeom prst="rect">
            <a:avLst/>
          </a:prstGeom>
          <a:solidFill>
            <a:srgbClr val="12122E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330098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黒江前兆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3529584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固有演出で出現
AT確定レベル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50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7160" y="4727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設計：黒江チャレンジのAT確定演出が「打ち続ける動機」を作る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0" y="472744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BBBCC"/>
                </a:solidFill>
                <a:latin typeface="メイリオ"/>
              </a:rPr>
              <a:t>CZ設計：弱→強→黒江の段階的期待感とガセの使い方が秀逸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550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游明朝"/>
              </a:rPr>
              <a:t>AT「マギアラッシュ」の仕組み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EE88CC"/>
                </a:solidFill>
                <a:latin typeface="メイリオ"/>
              </a:rPr>
              <a:t>何をすれば出玉が伸びる？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" y="713232"/>
            <a:ext cx="8869680" cy="548640"/>
          </a:xfrm>
          <a:prstGeom prst="rect">
            <a:avLst/>
          </a:prstGeom>
          <a:solidFill>
            <a:srgbClr val="200028"/>
          </a:solidFill>
          <a:ln w="1905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74980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E88CC"/>
                </a:solidFill>
                <a:latin typeface="メイリオ"/>
              </a:rPr>
              <a:t>純増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9692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約2.6枚/G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74980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E88CC"/>
                </a:solidFill>
                <a:latin typeface="メイリオ"/>
              </a:rPr>
              <a:t>タイプ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9692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ゲーム数管理型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74980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E88CC"/>
                </a:solidFill>
                <a:latin typeface="メイリオ"/>
              </a:rPr>
              <a:t>初期G数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9692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マギアアタックで決定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79" y="74980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E88CC"/>
                </a:solidFill>
                <a:latin typeface="メイリオ"/>
              </a:rPr>
              <a:t>最大目標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79" y="9692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ストーリー8種コンプ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" y="1371600"/>
            <a:ext cx="4297680" cy="2487168"/>
          </a:xfrm>
          <a:prstGeom prst="rect">
            <a:avLst/>
          </a:prstGeom>
          <a:solidFill>
            <a:srgbClr val="14143A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1408176"/>
            <a:ext cx="3931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メイリオ"/>
              </a:rPr>
              <a:t>上乗せ手段（出玉の伸ばし方）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1737360"/>
            <a:ext cx="4114800" cy="429768"/>
          </a:xfrm>
          <a:prstGeom prst="rect">
            <a:avLst/>
          </a:prstGeom>
          <a:solidFill>
            <a:srgbClr val="12102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1773936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メイリオ"/>
              </a:rPr>
              <a:t>レア役直乗せ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1773936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5〜100G
レア役成立時に直接G数上乗せ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2221991"/>
            <a:ext cx="4114800" cy="429768"/>
          </a:xfrm>
          <a:prstGeom prst="rect">
            <a:avLst/>
          </a:prstGeom>
          <a:solidFill>
            <a:srgbClr val="121028"/>
          </a:solidFill>
          <a:ln w="1270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2258568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CCEE"/>
                </a:solidFill>
                <a:latin typeface="メイリオ"/>
              </a:rPr>
              <a:t>ストーリー当選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225856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コンプ数UP
全8種集めるとエンディング権利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2706624"/>
            <a:ext cx="4114800" cy="429768"/>
          </a:xfrm>
          <a:prstGeom prst="rect">
            <a:avLst/>
          </a:prstGeom>
          <a:solidFill>
            <a:srgbClr val="121028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2743200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決戦神浜聖女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274320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ST型特化ゾーン
成立役で連続G数上乗せ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" y="3191256"/>
            <a:ext cx="4114800" cy="429768"/>
          </a:xfrm>
          <a:prstGeom prst="rect">
            <a:avLst/>
          </a:prstGeom>
          <a:solidFill>
            <a:srgbClr val="121028"/>
          </a:solidFill>
          <a:ln w="1270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" y="3227832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C44AA"/>
                </a:solidFill>
                <a:latin typeface="メイリオ"/>
              </a:rPr>
              <a:t>マギウスバトル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3227832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バトル勝利でAT継続/上乗せ
敗北で転落リスク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8600" y="3675888"/>
            <a:ext cx="4114800" cy="429768"/>
          </a:xfrm>
          <a:prstGeom prst="rect">
            <a:avLst/>
          </a:prstGeom>
          <a:solidFill>
            <a:srgbClr val="121028"/>
          </a:solidFill>
          <a:ln w="1270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3712464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5555"/>
                </a:solidFill>
                <a:latin typeface="メイリオ"/>
              </a:rPr>
              <a:t>ドッペルモード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3712464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穢れ解放で突入
上乗せ倍増・3000枚超期待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1371600"/>
            <a:ext cx="4434840" cy="2487168"/>
          </a:xfrm>
          <a:prstGeom prst="rect">
            <a:avLst/>
          </a:prstGeom>
          <a:solidFill>
            <a:srgbClr val="14143A"/>
          </a:solidFill>
          <a:ln w="1905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09160" y="140817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4CCEE"/>
                </a:solidFill>
                <a:latin typeface="メイリオ"/>
              </a:rPr>
              <a:t>ストーリーシステム（AT継続の核）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9160" y="1737360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AT中に8種のストーリーを収集し、コンプリートでエンディング→上位AT権利獲得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176272"/>
            <a:ext cx="2084831" cy="274320"/>
          </a:xfrm>
          <a:prstGeom prst="rect">
            <a:avLst/>
          </a:prstGeom>
          <a:solidFill>
            <a:srgbClr val="121230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09160" y="219456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① 覚醒のマギア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12279" y="2176272"/>
            <a:ext cx="2084831" cy="274320"/>
          </a:xfrm>
          <a:prstGeom prst="rect">
            <a:avLst/>
          </a:prstGeom>
          <a:solidFill>
            <a:srgbClr val="121230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0" y="219456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② 禁断の実験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505456"/>
            <a:ext cx="2084831" cy="274320"/>
          </a:xfrm>
          <a:prstGeom prst="rect">
            <a:avLst/>
          </a:prstGeom>
          <a:solidFill>
            <a:srgbClr val="121230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09160" y="252374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③ 闇のウワサ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12279" y="2505456"/>
            <a:ext cx="2084831" cy="274320"/>
          </a:xfrm>
          <a:prstGeom prst="rect">
            <a:avLst/>
          </a:prstGeom>
          <a:solidFill>
            <a:srgbClr val="121230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0" y="252374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④ 聖女の誓い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2834639"/>
            <a:ext cx="2084831" cy="274320"/>
          </a:xfrm>
          <a:prstGeom prst="rect">
            <a:avLst/>
          </a:prstGeom>
          <a:solidFill>
            <a:srgbClr val="121230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09160" y="2852927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⑤ 魔女の誘惑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12279" y="2834639"/>
            <a:ext cx="2084831" cy="274320"/>
          </a:xfrm>
          <a:prstGeom prst="rect">
            <a:avLst/>
          </a:prstGeom>
          <a:solidFill>
            <a:srgbClr val="121230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0" y="2852927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⑥ 因果の轍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163823"/>
            <a:ext cx="2084831" cy="274320"/>
          </a:xfrm>
          <a:prstGeom prst="rect">
            <a:avLst/>
          </a:prstGeom>
          <a:solidFill>
            <a:srgbClr val="121230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09160" y="3182111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メイリオ"/>
              </a:rPr>
              <a:t>⑦ 決意の代償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12279" y="3163823"/>
            <a:ext cx="2084831" cy="274320"/>
          </a:xfrm>
          <a:prstGeom prst="rect">
            <a:avLst/>
          </a:prstGeom>
          <a:solidFill>
            <a:srgbClr val="301500"/>
          </a:solidFill>
          <a:ln w="1016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0" y="3182111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FD700"/>
                </a:solidFill>
                <a:latin typeface="メイリオ"/>
              </a:rPr>
              <a:t>⑧ 真実の扉（コンプ）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0" y="3886200"/>
            <a:ext cx="4434840" cy="612648"/>
          </a:xfrm>
          <a:prstGeom prst="rect">
            <a:avLst/>
          </a:prstGeom>
          <a:solidFill>
            <a:srgbClr val="1A001A"/>
          </a:solidFill>
          <a:ln w="12700">
            <a:solidFill>
              <a:srgbClr val="CC4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09160" y="3922776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C44AA"/>
                </a:solidFill>
                <a:latin typeface="メイリオ"/>
              </a:rPr>
              <a:t>マギアアタック（AT開幕）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09160" y="417880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CC"/>
                </a:solidFill>
                <a:latin typeface="メイリオ"/>
              </a:rPr>
              <a:t>キャラカード×属性×成立役で初期G数を決定。対応役を引けば上乗せ優遇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50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7160" y="4727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設計：「引き続ける疲労感」と「コンプ達成感」がトレードオフ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0" y="472744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BBBCC"/>
                </a:solidFill>
                <a:latin typeface="メイリオ"/>
              </a:rPr>
              <a:t>出玉設計：G数直乗せ×ストーリーコンプ×ドッペル爆発の三段階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550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游明朝"/>
              </a:rPr>
              <a:t>上位ATへの道と遊び方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EE88CC"/>
                </a:solidFill>
                <a:latin typeface="メイリオ"/>
              </a:rPr>
              <a:t>エンブリオ・イブ覚醒 ＆ ドッペルモード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" y="713232"/>
            <a:ext cx="5257800" cy="3200400"/>
          </a:xfrm>
          <a:prstGeom prst="rect">
            <a:avLst/>
          </a:prstGeom>
          <a:solidFill>
            <a:srgbClr val="14143A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749808"/>
            <a:ext cx="2560320" cy="347472"/>
          </a:xfrm>
          <a:prstGeom prst="rect">
            <a:avLst/>
          </a:prstGeom>
          <a:solidFill>
            <a:srgbClr val="40180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768096"/>
            <a:ext cx="24688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D700"/>
                </a:solidFill>
                <a:latin typeface="メイリオ"/>
              </a:rPr>
              <a:t>エンブリオ・イブ覚醒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1704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ストーリー8種コンプリートでエンディング到達後に突入する上位AT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481328"/>
            <a:ext cx="914400" cy="347472"/>
          </a:xfrm>
          <a:prstGeom prst="rect">
            <a:avLst/>
          </a:prstGeom>
          <a:solidFill>
            <a:srgbClr val="28100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17904"/>
            <a:ext cx="877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D700"/>
                </a:solidFill>
                <a:latin typeface="メイリオ"/>
              </a:rPr>
              <a:t>STEP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1536192"/>
            <a:ext cx="4069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ストーリー8種をAT中に収集（コンプ）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1828800"/>
            <a:ext cx="109728" cy="12801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1956816"/>
            <a:ext cx="914400" cy="347472"/>
          </a:xfrm>
          <a:prstGeom prst="rect">
            <a:avLst/>
          </a:prstGeom>
          <a:solidFill>
            <a:srgbClr val="28100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6888" y="1993392"/>
            <a:ext cx="877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D700"/>
                </a:solidFill>
                <a:latin typeface="メイリオ"/>
              </a:rPr>
              <a:t>STEP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2011680"/>
            <a:ext cx="4069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エンディング（コンプリート報酬）到達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2304288"/>
            <a:ext cx="109728" cy="12801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8600" y="2432304"/>
            <a:ext cx="914400" cy="347472"/>
          </a:xfrm>
          <a:prstGeom prst="rect">
            <a:avLst/>
          </a:prstGeom>
          <a:solidFill>
            <a:srgbClr val="281000"/>
          </a:solidFill>
          <a:ln w="12700">
            <a:solidFill>
              <a:srgbClr val="EE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888" y="2468880"/>
            <a:ext cx="877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EE88CC"/>
                </a:solidFill>
                <a:latin typeface="メイリオ"/>
              </a:rPr>
              <a:t>STEP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2487168"/>
            <a:ext cx="4069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エンブリオ・イブ覚醒準備（32G）※左第一停止厳守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" y="2779776"/>
            <a:ext cx="109728" cy="128016"/>
          </a:xfrm>
          <a:prstGeom prst="rect">
            <a:avLst/>
          </a:prstGeom>
          <a:solidFill>
            <a:srgbClr val="EE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8600" y="2907792"/>
            <a:ext cx="914400" cy="347472"/>
          </a:xfrm>
          <a:prstGeom prst="rect">
            <a:avLst/>
          </a:prstGeom>
          <a:solidFill>
            <a:srgbClr val="28100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" y="2944368"/>
            <a:ext cx="877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D700"/>
                </a:solidFill>
                <a:latin typeface="メイリオ"/>
              </a:rPr>
              <a:t>STEP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2962656"/>
            <a:ext cx="4069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エンブリオ・イブアタック突入（10G+α特化）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" y="3255264"/>
            <a:ext cx="109728" cy="12801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8600" y="3383280"/>
            <a:ext cx="914400" cy="347472"/>
          </a:xfrm>
          <a:prstGeom prst="rect">
            <a:avLst/>
          </a:prstGeom>
          <a:solidFill>
            <a:srgbClr val="281000"/>
          </a:solidFill>
          <a:ln w="12700">
            <a:solidFill>
              <a:srgbClr val="44EE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6888" y="3419856"/>
            <a:ext cx="877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44EE88"/>
                </a:solidFill>
                <a:latin typeface="メイリオ"/>
              </a:rPr>
              <a:t>STEP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8" y="3438144"/>
            <a:ext cx="4069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特化中に大量G数を上乗せ → 超長期AT突入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37947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5555"/>
                </a:solidFill>
                <a:latin typeface="メイリオ"/>
              </a:rPr>
              <a:t>※準備区間中はペナルティあり。必ず左第一停止を守ること！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32120" y="713232"/>
            <a:ext cx="3401568" cy="3200400"/>
          </a:xfrm>
          <a:prstGeom prst="rect">
            <a:avLst/>
          </a:prstGeom>
          <a:solidFill>
            <a:srgbClr val="14143A"/>
          </a:solidFill>
          <a:ln w="2540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23560" y="749808"/>
            <a:ext cx="3218688" cy="347472"/>
          </a:xfrm>
          <a:prstGeom prst="rect">
            <a:avLst/>
          </a:prstGeom>
          <a:solidFill>
            <a:srgbClr val="35001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0" y="768096"/>
            <a:ext cx="31272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5555"/>
                </a:solidFill>
                <a:latin typeface="メイリオ"/>
              </a:rPr>
              <a:t>ドッペルモード（穢れ爆発）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117043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発動条件：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11704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穢れが一定量蓄積→解放抽選通過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23560" y="15087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継続期間：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1508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AT終了まで継続（永続）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18470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上乗せ性能：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1847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通常の数倍の上乗せ期待値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21854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期待枚数：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0880" y="218541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3000枚超（6以外でも到達可）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23560" y="252374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88CC"/>
                </a:solidFill>
                <a:latin typeface="メイリオ"/>
              </a:rPr>
              <a:t>◆ 穢れの蓄積：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252374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メイリオ"/>
              </a:rPr>
              <a:t>通常時の特定演出・負けた回数で加算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23560" y="2788920"/>
            <a:ext cx="3218688" cy="868680"/>
          </a:xfrm>
          <a:prstGeom prst="rect">
            <a:avLst/>
          </a:prstGeom>
          <a:solidFill>
            <a:srgbClr val="250008"/>
          </a:solidFill>
          <a:ln w="1270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15000" y="2825496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5555"/>
                </a:solidFill>
                <a:latin typeface="メイリオ"/>
              </a:rPr>
              <a:t>ドッペルモード演出サイン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15000" y="3081528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・画面が赤黒く染まる
・魔女側のBGMに切り替わる
・上乗せ数字が激増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50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160" y="4727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設計：穢れは「負けた積み上げが報われる」逆転設計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0" y="472744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BBBCC"/>
                </a:solidFill>
                <a:latin typeface="メイリオ"/>
              </a:rPr>
              <a:t>上位AT設計：コンプリート達成感 ＋ ドッペル爆発の二軸で中長期モチベ維持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550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游明朝"/>
              </a:rPr>
              <a:t>面白さの設計分析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EE88CC"/>
                </a:solidFill>
                <a:latin typeface="メイリオ"/>
              </a:rPr>
              <a:t>なぜパチスロアワード2025 SILVERを獲れたのか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" y="713232"/>
            <a:ext cx="8869680" cy="420624"/>
          </a:xfrm>
          <a:prstGeom prst="rect">
            <a:avLst/>
          </a:prstGeom>
          <a:solidFill>
            <a:srgbClr val="30150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758952"/>
            <a:ext cx="8503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FFD700"/>
                </a:solidFill>
                <a:latin typeface="メイリオ"/>
              </a:rPr>
              <a:t>パチスロアワード2025 SILVER受賞 ──「遊技台としての完成度の高さ」と「現在のユーザーニーズへの合致」が評価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" y="1234440"/>
            <a:ext cx="4297680" cy="960120"/>
          </a:xfrm>
          <a:prstGeom prst="rect">
            <a:avLst/>
          </a:prstGeom>
          <a:solidFill>
            <a:srgbClr val="14143A"/>
          </a:solidFill>
          <a:ln w="1905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27101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44CCEE"/>
                </a:solidFill>
                <a:latin typeface="メイリオ"/>
              </a:rPr>
              <a:t>🎯 ゴール設計  物語体験の設計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1527048"/>
            <a:ext cx="4114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8種ストーリーを1AT中に少しずつ集める「コレクション欲求」を刺激。コンプリートという明確なゴールがAT継続中ずっとプレイヤーを引きつける。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17720" y="1234440"/>
            <a:ext cx="4297680" cy="960120"/>
          </a:xfrm>
          <a:prstGeom prst="rect">
            <a:avLst/>
          </a:prstGeom>
          <a:solidFill>
            <a:srgbClr val="14143A"/>
          </a:solidFill>
          <a:ln w="1905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127101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5555"/>
                </a:solidFill>
                <a:latin typeface="メイリオ"/>
              </a:rPr>
              <a:t>🔄 逆転快感  逆転設計（穢れシステム）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1527048"/>
            <a:ext cx="4114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通常時の負けが「穢れ」として蓄積し、ドッペルモードで爆発する設計。「負けるほど強くなる」という逆転快感がロングセッションを促進。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" y="2286000"/>
            <a:ext cx="4297680" cy="960120"/>
          </a:xfrm>
          <a:prstGeom prst="rect">
            <a:avLst/>
          </a:prstGeom>
          <a:solidFill>
            <a:srgbClr val="14143A"/>
          </a:solidFill>
          <a:ln w="19050">
            <a:solidFill>
              <a:srgbClr val="44EE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8600" y="232257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44EE88"/>
                </a:solidFill>
                <a:latin typeface="メイリオ"/>
              </a:rPr>
              <a:t>⏱ 時間設計  マイルドな投資/出玉速度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" y="2578608"/>
            <a:ext cx="4114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純増2.6枚/Gというスマスロ基準では控えめな数値が「疲れにくいペース」を実現。ゆったり打ちたい層・ライトユーザー需要に合致した遊技体験。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17720" y="2286000"/>
            <a:ext cx="4297680" cy="960120"/>
          </a:xfrm>
          <a:prstGeom prst="rect">
            <a:avLst/>
          </a:prstGeom>
          <a:solidFill>
            <a:srgbClr val="14143A"/>
          </a:solidFill>
          <a:ln w="19050">
            <a:solidFill>
              <a:srgbClr val="EE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60" y="232257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E88CC"/>
                </a:solidFill>
                <a:latin typeface="メイリオ"/>
              </a:rPr>
              <a:t>🌟 IP活用  IPとゲーム性の融合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2578608"/>
            <a:ext cx="4114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まどかマギカの「魔法少女の穢れと絶望」というテーマをドッペルモードに昇華。世界観とゲーム性が一致しているため演出に説得力がある。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3337560"/>
            <a:ext cx="4297680" cy="960120"/>
          </a:xfrm>
          <a:prstGeom prst="rect">
            <a:avLst/>
          </a:prstGeom>
          <a:solidFill>
            <a:srgbClr val="14143A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23160" y="337413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D700"/>
                </a:solidFill>
                <a:latin typeface="メイリオ"/>
              </a:rPr>
              <a:t>♻ 継承設計  初代ファンへの継承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60" y="3630168"/>
            <a:ext cx="4114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初代SLOT魔法少女まどか☆マギカのサウンド・キャラ・演出を踏襲しつつスマスロで新機軸を加えた「懐かし×新鮮」のバランス設計。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50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4727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設計：等価市場でも戦える機械割97.6〜114.9%が後押し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472744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BBBCC"/>
                </a:solidFill>
                <a:latin typeface="メイリオ"/>
              </a:rPr>
              <a:t>受賞の核：テーマ×逆転×コレクションの三位一体が完成度を押し上げた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550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游明朝"/>
              </a:rPr>
              <a:t>良い点と課題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EE88CC"/>
                </a:solidFill>
                <a:latin typeface="メイリオ"/>
              </a:rPr>
              <a:t>Part B: ユーザー評価＋設計視点の分析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" y="713232"/>
            <a:ext cx="4297680" cy="3794760"/>
          </a:xfrm>
          <a:prstGeom prst="rect">
            <a:avLst/>
          </a:prstGeom>
          <a:solidFill>
            <a:srgbClr val="14143A"/>
          </a:solidFill>
          <a:ln w="25400">
            <a:solidFill>
              <a:srgbClr val="44EE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749808"/>
            <a:ext cx="2011680" cy="347472"/>
          </a:xfrm>
          <a:prstGeom prst="rect">
            <a:avLst/>
          </a:prstGeom>
          <a:solidFill>
            <a:srgbClr val="002A1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768096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44EE88"/>
                </a:solidFill>
                <a:latin typeface="メイリオ"/>
              </a:rPr>
              <a:t>良い点 PROS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170432"/>
            <a:ext cx="4114800" cy="475488"/>
          </a:xfrm>
          <a:prstGeom prst="rect">
            <a:avLst/>
          </a:prstGeom>
          <a:solidFill>
            <a:srgbClr val="081E10"/>
          </a:solidFill>
          <a:ln w="10160">
            <a:solidFill>
              <a:srgbClr val="44EE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20700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EE88"/>
                </a:solidFill>
                <a:latin typeface="メイリオ"/>
              </a:rPr>
              <a:t>✓ 世界観の完成度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20700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まどかマギカIPを機種性能と直結させた演出作りが秀逸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719072"/>
            <a:ext cx="4114800" cy="475488"/>
          </a:xfrm>
          <a:prstGeom prst="rect">
            <a:avLst/>
          </a:prstGeom>
          <a:solidFill>
            <a:srgbClr val="081E10"/>
          </a:solidFill>
          <a:ln w="10160">
            <a:solidFill>
              <a:srgbClr val="44EE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75564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EE88"/>
                </a:solidFill>
                <a:latin typeface="メイリオ"/>
              </a:rPr>
              <a:t>✓ コンプリート体験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75564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8ストーリー集めの達成感が他機種にない一体感を生む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2267712"/>
            <a:ext cx="4114800" cy="475488"/>
          </a:xfrm>
          <a:prstGeom prst="rect">
            <a:avLst/>
          </a:prstGeom>
          <a:solidFill>
            <a:srgbClr val="081E10"/>
          </a:solidFill>
          <a:ln w="10160">
            <a:solidFill>
              <a:srgbClr val="44EE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230428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EE88"/>
                </a:solidFill>
                <a:latin typeface="メイリオ"/>
              </a:rPr>
              <a:t>✓ 穢れ→ドッペル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230428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「負けが報われる」逆転設計がロングセッションを促進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2816352"/>
            <a:ext cx="4114800" cy="475488"/>
          </a:xfrm>
          <a:prstGeom prst="rect">
            <a:avLst/>
          </a:prstGeom>
          <a:solidFill>
            <a:srgbClr val="081E10"/>
          </a:solidFill>
          <a:ln w="10160">
            <a:solidFill>
              <a:srgbClr val="44EE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285292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EE88"/>
                </a:solidFill>
                <a:latin typeface="メイリオ"/>
              </a:rPr>
              <a:t>✓ マイルドな純増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85292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2.6枚/GでATが長く続く安心感。疲れにくい遊技体験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3364992"/>
            <a:ext cx="4114800" cy="475488"/>
          </a:xfrm>
          <a:prstGeom prst="rect">
            <a:avLst/>
          </a:prstGeom>
          <a:solidFill>
            <a:srgbClr val="081E10"/>
          </a:solidFill>
          <a:ln w="10160">
            <a:solidFill>
              <a:srgbClr val="44EE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40156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EE88"/>
                </a:solidFill>
                <a:latin typeface="メイリオ"/>
              </a:rPr>
              <a:t>✓ 設定差の明確さ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340156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機械割97.6〜114.9%の幅で高設定を打つ意義が明確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3913632"/>
            <a:ext cx="4114800" cy="475488"/>
          </a:xfrm>
          <a:prstGeom prst="rect">
            <a:avLst/>
          </a:prstGeom>
          <a:solidFill>
            <a:srgbClr val="081E10"/>
          </a:solidFill>
          <a:ln w="10160">
            <a:solidFill>
              <a:srgbClr val="44EE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" y="395020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EE88"/>
                </a:solidFill>
                <a:latin typeface="メイリオ"/>
              </a:rPr>
              <a:t>✓ 万枚実績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95020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稼働初期から万枚・コンプリート報告が相次いだ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713232"/>
            <a:ext cx="4297680" cy="3794760"/>
          </a:xfrm>
          <a:prstGeom prst="rect">
            <a:avLst/>
          </a:prstGeom>
          <a:solidFill>
            <a:srgbClr val="14143A"/>
          </a:solidFill>
          <a:ln w="2540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54880" y="749808"/>
            <a:ext cx="1828800" cy="347472"/>
          </a:xfrm>
          <a:prstGeom prst="rect">
            <a:avLst/>
          </a:prstGeom>
          <a:solidFill>
            <a:srgbClr val="2A000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00600" y="768096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5555"/>
                </a:solidFill>
                <a:latin typeface="メイリオ"/>
              </a:rPr>
              <a:t>課題 CONS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0" y="1170432"/>
            <a:ext cx="4114800" cy="475488"/>
          </a:xfrm>
          <a:prstGeom prst="rect">
            <a:avLst/>
          </a:prstGeom>
          <a:solidFill>
            <a:srgbClr val="1E0606"/>
          </a:solidFill>
          <a:ln w="1016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73752" y="120700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5555"/>
                </a:solidFill>
                <a:latin typeface="メイリオ"/>
              </a:rPr>
              <a:t>✗ 疲労感の強さ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120700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常に何かを引き続けないとATが伸びない構造。集中力消耗が大きい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54880" y="1719072"/>
            <a:ext cx="4114800" cy="475488"/>
          </a:xfrm>
          <a:prstGeom prst="rect">
            <a:avLst/>
          </a:prstGeom>
          <a:solidFill>
            <a:srgbClr val="1E0606"/>
          </a:solidFill>
          <a:ln w="1016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73752" y="175564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5555"/>
                </a:solidFill>
                <a:latin typeface="メイリオ"/>
              </a:rPr>
              <a:t>✗ ライト層の離脱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175564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ストーリーコンプの難易度が初心者には高く感じられる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54880" y="2267712"/>
            <a:ext cx="4114800" cy="475488"/>
          </a:xfrm>
          <a:prstGeom prst="rect">
            <a:avLst/>
          </a:prstGeom>
          <a:solidFill>
            <a:srgbClr val="1E0606"/>
          </a:solidFill>
          <a:ln w="1016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73752" y="230428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5555"/>
                </a:solidFill>
                <a:latin typeface="メイリオ"/>
              </a:rPr>
              <a:t>✗ ガセ前兆の多さ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230428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通常時のガセ前兆が多く「空振りが続く」ストレスが蓄積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54880" y="2816352"/>
            <a:ext cx="4114800" cy="475488"/>
          </a:xfrm>
          <a:prstGeom prst="rect">
            <a:avLst/>
          </a:prstGeom>
          <a:solidFill>
            <a:srgbClr val="1E0606"/>
          </a:solidFill>
          <a:ln w="1016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73752" y="285292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5555"/>
                </a:solidFill>
                <a:latin typeface="メイリオ"/>
              </a:rPr>
              <a:t>✗ 準備区間ペナ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85292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エンブリオイブ覚醒準備中のペナルティが知らないと損失大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54880" y="3364992"/>
            <a:ext cx="4114800" cy="475488"/>
          </a:xfrm>
          <a:prstGeom prst="rect">
            <a:avLst/>
          </a:prstGeom>
          <a:solidFill>
            <a:srgbClr val="1E0606"/>
          </a:solidFill>
          <a:ln w="1016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73752" y="340156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5555"/>
                </a:solidFill>
                <a:latin typeface="メイリオ"/>
              </a:rPr>
              <a:t>✗ ドッペル依存度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340156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爆発力がドッペルモード頼みで非突入時の出玉がやや物足りない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54880" y="3913632"/>
            <a:ext cx="4114800" cy="475488"/>
          </a:xfrm>
          <a:prstGeom prst="rect">
            <a:avLst/>
          </a:prstGeom>
          <a:solidFill>
            <a:srgbClr val="1E0606"/>
          </a:solidFill>
          <a:ln w="1016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73752" y="395020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5555"/>
                </a:solidFill>
                <a:latin typeface="メイリオ"/>
              </a:rPr>
              <a:t>✗ IP知識格差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3950208"/>
            <a:ext cx="2423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原作未視聴者には演出の背景が伝わりにくく没入感に差が出る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50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7160" y="4727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設計：情報源: アミュタメ/DMM PALOR/ONEHALLサービス/パーラーフルスロットル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0" y="472744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BBBCC"/>
                </a:solidFill>
                <a:latin typeface="メイリオ"/>
              </a:rPr>
              <a:t>総評：コアユーザー向け高完成度機。ライト向け間口の広げ方が次世代への課題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550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游明朝"/>
              </a:rPr>
              <a:t>まとめ・設計から学べること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EE88CC"/>
                </a:solidFill>
                <a:latin typeface="メイリオ"/>
              </a:rPr>
              <a:t>スロクリ設計視点からの総括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713232"/>
            <a:ext cx="8503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D700"/>
                </a:solidFill>
                <a:latin typeface="游明朝"/>
              </a:rPr>
              <a:t>この機種が示す「現代スマスロ設計の成功方程式」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" y="1115568"/>
            <a:ext cx="2880360" cy="1600200"/>
          </a:xfrm>
          <a:prstGeom prst="rect">
            <a:avLst/>
          </a:prstGeom>
          <a:solidFill>
            <a:srgbClr val="14143A"/>
          </a:solidFill>
          <a:ln w="25400">
            <a:solidFill>
              <a:srgbClr val="44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152144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4CCEE"/>
                </a:solidFill>
                <a:latin typeface="游明朝"/>
              </a:rPr>
              <a:t>学び①
ゴール設計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55448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コンプリートという「明確なゴール」を設けることで、AT中のプレイヤーの動機が持続する。ゴールが見えるゲームは打ち手を能動的にする。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36391" y="1115568"/>
            <a:ext cx="2880360" cy="1600200"/>
          </a:xfrm>
          <a:prstGeom prst="rect">
            <a:avLst/>
          </a:prstGeom>
          <a:solidFill>
            <a:srgbClr val="14143A"/>
          </a:solidFill>
          <a:ln w="2540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27832" y="1152144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5555"/>
                </a:solidFill>
                <a:latin typeface="游明朝"/>
              </a:rPr>
              <a:t>学び②
逆転設計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27832" y="155448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「穢れ」のように不利な状況を貯蓄して有利に転換する仕組みは、敗北体験を「投資感」に変換し、継続遊技へのモチベを生み出す。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35623" y="1115568"/>
            <a:ext cx="2880360" cy="1600200"/>
          </a:xfrm>
          <a:prstGeom prst="rect">
            <a:avLst/>
          </a:prstGeom>
          <a:solidFill>
            <a:srgbClr val="14143A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3" y="1152144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D700"/>
                </a:solidFill>
                <a:latin typeface="游明朝"/>
              </a:rPr>
              <a:t>学び③
IP×ゲーム性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7063" y="155448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メイリオ"/>
              </a:rPr>
              <a:t>テーマ（魔法少女の絶望と穢れ）とゲームメカニクス（ドッペルモード）を直結させることで「演出に説得力」が生まれ、世界観浸透度が向上する。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" y="2834640"/>
            <a:ext cx="8869680" cy="1572768"/>
          </a:xfrm>
          <a:prstGeom prst="rect">
            <a:avLst/>
          </a:prstGeom>
          <a:solidFill>
            <a:srgbClr val="080820"/>
          </a:solidFill>
          <a:ln w="1016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287121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BBBCC"/>
                </a:solidFill>
                <a:latin typeface="メイリオ"/>
              </a:rPr>
              <a:t>総括スコア（設計視点）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31821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BBBBCC"/>
                </a:solidFill>
                <a:latin typeface="メイリオ"/>
              </a:rPr>
              <a:t>ゲーム性完成度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3438144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メイリオ"/>
              </a:rPr>
              <a:t>★★★★★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1821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BBBBCC"/>
                </a:solidFill>
                <a:latin typeface="メイリオ"/>
              </a:rPr>
              <a:t>出玉設計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3438144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4EE88"/>
                </a:solidFill>
                <a:latin typeface="メイリオ"/>
              </a:rPr>
              <a:t>★★★★☆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31821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BBBBCC"/>
                </a:solidFill>
                <a:latin typeface="メイリオ"/>
              </a:rPr>
              <a:t>演出・世界観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438144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44AA"/>
                </a:solidFill>
                <a:latin typeface="メイリオ"/>
              </a:rPr>
              <a:t>★★★★★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31821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BBBBCC"/>
                </a:solidFill>
                <a:latin typeface="メイリオ"/>
              </a:rPr>
              <a:t>ライト向け間口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560" y="3438144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4CCEE"/>
                </a:solidFill>
                <a:latin typeface="メイリオ"/>
              </a:rPr>
              <a:t>★★★☆☆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31821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BBBBCC"/>
                </a:solidFill>
                <a:latin typeface="メイリオ"/>
              </a:rPr>
              <a:t>設定差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3438144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E88CC"/>
                </a:solidFill>
                <a:latin typeface="メイリオ"/>
              </a:rPr>
              <a:t>★★★★☆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" y="4059936"/>
            <a:ext cx="8869680" cy="502920"/>
          </a:xfrm>
          <a:prstGeom prst="rect">
            <a:avLst/>
          </a:prstGeom>
          <a:solidFill>
            <a:srgbClr val="30100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4096512"/>
            <a:ext cx="8503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D700"/>
                </a:solidFill>
                <a:latin typeface="メイリオ"/>
              </a:rPr>
              <a:t>総合評価：IP活用×逆転設計×コレクション体験を高水準で統合した、現代スマスロの教科書的設計機。コア層には強く刺さり、アワードSILVER受賞は必然。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50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" y="4727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設計：次世代機への示唆：ライト向け短期セッションへの対応が残課題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472744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BBBCC"/>
                </a:solidFill>
                <a:latin typeface="メイリオ"/>
              </a:rPr>
              <a:t>設計の本質：「負け→蓄積→爆発」のサイクルと「物語の完結」が共存する稀有な設計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