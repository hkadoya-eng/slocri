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2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457200"/>
            <a:ext cx="30000" cy="18288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457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A840"/>
                </a:solidFill>
                <a:latin typeface="游明朝"/>
              </a:rPr>
              <a:t>機種分析資料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7548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游明朝"/>
              </a:rPr>
              <a:t>モンキーターンV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8"/>
            <a:ext cx="45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BB"/>
                </a:solidFill>
                <a:latin typeface="游明朝"/>
              </a:rPr>
              <a:t>スマスロ（山佐）── 複層設計と継続率管理の完成形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42032"/>
            <a:ext cx="4389120" cy="580000"/>
          </a:xfrm>
          <a:prstGeom prst="rect">
            <a:avLst/>
          </a:prstGeom>
          <a:solidFill>
            <a:srgbClr val="04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42032"/>
            <a:ext cx="55000" cy="58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15184"/>
            <a:ext cx="4114800" cy="5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メイリオ"/>
              </a:rPr>
              <a:t>「遊びやすさとパンチの両立」
複層モード × シナリオ14種 × 上位AT青島SG
ゲーム性の完成度が高いと評価される一台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685800"/>
            <a:ext cx="3566160" cy="2468880"/>
          </a:xfrm>
          <a:prstGeom prst="rect">
            <a:avLst/>
          </a:prstGeom>
          <a:solidFill>
            <a:srgbClr val="0C142C"/>
          </a:solidFill>
          <a:ln w="1905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749808"/>
            <a:ext cx="32918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887C"/>
                </a:solidFill>
                <a:latin typeface="游明朝"/>
              </a:rPr>
              <a:t>基本スペック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188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188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スマスロ 6.5号機 AT機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1451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451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山佐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714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714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約2.5枚/G（AT）/ 4.0枚/G（青島SG）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1977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天井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977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795G+α（設定変更後 495G+α）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240720"/>
            <a:ext cx="123444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88"/>
                </a:solidFill>
                <a:latin typeface="メイリオ"/>
              </a:rPr>
              <a:t>機械割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240720"/>
            <a:ext cx="2057400" cy="25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設定1: 97.9%  /  設定6: 114.9%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3291840"/>
            <a:ext cx="3566160" cy="1417320"/>
          </a:xfrm>
          <a:prstGeom prst="rect">
            <a:avLst/>
          </a:prstGeom>
          <a:solidFill>
            <a:srgbClr val="081828"/>
          </a:solidFill>
          <a:ln w="1270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3364992"/>
            <a:ext cx="32918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游明朝"/>
              </a:rPr>
              <a:t>3つの分析ポイント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675887"/>
            <a:ext cx="32918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I    激走ポイント × 周期 × ライバルモード
II   14種シナリオ × 示唆システム
III  グランドスラム → 青島SG への昇格設計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54880"/>
            <a:ext cx="21031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88"/>
                </a:solidFill>
                <a:latin typeface="メイリオ"/>
              </a:rPr>
              <a:t>v1.0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ゲームフロー全体図  ──  メインゴールはグランドスラム（8セット完走）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566928"/>
            <a:ext cx="2286000" cy="1508760"/>
          </a:xfrm>
          <a:prstGeom prst="rect">
            <a:avLst/>
          </a:prstGeom>
          <a:solidFill>
            <a:srgbClr val="061022"/>
          </a:solidFill>
          <a:ln w="22860">
            <a:solidFill>
              <a:srgbClr val="4060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4592" y="616928"/>
            <a:ext cx="212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通常時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592" y="906928"/>
            <a:ext cx="212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激走ポイント毎G加算
① 222pt到達（周期天井）
   → 前兆「優出モード」
② レア役直撃
   → CZ「超抜チャレンジ」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566928"/>
            <a:ext cx="2286000" cy="694944"/>
          </a:xfrm>
          <a:prstGeom prst="rect">
            <a:avLst/>
          </a:prstGeom>
          <a:solidFill>
            <a:srgbClr val="001226"/>
          </a:solidFill>
          <a:ln w="2286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1760" y="608928"/>
            <a:ext cx="212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游明朝"/>
              </a:rPr>
              <a:t>前兆「優出モード」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1760" y="886928"/>
            <a:ext cx="2126000" cy="339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周期天井（222pt等）で突入 / AT当選確定的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341872"/>
            <a:ext cx="2286000" cy="694944"/>
          </a:xfrm>
          <a:prstGeom prst="rect">
            <a:avLst/>
          </a:prstGeom>
          <a:solidFill>
            <a:srgbClr val="041808"/>
          </a:solidFill>
          <a:ln w="2286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1760" y="1383872"/>
            <a:ext cx="2126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AA44"/>
                </a:solidFill>
                <a:latin typeface="游明朝"/>
              </a:rPr>
              <a:t>CZ「超抜チャレンジ」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1760" y="1661872"/>
            <a:ext cx="2126000" cy="339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ベル/リプ/レア役カウントアップ
9カウントで強制成功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8928" y="566928"/>
            <a:ext cx="2286000" cy="1508760"/>
          </a:xfrm>
          <a:prstGeom prst="rect">
            <a:avLst/>
          </a:prstGeom>
          <a:solidFill>
            <a:srgbClr val="0C1604"/>
          </a:solidFill>
          <a:ln w="2286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8928" y="616928"/>
            <a:ext cx="2126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游明朝"/>
              </a:rPr>
              <a:t>AT「SG RUSH」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8928" y="906928"/>
            <a:ext cx="2126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純増2.5枚/G
周回31G + SGバトル9G
メインゴール：
8セット完走
= グランドスラム達成！</a:t>
            </a:r>
          </a:p>
        </p:txBody>
      </p:sp>
      <p:sp>
        <p:nvSpPr>
          <p:cNvPr id="18" name="Can 17"/>
          <p:cNvSpPr/>
          <p:nvPr/>
        </p:nvSpPr>
        <p:spPr>
          <a:xfrm>
            <a:off x="2490592" y="839400"/>
            <a:ext cx="121168" cy="150000"/>
          </a:xfrm>
          <a:prstGeom prst="can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 18"/>
          <p:cNvSpPr/>
          <p:nvPr/>
        </p:nvSpPr>
        <p:spPr>
          <a:xfrm>
            <a:off x="2490592" y="1614344"/>
            <a:ext cx="121168" cy="150000"/>
          </a:xfrm>
          <a:prstGeom prst="can">
            <a:avLst/>
          </a:prstGeom>
          <a:solidFill>
            <a:srgbClr val="22A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>
            <a:off x="4977760" y="839400"/>
            <a:ext cx="121168" cy="150000"/>
          </a:xfrm>
          <a:prstGeom prst="can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5760" y="694400"/>
            <a:ext cx="251168" cy="1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22CC66"/>
                </a:solidFill>
                <a:latin typeface="メイリオ"/>
              </a:rPr>
              <a:t>成功</a:t>
            </a:r>
          </a:p>
        </p:txBody>
      </p:sp>
      <p:sp>
        <p:nvSpPr>
          <p:cNvPr id="22" name="Can 21"/>
          <p:cNvSpPr/>
          <p:nvPr/>
        </p:nvSpPr>
        <p:spPr>
          <a:xfrm>
            <a:off x="4977760" y="1614344"/>
            <a:ext cx="121168" cy="150000"/>
          </a:xfrm>
          <a:prstGeom prst="can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04928" y="1321308"/>
            <a:ext cx="55000" cy="9424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04928" y="2235708"/>
            <a:ext cx="605000" cy="55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4928" y="2235708"/>
            <a:ext cx="55000" cy="2150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49928" y="1855708"/>
            <a:ext cx="79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8セット
完走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8928" y="2395728"/>
            <a:ext cx="2286000" cy="804672"/>
          </a:xfrm>
          <a:prstGeom prst="rect">
            <a:avLst/>
          </a:prstGeom>
          <a:solidFill>
            <a:srgbClr val="2616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8928" y="2437728"/>
            <a:ext cx="21260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グランドスラム達成！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8928" y="2717728"/>
            <a:ext cx="2126000" cy="44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8完走でメインゴール到達
→ エキシビション（ボーナス）へ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2395728"/>
            <a:ext cx="2286000" cy="804672"/>
          </a:xfrm>
          <a:prstGeom prst="rect">
            <a:avLst/>
          </a:prstGeom>
          <a:solidFill>
            <a:srgbClr val="200800"/>
          </a:solidFill>
          <a:ln w="22860">
            <a:solidFill>
              <a:srgbClr val="FF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31760" y="2437728"/>
            <a:ext cx="21260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エキシビションレース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31760" y="2717728"/>
            <a:ext cx="2126000" cy="44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グランドスラム後のボーナス区間
継続率50/66/80/90%に固定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4592" y="2395728"/>
            <a:ext cx="2286000" cy="804672"/>
          </a:xfrm>
          <a:prstGeom prst="rect">
            <a:avLst/>
          </a:prstGeom>
          <a:solidFill>
            <a:srgbClr val="000A22"/>
          </a:solidFill>
          <a:ln w="2286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4592" y="2437728"/>
            <a:ext cx="21260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游明朝"/>
              </a:rPr>
              <a:t>上位AT「青島SG」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592" y="2717728"/>
            <a:ext cx="2126000" cy="44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真の頂点 / 純増4.0枚/G
継続率83% / 温泉モードあり</a:t>
            </a:r>
          </a:p>
        </p:txBody>
      </p:sp>
      <p:sp>
        <p:nvSpPr>
          <p:cNvPr id="36" name="Can 35"/>
          <p:cNvSpPr/>
          <p:nvPr/>
        </p:nvSpPr>
        <p:spPr>
          <a:xfrm rot="10800000">
            <a:off x="4977760" y="2723064"/>
            <a:ext cx="121168" cy="150000"/>
          </a:xfrm>
          <a:prstGeom prst="can">
            <a:avLst/>
          </a:prstGeom>
          <a:solidFill>
            <a:srgbClr val="FF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n 36"/>
          <p:cNvSpPr/>
          <p:nvPr/>
        </p:nvSpPr>
        <p:spPr>
          <a:xfrm rot="10800000">
            <a:off x="2490592" y="2723064"/>
            <a:ext cx="121168" cy="150000"/>
          </a:xfrm>
          <a:prstGeom prst="can">
            <a:avLst/>
          </a:prstGeom>
          <a:solidFill>
            <a:srgbClr val="FF4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4592" y="3310400"/>
            <a:ext cx="8814816" cy="82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4592" y="3310400"/>
            <a:ext cx="55000" cy="8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4592" y="3370400"/>
            <a:ext cx="84124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4887C"/>
                </a:solidFill>
                <a:latin typeface="游明朝"/>
              </a:rPr>
              <a:t>フロー設計の核心：「グランドスラム（8完走）を目指す」ことが来店動機のすべてになる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4592" y="3685400"/>
            <a:ext cx="8412480" cy="4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優出モード（周期天井）とCZ直撃の2ルートでAT突入。AT後はシナリオ14種で継続率が決まり8完走を狙う。
CZ失敗の1.2%でGSC（AT確定・艇王シナリオ）という逆転も存在。失敗にも次がある設計。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通常時設計  ──  激走ポイント × 周期 × ライバルモード 3層構造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0C8"/>
                </a:solidFill>
                <a:latin typeface="游明朝"/>
              </a:rPr>
              <a:t>激走ポイント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50000" cy="51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286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毎G加算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526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通常は1pt以上が毎ゲーム加算
液晶右上のメーターで可視化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816872"/>
            <a:ext cx="50000" cy="51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841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激走チャージ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081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チャンス役で5G突入
10〜200ptの大量加算ゾーン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371872"/>
            <a:ext cx="50000" cy="5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396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222pt到達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636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優出モード突入（AT結果確定直前）
1周期目は平均80Gで到達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926872"/>
            <a:ext cx="50000" cy="51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51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チャージ天井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191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81G or 131G無チャージ
→ 次チャンス役でCZ確定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5468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64408" y="841248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887C"/>
                </a:solidFill>
                <a:latin typeface="游明朝"/>
              </a:rPr>
              <a:t>内部モード（周期管理）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27832" y="1261872"/>
            <a:ext cx="2633472" cy="760000"/>
          </a:xfrm>
          <a:prstGeom prst="rect">
            <a:avLst/>
          </a:prstGeom>
          <a:solidFill>
            <a:srgbClr val="081424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560" y="1311872"/>
            <a:ext cx="2377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  <a:latin typeface="メイリオ"/>
              </a:rPr>
              <a:t>天国モード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1591872"/>
            <a:ext cx="23774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1周期目にAT当選濃厚
最上位・最もレアなモード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27832" y="2061872"/>
            <a:ext cx="2633472" cy="760000"/>
          </a:xfrm>
          <a:prstGeom prst="rect">
            <a:avLst/>
          </a:prstGeom>
          <a:solidFill>
            <a:srgbClr val="081424"/>
          </a:solidFill>
          <a:ln w="1270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111872"/>
            <a:ext cx="2377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4887C"/>
                </a:solidFill>
                <a:latin typeface="メイリオ"/>
              </a:rPr>
              <a:t>通常Aモード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2391872"/>
            <a:ext cx="23774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6周期天井 / 2・5周期がチャンス
最も標準的な推移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2861872"/>
            <a:ext cx="2633472" cy="760000"/>
          </a:xfrm>
          <a:prstGeom prst="rect">
            <a:avLst/>
          </a:prstGeom>
          <a:solidFill>
            <a:srgbClr val="081424"/>
          </a:solidFill>
          <a:ln w="1270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2911872"/>
            <a:ext cx="23774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メイリオ"/>
              </a:rPr>
              <a:t>通常Bモード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191872"/>
            <a:ext cx="237744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3周期天井 / 2周期がチャンス
短めの天井が特徴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841248"/>
            <a:ext cx="265176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ライバルモード（6種）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1261872"/>
            <a:ext cx="50000" cy="51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1286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榎木・蒲生・浜岡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1526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通常時の周期抽選に作用
設定差あり・高設定ほど移行率UP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9632" y="1816872"/>
            <a:ext cx="50000" cy="51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841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洞口・青島・波多野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2081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AT中シナリオ性能に作用
全設定共通移行率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2371872"/>
            <a:ext cx="50000" cy="51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2396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共通の恩恵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2636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滞在中は出玉率100%超
当選まで打ち続けたい設計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2926872"/>
            <a:ext cx="50000" cy="51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2951872"/>
            <a:ext cx="23774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青島モードは別格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3191872"/>
            <a:ext cx="23774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特に強いとされるモード
AT中継続率が大幅優遇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4069080"/>
            <a:ext cx="8778240" cy="56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4069080"/>
            <a:ext cx="55000" cy="56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411480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A020"/>
                </a:solidFill>
                <a:latin typeface="メイリオ"/>
              </a:rPr>
              <a:t>3層構造の設計：「内部モードでいつ当たるか」＋「ポイントで天井を短縮」＋「ライバルモードで出玉保証」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4416552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どのモードに滞在しているかを意識することで、立ち回りの深みが生まれる。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CZ「超抜チャレンジ」  ──  結末は3通り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06908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749039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44"/>
                </a:solidFill>
                <a:latin typeface="游明朝"/>
              </a:rPr>
              <a:t>基本仕様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3904487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8987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突入契機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289872"/>
            <a:ext cx="2377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レア役成立時の直撃抽選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586872"/>
            <a:ext cx="3904487" cy="315000"/>
          </a:xfrm>
          <a:prstGeom prst="rect">
            <a:avLst/>
          </a:prstGeom>
          <a:solidFill>
            <a:srgbClr val="0E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61487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ゲーム数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1614872"/>
            <a:ext cx="2377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メイリオ"/>
              </a:rPr>
              <a:t>10G（毎G成功抽選が並行）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11872"/>
            <a:ext cx="3904487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93987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成功率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1939872"/>
            <a:ext cx="2377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A020"/>
                </a:solidFill>
                <a:latin typeface="メイリオ"/>
              </a:rPr>
              <a:t>約50%（強役ほど高確率）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236872"/>
            <a:ext cx="3904487" cy="315000"/>
          </a:xfrm>
          <a:prstGeom prst="rect">
            <a:avLst/>
          </a:prstGeom>
          <a:solidFill>
            <a:srgbClr val="0E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26487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9カウント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2264872"/>
            <a:ext cx="2377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A840"/>
                </a:solidFill>
                <a:latin typeface="メイリオ"/>
              </a:rPr>
              <a:t>ベル/リプ/レア役の合計9個→強制成功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561872"/>
            <a:ext cx="3904487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58987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AA44"/>
                </a:solidFill>
                <a:latin typeface="メイリオ"/>
              </a:rPr>
              <a:t>失敗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2589872"/>
            <a:ext cx="2377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BBBBBB"/>
                </a:solidFill>
                <a:latin typeface="メイリオ"/>
              </a:rPr>
              <a:t>通常時に戻る（次の周期へ）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804672"/>
            <a:ext cx="4526280" cy="340000"/>
          </a:xfrm>
          <a:prstGeom prst="rect">
            <a:avLst/>
          </a:prstGeom>
          <a:solidFill>
            <a:srgbClr val="041808"/>
          </a:solidFill>
          <a:ln w="25400">
            <a:solidFill>
              <a:srgbClr val="22A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4840" y="859536"/>
            <a:ext cx="43662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44"/>
                </a:solidFill>
                <a:latin typeface="游明朝"/>
              </a:rPr>
              <a:t>超抜チャレンジ（10G）  ──  ベル9カウント or 毎G抽選で突破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244672"/>
            <a:ext cx="2011680" cy="1860000"/>
          </a:xfrm>
          <a:prstGeom prst="rect">
            <a:avLst/>
          </a:prstGeom>
          <a:solidFill>
            <a:srgbClr val="001806"/>
          </a:solidFill>
          <a:ln w="2540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4840" y="1299672"/>
            <a:ext cx="18716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66"/>
                </a:solidFill>
                <a:latin typeface="游明朝"/>
              </a:rPr>
              <a:t>成功（約50%）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4840" y="1619672"/>
            <a:ext cx="1871680" cy="1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AT「SG RUSH」突入
第3停止を離す瞬間に
14種シナリオが確定
純増2.5枚/G
8完走を目指す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06520" y="1244672"/>
            <a:ext cx="2454600" cy="840000"/>
          </a:xfrm>
          <a:prstGeom prst="rect">
            <a:avLst/>
          </a:prstGeom>
          <a:solidFill>
            <a:srgbClr val="141010"/>
          </a:solidFill>
          <a:ln w="1524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76520" y="1294672"/>
            <a:ext cx="23346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BB"/>
                </a:solidFill>
                <a:latin typeface="游明朝"/>
              </a:rPr>
              <a:t>失敗（通常）約49%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6520" y="1594672"/>
            <a:ext cx="2334600" cy="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メイリオ"/>
              </a:rPr>
              <a:t>通常時に戻る
次の周期でまた抽選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06520" y="2164672"/>
            <a:ext cx="2454600" cy="940000"/>
          </a:xfrm>
          <a:prstGeom prst="rect">
            <a:avLst/>
          </a:prstGeom>
          <a:solidFill>
            <a:srgbClr val="1E14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76520" y="2214672"/>
            <a:ext cx="23346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失敗→GSC（約1.2%）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6520" y="2514672"/>
            <a:ext cx="233460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AT確定
波多野フリーズ発生
艇王シナリオ確定
→ 8完走ほぼ確定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4887C"/>
                </a:solidFill>
                <a:latin typeface="メイリオ"/>
              </a:rPr>
              <a:t>CZ設計のポイント：50%で失敗しても通常に戻るだけ、1.2%で逆転AT確定という絶妙なバランス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「外れたと思ったら最高の展開」体験がCZへの参加し続けるモチベーションを維持させる。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AT「SG RUSH」  ──  2部構造 × グランドスラム達成設計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1セットの2部構造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80160"/>
            <a:ext cx="3950208" cy="360000"/>
          </a:xfrm>
          <a:prstGeom prst="rect">
            <a:avLst/>
          </a:prstGeom>
          <a:solidFill>
            <a:srgbClr val="101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" y="1280160"/>
            <a:ext cx="55000" cy="36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335024"/>
            <a:ext cx="34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メイリオ"/>
              </a:rPr>
              <a:t>周回パート（31G）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627632"/>
            <a:ext cx="347472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チェリー → ぶっちぎりバトルのメイン契機
バトル高確中は全役で突入抽選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103120"/>
            <a:ext cx="3950208" cy="360000"/>
          </a:xfrm>
          <a:prstGeom prst="rect">
            <a:avLst/>
          </a:prstGeom>
          <a:solidFill>
            <a:srgbClr val="00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103120"/>
            <a:ext cx="55000" cy="36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2157984"/>
            <a:ext cx="34747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0C8"/>
                </a:solidFill>
                <a:latin typeface="メイリオ"/>
              </a:rPr>
              <a:t>SGバトルパート（9G）── 青島VS波多野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" y="2450592"/>
            <a:ext cx="347472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青島が勝利 → 次セット継続
継続率はシナリオで管理（14種）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724912"/>
            <a:ext cx="3950208" cy="680000"/>
          </a:xfrm>
          <a:prstGeom prst="rect">
            <a:avLst/>
          </a:prstGeom>
          <a:solidFill>
            <a:srgbClr val="201600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779776"/>
            <a:ext cx="36576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8セット完走 = グランドスラム達成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90672"/>
            <a:ext cx="3657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セット継続のたびに積み上がる「8回勝つ」目標
→ エキシビションレースへ自動移行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777240"/>
            <a:ext cx="448056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841248"/>
            <a:ext cx="42062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0C8"/>
                </a:solidFill>
                <a:latin typeface="游明朝"/>
              </a:rPr>
              <a:t>シナリオ選択（14種）と継続率管理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1261872"/>
            <a:ext cx="4206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AT突入時（第3停止を離す瞬間）に14種のシナリオが確定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0288" y="1627632"/>
            <a:ext cx="4297680" cy="3150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1655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00C0C8"/>
                </a:solidFill>
                <a:latin typeface="メイリオ"/>
              </a:rPr>
              <a:t>継続率段階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1655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シナリオ名（例）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1655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特徴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0288" y="1952632"/>
            <a:ext cx="4297680" cy="315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1980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低（〜25%）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980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関東ガマシ 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980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早期終了が多い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90288" y="2277632"/>
            <a:ext cx="4297680" cy="315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2305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中（50%）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305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ギャンブラー 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2305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標準的な継続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90288" y="2602632"/>
            <a:ext cx="4297680" cy="315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2630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BBBBBB"/>
                </a:solidFill>
                <a:latin typeface="メイリオ"/>
              </a:rPr>
              <a:t>高（66〜80%）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2630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艇界のヒロイン 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2630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粘れるシナリオ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90288" y="2927632"/>
            <a:ext cx="4297680" cy="315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295563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FFA020"/>
                </a:solidFill>
                <a:latin typeface="メイリオ"/>
              </a:rPr>
              <a:t>最高（艇王）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2955632"/>
            <a:ext cx="123444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艇王（GS濃厚）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60920" y="2955632"/>
            <a:ext cx="132588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888888"/>
                </a:solidFill>
                <a:latin typeface="メイリオ"/>
              </a:rPr>
              <a:t>8完走ほぼ確定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0288" y="3200400"/>
            <a:ext cx="420624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88"/>
                </a:solidFill>
                <a:latin typeface="メイリオ"/>
              </a:rPr>
              <a:t>ハマりゲーム数・設定の影響なし。突入時に公平に抽選される。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A020"/>
                </a:solidFill>
                <a:latin typeface="メイリオ"/>
              </a:rPr>
              <a:t>AT設計の核心：「8回勝つ」という明確な目標がセット継続のドラマを作る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艇王シナリオ引きで「今日は行ける」という確信がプレイヤーに芽生える。シナリオ推測が遊技の深みになる。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ぶっちぎりバトル × 連戦  ──  SGバトルを超える「横道」の自力感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06908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749039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ぶっちぎりバトル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3904487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8987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突入契機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289872"/>
            <a:ext cx="2194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A020"/>
                </a:solidFill>
                <a:latin typeface="メイリオ"/>
              </a:rPr>
              <a:t>周回パートのチェリー主契機（高確=全役）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586872"/>
            <a:ext cx="3904487" cy="315000"/>
          </a:xfrm>
          <a:prstGeom prst="rect">
            <a:avLst/>
          </a:prstGeom>
          <a:solidFill>
            <a:srgbClr val="0E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61487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614872"/>
            <a:ext cx="2194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メイリオ"/>
              </a:rPr>
              <a:t>通常SGバトルと独立した自力バトル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11872"/>
            <a:ext cx="3904487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93987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勝率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1939872"/>
            <a:ext cx="2194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A840"/>
                </a:solidFill>
                <a:latin typeface="メイリオ"/>
              </a:rPr>
              <a:t>約50%〜（強役ほど高確率）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236872"/>
            <a:ext cx="3904487" cy="315000"/>
          </a:xfrm>
          <a:prstGeom prst="rect">
            <a:avLst/>
          </a:prstGeom>
          <a:solidFill>
            <a:srgbClr val="0E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26487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恩恵A〜E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2264872"/>
            <a:ext cx="2194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22CC66"/>
                </a:solidFill>
                <a:latin typeface="メイリオ"/>
              </a:rPr>
              <a:t>勝利後1Gで恩恵レベルを告知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561872"/>
            <a:ext cx="3904487" cy="315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58987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Eが頂点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2589872"/>
            <a:ext cx="2194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C8A840"/>
                </a:solidFill>
                <a:latin typeface="メイリオ"/>
              </a:rPr>
              <a:t>究極Vフリーズ（100G以上確定）
レア役で300G以上に昇格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2886872"/>
            <a:ext cx="3904487" cy="315000"/>
          </a:xfrm>
          <a:prstGeom prst="rect">
            <a:avLst/>
          </a:prstGeom>
          <a:solidFill>
            <a:srgbClr val="0E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2914872"/>
            <a:ext cx="137160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連戦突入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64792" y="2914872"/>
            <a:ext cx="2194560" cy="26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00C0C8"/>
                </a:solidFill>
                <a:latin typeface="メイリオ"/>
              </a:rPr>
              <a:t>赤=通常連戦 / 紫=裏連戦（80%ループ）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804672"/>
            <a:ext cx="4526280" cy="34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4840" y="859536"/>
            <a:ext cx="43662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游明朝"/>
              </a:rPr>
              <a:t>連戦システム  ──  エフェクト色が強さを決める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1244672"/>
            <a:ext cx="4526280" cy="900000"/>
          </a:xfrm>
          <a:prstGeom prst="rect">
            <a:avLst/>
          </a:prstGeom>
          <a:solidFill>
            <a:srgbClr val="1A0404"/>
          </a:solidFill>
          <a:ln w="2540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4840" y="1299672"/>
            <a:ext cx="43862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2222"/>
                </a:solidFill>
                <a:latin typeface="游明朝"/>
              </a:rPr>
              <a:t>赤エフェクト → 通常連戦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4840" y="1594672"/>
            <a:ext cx="438628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敗北するまでぶっちぎりバトルが継続。
1バトルごとに追加報酬のチャンス。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2224672"/>
            <a:ext cx="4526280" cy="900000"/>
          </a:xfrm>
          <a:prstGeom prst="rect">
            <a:avLst/>
          </a:prstGeom>
          <a:solidFill>
            <a:srgbClr val="12041A"/>
          </a:solidFill>
          <a:ln w="2540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4840" y="2279672"/>
            <a:ext cx="438628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44CC"/>
                </a:solidFill>
                <a:latin typeface="游明朝"/>
              </a:rPr>
              <a:t>紫エフェクト → 裏連戦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4840" y="2574672"/>
            <a:ext cx="438628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初回勝利がほぼ確定。
以降は約80%ループで継続。
「最強の横道」で大量報酬に期待。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3204672"/>
            <a:ext cx="4526280" cy="620000"/>
          </a:xfrm>
          <a:prstGeom prst="rect">
            <a:avLst/>
          </a:prstGeom>
          <a:solidFill>
            <a:srgbClr val="061020"/>
          </a:solidFill>
          <a:ln w="1524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4840" y="3254672"/>
            <a:ext cx="44262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游明朝"/>
              </a:rPr>
              <a:t>設計上の役割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4840" y="3514672"/>
            <a:ext cx="44262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SGバトル（継続判定）とは独立した「横道」として
AT中に予期せず割り込む。驚きと興奮が打感を豊かにする。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A020"/>
                </a:solidFill>
                <a:latin typeface="メイリオ"/>
              </a:rPr>
              <a:t>ぶっちぎりバトルの価値：SGバトルとは別軸の自力感で、AT消化が「ただ待つ」にならない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裏連戦（紫）を引いた瞬間「今日は何かある」という直感が生まれる。シナリオ推測とは別軸の興奮。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シナリオ × 示唆システム  ──  読み解く楽しさが遊技の深みになる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251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0C8"/>
                </a:solidFill>
                <a:latin typeface="游明朝"/>
              </a:rPr>
              <a:t>フレームランプ示唆（6色）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40000" cy="29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1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白  ──  継続率：低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160"/>
            <a:ext cx="340000" cy="2900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3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  ──  継続率：やや低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920160"/>
            <a:ext cx="340000" cy="290000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5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黄  ──  継続率：中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40160"/>
            <a:ext cx="340000" cy="290000"/>
          </a:xfrm>
          <a:prstGeom prst="rect">
            <a:avLst/>
          </a:prstGeom>
          <a:solidFill>
            <a:srgbClr val="22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27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緑  ──  継続率：やや高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60160"/>
            <a:ext cx="340000" cy="290000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9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赤  ──  継続率：高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80160"/>
            <a:ext cx="340000" cy="290000"/>
          </a:xfrm>
          <a:prstGeom prst="rect">
            <a:avLst/>
          </a:prstGeom>
          <a:solidFill>
            <a:srgbClr val="FF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10160"/>
            <a:ext cx="178308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虹  ──  最高（艇王濃厚）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18688" y="841248"/>
            <a:ext cx="2606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游明朝"/>
              </a:rPr>
              <a:t>サブ液晶・セリフ示唆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82112" y="1280160"/>
            <a:ext cx="2688336" cy="320000"/>
          </a:xfrm>
          <a:prstGeom prst="rect">
            <a:avLst/>
          </a:prstGeom>
          <a:solidFill>
            <a:srgbClr val="10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3552" y="1305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登場キャラ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1305160"/>
            <a:ext cx="132588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キャラによってモード・シナリオ段階を示唆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82112" y="1612160"/>
            <a:ext cx="2688336" cy="320000"/>
          </a:xfrm>
          <a:prstGeom prst="rect">
            <a:avLst/>
          </a:prstGeom>
          <a:solidFill>
            <a:srgbClr val="14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3552" y="1637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セリフ内容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1637160"/>
            <a:ext cx="132588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ポジティブ/ネガティブで継続率の高低を示唆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82112" y="1944160"/>
            <a:ext cx="2688336" cy="320000"/>
          </a:xfrm>
          <a:prstGeom prst="rect">
            <a:avLst/>
          </a:prstGeom>
          <a:solidFill>
            <a:srgbClr val="10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3552" y="1969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ランプ×セリフ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1969160"/>
            <a:ext cx="132588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組み合わせで絞り込み精度が上がる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82112" y="2276160"/>
            <a:ext cx="2688336" cy="320000"/>
          </a:xfrm>
          <a:prstGeom prst="rect">
            <a:avLst/>
          </a:prstGeom>
          <a:solidFill>
            <a:srgbClr val="14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73552" y="2301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ラウンド開始画面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2272" y="2301160"/>
            <a:ext cx="132588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シナリオ段階と設定を直接示唆する要素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82112" y="2608160"/>
            <a:ext cx="2688336" cy="320000"/>
          </a:xfrm>
          <a:prstGeom prst="rect">
            <a:avLst/>
          </a:prstGeom>
          <a:solidFill>
            <a:srgbClr val="1012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3552" y="2633160"/>
            <a:ext cx="1143000" cy="27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A020"/>
                </a:solidFill>
                <a:latin typeface="メイリオ"/>
              </a:rPr>
              <a:t>第3停止タイミング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2633160"/>
            <a:ext cx="132588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E0E8F0"/>
                </a:solidFill>
                <a:latin typeface="メイリオ"/>
              </a:rPr>
              <a:t>第3停止を離す瞬間のカットインで確定示唆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777240"/>
            <a:ext cx="283464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841248"/>
            <a:ext cx="26060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シナリオ推測の楽しさ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9632" y="1280160"/>
            <a:ext cx="50000" cy="51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1305160"/>
            <a:ext cx="24231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情報収集の喜び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1545160"/>
            <a:ext cx="2423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ランプ・セリフ・画面を組み合わせて
「このシナリオかも」と絞り込む楽しさ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9632" y="1835160"/>
            <a:ext cx="50000" cy="51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1860160"/>
            <a:ext cx="24231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期待感の変化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2100160"/>
            <a:ext cx="2423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序盤に赤ランプが出た瞬間
「今日は行ける」という確信が芽生える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99632" y="2390160"/>
            <a:ext cx="50000" cy="51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2415160"/>
            <a:ext cx="24231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仲間との共有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2655160"/>
            <a:ext cx="2423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「艇王引いたから8セット行くわ」という
ホールでの会話・コミュニティ形成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2945160"/>
            <a:ext cx="50000" cy="51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2970160"/>
            <a:ext cx="242316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公平な抽選設計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82512" y="3210160"/>
            <a:ext cx="242316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0E8F0"/>
                </a:solidFill>
                <a:latin typeface="メイリオ"/>
              </a:rPr>
              <a:t>ハマり度・設定に依存しないため
「今回のAT」だけに集中できる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" y="4069080"/>
            <a:ext cx="8778240" cy="560000"/>
          </a:xfrm>
          <a:prstGeom prst="rect">
            <a:avLst/>
          </a:prstGeom>
          <a:solidFill>
            <a:srgbClr val="06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" y="4069080"/>
            <a:ext cx="55000" cy="56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411480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メイリオ"/>
              </a:rPr>
              <a:t>示唆設計の本質：「完全に分からないが、ある程度読める」絶妙なバランス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1480" y="4416552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全部わかると緊張感がなくなり、全く分からないと虚無感が残る。その中間に「楽しい」がある。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上位AT「青島SG」  ──  純増4.0枚 × 継続率83% の頂点体験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1480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AFF"/>
                </a:solidFill>
                <a:latin typeface="游明朝"/>
              </a:rPr>
              <a:t>青島SG スペック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261872"/>
            <a:ext cx="3950208" cy="33000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28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純増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1289872"/>
            <a:ext cx="2514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D700"/>
                </a:solidFill>
                <a:latin typeface="メイリオ"/>
              </a:rPr>
              <a:t>約4.0枚/G（SG RUSHの1.6倍）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601872"/>
            <a:ext cx="3950208" cy="33000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62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継続率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912" y="1629872"/>
            <a:ext cx="2514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7AFF"/>
                </a:solidFill>
                <a:latin typeface="メイリオ"/>
              </a:rPr>
              <a:t>約75%（Vストック込みで約83%）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941872"/>
            <a:ext cx="3950208" cy="33000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196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突入経路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1969872"/>
            <a:ext cx="2514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グランドスラム後の青島VS波多野勝利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281872"/>
            <a:ext cx="3950208" cy="33000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230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構成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2309872"/>
            <a:ext cx="2514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青島周回パート＋青島VS波多野の2部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621872"/>
            <a:ext cx="3950208" cy="620000"/>
          </a:xfrm>
          <a:prstGeom prst="rect">
            <a:avLst/>
          </a:prstGeom>
          <a:solidFill>
            <a:srgbClr val="06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649872"/>
            <a:ext cx="118872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14887C"/>
                </a:solidFill>
                <a:latin typeface="メイリオ"/>
              </a:rPr>
              <a:t>上乗せ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81912" y="2649872"/>
            <a:ext cx="25146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A020"/>
                </a:solidFill>
                <a:latin typeface="メイリオ"/>
              </a:rPr>
              <a:t>V揃い単：次セット継続濃厚
  V揃いダブル：継続＋100〜300G上乗せ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777240"/>
            <a:ext cx="4480560" cy="315468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841248"/>
            <a:ext cx="420624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特化ゾーン「温泉モード」＆突入の価値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45152" y="1261872"/>
            <a:ext cx="4242816" cy="840000"/>
          </a:xfrm>
          <a:prstGeom prst="rect">
            <a:avLst/>
          </a:prstGeom>
          <a:solidFill>
            <a:srgbClr val="101806"/>
          </a:solidFill>
          <a:ln w="1270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316736"/>
            <a:ext cx="3931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メイリオ"/>
              </a:rPr>
              <a:t>温泉モード（30G）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627632"/>
            <a:ext cx="393192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青島VS波多野レース中のレア役成立で突入
消化中はゲーム数上乗せ抽選が強化
弱チェリー・強チャンス役で上乗せ確定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2176272"/>
            <a:ext cx="4242816" cy="1700000"/>
          </a:xfrm>
          <a:prstGeom prst="rect">
            <a:avLst/>
          </a:prstGeom>
          <a:solidFill>
            <a:srgbClr val="000A22"/>
          </a:solidFill>
          <a:ln w="127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231136"/>
            <a:ext cx="393192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AFF"/>
                </a:solidFill>
                <a:latin typeface="メイリオ"/>
              </a:rPr>
              <a:t>青島SGに突入する意味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542032"/>
            <a:ext cx="393192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SG RUSH（純増2.5枚）との差は1.5枚/G
100G消化で+150枚の差が生まれる
継続率83%で長く続く×純増4.0枚
= 1日の大台を作る唯一のルート
「グランドスラム達成 → 青島SG」が
来店時の最大目標として機能する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0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AFF"/>
                </a:solidFill>
                <a:latin typeface="メイリオ"/>
              </a:rPr>
              <a:t>青島SGの設計意図：「到達した人だけが味わえる体験」として来店継続の最大動機を作る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SG RUSHだけでも楽しめるが、青島SGを知ると「もう一度グランドスラムを取りたい」が生まれる。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グランドスラム × エキシビションレース  ──  8セット完走の先にあるもの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4160520" cy="3200400"/>
          </a:xfrm>
          <a:prstGeom prst="rect">
            <a:avLst/>
          </a:prstGeom>
          <a:solidFill>
            <a:srgbClr val="0C142C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841248"/>
            <a:ext cx="3840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グランドスラム（8セット完走）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SGバトル（青島VS波多野）を8回連続で勝利した状態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55000" cy="560000"/>
          </a:xfrm>
          <a:prstGeom prst="rect">
            <a:avLst/>
          </a:prstGeom>
          <a:solidFill>
            <a:srgbClr val="FF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657632"/>
            <a:ext cx="3657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A020"/>
                </a:solidFill>
                <a:latin typeface="メイリオ"/>
              </a:rPr>
              <a:t>積み上げの快感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922632"/>
            <a:ext cx="3657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1セット目から8セット目まで
「まだ続くかも」を8回繰り返す体験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227632"/>
            <a:ext cx="55000" cy="5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257632"/>
            <a:ext cx="3657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シナリオとの連動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522632"/>
            <a:ext cx="3657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艇王シナリオなら達成がほぼ確実
低シナリオでの達成が「奇跡」体験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827632"/>
            <a:ext cx="55000" cy="560000"/>
          </a:xfrm>
          <a:prstGeom prst="rect">
            <a:avLst/>
          </a:prstGeom>
          <a:solidFill>
            <a:srgbClr val="00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857632"/>
            <a:ext cx="36576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C0C8"/>
                </a:solidFill>
                <a:latin typeface="メイリオ"/>
              </a:rPr>
              <a:t>達成後の特典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122632"/>
            <a:ext cx="36576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エキシビションレースへ自動移行
青島SGへの入口が開く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777240"/>
            <a:ext cx="4343400" cy="3200400"/>
          </a:xfrm>
          <a:prstGeom prst="rect">
            <a:avLst/>
          </a:prstGeom>
          <a:solidFill>
            <a:srgbClr val="0C142C"/>
          </a:solidFill>
          <a:ln w="1905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841248"/>
            <a:ext cx="41148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020"/>
                </a:solidFill>
                <a:latin typeface="游明朝"/>
              </a:rPr>
              <a:t>エキシビションレース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1216152"/>
            <a:ext cx="41148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グランドスラム後の継続率固定AT区間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1536192"/>
            <a:ext cx="4160520" cy="36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1566192"/>
            <a:ext cx="38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BBBBBB"/>
                </a:solidFill>
                <a:latin typeface="メイリオ"/>
              </a:rPr>
              <a:t>型A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566192"/>
            <a:ext cx="8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BBBBBB"/>
                </a:solidFill>
                <a:latin typeface="メイリオ"/>
              </a:rPr>
              <a:t>50.0%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566192"/>
            <a:ext cx="22402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継続率低め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1911192"/>
            <a:ext cx="4160520" cy="360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1941192"/>
            <a:ext cx="38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型B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1941192"/>
            <a:ext cx="8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A020"/>
                </a:solidFill>
                <a:latin typeface="メイリオ"/>
              </a:rPr>
              <a:t>66.4%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1941192"/>
            <a:ext cx="22402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継続率中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286192"/>
            <a:ext cx="4160520" cy="36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2316192"/>
            <a:ext cx="38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型C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2316192"/>
            <a:ext cx="8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C0C8"/>
                </a:solidFill>
                <a:latin typeface="メイリオ"/>
              </a:rPr>
              <a:t>80.1%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316192"/>
            <a:ext cx="22402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継続率高め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63440" y="2661192"/>
            <a:ext cx="4160520" cy="360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2691192"/>
            <a:ext cx="38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型D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2691192"/>
            <a:ext cx="8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D700"/>
                </a:solidFill>
                <a:latin typeface="メイリオ"/>
              </a:rPr>
              <a:t>90.2%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2691192"/>
            <a:ext cx="224028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継続率最高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3127248"/>
            <a:ext cx="4160520" cy="820000"/>
          </a:xfrm>
          <a:prstGeom prst="rect">
            <a:avLst/>
          </a:prstGeom>
          <a:solidFill>
            <a:srgbClr val="000A22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3182112"/>
            <a:ext cx="38404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7AFF"/>
                </a:solidFill>
                <a:latin typeface="游明朝"/>
              </a:rPr>
              <a:t>継続率に漏れた場合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3168" y="3493008"/>
            <a:ext cx="384048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青島VS波多野へ移行
→ 勝利で上位AT「青島SG」突入
（エキシビション失敗が青島SG入口になる）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069080"/>
            <a:ext cx="8778240" cy="560000"/>
          </a:xfrm>
          <a:prstGeom prst="rect">
            <a:avLst/>
          </a:prstGeom>
          <a:solidFill>
            <a:srgbClr val="1010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4069080"/>
            <a:ext cx="55000" cy="56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11480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エキシビションの巧みな設計：「継続に漏れる = 青島SGへの入口」という逆転構造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416552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エキシビションで多く続けば出玉増、漏れても青島SGチャンス。どちらに転んでも「良いことがある」設計。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設計哲学  ──  なぜモンキーターンVは面白いのか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2743200" cy="3154680"/>
          </a:xfrm>
          <a:prstGeom prst="rect">
            <a:avLst/>
          </a:prstGeom>
          <a:solidFill>
            <a:srgbClr val="041420"/>
          </a:solidFill>
          <a:ln w="25400">
            <a:solidFill>
              <a:srgbClr val="148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288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887C"/>
                </a:solidFill>
                <a:latin typeface="游明朝"/>
              </a:rPr>
              <a:t>複層的な目標設計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1G先：次の激走ポイント加算
1AT先：次のセット継続
1日先：グランドスラム達成
将来：上位AT青島SG体験
「今ここ」と「将来」を
同時に意識させる設計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777240"/>
            <a:ext cx="2743200" cy="3154680"/>
          </a:xfrm>
          <a:prstGeom prst="rect">
            <a:avLst/>
          </a:prstGeom>
          <a:solidFill>
            <a:srgbClr val="181000"/>
          </a:solidFill>
          <a:ln w="25400">
            <a:solidFill>
              <a:srgbClr val="FF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12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020"/>
                </a:solidFill>
                <a:latin typeface="游明朝"/>
              </a:rPr>
              <a:t>失敗を無駄にしない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612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CZ失敗
→ グランドスラムCH（救済）
エキシビション漏れ
→ 青島SG入口
激走チャージ天井
→ CZ確定
どの失敗にも
「次の期待」が残る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777240"/>
            <a:ext cx="2743200" cy="3154680"/>
          </a:xfrm>
          <a:prstGeom prst="rect">
            <a:avLst/>
          </a:prstGeom>
          <a:solidFill>
            <a:srgbClr val="001020"/>
          </a:solidFill>
          <a:ln w="25400">
            <a:solidFill>
              <a:srgbClr val="00C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60" y="841248"/>
            <a:ext cx="256032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0C8"/>
                </a:solidFill>
                <a:latin typeface="游明朝"/>
              </a:rPr>
              <a:t>「読める」楽しさ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9360" y="128016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E8F0"/>
                </a:solidFill>
                <a:latin typeface="メイリオ"/>
              </a:rPr>
              <a:t>シナリオはランプで示唆
周期はモードで予測可能
ライバルモードは滞在確定
「完全にわかる」ではなく
「ある程度読める」バランス
推測が当たる快感が
遊技を豊かにする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4023360"/>
            <a:ext cx="8778240" cy="4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4096512"/>
            <a:ext cx="8778240" cy="640000"/>
          </a:xfrm>
          <a:prstGeom prst="rect">
            <a:avLst/>
          </a:prstGeom>
          <a:solidFill>
            <a:srgbClr val="06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42232"/>
            <a:ext cx="841248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メイリオ"/>
              </a:rPr>
              <a:t>総評：「遊びやすさ × パンチ × 深み」が高水準で共存している数少ない台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34840"/>
            <a:ext cx="841248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機械割設定6で114.9%・シナリオ14種・上位AT純増4.0枚。スペック・ゲーム性・演出のどこを切っても水準以上。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7160" y="73152"/>
            <a:ext cx="8869680" cy="420000"/>
          </a:xfrm>
          <a:prstGeom prst="rect">
            <a:avLst/>
          </a:prstGeom>
          <a:solidFill>
            <a:srgbClr val="04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" y="73152"/>
            <a:ext cx="60000" cy="42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84124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まとめ  ──  設計から学べること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8778240" cy="360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2880" y="832104"/>
            <a:ext cx="976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比較軸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8880" y="832104"/>
            <a:ext cx="1894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東京喰種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2880" y="832104"/>
            <a:ext cx="1894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番長4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6880" y="832104"/>
            <a:ext cx="1894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C8A840"/>
                </a:solidFill>
                <a:latin typeface="メイリオ"/>
              </a:rPr>
              <a:t>Re:ゼロ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0880" y="832104"/>
            <a:ext cx="18940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0C0C8"/>
                </a:solidFill>
                <a:latin typeface="メイリオ"/>
              </a:rPr>
              <a:t>モンキーターンV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170432"/>
            <a:ext cx="8778240" cy="32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880" y="1195432"/>
            <a:ext cx="976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CV値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8880" y="119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0.18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2880" y="119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2222"/>
                </a:solidFill>
                <a:latin typeface="メイリオ"/>
              </a:rPr>
              <a:t>0.68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6880" y="119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0.22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0880" y="119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0.23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500432"/>
            <a:ext cx="8778240" cy="320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880" y="1525432"/>
            <a:ext cx="976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機械割(設6)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8880" y="152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108%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2880" y="152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112%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6880" y="152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110%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0880" y="152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114.9%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1830432"/>
            <a:ext cx="8778240" cy="32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2880" y="1855432"/>
            <a:ext cx="976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継続設計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8880" y="185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シナリオ型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2880" y="185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設定依存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6880" y="185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有利区間型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0880" y="185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シナリオ14種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2160432"/>
            <a:ext cx="8778240" cy="320000"/>
          </a:xfrm>
          <a:prstGeom prst="rect">
            <a:avLst/>
          </a:prstGeom>
          <a:solidFill>
            <a:srgbClr val="0E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2880" y="2185432"/>
            <a:ext cx="976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来店継続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8880" y="218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世界観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2880" y="218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期待値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6880" y="218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コンプガチャ型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0880" y="218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グランドスラム目標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2490432"/>
            <a:ext cx="8778240" cy="320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2880" y="2515432"/>
            <a:ext cx="976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後半維持率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8880" y="251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73.7%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2880" y="251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2222"/>
                </a:solidFill>
                <a:latin typeface="メイリオ"/>
              </a:rPr>
              <a:t>29.6%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66880" y="251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メイリオ"/>
              </a:rPr>
              <a:t>70%前後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0880" y="2515432"/>
            <a:ext cx="18940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C0C8"/>
                </a:solidFill>
                <a:latin typeface="メイリオ"/>
              </a:rPr>
              <a:t>68.2%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3611880"/>
            <a:ext cx="8778240" cy="76000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3611880"/>
            <a:ext cx="55000" cy="760000"/>
          </a:xfrm>
          <a:prstGeom prst="rect">
            <a:avLst/>
          </a:prstGeom>
          <a:solidFill>
            <a:srgbClr val="148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657600"/>
            <a:ext cx="832104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887C"/>
                </a:solidFill>
                <a:latin typeface="游明朝"/>
              </a:rPr>
              <a:t>モンキーターンVから学べる設計原則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3977639"/>
            <a:ext cx="55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A020"/>
                </a:solidFill>
                <a:latin typeface="メイリオ"/>
              </a:rPr>
              <a:t>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977639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A020"/>
                </a:solidFill>
                <a:latin typeface="メイリオ"/>
              </a:rPr>
              <a:t>複数の目標を同時に持たせる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3977639"/>
            <a:ext cx="475488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短期（次セット）× 中期（グランドスラム）× 長期（青島SG）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4262639"/>
            <a:ext cx="55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0C8"/>
                </a:solidFill>
                <a:latin typeface="メイリオ"/>
              </a:rPr>
              <a:t>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4262639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C0C8"/>
                </a:solidFill>
                <a:latin typeface="メイリオ"/>
              </a:rPr>
              <a:t>失敗に必ず「次の期待」を残す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4262639"/>
            <a:ext cx="475488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どの失敗にも救済ルートがある = 諦めない設計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4547639"/>
            <a:ext cx="55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メイリオ"/>
              </a:rPr>
              <a:t>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4547639"/>
            <a:ext cx="32004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「読める」示唆が遊技を豊かにする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4547639"/>
            <a:ext cx="475488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E0E8F0"/>
                </a:solidFill>
                <a:latin typeface="メイリオ"/>
              </a:rPr>
              <a:t>シナリオ推測という知的楽しさが長期稼働を支える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919472"/>
            <a:ext cx="15544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88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