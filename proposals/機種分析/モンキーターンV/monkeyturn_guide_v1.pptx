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5120640" cy="5143500"/>
          </a:xfrm>
          <a:prstGeom prst="rect">
            <a:avLst/>
          </a:prstGeom>
          <a:solidFill>
            <a:srgbClr val="020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457200"/>
            <a:ext cx="30000" cy="1828800"/>
          </a:xfrm>
          <a:prstGeom prst="rect">
            <a:avLst/>
          </a:prstGeom>
          <a:solidFill>
            <a:srgbClr val="1488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475488"/>
            <a:ext cx="457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8A840"/>
                </a:solidFill>
                <a:latin typeface="游明朝"/>
              </a:rPr>
              <a:t>機種分析資料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60120"/>
            <a:ext cx="475488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游明朝"/>
              </a:rPr>
              <a:t>モンキーターンV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029968"/>
            <a:ext cx="4572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BBBBB"/>
                </a:solidFill>
                <a:latin typeface="游明朝"/>
              </a:rPr>
              <a:t>スマスロ（山佐）── 複層設計と継続率管理の完成形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542032"/>
            <a:ext cx="4389120" cy="580000"/>
          </a:xfrm>
          <a:prstGeom prst="rect">
            <a:avLst/>
          </a:prstGeom>
          <a:solidFill>
            <a:srgbClr val="0416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542032"/>
            <a:ext cx="55000" cy="580000"/>
          </a:xfrm>
          <a:prstGeom prst="rect">
            <a:avLst/>
          </a:prstGeom>
          <a:solidFill>
            <a:srgbClr val="1488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615184"/>
            <a:ext cx="4114800" cy="5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メイリオ"/>
              </a:rPr>
              <a:t>「遊びやすさとパンチの両立」
複層モード × シナリオ14種 × 上位AT青島SG
ゲーム性の完成度が高いと評価される一台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0" y="685800"/>
            <a:ext cx="3566160" cy="2468880"/>
          </a:xfrm>
          <a:prstGeom prst="rect">
            <a:avLst/>
          </a:prstGeom>
          <a:solidFill>
            <a:srgbClr val="0C142C"/>
          </a:solidFill>
          <a:ln w="19050">
            <a:solidFill>
              <a:srgbClr val="1488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40680" y="749808"/>
            <a:ext cx="329184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4887C"/>
                </a:solidFill>
                <a:latin typeface="游明朝"/>
              </a:rPr>
              <a:t>基本スペック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1188720"/>
            <a:ext cx="1234440" cy="25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888888"/>
                </a:solidFill>
                <a:latin typeface="メイリオ"/>
              </a:rPr>
              <a:t>タイプ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1188720"/>
            <a:ext cx="2057400" cy="25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スマスロ 6.5号機 AT機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1451720"/>
            <a:ext cx="1234440" cy="25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888888"/>
                </a:solidFill>
                <a:latin typeface="メイリオ"/>
              </a:rPr>
              <a:t>メーカー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1451720"/>
            <a:ext cx="2057400" cy="25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山佐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40680" y="1714720"/>
            <a:ext cx="1234440" cy="25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888888"/>
                </a:solidFill>
                <a:latin typeface="メイリオ"/>
              </a:rPr>
              <a:t>純増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20840" y="1714720"/>
            <a:ext cx="2057400" cy="25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約2.5枚/G（AT）/ 4.0枚/G（青島SG）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40680" y="1977720"/>
            <a:ext cx="1234440" cy="25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888888"/>
                </a:solidFill>
                <a:latin typeface="メイリオ"/>
              </a:rPr>
              <a:t>天井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1977720"/>
            <a:ext cx="2057400" cy="25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795G+α（設定変更後 495G+α）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2240720"/>
            <a:ext cx="1234440" cy="25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888888"/>
                </a:solidFill>
                <a:latin typeface="メイリオ"/>
              </a:rPr>
              <a:t>機械割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2240720"/>
            <a:ext cx="2057400" cy="25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設定1: 97.9%  /  設定6: 114.9%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0" y="3291840"/>
            <a:ext cx="3566160" cy="1417320"/>
          </a:xfrm>
          <a:prstGeom prst="rect">
            <a:avLst/>
          </a:prstGeom>
          <a:solidFill>
            <a:srgbClr val="081828"/>
          </a:solidFill>
          <a:ln w="12700">
            <a:solidFill>
              <a:srgbClr val="FFA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40680" y="3364992"/>
            <a:ext cx="329184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A020"/>
                </a:solidFill>
                <a:latin typeface="游明朝"/>
              </a:rPr>
              <a:t>3つの分析ポイント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40680" y="3675887"/>
            <a:ext cx="329184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I    激走ポイント × 周期 × ライバルモード
II   14種シナリオ × 示唆システム
III  グランドスラム → 青島SG への昇格設計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4754880"/>
            <a:ext cx="210312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888888"/>
                </a:solidFill>
                <a:latin typeface="メイリオ"/>
              </a:rPr>
              <a:t>v1.0  2026.05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37160" y="73152"/>
            <a:ext cx="8869680" cy="420000"/>
          </a:xfrm>
          <a:prstGeom prst="rect">
            <a:avLst/>
          </a:prstGeom>
          <a:solidFill>
            <a:srgbClr val="041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" y="73152"/>
            <a:ext cx="60000" cy="420000"/>
          </a:xfrm>
          <a:prstGeom prst="rect">
            <a:avLst/>
          </a:prstGeom>
          <a:solidFill>
            <a:srgbClr val="1488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8412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8A840"/>
                </a:solidFill>
                <a:latin typeface="游明朝"/>
              </a:rPr>
              <a:t>ゲームフロー全体図  ──  メインゴールはグランドスラム（8セット完走）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164592" y="566928"/>
            <a:ext cx="2286000" cy="1508760"/>
          </a:xfrm>
          <a:prstGeom prst="rect">
            <a:avLst/>
          </a:prstGeom>
          <a:solidFill>
            <a:srgbClr val="040E22"/>
          </a:solidFill>
          <a:ln w="22860">
            <a:solidFill>
              <a:srgbClr val="00C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44592" y="616928"/>
            <a:ext cx="2126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游明朝"/>
              </a:rPr>
              <a:t>通常時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4592" y="906928"/>
            <a:ext cx="2126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0E8F0"/>
                </a:solidFill>
                <a:latin typeface="メイリオ"/>
              </a:rPr>
              <a:t>激走ポイント毎G加算
① 222pt到達（周期天井）
   → 前兆「優出モード」
② レア役直撃
   → CZ「超抜チャレンジ」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2651760" y="566928"/>
            <a:ext cx="2286000" cy="694944"/>
          </a:xfrm>
          <a:prstGeom prst="rect">
            <a:avLst/>
          </a:prstGeom>
          <a:solidFill>
            <a:srgbClr val="001226"/>
          </a:solidFill>
          <a:ln w="22860">
            <a:solidFill>
              <a:srgbClr val="00C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31760" y="608928"/>
            <a:ext cx="2126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00C0C8"/>
                </a:solidFill>
                <a:latin typeface="游明朝"/>
              </a:rPr>
              <a:t>前兆「優出モード」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31760" y="886928"/>
            <a:ext cx="2126000" cy="339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0E8F0"/>
                </a:solidFill>
                <a:latin typeface="メイリオ"/>
              </a:rPr>
              <a:t>周期天井（222pt等）で突入 / AT当選確定的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51760" y="1341872"/>
            <a:ext cx="2286000" cy="694944"/>
          </a:xfrm>
          <a:prstGeom prst="rect">
            <a:avLst/>
          </a:prstGeom>
          <a:solidFill>
            <a:srgbClr val="041622"/>
          </a:solidFill>
          <a:ln w="22860">
            <a:solidFill>
              <a:srgbClr val="1488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31760" y="1383872"/>
            <a:ext cx="2126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14887C"/>
                </a:solidFill>
                <a:latin typeface="游明朝"/>
              </a:rPr>
              <a:t>CZ「超抜チャレンジ」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31760" y="1661872"/>
            <a:ext cx="2126000" cy="339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0E8F0"/>
                </a:solidFill>
                <a:latin typeface="メイリオ"/>
              </a:rPr>
              <a:t>レア役直撃 / 10G自力突破 / 成功率約50%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38928" y="566928"/>
            <a:ext cx="2286000" cy="1508760"/>
          </a:xfrm>
          <a:prstGeom prst="rect">
            <a:avLst/>
          </a:prstGeom>
          <a:solidFill>
            <a:srgbClr val="0C1604"/>
          </a:solidFill>
          <a:ln w="22860">
            <a:solidFill>
              <a:srgbClr val="FFA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18928" y="616928"/>
            <a:ext cx="2126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游明朝"/>
              </a:rPr>
              <a:t>AT「SG RUSH」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8928" y="906928"/>
            <a:ext cx="2126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0E8F0"/>
                </a:solidFill>
                <a:latin typeface="メイリオ"/>
              </a:rPr>
              <a:t>純増2.5枚/G
周回31G + SGバトル9G
メインゴール：
8セット完走
= グランドスラム達成！</a:t>
            </a:r>
          </a:p>
        </p:txBody>
      </p:sp>
      <p:sp>
        <p:nvSpPr>
          <p:cNvPr id="18" name="Can 17"/>
          <p:cNvSpPr/>
          <p:nvPr/>
        </p:nvSpPr>
        <p:spPr>
          <a:xfrm>
            <a:off x="2490592" y="839400"/>
            <a:ext cx="121168" cy="150000"/>
          </a:xfrm>
          <a:prstGeom prst="can">
            <a:avLst/>
          </a:prstGeom>
          <a:solidFill>
            <a:srgbClr val="00C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an 18"/>
          <p:cNvSpPr/>
          <p:nvPr/>
        </p:nvSpPr>
        <p:spPr>
          <a:xfrm>
            <a:off x="2490592" y="1614344"/>
            <a:ext cx="121168" cy="150000"/>
          </a:xfrm>
          <a:prstGeom prst="can">
            <a:avLst/>
          </a:prstGeom>
          <a:solidFill>
            <a:srgbClr val="1488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Can 19"/>
          <p:cNvSpPr/>
          <p:nvPr/>
        </p:nvSpPr>
        <p:spPr>
          <a:xfrm>
            <a:off x="4977760" y="839400"/>
            <a:ext cx="121168" cy="150000"/>
          </a:xfrm>
          <a:prstGeom prst="can">
            <a:avLst/>
          </a:prstGeom>
          <a:solidFill>
            <a:srgbClr val="22C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45760" y="694400"/>
            <a:ext cx="251168" cy="1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22CC66"/>
                </a:solidFill>
                <a:latin typeface="メイリオ"/>
              </a:rPr>
              <a:t>成功</a:t>
            </a:r>
          </a:p>
        </p:txBody>
      </p:sp>
      <p:sp>
        <p:nvSpPr>
          <p:cNvPr id="22" name="Can 21"/>
          <p:cNvSpPr/>
          <p:nvPr/>
        </p:nvSpPr>
        <p:spPr>
          <a:xfrm>
            <a:off x="4977760" y="1614344"/>
            <a:ext cx="121168" cy="150000"/>
          </a:xfrm>
          <a:prstGeom prst="can">
            <a:avLst/>
          </a:prstGeom>
          <a:solidFill>
            <a:srgbClr val="22C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767260" y="2036816"/>
            <a:ext cx="55000" cy="740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14760" y="2042816"/>
            <a:ext cx="56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CC2222"/>
                </a:solidFill>
                <a:latin typeface="メイリオ"/>
              </a:rPr>
              <a:t>失敗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51760" y="2146816"/>
            <a:ext cx="1078992" cy="510000"/>
          </a:xfrm>
          <a:prstGeom prst="rect">
            <a:avLst/>
          </a:prstGeom>
          <a:solidFill>
            <a:srgbClr val="081018"/>
          </a:solidFill>
          <a:ln w="1270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06760" y="2184816"/>
            <a:ext cx="988992" cy="22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BBBBBB"/>
                </a:solidFill>
                <a:latin typeface="游明朝"/>
              </a:rPr>
              <a:t>通常時に戻る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06760" y="2414816"/>
            <a:ext cx="988992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888888"/>
                </a:solidFill>
                <a:latin typeface="メイリオ"/>
              </a:rPr>
              <a:t>約50% / 次の周期へ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75752" y="2146816"/>
            <a:ext cx="1162008" cy="510000"/>
          </a:xfrm>
          <a:prstGeom prst="rect">
            <a:avLst/>
          </a:prstGeom>
          <a:solidFill>
            <a:srgbClr val="1C1400"/>
          </a:solidFill>
          <a:ln w="22860">
            <a:solidFill>
              <a:srgbClr val="C8A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30752" y="2184816"/>
            <a:ext cx="1072008" cy="22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C8A840"/>
                </a:solidFill>
                <a:latin typeface="游明朝"/>
              </a:rPr>
              <a:t>グランドスラムCH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30752" y="2414816"/>
            <a:ext cx="1072008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E0E8F0"/>
                </a:solidFill>
                <a:latin typeface="メイリオ"/>
              </a:rPr>
              <a:t>1.2% / AT確定
艇王シナリオ濃厚</a:t>
            </a:r>
          </a:p>
        </p:txBody>
      </p:sp>
      <p:sp>
        <p:nvSpPr>
          <p:cNvPr id="31" name="Can 30"/>
          <p:cNvSpPr/>
          <p:nvPr/>
        </p:nvSpPr>
        <p:spPr>
          <a:xfrm>
            <a:off x="4977760" y="2326816"/>
            <a:ext cx="121168" cy="150000"/>
          </a:xfrm>
          <a:prstGeom prst="can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45760" y="2186816"/>
            <a:ext cx="251168" cy="1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C8A840"/>
                </a:solidFill>
                <a:latin typeface="メイリオ"/>
              </a:rPr>
              <a:t>AT確定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504928" y="1321308"/>
            <a:ext cx="55000" cy="1125280"/>
          </a:xfrm>
          <a:prstGeom prst="rect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504928" y="2418588"/>
            <a:ext cx="605000" cy="55000"/>
          </a:xfrm>
          <a:prstGeom prst="rect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54928" y="2418588"/>
            <a:ext cx="55000" cy="397900"/>
          </a:xfrm>
          <a:prstGeom prst="rect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449928" y="2038588"/>
            <a:ext cx="79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D700"/>
                </a:solidFill>
                <a:latin typeface="メイリオ"/>
              </a:rPr>
              <a:t>8セット
完走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138928" y="2761488"/>
            <a:ext cx="2286000" cy="804672"/>
          </a:xfrm>
          <a:prstGeom prst="rect">
            <a:avLst/>
          </a:prstGeom>
          <a:solidFill>
            <a:srgbClr val="261600"/>
          </a:solidFill>
          <a:ln w="22860">
            <a:solidFill>
              <a:srgbClr val="C8A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218928" y="2803488"/>
            <a:ext cx="2126000" cy="26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游明朝"/>
              </a:rPr>
              <a:t>グランドスラム達成！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8928" y="3083488"/>
            <a:ext cx="2126000" cy="44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0E8F0"/>
                </a:solidFill>
                <a:latin typeface="メイリオ"/>
              </a:rPr>
              <a:t>8完走でメインゴール到達
→ エキシビション（ボーナス）へ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651760" y="2761488"/>
            <a:ext cx="2286000" cy="804672"/>
          </a:xfrm>
          <a:prstGeom prst="rect">
            <a:avLst/>
          </a:prstGeom>
          <a:solidFill>
            <a:srgbClr val="0C1604"/>
          </a:solidFill>
          <a:ln w="22860">
            <a:solidFill>
              <a:srgbClr val="FFA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731760" y="2803488"/>
            <a:ext cx="2126000" cy="26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游明朝"/>
              </a:rPr>
              <a:t>エキシビションレース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1760" y="3083488"/>
            <a:ext cx="2126000" cy="44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0E8F0"/>
                </a:solidFill>
                <a:latin typeface="メイリオ"/>
              </a:rPr>
              <a:t>グランドスラム後のボーナス区間
継続率50/66/80/90%に固定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64592" y="2761488"/>
            <a:ext cx="2286000" cy="804672"/>
          </a:xfrm>
          <a:prstGeom prst="rect">
            <a:avLst/>
          </a:prstGeom>
          <a:solidFill>
            <a:srgbClr val="001226"/>
          </a:solidFill>
          <a:ln w="22860">
            <a:solidFill>
              <a:srgbClr val="00C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44592" y="2803488"/>
            <a:ext cx="2126000" cy="26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游明朝"/>
              </a:rPr>
              <a:t>上位AT「青島SG」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44592" y="3083488"/>
            <a:ext cx="2126000" cy="44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0E8F0"/>
                </a:solidFill>
                <a:latin typeface="メイリオ"/>
              </a:rPr>
              <a:t>真の頂点 / 純増4.0枚/G
継続率83% / 温泉モードあり</a:t>
            </a:r>
          </a:p>
        </p:txBody>
      </p:sp>
      <p:sp>
        <p:nvSpPr>
          <p:cNvPr id="46" name="Can 45"/>
          <p:cNvSpPr/>
          <p:nvPr/>
        </p:nvSpPr>
        <p:spPr>
          <a:xfrm rot="10800000">
            <a:off x="4977760" y="3088824"/>
            <a:ext cx="121168" cy="150000"/>
          </a:xfrm>
          <a:prstGeom prst="can">
            <a:avLst/>
          </a:prstGeom>
          <a:solidFill>
            <a:srgbClr val="FF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Can 46"/>
          <p:cNvSpPr/>
          <p:nvPr/>
        </p:nvSpPr>
        <p:spPr>
          <a:xfrm rot="10800000">
            <a:off x="2490592" y="3088824"/>
            <a:ext cx="121168" cy="150000"/>
          </a:xfrm>
          <a:prstGeom prst="can">
            <a:avLst/>
          </a:prstGeom>
          <a:solidFill>
            <a:srgbClr val="FF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64592" y="3676160"/>
            <a:ext cx="8814816" cy="820000"/>
          </a:xfrm>
          <a:prstGeom prst="rect">
            <a:avLst/>
          </a:prstGeom>
          <a:solidFill>
            <a:srgbClr val="06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64592" y="3676160"/>
            <a:ext cx="55000" cy="820000"/>
          </a:xfrm>
          <a:prstGeom prst="rect">
            <a:avLst/>
          </a:prstGeom>
          <a:solidFill>
            <a:srgbClr val="1488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64592" y="3736160"/>
            <a:ext cx="8412480" cy="2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4887C"/>
                </a:solidFill>
                <a:latin typeface="游明朝"/>
              </a:rPr>
              <a:t>フロー設計の核心：「グランドスラム（8完走）を目指す」ことが来店動機のすべてになる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64592" y="4051160"/>
            <a:ext cx="8412480" cy="40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優出モード（周期天井）とCZ直撃の2ルートでAT突入。AT後はシナリオ14種で継続率が決まり8完走を狙う。
CZ失敗の1.2%でGSC（AT確定・艇王シナリオ）という逆転も存在。失敗にも次がある設計。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37160" y="73152"/>
            <a:ext cx="8869680" cy="420000"/>
          </a:xfrm>
          <a:prstGeom prst="rect">
            <a:avLst/>
          </a:prstGeom>
          <a:solidFill>
            <a:srgbClr val="041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" y="73152"/>
            <a:ext cx="60000" cy="420000"/>
          </a:xfrm>
          <a:prstGeom prst="rect">
            <a:avLst/>
          </a:prstGeom>
          <a:solidFill>
            <a:srgbClr val="1488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8412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8A840"/>
                </a:solidFill>
                <a:latin typeface="游明朝"/>
              </a:rPr>
              <a:t>通常時設計  ──  激走ポイント × 周期 × ライバルモード 3層構造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777240"/>
            <a:ext cx="2834640" cy="3200400"/>
          </a:xfrm>
          <a:prstGeom prst="rect">
            <a:avLst/>
          </a:prstGeom>
          <a:solidFill>
            <a:srgbClr val="0C142C"/>
          </a:solidFill>
          <a:ln w="19050">
            <a:solidFill>
              <a:srgbClr val="00C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608" y="841248"/>
            <a:ext cx="265176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C0C8"/>
                </a:solidFill>
                <a:latin typeface="游明朝"/>
              </a:rPr>
              <a:t>激走ポイント</a:t>
            </a:r>
          </a:p>
        </p:txBody>
      </p:sp>
      <p:sp>
        <p:nvSpPr>
          <p:cNvPr id="8" name="Rectangle 7"/>
          <p:cNvSpPr/>
          <p:nvPr/>
        </p:nvSpPr>
        <p:spPr>
          <a:xfrm>
            <a:off x="256032" y="1261872"/>
            <a:ext cx="50000" cy="510000"/>
          </a:xfrm>
          <a:prstGeom prst="rect">
            <a:avLst/>
          </a:prstGeom>
          <a:solidFill>
            <a:srgbClr val="00C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1286872"/>
            <a:ext cx="237744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0C0C8"/>
                </a:solidFill>
                <a:latin typeface="メイリオ"/>
              </a:rPr>
              <a:t>毎G加算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1526872"/>
            <a:ext cx="23774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0E8F0"/>
                </a:solidFill>
                <a:latin typeface="メイリオ"/>
              </a:rPr>
              <a:t>通常は1pt以上が毎ゲーム加算
液晶右上のメーターで可視化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6032" y="1816872"/>
            <a:ext cx="50000" cy="510000"/>
          </a:xfrm>
          <a:prstGeom prst="rect">
            <a:avLst/>
          </a:prstGeom>
          <a:solidFill>
            <a:srgbClr val="FF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" y="1841872"/>
            <a:ext cx="237744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A020"/>
                </a:solidFill>
                <a:latin typeface="メイリオ"/>
              </a:rPr>
              <a:t>激走チャージ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2081872"/>
            <a:ext cx="23774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0E8F0"/>
                </a:solidFill>
                <a:latin typeface="メイリオ"/>
              </a:rPr>
              <a:t>チャンス役で5G突入
10〜200ptの大量加算ゾーン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6032" y="2371872"/>
            <a:ext cx="50000" cy="510000"/>
          </a:xfrm>
          <a:prstGeom prst="rect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" y="2396872"/>
            <a:ext cx="237744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C8A840"/>
                </a:solidFill>
                <a:latin typeface="メイリオ"/>
              </a:rPr>
              <a:t>222pt到達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" y="2636872"/>
            <a:ext cx="23774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0E8F0"/>
                </a:solidFill>
                <a:latin typeface="メイリオ"/>
              </a:rPr>
              <a:t>優出モード突入（AT結果確定直前）
1周期目は平均80Gで到達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56032" y="2926872"/>
            <a:ext cx="50000" cy="510000"/>
          </a:xfrm>
          <a:prstGeom prst="rect">
            <a:avLst/>
          </a:prstGeom>
          <a:solidFill>
            <a:srgbClr val="22C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" y="2951872"/>
            <a:ext cx="237744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2CC66"/>
                </a:solidFill>
                <a:latin typeface="メイリオ"/>
              </a:rPr>
              <a:t>チャージ天井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" y="3191872"/>
            <a:ext cx="23774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0E8F0"/>
                </a:solidFill>
                <a:latin typeface="メイリオ"/>
              </a:rPr>
              <a:t>81G or 131G無チャージ
→ 次チャンス役でCZ確定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154680" y="777240"/>
            <a:ext cx="2834640" cy="3200400"/>
          </a:xfrm>
          <a:prstGeom prst="rect">
            <a:avLst/>
          </a:prstGeom>
          <a:solidFill>
            <a:srgbClr val="0C142C"/>
          </a:solidFill>
          <a:ln w="19050">
            <a:solidFill>
              <a:srgbClr val="1488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64408" y="841248"/>
            <a:ext cx="265176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4887C"/>
                </a:solidFill>
                <a:latin typeface="游明朝"/>
              </a:rPr>
              <a:t>内部モード（周期管理）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27832" y="1261872"/>
            <a:ext cx="2633472" cy="760000"/>
          </a:xfrm>
          <a:prstGeom prst="rect">
            <a:avLst/>
          </a:prstGeom>
          <a:solidFill>
            <a:srgbClr val="081424"/>
          </a:solidFill>
          <a:ln w="127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37560" y="1311872"/>
            <a:ext cx="237744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FFD700"/>
                </a:solidFill>
                <a:latin typeface="メイリオ"/>
              </a:rPr>
              <a:t>天国モード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37560" y="1591872"/>
            <a:ext cx="237744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1周期目にAT当選濃厚
最上位・最もレアなモード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27832" y="2061872"/>
            <a:ext cx="2633472" cy="760000"/>
          </a:xfrm>
          <a:prstGeom prst="rect">
            <a:avLst/>
          </a:prstGeom>
          <a:solidFill>
            <a:srgbClr val="081424"/>
          </a:solidFill>
          <a:ln w="12700">
            <a:solidFill>
              <a:srgbClr val="1488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37560" y="2111872"/>
            <a:ext cx="237744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14887C"/>
                </a:solidFill>
                <a:latin typeface="メイリオ"/>
              </a:rPr>
              <a:t>通常Aモード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2391872"/>
            <a:ext cx="237744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6周期天井 / 2・5周期がチャンス
最も標準的な推移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27832" y="2861872"/>
            <a:ext cx="2633472" cy="760000"/>
          </a:xfrm>
          <a:prstGeom prst="rect">
            <a:avLst/>
          </a:prstGeom>
          <a:solidFill>
            <a:srgbClr val="081424"/>
          </a:solidFill>
          <a:ln w="12700">
            <a:solidFill>
              <a:srgbClr val="00C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337560" y="2911872"/>
            <a:ext cx="237744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00C0C8"/>
                </a:solidFill>
                <a:latin typeface="メイリオ"/>
              </a:rPr>
              <a:t>通常Bモード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37560" y="3191872"/>
            <a:ext cx="237744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3周期天井 / 2周期がチャンス
短めの天井が特徴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26480" y="777240"/>
            <a:ext cx="2834640" cy="3200400"/>
          </a:xfrm>
          <a:prstGeom prst="rect">
            <a:avLst/>
          </a:prstGeom>
          <a:solidFill>
            <a:srgbClr val="0C142C"/>
          </a:solidFill>
          <a:ln w="19050">
            <a:solidFill>
              <a:srgbClr val="FFA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36208" y="841248"/>
            <a:ext cx="265176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A020"/>
                </a:solidFill>
                <a:latin typeface="游明朝"/>
              </a:rPr>
              <a:t>ライバルモード（6種）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99632" y="1261872"/>
            <a:ext cx="50000" cy="510000"/>
          </a:xfrm>
          <a:prstGeom prst="rect">
            <a:avLst/>
          </a:prstGeom>
          <a:solidFill>
            <a:srgbClr val="BBBB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82512" y="1286872"/>
            <a:ext cx="237744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BBBBBB"/>
                </a:solidFill>
                <a:latin typeface="メイリオ"/>
              </a:rPr>
              <a:t>榎木・蒲生・浜岡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82512" y="1526872"/>
            <a:ext cx="23774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0E8F0"/>
                </a:solidFill>
                <a:latin typeface="メイリオ"/>
              </a:rPr>
              <a:t>通常時の周期抽選に作用
設定差あり・高設定ほど移行率UP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99632" y="1816872"/>
            <a:ext cx="50000" cy="510000"/>
          </a:xfrm>
          <a:prstGeom prst="rect">
            <a:avLst/>
          </a:prstGeom>
          <a:solidFill>
            <a:srgbClr val="FF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82512" y="1841872"/>
            <a:ext cx="237744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A020"/>
                </a:solidFill>
                <a:latin typeface="メイリオ"/>
              </a:rPr>
              <a:t>洞口・青島・波多野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82512" y="2081872"/>
            <a:ext cx="23774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0E8F0"/>
                </a:solidFill>
                <a:latin typeface="メイリオ"/>
              </a:rPr>
              <a:t>AT中シナリオ性能に作用
全設定共通移行率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99632" y="2371872"/>
            <a:ext cx="50000" cy="5100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82512" y="2396872"/>
            <a:ext cx="237744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D700"/>
                </a:solidFill>
                <a:latin typeface="メイリオ"/>
              </a:rPr>
              <a:t>共通の恩恵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82512" y="2636872"/>
            <a:ext cx="23774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0E8F0"/>
                </a:solidFill>
                <a:latin typeface="メイリオ"/>
              </a:rPr>
              <a:t>滞在中は出玉率100%超
当選まで打ち続けたい設計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99632" y="2926872"/>
            <a:ext cx="50000" cy="510000"/>
          </a:xfrm>
          <a:prstGeom prst="rect">
            <a:avLst/>
          </a:prstGeom>
          <a:solidFill>
            <a:srgbClr val="00C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82512" y="2951872"/>
            <a:ext cx="237744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0C0C8"/>
                </a:solidFill>
                <a:latin typeface="メイリオ"/>
              </a:rPr>
              <a:t>青島モードは別格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82512" y="3191872"/>
            <a:ext cx="23774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0E8F0"/>
                </a:solidFill>
                <a:latin typeface="メイリオ"/>
              </a:rPr>
              <a:t>特に強いとされるモード
AT中継続率が大幅優遇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82880" y="4069080"/>
            <a:ext cx="8778240" cy="560000"/>
          </a:xfrm>
          <a:prstGeom prst="rect">
            <a:avLst/>
          </a:prstGeom>
          <a:solidFill>
            <a:srgbClr val="06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82880" y="4069080"/>
            <a:ext cx="55000" cy="560000"/>
          </a:xfrm>
          <a:prstGeom prst="rect">
            <a:avLst/>
          </a:prstGeom>
          <a:solidFill>
            <a:srgbClr val="FF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11480" y="4114800"/>
            <a:ext cx="832104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FFA020"/>
                </a:solidFill>
                <a:latin typeface="メイリオ"/>
              </a:rPr>
              <a:t>3層構造の設計：「内部モードでいつ当たるか」＋「ポイントで天井を短縮」＋「ライバルモードで出玉保証」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1480" y="4416552"/>
            <a:ext cx="832104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どのモードに滞在しているかを意識することで、立ち回りの深みが生まれる。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498079" y="4919472"/>
            <a:ext cx="155448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8888"/>
                </a:solidFill>
                <a:latin typeface="メイリオ"/>
              </a:rPr>
              <a:t>※ネット解析情報より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37160" y="73152"/>
            <a:ext cx="8869680" cy="420000"/>
          </a:xfrm>
          <a:prstGeom prst="rect">
            <a:avLst/>
          </a:prstGeom>
          <a:solidFill>
            <a:srgbClr val="041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" y="73152"/>
            <a:ext cx="60000" cy="420000"/>
          </a:xfrm>
          <a:prstGeom prst="rect">
            <a:avLst/>
          </a:prstGeom>
          <a:solidFill>
            <a:srgbClr val="1488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8412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8A840"/>
                </a:solidFill>
                <a:latin typeface="游明朝"/>
              </a:rPr>
              <a:t>CZ「超抜チャレンジ」  ──  10G自力突破・成功率約50%の設計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777240"/>
            <a:ext cx="4114800" cy="3154680"/>
          </a:xfrm>
          <a:prstGeom prst="rect">
            <a:avLst/>
          </a:prstGeom>
          <a:solidFill>
            <a:srgbClr val="0C142C"/>
          </a:solidFill>
          <a:ln w="19050">
            <a:solidFill>
              <a:srgbClr val="1488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608" y="841248"/>
            <a:ext cx="384048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4887C"/>
                </a:solidFill>
                <a:latin typeface="游明朝"/>
              </a:rPr>
              <a:t>基本仕様</a:t>
            </a:r>
          </a:p>
        </p:txBody>
      </p:sp>
      <p:sp>
        <p:nvSpPr>
          <p:cNvPr id="8" name="Rectangle 7"/>
          <p:cNvSpPr/>
          <p:nvPr/>
        </p:nvSpPr>
        <p:spPr>
          <a:xfrm>
            <a:off x="256032" y="1261872"/>
            <a:ext cx="3950208" cy="315000"/>
          </a:xfrm>
          <a:prstGeom prst="rect">
            <a:avLst/>
          </a:prstGeom>
          <a:solidFill>
            <a:srgbClr val="0A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" y="1289872"/>
            <a:ext cx="118872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14887C"/>
                </a:solidFill>
                <a:latin typeface="メイリオ"/>
              </a:rPr>
              <a:t>ゲーム数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81912" y="1289872"/>
            <a:ext cx="251460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  <a:latin typeface="メイリオ"/>
              </a:rPr>
              <a:t>10G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6032" y="1586872"/>
            <a:ext cx="3950208" cy="315000"/>
          </a:xfrm>
          <a:prstGeom prst="rect">
            <a:avLst/>
          </a:prstGeom>
          <a:solidFill>
            <a:srgbClr val="0E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" y="1614872"/>
            <a:ext cx="118872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14887C"/>
                </a:solidFill>
                <a:latin typeface="メイリオ"/>
              </a:rPr>
              <a:t>タイプ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81912" y="1614872"/>
            <a:ext cx="251460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自力突破型（毎G抽選）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6032" y="1911872"/>
            <a:ext cx="3950208" cy="315000"/>
          </a:xfrm>
          <a:prstGeom prst="rect">
            <a:avLst/>
          </a:prstGeom>
          <a:solidFill>
            <a:srgbClr val="0A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" y="1939872"/>
            <a:ext cx="118872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14887C"/>
                </a:solidFill>
                <a:latin typeface="メイリオ"/>
              </a:rPr>
              <a:t>成功率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81912" y="1939872"/>
            <a:ext cx="251460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0">
                <a:solidFill>
                  <a:srgbClr val="FFA020"/>
                </a:solidFill>
                <a:latin typeface="メイリオ"/>
              </a:rPr>
              <a:t>約50%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56032" y="2236872"/>
            <a:ext cx="3950208" cy="315000"/>
          </a:xfrm>
          <a:prstGeom prst="rect">
            <a:avLst/>
          </a:prstGeom>
          <a:solidFill>
            <a:srgbClr val="0E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" y="2264872"/>
            <a:ext cx="118872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14887C"/>
                </a:solidFill>
                <a:latin typeface="メイリオ"/>
              </a:rPr>
              <a:t>突入契機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81912" y="2264872"/>
            <a:ext cx="251460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周期到達（222pt優出）・レア役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6032" y="2561872"/>
            <a:ext cx="3950208" cy="315000"/>
          </a:xfrm>
          <a:prstGeom prst="rect">
            <a:avLst/>
          </a:prstGeom>
          <a:solidFill>
            <a:srgbClr val="0A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7472" y="2589872"/>
            <a:ext cx="118872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14887C"/>
                </a:solidFill>
                <a:latin typeface="メイリオ"/>
              </a:rPr>
              <a:t>成功確定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81912" y="2589872"/>
            <a:ext cx="251460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0">
                <a:solidFill>
                  <a:srgbClr val="C8A840"/>
                </a:solidFill>
                <a:latin typeface="メイリオ"/>
              </a:rPr>
              <a:t>CZ中にペラ9回成立で確定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0" y="777240"/>
            <a:ext cx="4343400" cy="3154680"/>
          </a:xfrm>
          <a:prstGeom prst="rect">
            <a:avLst/>
          </a:prstGeom>
          <a:solidFill>
            <a:srgbClr val="0C142C"/>
          </a:solidFill>
          <a:ln w="19050">
            <a:solidFill>
              <a:srgbClr val="FFA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81728" y="841248"/>
            <a:ext cx="41148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A020"/>
                </a:solidFill>
                <a:latin typeface="游明朝"/>
              </a:rPr>
              <a:t>成否分岐とその先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54880" y="1261872"/>
            <a:ext cx="1920240" cy="1005840"/>
          </a:xfrm>
          <a:prstGeom prst="rect">
            <a:avLst/>
          </a:prstGeom>
          <a:solidFill>
            <a:srgbClr val="0020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54880" y="1307592"/>
            <a:ext cx="192024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22CC66"/>
                </a:solidFill>
                <a:latin typeface="メイリオ"/>
              </a:rPr>
              <a:t>成功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54880" y="1719072"/>
            <a:ext cx="192024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2CC66"/>
                </a:solidFill>
                <a:latin typeface="メイリオ"/>
              </a:rPr>
              <a:t>AT「SG RUSH」突入
14種シナリオが選択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0" y="1261872"/>
            <a:ext cx="1920240" cy="1005840"/>
          </a:xfrm>
          <a:prstGeom prst="rect">
            <a:avLst/>
          </a:prstGeom>
          <a:solidFill>
            <a:srgbClr val="200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0" y="1307592"/>
            <a:ext cx="192024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CC2222"/>
                </a:solidFill>
                <a:latin typeface="メイリオ"/>
              </a:rPr>
              <a:t>失敗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0" y="1719072"/>
            <a:ext cx="192024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CC2222"/>
                </a:solidFill>
                <a:latin typeface="メイリオ"/>
              </a:rPr>
              <a:t>通常時に戻る
次の周期へ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754880" y="2450592"/>
            <a:ext cx="4023360" cy="1298448"/>
          </a:xfrm>
          <a:prstGeom prst="rect">
            <a:avLst/>
          </a:prstGeom>
          <a:solidFill>
            <a:srgbClr val="201800"/>
          </a:solidFill>
          <a:ln w="25400">
            <a:solidFill>
              <a:srgbClr val="C8A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864608" y="2505456"/>
            <a:ext cx="3749039" cy="3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8A840"/>
                </a:solidFill>
                <a:latin typeface="游明朝"/>
              </a:rPr>
              <a:t>プレミアム：グランドスラムチャレンジ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4608" y="2852928"/>
            <a:ext cx="3749039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CZ失敗の約1.2%で突入
AT1セット目が継続濃厚状態からスタート
成功で波多野フリーズ / 艇王シナリオ濃厚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82880" y="4041648"/>
            <a:ext cx="8778240" cy="580000"/>
          </a:xfrm>
          <a:prstGeom prst="rect">
            <a:avLst/>
          </a:prstGeom>
          <a:solidFill>
            <a:srgbClr val="06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82880" y="4041648"/>
            <a:ext cx="55000" cy="580000"/>
          </a:xfrm>
          <a:prstGeom prst="rect">
            <a:avLst/>
          </a:prstGeom>
          <a:solidFill>
            <a:srgbClr val="1488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4087368"/>
            <a:ext cx="832104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14887C"/>
                </a:solidFill>
                <a:latin typeface="メイリオ"/>
              </a:rPr>
              <a:t>CZ設計のポイント：失敗しても「ほぼ通常に戻るだけ」で、突き抜ける時は突き抜ける設計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4389120"/>
            <a:ext cx="832104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グランドスラムチャレンジという超プレミアムルートが「外れたけど最高の展開になった」体験を生む。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79" y="4919472"/>
            <a:ext cx="155448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8888"/>
                </a:solidFill>
                <a:latin typeface="メイリオ"/>
              </a:rPr>
              <a:t>※ネット解析情報より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37160" y="73152"/>
            <a:ext cx="8869680" cy="420000"/>
          </a:xfrm>
          <a:prstGeom prst="rect">
            <a:avLst/>
          </a:prstGeom>
          <a:solidFill>
            <a:srgbClr val="041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" y="73152"/>
            <a:ext cx="60000" cy="420000"/>
          </a:xfrm>
          <a:prstGeom prst="rect">
            <a:avLst/>
          </a:prstGeom>
          <a:solidFill>
            <a:srgbClr val="1488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8412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8A840"/>
                </a:solidFill>
                <a:latin typeface="游明朝"/>
              </a:rPr>
              <a:t>AT「SG RUSH」  ──  2部構造 × グランドスラム達成設計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777240"/>
            <a:ext cx="4114800" cy="3154680"/>
          </a:xfrm>
          <a:prstGeom prst="rect">
            <a:avLst/>
          </a:prstGeom>
          <a:solidFill>
            <a:srgbClr val="0C142C"/>
          </a:solidFill>
          <a:ln w="19050">
            <a:solidFill>
              <a:srgbClr val="FFA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608" y="841248"/>
            <a:ext cx="384048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A020"/>
                </a:solidFill>
                <a:latin typeface="游明朝"/>
              </a:rPr>
              <a:t>1セットの2部構造</a:t>
            </a:r>
          </a:p>
        </p:txBody>
      </p:sp>
      <p:sp>
        <p:nvSpPr>
          <p:cNvPr id="8" name="Rectangle 7"/>
          <p:cNvSpPr/>
          <p:nvPr/>
        </p:nvSpPr>
        <p:spPr>
          <a:xfrm>
            <a:off x="256032" y="1280160"/>
            <a:ext cx="3950208" cy="360000"/>
          </a:xfrm>
          <a:prstGeom prst="rect">
            <a:avLst/>
          </a:prstGeom>
          <a:solidFill>
            <a:srgbClr val="1018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1280160"/>
            <a:ext cx="55000" cy="360000"/>
          </a:xfrm>
          <a:prstGeom prst="rect">
            <a:avLst/>
          </a:prstGeom>
          <a:solidFill>
            <a:srgbClr val="FF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4632" y="1335024"/>
            <a:ext cx="347472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A020"/>
                </a:solidFill>
                <a:latin typeface="メイリオ"/>
              </a:rPr>
              <a:t>周回パート（31G）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" y="1627632"/>
            <a:ext cx="347472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上乗せ・特化ゾーン「バカンスモード」（30G）抽選
V揃いカットイン / 強役で50G以上上乗せ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6032" y="2103120"/>
            <a:ext cx="3950208" cy="360000"/>
          </a:xfrm>
          <a:prstGeom prst="rect">
            <a:avLst/>
          </a:prstGeom>
          <a:solidFill>
            <a:srgbClr val="001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56032" y="2103120"/>
            <a:ext cx="55000" cy="360000"/>
          </a:xfrm>
          <a:prstGeom prst="rect">
            <a:avLst/>
          </a:prstGeom>
          <a:solidFill>
            <a:srgbClr val="00C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4632" y="2157984"/>
            <a:ext cx="347472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C0C8"/>
                </a:solidFill>
                <a:latin typeface="メイリオ"/>
              </a:rPr>
              <a:t>SGバトルパート（9G）── 青島VS波多野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" y="2450592"/>
            <a:ext cx="34747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青島が勝利 → 次セット継続
継続率はシナリオで管理（14種）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6032" y="2724912"/>
            <a:ext cx="3950208" cy="680000"/>
          </a:xfrm>
          <a:prstGeom prst="rect">
            <a:avLst/>
          </a:prstGeom>
          <a:solidFill>
            <a:srgbClr val="201600"/>
          </a:solidFill>
          <a:ln w="25400">
            <a:solidFill>
              <a:srgbClr val="C8A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2779776"/>
            <a:ext cx="3657600" cy="2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8A840"/>
                </a:solidFill>
                <a:latin typeface="游明朝"/>
              </a:rPr>
              <a:t>8セット完走 = グランドスラム達成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090672"/>
            <a:ext cx="36576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セット継続のたびに積み上がる「8回勝つ」目標
→ エキシビションレースへ自動移行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0" y="777240"/>
            <a:ext cx="4480560" cy="3154680"/>
          </a:xfrm>
          <a:prstGeom prst="rect">
            <a:avLst/>
          </a:prstGeom>
          <a:solidFill>
            <a:srgbClr val="0C142C"/>
          </a:solidFill>
          <a:ln w="19050">
            <a:solidFill>
              <a:srgbClr val="00C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90288" y="841248"/>
            <a:ext cx="420624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C0C8"/>
                </a:solidFill>
                <a:latin typeface="游明朝"/>
              </a:rPr>
              <a:t>シナリオ選択（14種）と継続率管理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90288" y="1261872"/>
            <a:ext cx="420624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0E8F0"/>
                </a:solidFill>
                <a:latin typeface="メイリオ"/>
              </a:rPr>
              <a:t>AT突入時（第3停止を離す瞬間）に14種のシナリオが確定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90288" y="1627632"/>
            <a:ext cx="4297680" cy="315000"/>
          </a:xfrm>
          <a:prstGeom prst="rect">
            <a:avLst/>
          </a:prstGeom>
          <a:solidFill>
            <a:srgbClr val="10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63440" y="1655632"/>
            <a:ext cx="137160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00C0C8"/>
                </a:solidFill>
                <a:latin typeface="メイリオ"/>
              </a:rPr>
              <a:t>継続率段階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0760" y="1655632"/>
            <a:ext cx="123444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E0E8F0"/>
                </a:solidFill>
                <a:latin typeface="メイリオ"/>
              </a:rPr>
              <a:t>シナリオ名（例）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0920" y="1655632"/>
            <a:ext cx="132588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888888"/>
                </a:solidFill>
                <a:latin typeface="メイリオ"/>
              </a:rPr>
              <a:t>特徴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90288" y="1952632"/>
            <a:ext cx="4297680" cy="315000"/>
          </a:xfrm>
          <a:prstGeom prst="rect">
            <a:avLst/>
          </a:prstGeom>
          <a:solidFill>
            <a:srgbClr val="0A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63440" y="1980632"/>
            <a:ext cx="137160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  <a:latin typeface="メイリオ"/>
              </a:rPr>
              <a:t>低（〜25%）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80760" y="1980632"/>
            <a:ext cx="123444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E0E8F0"/>
                </a:solidFill>
                <a:latin typeface="メイリオ"/>
              </a:rPr>
              <a:t>関東ガマシ 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60920" y="1980632"/>
            <a:ext cx="132588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888888"/>
                </a:solidFill>
                <a:latin typeface="メイリオ"/>
              </a:rPr>
              <a:t>早期終了が多い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90288" y="2277632"/>
            <a:ext cx="4297680" cy="315000"/>
          </a:xfrm>
          <a:prstGeom prst="rect">
            <a:avLst/>
          </a:prstGeom>
          <a:solidFill>
            <a:srgbClr val="0E18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63440" y="2305632"/>
            <a:ext cx="137160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  <a:latin typeface="メイリオ"/>
              </a:rPr>
              <a:t>中（50%）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80760" y="2305632"/>
            <a:ext cx="123444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E0E8F0"/>
                </a:solidFill>
                <a:latin typeface="メイリオ"/>
              </a:rPr>
              <a:t>ギャンブラー 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60920" y="2305632"/>
            <a:ext cx="132588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888888"/>
                </a:solidFill>
                <a:latin typeface="メイリオ"/>
              </a:rPr>
              <a:t>標準的な継続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90288" y="2602632"/>
            <a:ext cx="4297680" cy="315000"/>
          </a:xfrm>
          <a:prstGeom prst="rect">
            <a:avLst/>
          </a:prstGeom>
          <a:solidFill>
            <a:srgbClr val="0A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63440" y="2630632"/>
            <a:ext cx="137160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  <a:latin typeface="メイリオ"/>
              </a:rPr>
              <a:t>高（66〜80%）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80760" y="2630632"/>
            <a:ext cx="123444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E0E8F0"/>
                </a:solidFill>
                <a:latin typeface="メイリオ"/>
              </a:rPr>
              <a:t>艇界のヒロイン 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60920" y="2630632"/>
            <a:ext cx="132588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888888"/>
                </a:solidFill>
                <a:latin typeface="メイリオ"/>
              </a:rPr>
              <a:t>粘れるシナリオ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90288" y="2927632"/>
            <a:ext cx="4297680" cy="315000"/>
          </a:xfrm>
          <a:prstGeom prst="rect">
            <a:avLst/>
          </a:prstGeom>
          <a:solidFill>
            <a:srgbClr val="0E18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63440" y="2955632"/>
            <a:ext cx="137160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FFA020"/>
                </a:solidFill>
                <a:latin typeface="メイリオ"/>
              </a:rPr>
              <a:t>最高（艇王）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80760" y="2955632"/>
            <a:ext cx="123444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E0E8F0"/>
                </a:solidFill>
                <a:latin typeface="メイリオ"/>
              </a:rPr>
              <a:t>艇王（グランドスラム濃厚）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60920" y="2955632"/>
            <a:ext cx="132588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888888"/>
                </a:solidFill>
                <a:latin typeface="メイリオ"/>
              </a:rPr>
              <a:t>8セット完走ほぼ確定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90288" y="3200400"/>
            <a:ext cx="420624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888888"/>
                </a:solidFill>
                <a:latin typeface="メイリオ"/>
              </a:rPr>
              <a:t>ハマりゲーム数・設定の影響なし。突入時に公平に抽選される。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82880" y="4041648"/>
            <a:ext cx="8778240" cy="580000"/>
          </a:xfrm>
          <a:prstGeom prst="rect">
            <a:avLst/>
          </a:prstGeom>
          <a:solidFill>
            <a:srgbClr val="06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82880" y="4041648"/>
            <a:ext cx="55000" cy="580000"/>
          </a:xfrm>
          <a:prstGeom prst="rect">
            <a:avLst/>
          </a:prstGeom>
          <a:solidFill>
            <a:srgbClr val="FF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11480" y="4087368"/>
            <a:ext cx="832104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FFA020"/>
                </a:solidFill>
                <a:latin typeface="メイリオ"/>
              </a:rPr>
              <a:t>AT設計の核心：「8回勝つ」という明確な目標がセット継続のドラマを作る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1480" y="4389120"/>
            <a:ext cx="832104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艇王シナリオ引きで「今日は行ける」という確信がプレイヤーに芽生える。シナリオ推測が遊技の深みになる。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98079" y="4919472"/>
            <a:ext cx="155448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8888"/>
                </a:solidFill>
                <a:latin typeface="メイリオ"/>
              </a:rPr>
              <a:t>※ネット解析情報より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37160" y="73152"/>
            <a:ext cx="8869680" cy="420000"/>
          </a:xfrm>
          <a:prstGeom prst="rect">
            <a:avLst/>
          </a:prstGeom>
          <a:solidFill>
            <a:srgbClr val="041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" y="73152"/>
            <a:ext cx="60000" cy="420000"/>
          </a:xfrm>
          <a:prstGeom prst="rect">
            <a:avLst/>
          </a:prstGeom>
          <a:solidFill>
            <a:srgbClr val="1488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8412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8A840"/>
                </a:solidFill>
                <a:latin typeface="游明朝"/>
              </a:rPr>
              <a:t>シナリオ × 示唆システム  ──  読み解く楽しさが遊技の深みになる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777240"/>
            <a:ext cx="2743200" cy="3200400"/>
          </a:xfrm>
          <a:prstGeom prst="rect">
            <a:avLst/>
          </a:prstGeom>
          <a:solidFill>
            <a:srgbClr val="0C142C"/>
          </a:solidFill>
          <a:ln w="19050">
            <a:solidFill>
              <a:srgbClr val="00C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608" y="841248"/>
            <a:ext cx="25146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C0C8"/>
                </a:solidFill>
                <a:latin typeface="游明朝"/>
              </a:rPr>
              <a:t>フレームランプ示唆（6色）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280160"/>
            <a:ext cx="340000" cy="29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10160"/>
            <a:ext cx="178308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白  ──  継続率：低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600160"/>
            <a:ext cx="340000" cy="290000"/>
          </a:xfrm>
          <a:prstGeom prst="rect">
            <a:avLst/>
          </a:prstGeom>
          <a:solidFill>
            <a:srgbClr val="448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630160"/>
            <a:ext cx="178308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青  ──  継続率：やや低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1920160"/>
            <a:ext cx="340000" cy="290000"/>
          </a:xfrm>
          <a:prstGeom prst="rect">
            <a:avLst/>
          </a:prstGeom>
          <a:solidFill>
            <a:srgbClr val="FFE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1950160"/>
            <a:ext cx="178308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黄  ──  継続率：中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2240160"/>
            <a:ext cx="340000" cy="290000"/>
          </a:xfrm>
          <a:prstGeom prst="rect">
            <a:avLst/>
          </a:prstGeom>
          <a:solidFill>
            <a:srgbClr val="22C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270160"/>
            <a:ext cx="178308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緑  ──  継続率：やや高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2560160"/>
            <a:ext cx="340000" cy="290000"/>
          </a:xfrm>
          <a:prstGeom prst="rect">
            <a:avLst/>
          </a:prstGeom>
          <a:solidFill>
            <a:srgbClr val="CC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2590160"/>
            <a:ext cx="178308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赤  ──  継続率：高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2880160"/>
            <a:ext cx="340000" cy="290000"/>
          </a:xfrm>
          <a:prstGeom prst="rect">
            <a:avLst/>
          </a:prstGeom>
          <a:solidFill>
            <a:srgbClr val="FF8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2910160"/>
            <a:ext cx="178308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虹  ──  継続率：最高（艇王濃厚）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108960" y="777240"/>
            <a:ext cx="2834640" cy="3200400"/>
          </a:xfrm>
          <a:prstGeom prst="rect">
            <a:avLst/>
          </a:prstGeom>
          <a:solidFill>
            <a:srgbClr val="0C142C"/>
          </a:solidFill>
          <a:ln w="19050">
            <a:solidFill>
              <a:srgbClr val="FFA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18688" y="841248"/>
            <a:ext cx="260604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A020"/>
                </a:solidFill>
                <a:latin typeface="游明朝"/>
              </a:rPr>
              <a:t>サブ液晶・セリフ示唆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182112" y="1280160"/>
            <a:ext cx="2688336" cy="320000"/>
          </a:xfrm>
          <a:prstGeom prst="rect">
            <a:avLst/>
          </a:prstGeom>
          <a:solidFill>
            <a:srgbClr val="1012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73552" y="1305160"/>
            <a:ext cx="1143000" cy="27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A020"/>
                </a:solidFill>
                <a:latin typeface="メイリオ"/>
              </a:rPr>
              <a:t>登場キャラ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62272" y="1305160"/>
            <a:ext cx="1325880" cy="27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E0E8F0"/>
                </a:solidFill>
                <a:latin typeface="メイリオ"/>
              </a:rPr>
              <a:t>キャラによってモード・シナリオ段階を示唆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182112" y="1612160"/>
            <a:ext cx="2688336" cy="320000"/>
          </a:xfrm>
          <a:prstGeom prst="rect">
            <a:avLst/>
          </a:prstGeom>
          <a:solidFill>
            <a:srgbClr val="1416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73552" y="1637160"/>
            <a:ext cx="1143000" cy="27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A020"/>
                </a:solidFill>
                <a:latin typeface="メイリオ"/>
              </a:rPr>
              <a:t>セリフ内容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62272" y="1637160"/>
            <a:ext cx="1325880" cy="27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E0E8F0"/>
                </a:solidFill>
                <a:latin typeface="メイリオ"/>
              </a:rPr>
              <a:t>ポジティブ/ネガティブで継続率の高低を示唆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182112" y="1944160"/>
            <a:ext cx="2688336" cy="320000"/>
          </a:xfrm>
          <a:prstGeom prst="rect">
            <a:avLst/>
          </a:prstGeom>
          <a:solidFill>
            <a:srgbClr val="1012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73552" y="1969160"/>
            <a:ext cx="1143000" cy="27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A020"/>
                </a:solidFill>
                <a:latin typeface="メイリオ"/>
              </a:rPr>
              <a:t>ランプ×セリフ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62272" y="1969160"/>
            <a:ext cx="1325880" cy="27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E0E8F0"/>
                </a:solidFill>
                <a:latin typeface="メイリオ"/>
              </a:rPr>
              <a:t>組み合わせで絞り込み精度が上がる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82112" y="2276160"/>
            <a:ext cx="2688336" cy="320000"/>
          </a:xfrm>
          <a:prstGeom prst="rect">
            <a:avLst/>
          </a:prstGeom>
          <a:solidFill>
            <a:srgbClr val="1416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73552" y="2301160"/>
            <a:ext cx="1143000" cy="27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A020"/>
                </a:solidFill>
                <a:latin typeface="メイリオ"/>
              </a:rPr>
              <a:t>ラウンド開始画面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62272" y="2301160"/>
            <a:ext cx="1325880" cy="27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E0E8F0"/>
                </a:solidFill>
                <a:latin typeface="メイリオ"/>
              </a:rPr>
              <a:t>シナリオ段階と設定を直接示唆する要素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182112" y="2608160"/>
            <a:ext cx="2688336" cy="320000"/>
          </a:xfrm>
          <a:prstGeom prst="rect">
            <a:avLst/>
          </a:prstGeom>
          <a:solidFill>
            <a:srgbClr val="1012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73552" y="2633160"/>
            <a:ext cx="1143000" cy="27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A020"/>
                </a:solidFill>
                <a:latin typeface="メイリオ"/>
              </a:rPr>
              <a:t>第3停止タイミング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62272" y="2633160"/>
            <a:ext cx="1325880" cy="27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E0E8F0"/>
                </a:solidFill>
                <a:latin typeface="メイリオ"/>
              </a:rPr>
              <a:t>第3停止を離す瞬間のカットインで確定示唆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26480" y="777240"/>
            <a:ext cx="2834640" cy="3200400"/>
          </a:xfrm>
          <a:prstGeom prst="rect">
            <a:avLst/>
          </a:prstGeom>
          <a:solidFill>
            <a:srgbClr val="0C142C"/>
          </a:solidFill>
          <a:ln w="19050">
            <a:solidFill>
              <a:srgbClr val="C8A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6208" y="841248"/>
            <a:ext cx="260604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8A840"/>
                </a:solidFill>
                <a:latin typeface="游明朝"/>
              </a:rPr>
              <a:t>シナリオ推測の楽しさ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99632" y="1280160"/>
            <a:ext cx="50000" cy="510000"/>
          </a:xfrm>
          <a:prstGeom prst="rect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82512" y="1305160"/>
            <a:ext cx="242316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C8A840"/>
                </a:solidFill>
                <a:latin typeface="メイリオ"/>
              </a:rPr>
              <a:t>情報収集の喜び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82512" y="1545160"/>
            <a:ext cx="242316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0E8F0"/>
                </a:solidFill>
                <a:latin typeface="メイリオ"/>
              </a:rPr>
              <a:t>ランプ・セリフ・画面を組み合わせて
「このシナリオかも」と絞り込む楽しさ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99632" y="1835160"/>
            <a:ext cx="50000" cy="510000"/>
          </a:xfrm>
          <a:prstGeom prst="rect">
            <a:avLst/>
          </a:prstGeom>
          <a:solidFill>
            <a:srgbClr val="FF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82512" y="1860160"/>
            <a:ext cx="242316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A020"/>
                </a:solidFill>
                <a:latin typeface="メイリオ"/>
              </a:rPr>
              <a:t>期待感の変化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82512" y="2100160"/>
            <a:ext cx="242316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0E8F0"/>
                </a:solidFill>
                <a:latin typeface="メイリオ"/>
              </a:rPr>
              <a:t>序盤に赤ランプが出た瞬間
「今日は行ける」という確信が芽生える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199632" y="2390160"/>
            <a:ext cx="50000" cy="510000"/>
          </a:xfrm>
          <a:prstGeom prst="rect">
            <a:avLst/>
          </a:prstGeom>
          <a:solidFill>
            <a:srgbClr val="00C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82512" y="2415160"/>
            <a:ext cx="242316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0C0C8"/>
                </a:solidFill>
                <a:latin typeface="メイリオ"/>
              </a:rPr>
              <a:t>仲間との共有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82512" y="2655160"/>
            <a:ext cx="242316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0E8F0"/>
                </a:solidFill>
                <a:latin typeface="メイリオ"/>
              </a:rPr>
              <a:t>「艇王引いたから8セット行くわ」という
ホールでの会話・コミュニティ形成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99632" y="2945160"/>
            <a:ext cx="50000" cy="510000"/>
          </a:xfrm>
          <a:prstGeom prst="rect">
            <a:avLst/>
          </a:prstGeom>
          <a:solidFill>
            <a:srgbClr val="22C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82512" y="2970160"/>
            <a:ext cx="242316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2CC66"/>
                </a:solidFill>
                <a:latin typeface="メイリオ"/>
              </a:rPr>
              <a:t>公平な抽選設計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82512" y="3210160"/>
            <a:ext cx="242316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0E8F0"/>
                </a:solidFill>
                <a:latin typeface="メイリオ"/>
              </a:rPr>
              <a:t>ハマり度・設定に依存しないため
「今回のAT」だけに集中できる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82880" y="4069080"/>
            <a:ext cx="8778240" cy="560000"/>
          </a:xfrm>
          <a:prstGeom prst="rect">
            <a:avLst/>
          </a:prstGeom>
          <a:solidFill>
            <a:srgbClr val="06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82880" y="4069080"/>
            <a:ext cx="55000" cy="560000"/>
          </a:xfrm>
          <a:prstGeom prst="rect">
            <a:avLst/>
          </a:prstGeom>
          <a:solidFill>
            <a:srgbClr val="00C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11480" y="4114800"/>
            <a:ext cx="832104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00C0C8"/>
                </a:solidFill>
                <a:latin typeface="メイリオ"/>
              </a:rPr>
              <a:t>示唆設計の本質：「完全に分からないが、ある程度読める」絶妙なバランス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11480" y="4416552"/>
            <a:ext cx="832104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全部わかると緊張感がなくなり、全く分からないと虚無感が残る。その中間に「楽しい」がある。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498079" y="4919472"/>
            <a:ext cx="155448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8888"/>
                </a:solidFill>
                <a:latin typeface="メイリオ"/>
              </a:rPr>
              <a:t>※ネット解析情報より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37160" y="73152"/>
            <a:ext cx="8869680" cy="420000"/>
          </a:xfrm>
          <a:prstGeom prst="rect">
            <a:avLst/>
          </a:prstGeom>
          <a:solidFill>
            <a:srgbClr val="041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" y="73152"/>
            <a:ext cx="60000" cy="420000"/>
          </a:xfrm>
          <a:prstGeom prst="rect">
            <a:avLst/>
          </a:prstGeom>
          <a:solidFill>
            <a:srgbClr val="1488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8412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8A840"/>
                </a:solidFill>
                <a:latin typeface="游明朝"/>
              </a:rPr>
              <a:t>上位AT「青島SG」  ──  純増4.0枚 × 継続率83% の頂点体験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777240"/>
            <a:ext cx="4114800" cy="3154680"/>
          </a:xfrm>
          <a:prstGeom prst="rect">
            <a:avLst/>
          </a:prstGeom>
          <a:solidFill>
            <a:srgbClr val="0C142C"/>
          </a:solidFill>
          <a:ln w="19050">
            <a:solidFill>
              <a:srgbClr val="00C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608" y="841248"/>
            <a:ext cx="384048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C0C8"/>
                </a:solidFill>
                <a:latin typeface="游明朝"/>
              </a:rPr>
              <a:t>青島SG スペック</a:t>
            </a:r>
          </a:p>
        </p:txBody>
      </p:sp>
      <p:sp>
        <p:nvSpPr>
          <p:cNvPr id="8" name="Rectangle 7"/>
          <p:cNvSpPr/>
          <p:nvPr/>
        </p:nvSpPr>
        <p:spPr>
          <a:xfrm>
            <a:off x="256032" y="1261872"/>
            <a:ext cx="3950208" cy="330000"/>
          </a:xfrm>
          <a:prstGeom prst="rect">
            <a:avLst/>
          </a:prstGeom>
          <a:solidFill>
            <a:srgbClr val="06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" y="1289872"/>
            <a:ext cx="1188720" cy="2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14887C"/>
                </a:solidFill>
                <a:latin typeface="メイリオ"/>
              </a:rPr>
              <a:t>純増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81912" y="1289872"/>
            <a:ext cx="25146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D700"/>
                </a:solidFill>
                <a:latin typeface="メイリオ"/>
              </a:rPr>
              <a:t>約4.0枚/G（SG RUSHの1.6倍）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6032" y="1601872"/>
            <a:ext cx="3950208" cy="330000"/>
          </a:xfrm>
          <a:prstGeom prst="rect">
            <a:avLst/>
          </a:prstGeom>
          <a:solidFill>
            <a:srgbClr val="0A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" y="1629872"/>
            <a:ext cx="1188720" cy="2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14887C"/>
                </a:solidFill>
                <a:latin typeface="メイリオ"/>
              </a:rPr>
              <a:t>継続率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81912" y="1629872"/>
            <a:ext cx="25146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00C0C8"/>
                </a:solidFill>
                <a:latin typeface="メイリオ"/>
              </a:rPr>
              <a:t>約75%（Vストック込みで約83%）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6032" y="1941872"/>
            <a:ext cx="3950208" cy="330000"/>
          </a:xfrm>
          <a:prstGeom prst="rect">
            <a:avLst/>
          </a:prstGeom>
          <a:solidFill>
            <a:srgbClr val="06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" y="1969872"/>
            <a:ext cx="1188720" cy="2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14887C"/>
                </a:solidFill>
                <a:latin typeface="メイリオ"/>
              </a:rPr>
              <a:t>突入経路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81912" y="1969872"/>
            <a:ext cx="25146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グランドスラム後の青島VS波多野勝利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56032" y="2281872"/>
            <a:ext cx="3950208" cy="330000"/>
          </a:xfrm>
          <a:prstGeom prst="rect">
            <a:avLst/>
          </a:prstGeom>
          <a:solidFill>
            <a:srgbClr val="0A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" y="2309872"/>
            <a:ext cx="1188720" cy="2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14887C"/>
                </a:solidFill>
                <a:latin typeface="メイリオ"/>
              </a:rPr>
              <a:t>構成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81912" y="2309872"/>
            <a:ext cx="25146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青島周回パート＋青島VS波多野の2部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6032" y="2621872"/>
            <a:ext cx="3950208" cy="450000"/>
          </a:xfrm>
          <a:prstGeom prst="rect">
            <a:avLst/>
          </a:prstGeom>
          <a:solidFill>
            <a:srgbClr val="06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7472" y="2649872"/>
            <a:ext cx="1188720" cy="2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14887C"/>
                </a:solidFill>
                <a:latin typeface="メイリオ"/>
              </a:rPr>
              <a:t>上乗せ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81912" y="2649872"/>
            <a:ext cx="2514600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A020"/>
                </a:solidFill>
                <a:latin typeface="メイリオ"/>
              </a:rPr>
              <a:t>V揃い単：次セット継続濃厚
  V揃いダブル：継続＋100〜300G上乗せ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80560" y="777240"/>
            <a:ext cx="4480560" cy="3154680"/>
          </a:xfrm>
          <a:prstGeom prst="rect">
            <a:avLst/>
          </a:prstGeom>
          <a:solidFill>
            <a:srgbClr val="0C142C"/>
          </a:solidFill>
          <a:ln w="19050">
            <a:solidFill>
              <a:srgbClr val="FFA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90288" y="841248"/>
            <a:ext cx="420624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A020"/>
                </a:solidFill>
                <a:latin typeface="游明朝"/>
              </a:rPr>
              <a:t>特化ゾーン「温泉モード」＆突入の価値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45152" y="1261872"/>
            <a:ext cx="4242816" cy="840000"/>
          </a:xfrm>
          <a:prstGeom prst="rect">
            <a:avLst/>
          </a:prstGeom>
          <a:solidFill>
            <a:srgbClr val="101806"/>
          </a:solidFill>
          <a:ln w="12700">
            <a:solidFill>
              <a:srgbClr val="FFA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54880" y="1316736"/>
            <a:ext cx="393192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A020"/>
                </a:solidFill>
                <a:latin typeface="メイリオ"/>
              </a:rPr>
              <a:t>温泉モード（30G）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54880" y="1627632"/>
            <a:ext cx="393192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青島VS波多野レース中のレア役成立で突入
消化中はゲーム数上乗せ抽選が強化
弱チェリー・強チャンス役で上乗せ確定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645152" y="2176272"/>
            <a:ext cx="4242816" cy="1250000"/>
          </a:xfrm>
          <a:prstGeom prst="rect">
            <a:avLst/>
          </a:prstGeom>
          <a:solidFill>
            <a:srgbClr val="001228"/>
          </a:solidFill>
          <a:ln w="12700">
            <a:solidFill>
              <a:srgbClr val="00C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4880" y="2231136"/>
            <a:ext cx="393192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C0C8"/>
                </a:solidFill>
                <a:latin typeface="メイリオ"/>
              </a:rPr>
              <a:t>青島SGに突入する意味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2542032"/>
            <a:ext cx="3931920" cy="8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SG RUSH（純増2.5枚）との差は1.5枚/G
100G消化で+150枚の差が生まれる
継続率83%で長く続く×純増4.0枚
= 1日の大台を作る唯一のルート
「グランドスラム達成 → 青島SG」が
来店時の最大目標として機能する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82880" y="4041648"/>
            <a:ext cx="8778240" cy="580000"/>
          </a:xfrm>
          <a:prstGeom prst="rect">
            <a:avLst/>
          </a:prstGeom>
          <a:solidFill>
            <a:srgbClr val="001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82880" y="4041648"/>
            <a:ext cx="55000" cy="580000"/>
          </a:xfrm>
          <a:prstGeom prst="rect">
            <a:avLst/>
          </a:prstGeom>
          <a:solidFill>
            <a:srgbClr val="00C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4087368"/>
            <a:ext cx="832104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00C0C8"/>
                </a:solidFill>
                <a:latin typeface="メイリオ"/>
              </a:rPr>
              <a:t>青島SGの設計意図：「到達した人だけが味わえる体験」として来店継続の最大動機を作る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4389120"/>
            <a:ext cx="832104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SG RUSHだけでも楽しめるが、青島SGを知ると「もう一度グランドスラムを取りたい」が生まれる。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98079" y="4919472"/>
            <a:ext cx="155448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8888"/>
                </a:solidFill>
                <a:latin typeface="メイリオ"/>
              </a:rPr>
              <a:t>※ネット解析情報より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37160" y="73152"/>
            <a:ext cx="8869680" cy="420000"/>
          </a:xfrm>
          <a:prstGeom prst="rect">
            <a:avLst/>
          </a:prstGeom>
          <a:solidFill>
            <a:srgbClr val="041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" y="73152"/>
            <a:ext cx="60000" cy="420000"/>
          </a:xfrm>
          <a:prstGeom prst="rect">
            <a:avLst/>
          </a:prstGeom>
          <a:solidFill>
            <a:srgbClr val="1488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8412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8A840"/>
                </a:solidFill>
                <a:latin typeface="游明朝"/>
              </a:rPr>
              <a:t>グランドスラム × エキシビションレース  ──  8セット完走の先にあるもの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777240"/>
            <a:ext cx="4160520" cy="3200400"/>
          </a:xfrm>
          <a:prstGeom prst="rect">
            <a:avLst/>
          </a:prstGeom>
          <a:solidFill>
            <a:srgbClr val="0C142C"/>
          </a:solidFill>
          <a:ln w="25400">
            <a:solidFill>
              <a:srgbClr val="C8A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608" y="841248"/>
            <a:ext cx="384048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8A840"/>
                </a:solidFill>
                <a:latin typeface="游明朝"/>
              </a:rPr>
              <a:t>グランドスラム（8セット完走）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384048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SGバトル（青島VS波多野）を8回連続で勝利した状態</a:t>
            </a:r>
          </a:p>
        </p:txBody>
      </p:sp>
      <p:sp>
        <p:nvSpPr>
          <p:cNvPr id="9" name="Rectangle 8"/>
          <p:cNvSpPr/>
          <p:nvPr/>
        </p:nvSpPr>
        <p:spPr>
          <a:xfrm>
            <a:off x="256032" y="1627632"/>
            <a:ext cx="55000" cy="560000"/>
          </a:xfrm>
          <a:prstGeom prst="rect">
            <a:avLst/>
          </a:prstGeom>
          <a:solidFill>
            <a:srgbClr val="FF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1657632"/>
            <a:ext cx="36576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FFA020"/>
                </a:solidFill>
                <a:latin typeface="メイリオ"/>
              </a:rPr>
              <a:t>積み上げの快感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922632"/>
            <a:ext cx="36576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1セット目から8セット目まで
「まだ続くかも」を8回繰り返す体験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6032" y="2227632"/>
            <a:ext cx="55000" cy="560000"/>
          </a:xfrm>
          <a:prstGeom prst="rect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" y="2257632"/>
            <a:ext cx="36576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C8A840"/>
                </a:solidFill>
                <a:latin typeface="メイリオ"/>
              </a:rPr>
              <a:t>シナリオとの連動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" y="2522632"/>
            <a:ext cx="36576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艇王シナリオなら達成がほぼ確実
低シナリオでの達成が「奇跡」体験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56032" y="2827632"/>
            <a:ext cx="55000" cy="560000"/>
          </a:xfrm>
          <a:prstGeom prst="rect">
            <a:avLst/>
          </a:prstGeom>
          <a:solidFill>
            <a:srgbClr val="00C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" y="2857632"/>
            <a:ext cx="36576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00C0C8"/>
                </a:solidFill>
                <a:latin typeface="メイリオ"/>
              </a:rPr>
              <a:t>達成後の特典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" y="3122632"/>
            <a:ext cx="36576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エキシビションレースへ自動移行
青島SGへの入口が開く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0" y="777240"/>
            <a:ext cx="4343400" cy="3200400"/>
          </a:xfrm>
          <a:prstGeom prst="rect">
            <a:avLst/>
          </a:prstGeom>
          <a:solidFill>
            <a:srgbClr val="0C142C"/>
          </a:solidFill>
          <a:ln w="19050">
            <a:solidFill>
              <a:srgbClr val="FFA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841248"/>
            <a:ext cx="41148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A020"/>
                </a:solidFill>
                <a:latin typeface="游明朝"/>
              </a:rPr>
              <a:t>エキシビションレース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81728" y="1216152"/>
            <a:ext cx="41148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グランドスラム後の継続率固定AT区間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63440" y="1536192"/>
            <a:ext cx="4160520" cy="360000"/>
          </a:xfrm>
          <a:prstGeom prst="rect">
            <a:avLst/>
          </a:prstGeom>
          <a:solidFill>
            <a:srgbClr val="0A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0" y="1566192"/>
            <a:ext cx="38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BBBBBB"/>
                </a:solidFill>
                <a:latin typeface="メイリオ"/>
              </a:rPr>
              <a:t>パターンA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49240" y="1566192"/>
            <a:ext cx="65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BBBBBB"/>
                </a:solidFill>
                <a:latin typeface="メイリオ"/>
              </a:rPr>
              <a:t>50.0%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1566192"/>
            <a:ext cx="246888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継続率低め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63440" y="1911192"/>
            <a:ext cx="4160520" cy="360000"/>
          </a:xfrm>
          <a:prstGeom prst="rect">
            <a:avLst/>
          </a:prstGeom>
          <a:solidFill>
            <a:srgbClr val="0E18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54880" y="1941192"/>
            <a:ext cx="38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A020"/>
                </a:solidFill>
                <a:latin typeface="メイリオ"/>
              </a:rPr>
              <a:t>パターンB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49240" y="1941192"/>
            <a:ext cx="65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A020"/>
                </a:solidFill>
                <a:latin typeface="メイリオ"/>
              </a:rPr>
              <a:t>66.4%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0" y="1941192"/>
            <a:ext cx="246888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継続率中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63440" y="2286192"/>
            <a:ext cx="4160520" cy="360000"/>
          </a:xfrm>
          <a:prstGeom prst="rect">
            <a:avLst/>
          </a:prstGeom>
          <a:solidFill>
            <a:srgbClr val="0A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54880" y="2316192"/>
            <a:ext cx="38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00C0C8"/>
                </a:solidFill>
                <a:latin typeface="メイリオ"/>
              </a:rPr>
              <a:t>パターンC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49240" y="2316192"/>
            <a:ext cx="65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C0C8"/>
                </a:solidFill>
                <a:latin typeface="メイリオ"/>
              </a:rPr>
              <a:t>80.1%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0" y="2316192"/>
            <a:ext cx="246888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継続率高め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663440" y="2661192"/>
            <a:ext cx="4160520" cy="360000"/>
          </a:xfrm>
          <a:prstGeom prst="rect">
            <a:avLst/>
          </a:prstGeom>
          <a:solidFill>
            <a:srgbClr val="0E18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54880" y="2691192"/>
            <a:ext cx="38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D700"/>
                </a:solidFill>
                <a:latin typeface="メイリオ"/>
              </a:rPr>
              <a:t>パターンD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49240" y="2691192"/>
            <a:ext cx="65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D700"/>
                </a:solidFill>
                <a:latin typeface="メイリオ"/>
              </a:rPr>
              <a:t>90.2%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17920" y="2691192"/>
            <a:ext cx="246888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継続率最高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663440" y="2999232"/>
            <a:ext cx="4160520" cy="820000"/>
          </a:xfrm>
          <a:prstGeom prst="rect">
            <a:avLst/>
          </a:prstGeom>
          <a:solidFill>
            <a:srgbClr val="001428"/>
          </a:solidFill>
          <a:ln w="19050">
            <a:solidFill>
              <a:srgbClr val="00C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73168" y="3054096"/>
            <a:ext cx="384048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00C0C8"/>
                </a:solidFill>
                <a:latin typeface="游明朝"/>
              </a:rPr>
              <a:t>継続率に漏れた場合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773168" y="3364992"/>
            <a:ext cx="38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青島VS波多野へ移行
→ 勝利で上位AT「青島SG」突入
（エキシビション失敗が青島SG入口になる）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82880" y="4069080"/>
            <a:ext cx="8778240" cy="560000"/>
          </a:xfrm>
          <a:prstGeom prst="rect">
            <a:avLst/>
          </a:prstGeom>
          <a:solidFill>
            <a:srgbClr val="1010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82880" y="4069080"/>
            <a:ext cx="55000" cy="560000"/>
          </a:xfrm>
          <a:prstGeom prst="rect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4114800"/>
            <a:ext cx="832104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C8A840"/>
                </a:solidFill>
                <a:latin typeface="メイリオ"/>
              </a:rPr>
              <a:t>エキシビションの巧みな設計：「継続に漏れる = 青島SGへの入口」という逆転構造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1480" y="4416552"/>
            <a:ext cx="832104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エキシビションで多く続けば出玉増、漏れても青島SGチャンス。どちらに転んでも「良いことがある」設計。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98079" y="4919472"/>
            <a:ext cx="155448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8888"/>
                </a:solidFill>
                <a:latin typeface="メイリオ"/>
              </a:rPr>
              <a:t>※ネット解析情報より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37160" y="73152"/>
            <a:ext cx="8869680" cy="420000"/>
          </a:xfrm>
          <a:prstGeom prst="rect">
            <a:avLst/>
          </a:prstGeom>
          <a:solidFill>
            <a:srgbClr val="041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" y="73152"/>
            <a:ext cx="60000" cy="420000"/>
          </a:xfrm>
          <a:prstGeom prst="rect">
            <a:avLst/>
          </a:prstGeom>
          <a:solidFill>
            <a:srgbClr val="1488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8412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8A840"/>
                </a:solidFill>
                <a:latin typeface="游明朝"/>
              </a:rPr>
              <a:t>設計哲学  ──  なぜモンキーターンVは面白いのか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777240"/>
            <a:ext cx="2743200" cy="3154680"/>
          </a:xfrm>
          <a:prstGeom prst="rect">
            <a:avLst/>
          </a:prstGeom>
          <a:solidFill>
            <a:srgbClr val="041420"/>
          </a:solidFill>
          <a:ln w="25400">
            <a:solidFill>
              <a:srgbClr val="1488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2880" y="841248"/>
            <a:ext cx="256032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4887C"/>
                </a:solidFill>
                <a:latin typeface="游明朝"/>
              </a:rPr>
              <a:t>複層的な目標設計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2880" y="1280160"/>
            <a:ext cx="25603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0E8F0"/>
                </a:solidFill>
                <a:latin typeface="メイリオ"/>
              </a:rPr>
              <a:t>1G先：次の激走ポイント加算
1AT先：次のセット継続
1日先：グランドスラム達成
将来：上位AT青島SG体験
「今ここ」と「将来」を
同時に意識させる設計</a:t>
            </a:r>
          </a:p>
        </p:txBody>
      </p:sp>
      <p:sp>
        <p:nvSpPr>
          <p:cNvPr id="9" name="Rectangle 8"/>
          <p:cNvSpPr/>
          <p:nvPr/>
        </p:nvSpPr>
        <p:spPr>
          <a:xfrm>
            <a:off x="3246120" y="777240"/>
            <a:ext cx="2743200" cy="3154680"/>
          </a:xfrm>
          <a:prstGeom prst="rect">
            <a:avLst/>
          </a:prstGeom>
          <a:solidFill>
            <a:srgbClr val="181000"/>
          </a:solidFill>
          <a:ln w="25400">
            <a:solidFill>
              <a:srgbClr val="FFA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26120" y="841248"/>
            <a:ext cx="256032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A020"/>
                </a:solidFill>
                <a:latin typeface="游明朝"/>
              </a:rPr>
              <a:t>失敗を無駄にしない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26120" y="1280160"/>
            <a:ext cx="25603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0E8F0"/>
                </a:solidFill>
                <a:latin typeface="メイリオ"/>
              </a:rPr>
              <a:t>CZ失敗
→ グランドスラムCH（救済）
エキシビション漏れ
→ 青島SG入口
激走チャージ天井
→ CZ確定
どの失敗にも
「次の期待」が残る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777240"/>
            <a:ext cx="2743200" cy="3154680"/>
          </a:xfrm>
          <a:prstGeom prst="rect">
            <a:avLst/>
          </a:prstGeom>
          <a:solidFill>
            <a:srgbClr val="001020"/>
          </a:solidFill>
          <a:ln w="25400">
            <a:solidFill>
              <a:srgbClr val="00C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89360" y="841248"/>
            <a:ext cx="256032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C0C8"/>
                </a:solidFill>
                <a:latin typeface="游明朝"/>
              </a:rPr>
              <a:t>「読める」楽しさ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89360" y="1280160"/>
            <a:ext cx="25603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0E8F0"/>
                </a:solidFill>
                <a:latin typeface="メイリオ"/>
              </a:rPr>
              <a:t>シナリオはランプで示唆
周期はモードで予測可能
ライバルモードは滞在確定
「完全にわかる」ではなく
「ある程度読める」バランス
推測が当たる快感が
遊技を豊かにする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2880" y="4023360"/>
            <a:ext cx="8778240" cy="40000"/>
          </a:xfrm>
          <a:prstGeom prst="rect">
            <a:avLst/>
          </a:prstGeom>
          <a:solidFill>
            <a:srgbClr val="1488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82880" y="4096512"/>
            <a:ext cx="8778240" cy="640000"/>
          </a:xfrm>
          <a:prstGeom prst="rect">
            <a:avLst/>
          </a:prstGeom>
          <a:solidFill>
            <a:srgbClr val="06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4142232"/>
            <a:ext cx="841248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C8A840"/>
                </a:solidFill>
                <a:latin typeface="メイリオ"/>
              </a:rPr>
              <a:t>総評：「遊びやすさ × パンチ × 深み」が高水準で共存している数少ない台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" y="4434840"/>
            <a:ext cx="841248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機械割設定6で114.9%・シナリオ14種・上位AT純増4.0枚。スペック・ゲーム性・演出のどこを切っても水準以上。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37160" y="73152"/>
            <a:ext cx="8869680" cy="420000"/>
          </a:xfrm>
          <a:prstGeom prst="rect">
            <a:avLst/>
          </a:prstGeom>
          <a:solidFill>
            <a:srgbClr val="041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" y="73152"/>
            <a:ext cx="60000" cy="420000"/>
          </a:xfrm>
          <a:prstGeom prst="rect">
            <a:avLst/>
          </a:prstGeom>
          <a:solidFill>
            <a:srgbClr val="1488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8412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8A840"/>
                </a:solidFill>
                <a:latin typeface="游明朝"/>
              </a:rPr>
              <a:t>まとめ  ──  設計から学べること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777240"/>
            <a:ext cx="8778240" cy="360000"/>
          </a:xfrm>
          <a:prstGeom prst="rect">
            <a:avLst/>
          </a:prstGeom>
          <a:solidFill>
            <a:srgbClr val="08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2880" y="832104"/>
            <a:ext cx="920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C8A840"/>
                </a:solidFill>
                <a:latin typeface="メイリオ"/>
              </a:rPr>
              <a:t>比較軸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2880" y="832104"/>
            <a:ext cx="890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C8A840"/>
                </a:solidFill>
                <a:latin typeface="メイリオ"/>
              </a:rPr>
              <a:t>東京喰種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82880" y="832104"/>
            <a:ext cx="890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C8A840"/>
                </a:solidFill>
                <a:latin typeface="メイリオ"/>
              </a:rPr>
              <a:t>番長4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02880" y="832104"/>
            <a:ext cx="890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C8A840"/>
                </a:solidFill>
                <a:latin typeface="メイリオ"/>
              </a:rPr>
              <a:t>Re:ゼロ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22880" y="832104"/>
            <a:ext cx="1020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00C0C8"/>
                </a:solidFill>
                <a:latin typeface="メイリオ"/>
              </a:rPr>
              <a:t>モンキーターンV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" y="1170432"/>
            <a:ext cx="8778240" cy="320000"/>
          </a:xfrm>
          <a:prstGeom prst="rect">
            <a:avLst/>
          </a:prstGeom>
          <a:solidFill>
            <a:srgbClr val="0A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2880" y="1195432"/>
            <a:ext cx="920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BBBBBB"/>
                </a:solidFill>
                <a:latin typeface="メイリオ"/>
              </a:rPr>
              <a:t>CV値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62880" y="1195432"/>
            <a:ext cx="890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BBBBBB"/>
                </a:solidFill>
                <a:latin typeface="メイリオ"/>
              </a:rPr>
              <a:t>0.18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82880" y="1195432"/>
            <a:ext cx="890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CC2222"/>
                </a:solidFill>
                <a:latin typeface="メイリオ"/>
              </a:rPr>
              <a:t>0.68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02880" y="1195432"/>
            <a:ext cx="890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BBBBBB"/>
                </a:solidFill>
                <a:latin typeface="メイリオ"/>
              </a:rPr>
              <a:t>0.22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22880" y="1195432"/>
            <a:ext cx="1020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00C0C8"/>
                </a:solidFill>
                <a:latin typeface="メイリオ"/>
              </a:rPr>
              <a:t>0.23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1500432"/>
            <a:ext cx="8778240" cy="320000"/>
          </a:xfrm>
          <a:prstGeom prst="rect">
            <a:avLst/>
          </a:prstGeom>
          <a:solidFill>
            <a:srgbClr val="0E18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2880" y="1525432"/>
            <a:ext cx="920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BBBBBB"/>
                </a:solidFill>
                <a:latin typeface="メイリオ"/>
              </a:rPr>
              <a:t>機械割(設6)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62880" y="1525432"/>
            <a:ext cx="890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BBBBBB"/>
                </a:solidFill>
                <a:latin typeface="メイリオ"/>
              </a:rPr>
              <a:t>108%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82880" y="1525432"/>
            <a:ext cx="890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BBBBBB"/>
                </a:solidFill>
                <a:latin typeface="メイリオ"/>
              </a:rPr>
              <a:t>112%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02880" y="1525432"/>
            <a:ext cx="890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BBBBBB"/>
                </a:solidFill>
                <a:latin typeface="メイリオ"/>
              </a:rPr>
              <a:t>110%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22880" y="1525432"/>
            <a:ext cx="1020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00C0C8"/>
                </a:solidFill>
                <a:latin typeface="メイリオ"/>
              </a:rPr>
              <a:t>114.9%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2880" y="1830432"/>
            <a:ext cx="8778240" cy="320000"/>
          </a:xfrm>
          <a:prstGeom prst="rect">
            <a:avLst/>
          </a:prstGeom>
          <a:solidFill>
            <a:srgbClr val="0A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12880" y="1855432"/>
            <a:ext cx="920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BBBBBB"/>
                </a:solidFill>
                <a:latin typeface="メイリオ"/>
              </a:rPr>
              <a:t>継続設計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62880" y="1855432"/>
            <a:ext cx="890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BBBBBB"/>
                </a:solidFill>
                <a:latin typeface="メイリオ"/>
              </a:rPr>
              <a:t>シナリオ型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2880" y="1855432"/>
            <a:ext cx="890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BBBBBB"/>
                </a:solidFill>
                <a:latin typeface="メイリオ"/>
              </a:rPr>
              <a:t>設定依存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02880" y="1855432"/>
            <a:ext cx="890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BBBBBB"/>
                </a:solidFill>
                <a:latin typeface="メイリオ"/>
              </a:rPr>
              <a:t>有利区間型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22880" y="1855432"/>
            <a:ext cx="1020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00C0C8"/>
                </a:solidFill>
                <a:latin typeface="メイリオ"/>
              </a:rPr>
              <a:t>シナリオ14種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2880" y="2160432"/>
            <a:ext cx="8778240" cy="320000"/>
          </a:xfrm>
          <a:prstGeom prst="rect">
            <a:avLst/>
          </a:prstGeom>
          <a:solidFill>
            <a:srgbClr val="0E18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12880" y="2185432"/>
            <a:ext cx="920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BBBBBB"/>
                </a:solidFill>
                <a:latin typeface="メイリオ"/>
              </a:rPr>
              <a:t>来店継続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62880" y="2185432"/>
            <a:ext cx="890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BBBBBB"/>
                </a:solidFill>
                <a:latin typeface="メイリオ"/>
              </a:rPr>
              <a:t>世界観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2880" y="2185432"/>
            <a:ext cx="890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BBBBBB"/>
                </a:solidFill>
                <a:latin typeface="メイリオ"/>
              </a:rPr>
              <a:t>期待値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02880" y="2185432"/>
            <a:ext cx="890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BBBBBB"/>
                </a:solidFill>
                <a:latin typeface="メイリオ"/>
              </a:rPr>
              <a:t>コンプガチャ型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922880" y="2185432"/>
            <a:ext cx="1020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00C0C8"/>
                </a:solidFill>
                <a:latin typeface="メイリオ"/>
              </a:rPr>
              <a:t>グランドスラム目標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2880" y="2490432"/>
            <a:ext cx="8778240" cy="320000"/>
          </a:xfrm>
          <a:prstGeom prst="rect">
            <a:avLst/>
          </a:prstGeom>
          <a:solidFill>
            <a:srgbClr val="0A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12880" y="2515432"/>
            <a:ext cx="920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BBBBBB"/>
                </a:solidFill>
                <a:latin typeface="メイリオ"/>
              </a:rPr>
              <a:t>後半維持率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62880" y="2515432"/>
            <a:ext cx="890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BBBBBB"/>
                </a:solidFill>
                <a:latin typeface="メイリオ"/>
              </a:rPr>
              <a:t>73.7%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082880" y="2515432"/>
            <a:ext cx="890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CC2222"/>
                </a:solidFill>
                <a:latin typeface="メイリオ"/>
              </a:rPr>
              <a:t>29.6%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002880" y="2515432"/>
            <a:ext cx="890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BBBBBB"/>
                </a:solidFill>
                <a:latin typeface="メイリオ"/>
              </a:rPr>
              <a:t>70%前後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922880" y="2515432"/>
            <a:ext cx="1020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00C0C8"/>
                </a:solidFill>
                <a:latin typeface="メイリオ"/>
              </a:rPr>
              <a:t>68.2%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82880" y="3611880"/>
            <a:ext cx="8778240" cy="760000"/>
          </a:xfrm>
          <a:prstGeom prst="rect">
            <a:avLst/>
          </a:prstGeom>
          <a:solidFill>
            <a:srgbClr val="0612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82880" y="3611880"/>
            <a:ext cx="55000" cy="760000"/>
          </a:xfrm>
          <a:prstGeom prst="rect">
            <a:avLst/>
          </a:prstGeom>
          <a:solidFill>
            <a:srgbClr val="1488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80" y="3657600"/>
            <a:ext cx="83210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4887C"/>
                </a:solidFill>
                <a:latin typeface="游明朝"/>
              </a:rPr>
              <a:t>モンキーターンVから学べる設計原則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5488" y="3977639"/>
            <a:ext cx="55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A020"/>
                </a:solidFill>
                <a:latin typeface="メイリオ"/>
              </a:rPr>
              <a:t>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8368" y="3977639"/>
            <a:ext cx="3200400" cy="27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FFA020"/>
                </a:solidFill>
                <a:latin typeface="メイリオ"/>
              </a:rPr>
              <a:t>複数の目標を同時に持たせる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931920" y="3977639"/>
            <a:ext cx="4754880" cy="27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短期（次セット）× 中期（グランドスラム）× 長期（青島SG）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75488" y="4262639"/>
            <a:ext cx="55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C0C8"/>
                </a:solidFill>
                <a:latin typeface="メイリオ"/>
              </a:rPr>
              <a:t>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8368" y="4262639"/>
            <a:ext cx="3200400" cy="27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00C0C8"/>
                </a:solidFill>
                <a:latin typeface="メイリオ"/>
              </a:rPr>
              <a:t>失敗に必ず「次の期待」を残す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931920" y="4262639"/>
            <a:ext cx="4754880" cy="27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どの失敗にも救済ルートがある = 諦めない設計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75488" y="4547639"/>
            <a:ext cx="55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A840"/>
                </a:solidFill>
                <a:latin typeface="メイリオ"/>
              </a:rPr>
              <a:t>│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8368" y="4547639"/>
            <a:ext cx="3200400" cy="27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8A840"/>
                </a:solidFill>
                <a:latin typeface="メイリオ"/>
              </a:rPr>
              <a:t>「読める」示唆が遊技を豊かにする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931920" y="4547639"/>
            <a:ext cx="4754880" cy="27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シナリオ推測という知的楽しさが長期稼働を支える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98079" y="4919472"/>
            <a:ext cx="155448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8888"/>
                </a:solidFill>
                <a:latin typeface="メイリオ"/>
              </a:rPr>
              <a:t>※ネット解析情報より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