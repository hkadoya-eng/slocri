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02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457200"/>
            <a:ext cx="30000" cy="18288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45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A840"/>
                </a:solidFill>
                <a:latin typeface="游明朝"/>
              </a:rPr>
              <a:t>機種分析資料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475488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游明朝"/>
              </a:rPr>
              <a:t>モンキーターンV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29968"/>
            <a:ext cx="45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游明朝"/>
              </a:rPr>
              <a:t>スマスロ（山佐）── 複層設計と継続率管理の完成形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42032"/>
            <a:ext cx="4389120" cy="580000"/>
          </a:xfrm>
          <a:prstGeom prst="rect">
            <a:avLst/>
          </a:prstGeom>
          <a:solidFill>
            <a:srgbClr val="04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542032"/>
            <a:ext cx="55000" cy="58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15184"/>
            <a:ext cx="4114800" cy="5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メイリオ"/>
              </a:rPr>
              <a:t>「遊びやすさとパンチの両立」
複層モード × シナリオ14種 × 上位AT青島SG
ゲーム性の完成度が高いと評価される一台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685800"/>
            <a:ext cx="3566160" cy="2468880"/>
          </a:xfrm>
          <a:prstGeom prst="rect">
            <a:avLst/>
          </a:prstGeom>
          <a:solidFill>
            <a:srgbClr val="0C142C"/>
          </a:solidFill>
          <a:ln w="19050">
            <a:solidFill>
              <a:srgbClr val="148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749808"/>
            <a:ext cx="32918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887C"/>
                </a:solidFill>
                <a:latin typeface="游明朝"/>
              </a:rPr>
              <a:t>基本スペック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1188720"/>
            <a:ext cx="1234440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タイプ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188720"/>
            <a:ext cx="2057400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スマスロ 6.5号機 AT機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1451720"/>
            <a:ext cx="1234440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メーカー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451720"/>
            <a:ext cx="2057400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山佐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1714720"/>
            <a:ext cx="1234440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純増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714720"/>
            <a:ext cx="2057400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約2.5枚/G（AT）/ 4.0枚/G（青島SG）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1977720"/>
            <a:ext cx="1234440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天井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977720"/>
            <a:ext cx="2057400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795G+α（設定変更後 495G+α）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2240720"/>
            <a:ext cx="1234440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機械割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240720"/>
            <a:ext cx="2057400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設定1: 97.9%  /  設定6: 114.9%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3291840"/>
            <a:ext cx="3566160" cy="1417320"/>
          </a:xfrm>
          <a:prstGeom prst="rect">
            <a:avLst/>
          </a:prstGeom>
          <a:solidFill>
            <a:srgbClr val="081828"/>
          </a:solidFill>
          <a:ln w="12700">
            <a:solidFill>
              <a:srgbClr val="FF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80" y="3364992"/>
            <a:ext cx="32918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A020"/>
                </a:solidFill>
                <a:latin typeface="游明朝"/>
              </a:rPr>
              <a:t>3つの分析ポイント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3675887"/>
            <a:ext cx="329184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I    激走ポイント × 周期 × ライバルモード
II   14種シナリオ × 示唆システム
III  グランドスラム → 青島SG への昇格設計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754880"/>
            <a:ext cx="21031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88"/>
                </a:solidFill>
                <a:latin typeface="メイリオ"/>
              </a:rPr>
              <a:t>v1.0  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ゲームフロー全体図  ──  周期からグランドスラムまで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566928"/>
            <a:ext cx="2514600" cy="960120"/>
          </a:xfrm>
          <a:prstGeom prst="rect">
            <a:avLst/>
          </a:prstGeom>
          <a:solidFill>
            <a:srgbClr val="061024"/>
          </a:solidFill>
          <a:ln w="22860">
            <a:solidFill>
              <a:srgbClr val="00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4592" y="616928"/>
            <a:ext cx="2354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游明朝"/>
              </a:rPr>
              <a:t>通常時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592" y="936928"/>
            <a:ext cx="2354600" cy="54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激走ポイント毎G加算
ライバルモード抽選 / 周期管理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566928"/>
            <a:ext cx="2514600" cy="960120"/>
          </a:xfrm>
          <a:prstGeom prst="rect">
            <a:avLst/>
          </a:prstGeom>
          <a:solidFill>
            <a:srgbClr val="061824"/>
          </a:solidFill>
          <a:ln w="22860">
            <a:solidFill>
              <a:srgbClr val="148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60360" y="616928"/>
            <a:ext cx="2354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游明朝"/>
              </a:rPr>
              <a:t>CZ「超抜チャレンジ」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0360" y="936928"/>
            <a:ext cx="2354600" cy="54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10G自力突破型 / 成功率約50%
失敗の一部でグランドスラムCHへ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96128" y="566928"/>
            <a:ext cx="2514600" cy="960120"/>
          </a:xfrm>
          <a:prstGeom prst="rect">
            <a:avLst/>
          </a:prstGeom>
          <a:solidFill>
            <a:srgbClr val="101806"/>
          </a:solidFill>
          <a:ln w="22860">
            <a:solidFill>
              <a:srgbClr val="FF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76128" y="616928"/>
            <a:ext cx="2354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游明朝"/>
              </a:rPr>
              <a:t>AT「SG RUSH」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6128" y="936928"/>
            <a:ext cx="2354600" cy="54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純増2.5枚/G
周回31G + SGバトル9G を繰り返す</a:t>
            </a:r>
          </a:p>
        </p:txBody>
      </p:sp>
      <p:sp>
        <p:nvSpPr>
          <p:cNvPr id="15" name="Can 14"/>
          <p:cNvSpPr/>
          <p:nvPr/>
        </p:nvSpPr>
        <p:spPr>
          <a:xfrm>
            <a:off x="2719192" y="971988"/>
            <a:ext cx="121168" cy="150000"/>
          </a:xfrm>
          <a:prstGeom prst="can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n 15"/>
          <p:cNvSpPr/>
          <p:nvPr/>
        </p:nvSpPr>
        <p:spPr>
          <a:xfrm>
            <a:off x="5434960" y="971988"/>
            <a:ext cx="121168" cy="150000"/>
          </a:xfrm>
          <a:prstGeom prst="can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0728" y="1046988"/>
            <a:ext cx="55000" cy="727516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0728" y="1746504"/>
            <a:ext cx="605000" cy="55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40728" y="1965960"/>
            <a:ext cx="55000" cy="-164456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0728" y="1396504"/>
            <a:ext cx="8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D700"/>
                </a:solidFill>
                <a:latin typeface="メイリオ"/>
              </a:rPr>
              <a:t>8セット
完走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96128" y="1965960"/>
            <a:ext cx="2514600" cy="960120"/>
          </a:xfrm>
          <a:prstGeom prst="rect">
            <a:avLst/>
          </a:prstGeom>
          <a:solidFill>
            <a:srgbClr val="201400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76128" y="2015960"/>
            <a:ext cx="2354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游明朝"/>
              </a:rPr>
              <a:t>グランドスラム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76128" y="2335960"/>
            <a:ext cx="2354600" cy="54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8セット完走で達成
→ エキシビションレースへ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1965960"/>
            <a:ext cx="2514600" cy="960120"/>
          </a:xfrm>
          <a:prstGeom prst="rect">
            <a:avLst/>
          </a:prstGeom>
          <a:solidFill>
            <a:srgbClr val="101806"/>
          </a:solidFill>
          <a:ln w="22860">
            <a:solidFill>
              <a:srgbClr val="FF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60360" y="2015960"/>
            <a:ext cx="2354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游明朝"/>
              </a:rPr>
              <a:t>エキシビションレース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60360" y="2335960"/>
            <a:ext cx="2354600" cy="54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継続率50/66/80/90%に固定
漏れると青島VS波多野へ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1965960"/>
            <a:ext cx="2514600" cy="960120"/>
          </a:xfrm>
          <a:prstGeom prst="rect">
            <a:avLst/>
          </a:prstGeom>
          <a:solidFill>
            <a:srgbClr val="001428"/>
          </a:solidFill>
          <a:ln w="22860">
            <a:solidFill>
              <a:srgbClr val="00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4592" y="2015960"/>
            <a:ext cx="2354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游明朝"/>
              </a:rPr>
              <a:t>上位AT「青島SG」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4592" y="2335960"/>
            <a:ext cx="2354600" cy="54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純増4.0枚/G / 継続率83%
温泉モード（特化ゾーン）あり</a:t>
            </a:r>
          </a:p>
        </p:txBody>
      </p:sp>
      <p:sp>
        <p:nvSpPr>
          <p:cNvPr id="30" name="Can 29"/>
          <p:cNvSpPr/>
          <p:nvPr/>
        </p:nvSpPr>
        <p:spPr>
          <a:xfrm rot="10800000">
            <a:off x="5434960" y="2371020"/>
            <a:ext cx="121168" cy="150000"/>
          </a:xfrm>
          <a:prstGeom prst="can">
            <a:avLst/>
          </a:prstGeom>
          <a:solidFill>
            <a:srgbClr val="FF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an 30"/>
          <p:cNvSpPr/>
          <p:nvPr/>
        </p:nvSpPr>
        <p:spPr>
          <a:xfrm rot="10800000">
            <a:off x="2719192" y="2371020"/>
            <a:ext cx="121168" cy="150000"/>
          </a:xfrm>
          <a:prstGeom prst="can">
            <a:avLst/>
          </a:prstGeom>
          <a:solidFill>
            <a:srgbClr val="FF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4592" y="3090672"/>
            <a:ext cx="8814816" cy="880000"/>
          </a:xfrm>
          <a:prstGeom prst="rect">
            <a:avLst/>
          </a:prstGeom>
          <a:solidFill>
            <a:srgbClr val="06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64592" y="3090672"/>
            <a:ext cx="55000" cy="88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4592" y="3160672"/>
            <a:ext cx="841248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4887C"/>
                </a:solidFill>
                <a:latin typeface="游明朝"/>
              </a:rPr>
              <a:t>フロー設計のポイント：「到達ルートが複数ある」と「昇格先がある」の2重構造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4592" y="3510672"/>
            <a:ext cx="8412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通常周期からSG RUSH → 8セット完走 → 上位AT青島SG という段階的昇格が来店を通じた目標になる。
失敗してもグランドスラムCH経由の救済ルートがあり、「どこかで報われる」設計。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通常時設計  ──  激走ポイント × 周期 × ライバルモード 3層構造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834640" cy="3200400"/>
          </a:xfrm>
          <a:prstGeom prst="rect">
            <a:avLst/>
          </a:prstGeom>
          <a:solidFill>
            <a:srgbClr val="0C142C"/>
          </a:solidFill>
          <a:ln w="19050">
            <a:solidFill>
              <a:srgbClr val="00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41248"/>
            <a:ext cx="26517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0C8"/>
                </a:solidFill>
                <a:latin typeface="游明朝"/>
              </a:rPr>
              <a:t>激走ポイント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261872"/>
            <a:ext cx="50000" cy="510000"/>
          </a:xfrm>
          <a:prstGeom prst="rect">
            <a:avLst/>
          </a:prstGeom>
          <a:solidFill>
            <a:srgbClr val="00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286872"/>
            <a:ext cx="237744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0C8"/>
                </a:solidFill>
                <a:latin typeface="メイリオ"/>
              </a:rPr>
              <a:t>毎G加算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526872"/>
            <a:ext cx="23774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通常は1pt以上が毎ゲーム加算
液晶右上のメーターで可視化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816872"/>
            <a:ext cx="50000" cy="510000"/>
          </a:xfrm>
          <a:prstGeom prst="rect">
            <a:avLst/>
          </a:prstGeom>
          <a:solidFill>
            <a:srgbClr val="FF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841872"/>
            <a:ext cx="237744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A020"/>
                </a:solidFill>
                <a:latin typeface="メイリオ"/>
              </a:rPr>
              <a:t>激走チャージ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081872"/>
            <a:ext cx="23774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チャンス役で5G突入
10〜200ptの大量加算ゾーン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371872"/>
            <a:ext cx="50000" cy="51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396872"/>
            <a:ext cx="237744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222pt到達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636872"/>
            <a:ext cx="23774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優出モード突入（AT結果確定直前）
1周期目は平均80Gで到達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2926872"/>
            <a:ext cx="50000" cy="51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951872"/>
            <a:ext cx="237744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66"/>
                </a:solidFill>
                <a:latin typeface="メイリオ"/>
              </a:rPr>
              <a:t>チャージ天井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3191872"/>
            <a:ext cx="23774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81G or 131G無チャージ
→ 次チャンス役でCZ確定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777240"/>
            <a:ext cx="2834640" cy="3200400"/>
          </a:xfrm>
          <a:prstGeom prst="rect">
            <a:avLst/>
          </a:prstGeom>
          <a:solidFill>
            <a:srgbClr val="0C142C"/>
          </a:solidFill>
          <a:ln w="19050">
            <a:solidFill>
              <a:srgbClr val="148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64408" y="841248"/>
            <a:ext cx="26517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887C"/>
                </a:solidFill>
                <a:latin typeface="游明朝"/>
              </a:rPr>
              <a:t>内部モード（周期管理）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27832" y="1261872"/>
            <a:ext cx="2633472" cy="760000"/>
          </a:xfrm>
          <a:prstGeom prst="rect">
            <a:avLst/>
          </a:prstGeom>
          <a:solidFill>
            <a:srgbClr val="081424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1311872"/>
            <a:ext cx="23774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D700"/>
                </a:solidFill>
                <a:latin typeface="メイリオ"/>
              </a:rPr>
              <a:t>天国モード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1591872"/>
            <a:ext cx="23774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1周期目にAT当選濃厚
最上位・最もレアなモード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27832" y="2061872"/>
            <a:ext cx="2633472" cy="760000"/>
          </a:xfrm>
          <a:prstGeom prst="rect">
            <a:avLst/>
          </a:prstGeom>
          <a:solidFill>
            <a:srgbClr val="081424"/>
          </a:solidFill>
          <a:ln w="12700">
            <a:solidFill>
              <a:srgbClr val="148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2111872"/>
            <a:ext cx="23774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4887C"/>
                </a:solidFill>
                <a:latin typeface="メイリオ"/>
              </a:rPr>
              <a:t>通常Aモード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2391872"/>
            <a:ext cx="23774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6周期天井 / 2・5周期がチャンス
最も標準的な推移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7832" y="2861872"/>
            <a:ext cx="2633472" cy="760000"/>
          </a:xfrm>
          <a:prstGeom prst="rect">
            <a:avLst/>
          </a:prstGeom>
          <a:solidFill>
            <a:srgbClr val="081424"/>
          </a:solidFill>
          <a:ln w="12700">
            <a:solidFill>
              <a:srgbClr val="00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2911872"/>
            <a:ext cx="23774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C0C8"/>
                </a:solidFill>
                <a:latin typeface="メイリオ"/>
              </a:rPr>
              <a:t>通常Bモード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3191872"/>
            <a:ext cx="23774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3周期天井 / 2周期がチャンス
短めの天井が特徴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777240"/>
            <a:ext cx="2834640" cy="3200400"/>
          </a:xfrm>
          <a:prstGeom prst="rect">
            <a:avLst/>
          </a:prstGeom>
          <a:solidFill>
            <a:srgbClr val="0C142C"/>
          </a:solidFill>
          <a:ln w="19050">
            <a:solidFill>
              <a:srgbClr val="FF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8" y="841248"/>
            <a:ext cx="26517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A020"/>
                </a:solidFill>
                <a:latin typeface="游明朝"/>
              </a:rPr>
              <a:t>ライバルモード（6種）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99632" y="1261872"/>
            <a:ext cx="50000" cy="51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1286872"/>
            <a:ext cx="237744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BBBB"/>
                </a:solidFill>
                <a:latin typeface="メイリオ"/>
              </a:rPr>
              <a:t>榎木・蒲生・浜岡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1526872"/>
            <a:ext cx="23774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通常時の周期抽選に作用
設定差あり・高設定ほど移行率UP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9632" y="1816872"/>
            <a:ext cx="50000" cy="510000"/>
          </a:xfrm>
          <a:prstGeom prst="rect">
            <a:avLst/>
          </a:prstGeom>
          <a:solidFill>
            <a:srgbClr val="FF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1841872"/>
            <a:ext cx="237744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A020"/>
                </a:solidFill>
                <a:latin typeface="メイリオ"/>
              </a:rPr>
              <a:t>洞口・青島・波多野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2081872"/>
            <a:ext cx="23774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AT中シナリオ性能に作用
全設定共通移行率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9632" y="2371872"/>
            <a:ext cx="50000" cy="51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2396872"/>
            <a:ext cx="237744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共通の恩恵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2636872"/>
            <a:ext cx="23774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滞在中は出玉率100%超
当選まで打ち続けたい設計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99632" y="2926872"/>
            <a:ext cx="50000" cy="510000"/>
          </a:xfrm>
          <a:prstGeom prst="rect">
            <a:avLst/>
          </a:prstGeom>
          <a:solidFill>
            <a:srgbClr val="00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2512" y="2951872"/>
            <a:ext cx="237744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0C8"/>
                </a:solidFill>
                <a:latin typeface="メイリオ"/>
              </a:rPr>
              <a:t>青島モードは別格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3191872"/>
            <a:ext cx="23774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特に強いとされるモード
AT中継続率が大幅優遇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" y="4069080"/>
            <a:ext cx="8778240" cy="560000"/>
          </a:xfrm>
          <a:prstGeom prst="rect">
            <a:avLst/>
          </a:prstGeom>
          <a:solidFill>
            <a:srgbClr val="06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82880" y="4069080"/>
            <a:ext cx="55000" cy="560000"/>
          </a:xfrm>
          <a:prstGeom prst="rect">
            <a:avLst/>
          </a:prstGeom>
          <a:solidFill>
            <a:srgbClr val="FF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411480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A020"/>
                </a:solidFill>
                <a:latin typeface="メイリオ"/>
              </a:rPr>
              <a:t>3層構造の設計：「内部モードでいつ当たるか」＋「ポイントで天井を短縮」＋「ライバルモードで出玉保証」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4416552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どのモードに滞在しているかを意識することで、立ち回りの深みが生まれる。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4919472"/>
            <a:ext cx="1554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88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CZ「超抜チャレンジ」  ──  10G自力突破・成功率約50%の設計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114800" cy="3154680"/>
          </a:xfrm>
          <a:prstGeom prst="rect">
            <a:avLst/>
          </a:prstGeom>
          <a:solidFill>
            <a:srgbClr val="0C142C"/>
          </a:solidFill>
          <a:ln w="19050">
            <a:solidFill>
              <a:srgbClr val="148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41248"/>
            <a:ext cx="38404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887C"/>
                </a:solidFill>
                <a:latin typeface="游明朝"/>
              </a:rPr>
              <a:t>基本仕様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261872"/>
            <a:ext cx="3950208" cy="315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289872"/>
            <a:ext cx="118872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4887C"/>
                </a:solidFill>
                <a:latin typeface="メイリオ"/>
              </a:rPr>
              <a:t>ゲーム数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1289872"/>
            <a:ext cx="2514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メイリオ"/>
              </a:rPr>
              <a:t>10G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586872"/>
            <a:ext cx="3950208" cy="315000"/>
          </a:xfrm>
          <a:prstGeom prst="rect">
            <a:avLst/>
          </a:prstGeom>
          <a:solidFill>
            <a:srgbClr val="0E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614872"/>
            <a:ext cx="118872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4887C"/>
                </a:solidFill>
                <a:latin typeface="メイリオ"/>
              </a:rPr>
              <a:t>タイプ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1614872"/>
            <a:ext cx="2514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自力突破型（毎G抽選）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1911872"/>
            <a:ext cx="3950208" cy="315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939872"/>
            <a:ext cx="118872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4887C"/>
                </a:solidFill>
                <a:latin typeface="メイリオ"/>
              </a:rPr>
              <a:t>成功率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1939872"/>
            <a:ext cx="2514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A020"/>
                </a:solidFill>
                <a:latin typeface="メイリオ"/>
              </a:rPr>
              <a:t>約50%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2236872"/>
            <a:ext cx="3950208" cy="315000"/>
          </a:xfrm>
          <a:prstGeom prst="rect">
            <a:avLst/>
          </a:prstGeom>
          <a:solidFill>
            <a:srgbClr val="0E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264872"/>
            <a:ext cx="118872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4887C"/>
                </a:solidFill>
                <a:latin typeface="メイリオ"/>
              </a:rPr>
              <a:t>突入契機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2264872"/>
            <a:ext cx="2514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周期到達（222pt優出）・レア役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2561872"/>
            <a:ext cx="3950208" cy="315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589872"/>
            <a:ext cx="118872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4887C"/>
                </a:solidFill>
                <a:latin typeface="メイリオ"/>
              </a:rPr>
              <a:t>成功確定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2589872"/>
            <a:ext cx="2514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C8A840"/>
                </a:solidFill>
                <a:latin typeface="メイリオ"/>
              </a:rPr>
              <a:t>CZ中にペラ9回成立で確定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777240"/>
            <a:ext cx="4343400" cy="3154680"/>
          </a:xfrm>
          <a:prstGeom prst="rect">
            <a:avLst/>
          </a:prstGeom>
          <a:solidFill>
            <a:srgbClr val="0C142C"/>
          </a:solidFill>
          <a:ln w="19050">
            <a:solidFill>
              <a:srgbClr val="FF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841248"/>
            <a:ext cx="41148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A020"/>
                </a:solidFill>
                <a:latin typeface="游明朝"/>
              </a:rPr>
              <a:t>成否分岐とその先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1261872"/>
            <a:ext cx="1920240" cy="1005840"/>
          </a:xfrm>
          <a:prstGeom prst="rect">
            <a:avLst/>
          </a:prstGeom>
          <a:solidFill>
            <a:srgbClr val="002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1307592"/>
            <a:ext cx="192024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CC66"/>
                </a:solidFill>
                <a:latin typeface="メイリオ"/>
              </a:rPr>
              <a:t>成功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1719072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2CC66"/>
                </a:solidFill>
                <a:latin typeface="メイリオ"/>
              </a:rPr>
              <a:t>AT「SG RUSH」突入
14種シナリオが選択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1261872"/>
            <a:ext cx="1920240" cy="1005840"/>
          </a:xfrm>
          <a:prstGeom prst="rect">
            <a:avLst/>
          </a:prstGeom>
          <a:solidFill>
            <a:srgbClr val="20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1307592"/>
            <a:ext cx="192024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C2222"/>
                </a:solidFill>
                <a:latin typeface="メイリオ"/>
              </a:rPr>
              <a:t>失敗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1719072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2222"/>
                </a:solidFill>
                <a:latin typeface="メイリオ"/>
              </a:rPr>
              <a:t>通常時に戻る
次の周期へ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2450592"/>
            <a:ext cx="4023360" cy="1298448"/>
          </a:xfrm>
          <a:prstGeom prst="rect">
            <a:avLst/>
          </a:prstGeom>
          <a:solidFill>
            <a:srgbClr val="201800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64608" y="2505456"/>
            <a:ext cx="3749039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游明朝"/>
              </a:rPr>
              <a:t>プレミアム：グランドスラムチャレンジ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4608" y="2852928"/>
            <a:ext cx="3749039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CZ失敗の約1.2%で突入
AT1セット目が継続濃厚状態からスタート
成功で波多野フリーズ / 艇王シナリオ濃厚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4041648"/>
            <a:ext cx="8778240" cy="580000"/>
          </a:xfrm>
          <a:prstGeom prst="rect">
            <a:avLst/>
          </a:prstGeom>
          <a:solidFill>
            <a:srgbClr val="06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2880" y="4041648"/>
            <a:ext cx="55000" cy="58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087368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4887C"/>
                </a:solidFill>
                <a:latin typeface="メイリオ"/>
              </a:rPr>
              <a:t>CZ設計のポイント：失敗しても「ほぼ通常に戻るだけ」で、突き抜ける時は突き抜ける設計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38912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グランドスラムチャレンジという超プレミアムルートが「外れたけど最高の展開になった」体験を生む。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919472"/>
            <a:ext cx="1554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88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AT「SG RUSH」  ──  2部構造 × グランドスラム達成設計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114800" cy="3154680"/>
          </a:xfrm>
          <a:prstGeom prst="rect">
            <a:avLst/>
          </a:prstGeom>
          <a:solidFill>
            <a:srgbClr val="0C142C"/>
          </a:solidFill>
          <a:ln w="19050">
            <a:solidFill>
              <a:srgbClr val="FF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41248"/>
            <a:ext cx="38404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A020"/>
                </a:solidFill>
                <a:latin typeface="游明朝"/>
              </a:rPr>
              <a:t>1セットの2部構造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280160"/>
            <a:ext cx="3950208" cy="360000"/>
          </a:xfrm>
          <a:prstGeom prst="rect">
            <a:avLst/>
          </a:prstGeom>
          <a:solidFill>
            <a:srgbClr val="1018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280160"/>
            <a:ext cx="55000" cy="360000"/>
          </a:xfrm>
          <a:prstGeom prst="rect">
            <a:avLst/>
          </a:prstGeom>
          <a:solidFill>
            <a:srgbClr val="FF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335024"/>
            <a:ext cx="34747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A020"/>
                </a:solidFill>
                <a:latin typeface="メイリオ"/>
              </a:rPr>
              <a:t>周回パート（31G）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627632"/>
            <a:ext cx="34747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上乗せ・特化ゾーン「バカンスモード」抽選
V揃いでカットイン / ボートで50G以上上乗せ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1737360"/>
            <a:ext cx="1371600" cy="180000"/>
          </a:xfrm>
          <a:prstGeom prst="rect">
            <a:avLst/>
          </a:prstGeom>
          <a:solidFill>
            <a:srgbClr val="00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1792224"/>
            <a:ext cx="13716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C0C8"/>
                </a:solidFill>
                <a:latin typeface="メイリオ"/>
              </a:rPr>
              <a:t>バカンスモード突入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103120"/>
            <a:ext cx="3950208" cy="360000"/>
          </a:xfrm>
          <a:prstGeom prst="rect">
            <a:avLst/>
          </a:prstGeom>
          <a:solidFill>
            <a:srgbClr val="0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103120"/>
            <a:ext cx="55000" cy="360000"/>
          </a:xfrm>
          <a:prstGeom prst="rect">
            <a:avLst/>
          </a:prstGeom>
          <a:solidFill>
            <a:srgbClr val="00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157984"/>
            <a:ext cx="34747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0C8"/>
                </a:solidFill>
                <a:latin typeface="メイリオ"/>
              </a:rPr>
              <a:t>SGバトルパート（9G）── 青島VS波多野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2450592"/>
            <a:ext cx="34747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青島が勝利 → 次セット継続
継続率はシナリオで管理（14種）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2724912"/>
            <a:ext cx="3950208" cy="680000"/>
          </a:xfrm>
          <a:prstGeom prst="rect">
            <a:avLst/>
          </a:prstGeom>
          <a:solidFill>
            <a:srgbClr val="201600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779776"/>
            <a:ext cx="3657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游明朝"/>
              </a:rPr>
              <a:t>8セット完走 = グランドスラム達成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090672"/>
            <a:ext cx="36576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セット継続のたびに積み上がる「8回勝つ」目標
→ エキシビションレースへ自動移行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777240"/>
            <a:ext cx="4480560" cy="3154680"/>
          </a:xfrm>
          <a:prstGeom prst="rect">
            <a:avLst/>
          </a:prstGeom>
          <a:solidFill>
            <a:srgbClr val="0C142C"/>
          </a:solidFill>
          <a:ln w="19050">
            <a:solidFill>
              <a:srgbClr val="00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841248"/>
            <a:ext cx="42062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0C8"/>
                </a:solidFill>
                <a:latin typeface="游明朝"/>
              </a:rPr>
              <a:t>シナリオ選択（14種）と継続率管理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1261872"/>
            <a:ext cx="4206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8F0"/>
                </a:solidFill>
                <a:latin typeface="メイリオ"/>
              </a:rPr>
              <a:t>AT突入時（第3停止を離す瞬間）に14種のシナリオが確定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0288" y="1627632"/>
            <a:ext cx="4297680" cy="31500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1655632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0C0C8"/>
                </a:solidFill>
                <a:latin typeface="メイリオ"/>
              </a:rPr>
              <a:t>継続率段階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1655632"/>
            <a:ext cx="12344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0E8F0"/>
                </a:solidFill>
                <a:latin typeface="メイリオ"/>
              </a:rPr>
              <a:t>シナリオ名（例）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1655632"/>
            <a:ext cx="13258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メイリオ"/>
              </a:rPr>
              <a:t>特徴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0288" y="1952632"/>
            <a:ext cx="4297680" cy="315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1980632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BBBBB"/>
                </a:solidFill>
                <a:latin typeface="メイリオ"/>
              </a:rPr>
              <a:t>低（〜25%）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1980632"/>
            <a:ext cx="12344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0E8F0"/>
                </a:solidFill>
                <a:latin typeface="メイリオ"/>
              </a:rPr>
              <a:t>関東ガマシ 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1980632"/>
            <a:ext cx="13258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メイリオ"/>
              </a:rPr>
              <a:t>早期終了が多い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2277632"/>
            <a:ext cx="4297680" cy="315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2305632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BBBBB"/>
                </a:solidFill>
                <a:latin typeface="メイリオ"/>
              </a:rPr>
              <a:t>中（50%）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305632"/>
            <a:ext cx="12344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0E8F0"/>
                </a:solidFill>
                <a:latin typeface="メイリオ"/>
              </a:rPr>
              <a:t>ギャンブラー 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2305632"/>
            <a:ext cx="13258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メイリオ"/>
              </a:rPr>
              <a:t>標準的な継続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90288" y="2602632"/>
            <a:ext cx="4297680" cy="315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2630632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BBBBB"/>
                </a:solidFill>
                <a:latin typeface="メイリオ"/>
              </a:rPr>
              <a:t>高（66〜80%）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2630632"/>
            <a:ext cx="12344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0E8F0"/>
                </a:solidFill>
                <a:latin typeface="メイリオ"/>
              </a:rPr>
              <a:t>艇界のヒロイン 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2630632"/>
            <a:ext cx="13258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メイリオ"/>
              </a:rPr>
              <a:t>粘れるシナリオ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2927632"/>
            <a:ext cx="4297680" cy="315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2955632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FFA020"/>
                </a:solidFill>
                <a:latin typeface="メイリオ"/>
              </a:rPr>
              <a:t>最高（艇王）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2955632"/>
            <a:ext cx="12344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0E8F0"/>
                </a:solidFill>
                <a:latin typeface="メイリオ"/>
              </a:rPr>
              <a:t>艇王（グランドスラム濃厚）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2955632"/>
            <a:ext cx="13258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メイリオ"/>
              </a:rPr>
              <a:t>8セット完走ほぼ確定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90288" y="3200400"/>
            <a:ext cx="420624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メイリオ"/>
              </a:rPr>
              <a:t>ハマりゲーム数・設定の影響なし。突入時に公平に抽選される。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" y="4041648"/>
            <a:ext cx="8778240" cy="580000"/>
          </a:xfrm>
          <a:prstGeom prst="rect">
            <a:avLst/>
          </a:prstGeom>
          <a:solidFill>
            <a:srgbClr val="06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82880" y="4041648"/>
            <a:ext cx="55000" cy="580000"/>
          </a:xfrm>
          <a:prstGeom prst="rect">
            <a:avLst/>
          </a:prstGeom>
          <a:solidFill>
            <a:srgbClr val="FF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4087368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A020"/>
                </a:solidFill>
                <a:latin typeface="メイリオ"/>
              </a:rPr>
              <a:t>AT設計の核心：「8回勝つ」という明確な目標がセット継続のドラマを作る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438912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艇王シナリオ引きで「今日は行ける」という確信がプレイヤーに芽生える。シナリオ推測が遊技の深みになる。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4919472"/>
            <a:ext cx="1554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88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シナリオ × 示唆システム  ──  読み解く楽しさが遊技の深みになる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743200" cy="3200400"/>
          </a:xfrm>
          <a:prstGeom prst="rect">
            <a:avLst/>
          </a:prstGeom>
          <a:solidFill>
            <a:srgbClr val="0C142C"/>
          </a:solidFill>
          <a:ln w="19050">
            <a:solidFill>
              <a:srgbClr val="00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41248"/>
            <a:ext cx="25146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0C8"/>
                </a:solidFill>
                <a:latin typeface="游明朝"/>
              </a:rPr>
              <a:t>フレームランプ示唆（6色）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340000" cy="29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10160"/>
            <a:ext cx="17830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白  ──  継続率：低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00160"/>
            <a:ext cx="340000" cy="29000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30160"/>
            <a:ext cx="17830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青  ──  継続率：やや低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920160"/>
            <a:ext cx="340000" cy="290000"/>
          </a:xfrm>
          <a:prstGeom prst="rect">
            <a:avLst/>
          </a:prstGeom>
          <a:solidFill>
            <a:srgbClr val="FFE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50160"/>
            <a:ext cx="17830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黄  ──  継続率：中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240160"/>
            <a:ext cx="340000" cy="290000"/>
          </a:xfrm>
          <a:prstGeom prst="rect">
            <a:avLst/>
          </a:prstGeom>
          <a:solidFill>
            <a:srgbClr val="22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270160"/>
            <a:ext cx="17830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緑  ──  継続率：やや高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60160"/>
            <a:ext cx="340000" cy="29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590160"/>
            <a:ext cx="17830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赤  ──  継続率：高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880160"/>
            <a:ext cx="340000" cy="290000"/>
          </a:xfrm>
          <a:prstGeom prst="rect">
            <a:avLst/>
          </a:prstGeom>
          <a:solidFill>
            <a:srgbClr val="FF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10160"/>
            <a:ext cx="17830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虹  ──  継続率：最高（艇王濃厚）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777240"/>
            <a:ext cx="2834640" cy="3200400"/>
          </a:xfrm>
          <a:prstGeom prst="rect">
            <a:avLst/>
          </a:prstGeom>
          <a:solidFill>
            <a:srgbClr val="0C142C"/>
          </a:solidFill>
          <a:ln w="19050">
            <a:solidFill>
              <a:srgbClr val="FF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18688" y="841248"/>
            <a:ext cx="26060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A020"/>
                </a:solidFill>
                <a:latin typeface="游明朝"/>
              </a:rPr>
              <a:t>サブ液晶・セリフ示唆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82112" y="1280160"/>
            <a:ext cx="2688336" cy="320000"/>
          </a:xfrm>
          <a:prstGeom prst="rect">
            <a:avLst/>
          </a:prstGeom>
          <a:solidFill>
            <a:srgbClr val="101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73552" y="1305160"/>
            <a:ext cx="1143000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A020"/>
                </a:solidFill>
                <a:latin typeface="メイリオ"/>
              </a:rPr>
              <a:t>登場キャラ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1305160"/>
            <a:ext cx="1325880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0E8F0"/>
                </a:solidFill>
                <a:latin typeface="メイリオ"/>
              </a:rPr>
              <a:t>キャラによってモード・シナリオ段階を示唆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82112" y="1612160"/>
            <a:ext cx="2688336" cy="320000"/>
          </a:xfrm>
          <a:prstGeom prst="rect">
            <a:avLst/>
          </a:prstGeom>
          <a:solidFill>
            <a:srgbClr val="14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73552" y="1637160"/>
            <a:ext cx="1143000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A020"/>
                </a:solidFill>
                <a:latin typeface="メイリオ"/>
              </a:rPr>
              <a:t>セリフ内容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1637160"/>
            <a:ext cx="1325880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0E8F0"/>
                </a:solidFill>
                <a:latin typeface="メイリオ"/>
              </a:rPr>
              <a:t>ポジティブ/ネガティブで継続率の高低を示唆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1944160"/>
            <a:ext cx="2688336" cy="320000"/>
          </a:xfrm>
          <a:prstGeom prst="rect">
            <a:avLst/>
          </a:prstGeom>
          <a:solidFill>
            <a:srgbClr val="101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73552" y="1969160"/>
            <a:ext cx="1143000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A020"/>
                </a:solidFill>
                <a:latin typeface="メイリオ"/>
              </a:rPr>
              <a:t>ランプ×セリフ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1969160"/>
            <a:ext cx="1325880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0E8F0"/>
                </a:solidFill>
                <a:latin typeface="メイリオ"/>
              </a:rPr>
              <a:t>組み合わせで絞り込み精度が上がる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82112" y="2276160"/>
            <a:ext cx="2688336" cy="320000"/>
          </a:xfrm>
          <a:prstGeom prst="rect">
            <a:avLst/>
          </a:prstGeom>
          <a:solidFill>
            <a:srgbClr val="14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73552" y="2301160"/>
            <a:ext cx="1143000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A020"/>
                </a:solidFill>
                <a:latin typeface="メイリオ"/>
              </a:rPr>
              <a:t>ラウンド開始画面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2272" y="2301160"/>
            <a:ext cx="1325880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0E8F0"/>
                </a:solidFill>
                <a:latin typeface="メイリオ"/>
              </a:rPr>
              <a:t>シナリオ段階と設定を直接示唆する要素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82112" y="2608160"/>
            <a:ext cx="2688336" cy="320000"/>
          </a:xfrm>
          <a:prstGeom prst="rect">
            <a:avLst/>
          </a:prstGeom>
          <a:solidFill>
            <a:srgbClr val="101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73552" y="2633160"/>
            <a:ext cx="1143000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A020"/>
                </a:solidFill>
                <a:latin typeface="メイリオ"/>
              </a:rPr>
              <a:t>第3停止タイミング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2272" y="2633160"/>
            <a:ext cx="1325880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0E8F0"/>
                </a:solidFill>
                <a:latin typeface="メイリオ"/>
              </a:rPr>
              <a:t>第3停止を離す瞬間のカットインで確定示唆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777240"/>
            <a:ext cx="2834640" cy="3200400"/>
          </a:xfrm>
          <a:prstGeom prst="rect">
            <a:avLst/>
          </a:prstGeom>
          <a:solidFill>
            <a:srgbClr val="0C142C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841248"/>
            <a:ext cx="26060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游明朝"/>
              </a:rPr>
              <a:t>シナリオ推測の楽しさ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9632" y="1280160"/>
            <a:ext cx="50000" cy="51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1305160"/>
            <a:ext cx="242316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情報収集の喜び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1545160"/>
            <a:ext cx="24231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ランプ・セリフ・画面を組み合わせて
「このシナリオかも」と絞り込む楽しさ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99632" y="1835160"/>
            <a:ext cx="50000" cy="510000"/>
          </a:xfrm>
          <a:prstGeom prst="rect">
            <a:avLst/>
          </a:prstGeom>
          <a:solidFill>
            <a:srgbClr val="FF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2512" y="1860160"/>
            <a:ext cx="242316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A020"/>
                </a:solidFill>
                <a:latin typeface="メイリオ"/>
              </a:rPr>
              <a:t>期待感の変化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2100160"/>
            <a:ext cx="24231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序盤に赤ランプが出た瞬間
「今日は行ける」という確信が芽生える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99632" y="2390160"/>
            <a:ext cx="50000" cy="510000"/>
          </a:xfrm>
          <a:prstGeom prst="rect">
            <a:avLst/>
          </a:prstGeom>
          <a:solidFill>
            <a:srgbClr val="00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82512" y="2415160"/>
            <a:ext cx="242316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0C8"/>
                </a:solidFill>
                <a:latin typeface="メイリオ"/>
              </a:rPr>
              <a:t>仲間との共有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2512" y="2655160"/>
            <a:ext cx="24231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「艇王引いたから8セット行くわ」という
ホールでの会話・コミュニティ形成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99632" y="2945160"/>
            <a:ext cx="50000" cy="51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2512" y="2970160"/>
            <a:ext cx="242316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66"/>
                </a:solidFill>
                <a:latin typeface="メイリオ"/>
              </a:rPr>
              <a:t>公平な抽選設計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2512" y="3210160"/>
            <a:ext cx="24231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ハマり度・設定に依存しないため
「今回のAT」だけに集中できる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2880" y="4069080"/>
            <a:ext cx="8778240" cy="560000"/>
          </a:xfrm>
          <a:prstGeom prst="rect">
            <a:avLst/>
          </a:prstGeom>
          <a:solidFill>
            <a:srgbClr val="06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82880" y="4069080"/>
            <a:ext cx="55000" cy="560000"/>
          </a:xfrm>
          <a:prstGeom prst="rect">
            <a:avLst/>
          </a:prstGeom>
          <a:solidFill>
            <a:srgbClr val="00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411480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C0C8"/>
                </a:solidFill>
                <a:latin typeface="メイリオ"/>
              </a:rPr>
              <a:t>示唆設計の本質：「完全に分からないが、ある程度読める」絶妙なバランス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4416552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全部わかると緊張感がなくなり、全く分からないと虚無感が残る。その中間に「楽しい」がある。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79" y="4919472"/>
            <a:ext cx="1554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88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上位AT「青島SG」  ──  純増4.0枚 × 継続率83% の頂点体験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114800" cy="3154680"/>
          </a:xfrm>
          <a:prstGeom prst="rect">
            <a:avLst/>
          </a:prstGeom>
          <a:solidFill>
            <a:srgbClr val="0C142C"/>
          </a:solidFill>
          <a:ln w="19050">
            <a:solidFill>
              <a:srgbClr val="00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41248"/>
            <a:ext cx="38404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0C8"/>
                </a:solidFill>
                <a:latin typeface="游明朝"/>
              </a:rPr>
              <a:t>青島SG スペック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261872"/>
            <a:ext cx="3950208" cy="330000"/>
          </a:xfrm>
          <a:prstGeom prst="rect">
            <a:avLst/>
          </a:prstGeom>
          <a:solidFill>
            <a:srgbClr val="06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289872"/>
            <a:ext cx="118872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4887C"/>
                </a:solidFill>
                <a:latin typeface="メイリオ"/>
              </a:rPr>
              <a:t>純増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1289872"/>
            <a:ext cx="2514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D700"/>
                </a:solidFill>
                <a:latin typeface="メイリオ"/>
              </a:rPr>
              <a:t>約4.0枚/G（SG RUSHの1.6倍）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601872"/>
            <a:ext cx="3950208" cy="33000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629872"/>
            <a:ext cx="118872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4887C"/>
                </a:solidFill>
                <a:latin typeface="メイリオ"/>
              </a:rPr>
              <a:t>継続率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1629872"/>
            <a:ext cx="2514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C0C8"/>
                </a:solidFill>
                <a:latin typeface="メイリオ"/>
              </a:rPr>
              <a:t>約75%（Vストック込みで約83%）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1941872"/>
            <a:ext cx="3950208" cy="330000"/>
          </a:xfrm>
          <a:prstGeom prst="rect">
            <a:avLst/>
          </a:prstGeom>
          <a:solidFill>
            <a:srgbClr val="06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969872"/>
            <a:ext cx="118872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4887C"/>
                </a:solidFill>
                <a:latin typeface="メイリオ"/>
              </a:rPr>
              <a:t>突入経路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1969872"/>
            <a:ext cx="2514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グランドスラム後の青島VS波多野勝利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2281872"/>
            <a:ext cx="3950208" cy="33000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309872"/>
            <a:ext cx="118872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4887C"/>
                </a:solidFill>
                <a:latin typeface="メイリオ"/>
              </a:rPr>
              <a:t>構成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2309872"/>
            <a:ext cx="2514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青島周回パート＋青島VS波多野の2部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2621872"/>
            <a:ext cx="3950208" cy="450000"/>
          </a:xfrm>
          <a:prstGeom prst="rect">
            <a:avLst/>
          </a:prstGeom>
          <a:solidFill>
            <a:srgbClr val="06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649872"/>
            <a:ext cx="118872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4887C"/>
                </a:solidFill>
                <a:latin typeface="メイリオ"/>
              </a:rPr>
              <a:t>上乗せ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2649872"/>
            <a:ext cx="25146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A020"/>
                </a:solidFill>
                <a:latin typeface="メイリオ"/>
              </a:rPr>
              <a:t>V揃い単：次セット継続濃厚
  V揃いダブル：継続＋100〜300G上乗せ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777240"/>
            <a:ext cx="4480560" cy="3154680"/>
          </a:xfrm>
          <a:prstGeom prst="rect">
            <a:avLst/>
          </a:prstGeom>
          <a:solidFill>
            <a:srgbClr val="0C142C"/>
          </a:solidFill>
          <a:ln w="19050">
            <a:solidFill>
              <a:srgbClr val="FF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841248"/>
            <a:ext cx="42062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A020"/>
                </a:solidFill>
                <a:latin typeface="游明朝"/>
              </a:rPr>
              <a:t>特化ゾーン「温泉モード」＆突入の価値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45152" y="1261872"/>
            <a:ext cx="4242816" cy="840000"/>
          </a:xfrm>
          <a:prstGeom prst="rect">
            <a:avLst/>
          </a:prstGeom>
          <a:solidFill>
            <a:srgbClr val="101806"/>
          </a:solidFill>
          <a:ln w="12700">
            <a:solidFill>
              <a:srgbClr val="FF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1316736"/>
            <a:ext cx="3931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A020"/>
                </a:solidFill>
                <a:latin typeface="メイリオ"/>
              </a:rPr>
              <a:t>温泉モード（30G）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1627632"/>
            <a:ext cx="39319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青島VS波多野レース中のレア役成立で突入
消化中はゲーム数上乗せ抽選が強化
弱チェリー・強チャンス役で上乗せ確定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45152" y="2176272"/>
            <a:ext cx="4242816" cy="1250000"/>
          </a:xfrm>
          <a:prstGeom prst="rect">
            <a:avLst/>
          </a:prstGeom>
          <a:solidFill>
            <a:srgbClr val="001228"/>
          </a:solidFill>
          <a:ln w="12700">
            <a:solidFill>
              <a:srgbClr val="00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2231136"/>
            <a:ext cx="3931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0C8"/>
                </a:solidFill>
                <a:latin typeface="メイリオ"/>
              </a:rPr>
              <a:t>青島SGに突入する意味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2542032"/>
            <a:ext cx="393192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SG RUSH（純増2.5枚）との差は1.5枚/G
100G消化で+150枚の差が生まれる
継続率83%で長く続く×純増4.0枚
= 1日の大台を作る唯一のルート
「グランドスラム達成 → 青島SG」が
来店時の最大目標として機能する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4041648"/>
            <a:ext cx="8778240" cy="580000"/>
          </a:xfrm>
          <a:prstGeom prst="rect">
            <a:avLst/>
          </a:prstGeom>
          <a:solidFill>
            <a:srgbClr val="00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" y="4041648"/>
            <a:ext cx="55000" cy="580000"/>
          </a:xfrm>
          <a:prstGeom prst="rect">
            <a:avLst/>
          </a:prstGeom>
          <a:solidFill>
            <a:srgbClr val="00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087368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C0C8"/>
                </a:solidFill>
                <a:latin typeface="メイリオ"/>
              </a:rPr>
              <a:t>青島SGの設計意図：「到達した人だけが味わえる体験」として来店継続の最大動機を作る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38912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SG RUSHだけでも楽しめるが、青島SGを知ると「もう一度グランドスラムを取りたい」が生まれる。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919472"/>
            <a:ext cx="1554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88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グランドスラム × エキシビションレース  ──  8セット完走の先にあるもの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160520" cy="3200400"/>
          </a:xfrm>
          <a:prstGeom prst="rect">
            <a:avLst/>
          </a:prstGeom>
          <a:solidFill>
            <a:srgbClr val="0C142C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41248"/>
            <a:ext cx="38404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グランドスラム（8セット完走）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38404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SGバトル（青島VS波多野）を8回連続で勝利した状態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627632"/>
            <a:ext cx="55000" cy="560000"/>
          </a:xfrm>
          <a:prstGeom prst="rect">
            <a:avLst/>
          </a:prstGeom>
          <a:solidFill>
            <a:srgbClr val="FF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657632"/>
            <a:ext cx="36576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A020"/>
                </a:solidFill>
                <a:latin typeface="メイリオ"/>
              </a:rPr>
              <a:t>積み上げの快感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922632"/>
            <a:ext cx="3657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1セット目から8セット目まで
「まだ続くかも」を8回繰り返す体験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227632"/>
            <a:ext cx="55000" cy="56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257632"/>
            <a:ext cx="36576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8A840"/>
                </a:solidFill>
                <a:latin typeface="メイリオ"/>
              </a:rPr>
              <a:t>シナリオとの連動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522632"/>
            <a:ext cx="3657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艇王シナリオなら達成がほぼ確実
低シナリオでの達成が「奇跡」体験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2827632"/>
            <a:ext cx="55000" cy="560000"/>
          </a:xfrm>
          <a:prstGeom prst="rect">
            <a:avLst/>
          </a:prstGeom>
          <a:solidFill>
            <a:srgbClr val="00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857632"/>
            <a:ext cx="36576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C0C8"/>
                </a:solidFill>
                <a:latin typeface="メイリオ"/>
              </a:rPr>
              <a:t>達成後の特典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122632"/>
            <a:ext cx="3657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エキシビションレースへ自動移行
青島SGへの入口が開く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777240"/>
            <a:ext cx="4343400" cy="3200400"/>
          </a:xfrm>
          <a:prstGeom prst="rect">
            <a:avLst/>
          </a:prstGeom>
          <a:solidFill>
            <a:srgbClr val="0C142C"/>
          </a:solidFill>
          <a:ln w="19050">
            <a:solidFill>
              <a:srgbClr val="FF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841248"/>
            <a:ext cx="41148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A020"/>
                </a:solidFill>
                <a:latin typeface="游明朝"/>
              </a:rPr>
              <a:t>エキシビションレース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1216152"/>
            <a:ext cx="41148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グランドスラム後の継続率固定AT区間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1536192"/>
            <a:ext cx="4160520" cy="360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1566192"/>
            <a:ext cx="38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BBBBBB"/>
                </a:solidFill>
                <a:latin typeface="メイリオ"/>
              </a:rPr>
              <a:t>パターンA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1566192"/>
            <a:ext cx="6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BBBBB"/>
                </a:solidFill>
                <a:latin typeface="メイリオ"/>
              </a:rPr>
              <a:t>50.0%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566192"/>
            <a:ext cx="246888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継続率低め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1911192"/>
            <a:ext cx="4160520" cy="360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1941192"/>
            <a:ext cx="38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A020"/>
                </a:solidFill>
                <a:latin typeface="メイリオ"/>
              </a:rPr>
              <a:t>パターンB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1941192"/>
            <a:ext cx="6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A020"/>
                </a:solidFill>
                <a:latin typeface="メイリオ"/>
              </a:rPr>
              <a:t>66.4%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941192"/>
            <a:ext cx="246888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継続率中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286192"/>
            <a:ext cx="4160520" cy="360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2316192"/>
            <a:ext cx="38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0C0C8"/>
                </a:solidFill>
                <a:latin typeface="メイリオ"/>
              </a:rPr>
              <a:t>パターンC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2316192"/>
            <a:ext cx="6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0C8"/>
                </a:solidFill>
                <a:latin typeface="メイリオ"/>
              </a:rPr>
              <a:t>80.1%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316192"/>
            <a:ext cx="246888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継続率高め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2661192"/>
            <a:ext cx="4160520" cy="360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2691192"/>
            <a:ext cx="38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D700"/>
                </a:solidFill>
                <a:latin typeface="メイリオ"/>
              </a:rPr>
              <a:t>パターンD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2691192"/>
            <a:ext cx="6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D700"/>
                </a:solidFill>
                <a:latin typeface="メイリオ"/>
              </a:rPr>
              <a:t>90.2%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691192"/>
            <a:ext cx="246888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継続率最高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2999232"/>
            <a:ext cx="4160520" cy="820000"/>
          </a:xfrm>
          <a:prstGeom prst="rect">
            <a:avLst/>
          </a:prstGeom>
          <a:solidFill>
            <a:srgbClr val="001428"/>
          </a:solidFill>
          <a:ln w="19050">
            <a:solidFill>
              <a:srgbClr val="00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73168" y="3054096"/>
            <a:ext cx="38404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C0C8"/>
                </a:solidFill>
                <a:latin typeface="游明朝"/>
              </a:rPr>
              <a:t>継続率に漏れた場合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3364992"/>
            <a:ext cx="38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青島VS波多野へ移行
→ 勝利で上位AT「青島SG」突入
（エキシビション失敗が青島SG入口になる）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4069080"/>
            <a:ext cx="8778240" cy="560000"/>
          </a:xfrm>
          <a:prstGeom prst="rect">
            <a:avLst/>
          </a:prstGeom>
          <a:solidFill>
            <a:srgbClr val="1010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82880" y="4069080"/>
            <a:ext cx="55000" cy="56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411480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8A840"/>
                </a:solidFill>
                <a:latin typeface="メイリオ"/>
              </a:rPr>
              <a:t>エキシビションの巧みな設計：「継続に漏れる = 青島SGへの入口」という逆転構造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4416552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エキシビションで多く続けば出玉増、漏れても青島SGチャンス。どちらに転んでも「良いことがある」設計。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4919472"/>
            <a:ext cx="1554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88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設計哲学  ──  なぜモンキーターンVは面白いのか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743200" cy="3154680"/>
          </a:xfrm>
          <a:prstGeom prst="rect">
            <a:avLst/>
          </a:prstGeom>
          <a:solidFill>
            <a:srgbClr val="041420"/>
          </a:solidFill>
          <a:ln w="25400">
            <a:solidFill>
              <a:srgbClr val="148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880" y="841248"/>
            <a:ext cx="256032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887C"/>
                </a:solidFill>
                <a:latin typeface="游明朝"/>
              </a:rPr>
              <a:t>複層的な目標設計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880" y="128016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8F0"/>
                </a:solidFill>
                <a:latin typeface="メイリオ"/>
              </a:rPr>
              <a:t>1G先：次の激走ポイント加算
1AT先：次のセット継続
1日先：グランドスラム達成
将来：上位AT青島SG体験
「今ここ」と「将来」を
同時に意識させる設計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777240"/>
            <a:ext cx="2743200" cy="3154680"/>
          </a:xfrm>
          <a:prstGeom prst="rect">
            <a:avLst/>
          </a:prstGeom>
          <a:solidFill>
            <a:srgbClr val="181000"/>
          </a:solidFill>
          <a:ln w="25400">
            <a:solidFill>
              <a:srgbClr val="FF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6120" y="841248"/>
            <a:ext cx="256032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A020"/>
                </a:solidFill>
                <a:latin typeface="游明朝"/>
              </a:rPr>
              <a:t>失敗を無駄にしない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6120" y="128016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8F0"/>
                </a:solidFill>
                <a:latin typeface="メイリオ"/>
              </a:rPr>
              <a:t>CZ失敗
→ グランドスラムCH（救済）
エキシビション漏れ
→ 青島SG入口
激走チャージ天井
→ CZ確定
どの失敗にも
「次の期待」が残る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777240"/>
            <a:ext cx="2743200" cy="3154680"/>
          </a:xfrm>
          <a:prstGeom prst="rect">
            <a:avLst/>
          </a:prstGeom>
          <a:solidFill>
            <a:srgbClr val="001020"/>
          </a:solidFill>
          <a:ln w="25400">
            <a:solidFill>
              <a:srgbClr val="00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9360" y="841248"/>
            <a:ext cx="256032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0C8"/>
                </a:solidFill>
                <a:latin typeface="游明朝"/>
              </a:rPr>
              <a:t>「読める」楽しさ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9360" y="128016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8F0"/>
                </a:solidFill>
                <a:latin typeface="メイリオ"/>
              </a:rPr>
              <a:t>シナリオはランプで示唆
周期はモードで予測可能
ライバルモードは滞在確定
「完全にわかる」ではなく
「ある程度読める」バランス
推測が当たる快感が
遊技を豊かにする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4023360"/>
            <a:ext cx="8778240" cy="4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4096512"/>
            <a:ext cx="8778240" cy="640000"/>
          </a:xfrm>
          <a:prstGeom prst="rect">
            <a:avLst/>
          </a:prstGeom>
          <a:solidFill>
            <a:srgbClr val="06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142232"/>
            <a:ext cx="84124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8A840"/>
                </a:solidFill>
                <a:latin typeface="メイリオ"/>
              </a:rPr>
              <a:t>総評：「遊びやすさ × パンチ × 深み」が高水準で共存している数少ない台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434840"/>
            <a:ext cx="8412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機械割設定6で114.9%・シナリオ14種・上位AT純増4.0枚。スペック・ゲーム性・演出のどこを切っても水準以上。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まとめ  ──  設計から学べること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8778240" cy="360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2880" y="832104"/>
            <a:ext cx="92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比較軸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880" y="832104"/>
            <a:ext cx="89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東京喰種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2880" y="832104"/>
            <a:ext cx="89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番長4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2880" y="832104"/>
            <a:ext cx="89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Re:ゼロ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22880" y="832104"/>
            <a:ext cx="102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0C0C8"/>
                </a:solidFill>
                <a:latin typeface="メイリオ"/>
              </a:rPr>
              <a:t>モンキーターンV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170432"/>
            <a:ext cx="8778240" cy="320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2880" y="1195432"/>
            <a:ext cx="920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CV値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880" y="1195432"/>
            <a:ext cx="890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0.18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2880" y="1195432"/>
            <a:ext cx="890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2222"/>
                </a:solidFill>
                <a:latin typeface="メイリオ"/>
              </a:rPr>
              <a:t>0.68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2880" y="1195432"/>
            <a:ext cx="890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0.22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22880" y="1195432"/>
            <a:ext cx="1020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C0C8"/>
                </a:solidFill>
                <a:latin typeface="メイリオ"/>
              </a:rPr>
              <a:t>0.23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500432"/>
            <a:ext cx="8778240" cy="320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2880" y="1525432"/>
            <a:ext cx="920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機械割(設6)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880" y="1525432"/>
            <a:ext cx="890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108%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82880" y="1525432"/>
            <a:ext cx="890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112%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2880" y="1525432"/>
            <a:ext cx="890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110%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22880" y="1525432"/>
            <a:ext cx="1020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C0C8"/>
                </a:solidFill>
                <a:latin typeface="メイリオ"/>
              </a:rPr>
              <a:t>114.9%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830432"/>
            <a:ext cx="8778240" cy="320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2880" y="1855432"/>
            <a:ext cx="920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継続設計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2880" y="1855432"/>
            <a:ext cx="890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シナリオ型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2880" y="1855432"/>
            <a:ext cx="890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設定依存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02880" y="1855432"/>
            <a:ext cx="890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有利区間型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22880" y="1855432"/>
            <a:ext cx="1020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C0C8"/>
                </a:solidFill>
                <a:latin typeface="メイリオ"/>
              </a:rPr>
              <a:t>シナリオ14種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2160432"/>
            <a:ext cx="8778240" cy="320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2880" y="2185432"/>
            <a:ext cx="920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来店継続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2880" y="2185432"/>
            <a:ext cx="890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世界観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2880" y="2185432"/>
            <a:ext cx="890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期待値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02880" y="2185432"/>
            <a:ext cx="890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コンプガチャ型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22880" y="2185432"/>
            <a:ext cx="1020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C0C8"/>
                </a:solidFill>
                <a:latin typeface="メイリオ"/>
              </a:rPr>
              <a:t>グランドスラム目標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2490432"/>
            <a:ext cx="8778240" cy="320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2880" y="2515432"/>
            <a:ext cx="920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後半維持率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2880" y="2515432"/>
            <a:ext cx="890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73.7%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82880" y="2515432"/>
            <a:ext cx="890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2222"/>
                </a:solidFill>
                <a:latin typeface="メイリオ"/>
              </a:rPr>
              <a:t>29.6%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02880" y="2515432"/>
            <a:ext cx="890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70%前後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22880" y="2515432"/>
            <a:ext cx="1020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C0C8"/>
                </a:solidFill>
                <a:latin typeface="メイリオ"/>
              </a:rPr>
              <a:t>68.2%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" y="3611880"/>
            <a:ext cx="8778240" cy="760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82880" y="3611880"/>
            <a:ext cx="55000" cy="76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3657600"/>
            <a:ext cx="83210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887C"/>
                </a:solidFill>
                <a:latin typeface="游明朝"/>
              </a:rPr>
              <a:t>モンキーターンVから学べる設計原則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" y="3977639"/>
            <a:ext cx="55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A020"/>
                </a:solidFill>
                <a:latin typeface="メイリオ"/>
              </a:rPr>
              <a:t>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3977639"/>
            <a:ext cx="32004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A020"/>
                </a:solidFill>
                <a:latin typeface="メイリオ"/>
              </a:rPr>
              <a:t>複数の目標を同時に持たせる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0" y="3977639"/>
            <a:ext cx="475488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短期（次セット）× 中期（グランドスラム）× 長期（青島SG）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" y="4262639"/>
            <a:ext cx="55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0C8"/>
                </a:solidFill>
                <a:latin typeface="メイリオ"/>
              </a:rPr>
              <a:t>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4262639"/>
            <a:ext cx="32004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C0C8"/>
                </a:solidFill>
                <a:latin typeface="メイリオ"/>
              </a:rPr>
              <a:t>失敗に必ず「次の期待」を残す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31920" y="4262639"/>
            <a:ext cx="475488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どの失敗にも救済ルートがある = 諦めない設計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" y="4547639"/>
            <a:ext cx="55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メイリオ"/>
              </a:rPr>
              <a:t>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4547639"/>
            <a:ext cx="32004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「読める」示唆が遊技を豊かにする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31920" y="4547639"/>
            <a:ext cx="475488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シナリオ推測という知的楽しさが長期稼働を支える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79" y="4919472"/>
            <a:ext cx="1554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88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