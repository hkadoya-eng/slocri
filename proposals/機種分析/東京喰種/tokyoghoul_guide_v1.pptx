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4937760" cy="5143500"/>
          </a:xfrm>
          <a:prstGeom prst="rect">
            <a:avLst/>
          </a:prstGeom>
          <a:solidFill>
            <a:srgbClr val="040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5000" cy="51435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0"/>
            <a:ext cx="8000" cy="51435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82880"/>
            <a:ext cx="1280160" cy="260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82880"/>
            <a:ext cx="1280160" cy="260000"/>
          </a:xfrm>
          <a:prstGeom prst="rect">
            <a:avLst/>
          </a:prstGeom>
          <a:noFill/>
        </p:spPr>
        <p:txBody>
          <a:bodyPr wrap="square">
            <a:spAutoFit/>
          </a:bodyPr>
          <a:lstStyle/>
          <a:p>
            <a:pPr algn="ctr"/>
            <a:r>
              <a:rPr sz="750" b="1">
                <a:solidFill>
                  <a:srgbClr val="060210"/>
                </a:solidFill>
                <a:latin typeface="メイリオ"/>
              </a:rPr>
              <a:t>Part A 説明編</a:t>
            </a:r>
          </a:p>
        </p:txBody>
      </p:sp>
      <p:sp>
        <p:nvSpPr>
          <p:cNvPr id="8" name="Rectangle 7"/>
          <p:cNvSpPr/>
          <p:nvPr/>
        </p:nvSpPr>
        <p:spPr>
          <a:xfrm>
            <a:off x="201168" y="548640"/>
            <a:ext cx="2286000" cy="26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 y="548640"/>
            <a:ext cx="2286000" cy="260000"/>
          </a:xfrm>
          <a:prstGeom prst="rect">
            <a:avLst/>
          </a:prstGeom>
          <a:noFill/>
        </p:spPr>
        <p:txBody>
          <a:bodyPr wrap="square">
            <a:spAutoFit/>
          </a:bodyPr>
          <a:lstStyle/>
          <a:p>
            <a:pPr algn="ctr"/>
            <a:r>
              <a:rPr sz="800" b="1">
                <a:solidFill>
                  <a:srgbClr val="060210"/>
                </a:solidFill>
                <a:latin typeface="メイリオ"/>
              </a:rPr>
              <a:t>パチスロアワード2025 GOLD受賞</a:t>
            </a:r>
          </a:p>
        </p:txBody>
      </p:sp>
      <p:sp>
        <p:nvSpPr>
          <p:cNvPr id="10" name="TextBox 9"/>
          <p:cNvSpPr txBox="1"/>
          <p:nvPr/>
        </p:nvSpPr>
        <p:spPr>
          <a:xfrm>
            <a:off x="201168" y="960120"/>
            <a:ext cx="4663440" cy="900000"/>
          </a:xfrm>
          <a:prstGeom prst="rect">
            <a:avLst/>
          </a:prstGeom>
          <a:noFill/>
        </p:spPr>
        <p:txBody>
          <a:bodyPr wrap="square">
            <a:spAutoFit/>
          </a:bodyPr>
          <a:lstStyle/>
          <a:p>
            <a:pPr algn="l"/>
            <a:r>
              <a:rPr sz="3400" b="1">
                <a:solidFill>
                  <a:srgbClr val="FF4444"/>
                </a:solidFill>
                <a:latin typeface="游明朝"/>
              </a:rPr>
              <a:t>L 東京喰種</a:t>
            </a:r>
          </a:p>
        </p:txBody>
      </p:sp>
      <p:sp>
        <p:nvSpPr>
          <p:cNvPr id="11" name="TextBox 10"/>
          <p:cNvSpPr txBox="1"/>
          <p:nvPr/>
        </p:nvSpPr>
        <p:spPr>
          <a:xfrm>
            <a:off x="201168" y="2606040"/>
            <a:ext cx="4572000" cy="300000"/>
          </a:xfrm>
          <a:prstGeom prst="rect">
            <a:avLst/>
          </a:prstGeom>
          <a:noFill/>
        </p:spPr>
        <p:txBody>
          <a:bodyPr wrap="square">
            <a:spAutoFit/>
          </a:bodyPr>
          <a:lstStyle/>
          <a:p>
            <a:pPr algn="l"/>
            <a:r>
              <a:rPr sz="950" b="0">
                <a:solidFill>
                  <a:srgbClr val="D0C0A0"/>
                </a:solidFill>
                <a:latin typeface="游明朝"/>
              </a:rPr>
              <a:t>スマスロ / スパイキー・クロスアルファ</a:t>
            </a:r>
          </a:p>
        </p:txBody>
      </p:sp>
      <p:sp>
        <p:nvSpPr>
          <p:cNvPr id="12" name="TextBox 11"/>
          <p:cNvSpPr txBox="1"/>
          <p:nvPr/>
        </p:nvSpPr>
        <p:spPr>
          <a:xfrm>
            <a:off x="201168" y="2926080"/>
            <a:ext cx="4572000" cy="260000"/>
          </a:xfrm>
          <a:prstGeom prst="rect">
            <a:avLst/>
          </a:prstGeom>
          <a:noFill/>
        </p:spPr>
        <p:txBody>
          <a:bodyPr wrap="square">
            <a:spAutoFit/>
          </a:bodyPr>
          <a:lstStyle/>
          <a:p>
            <a:pPr algn="l"/>
            <a:r>
              <a:rPr sz="900" b="0">
                <a:solidFill>
                  <a:srgbClr val="8888AA"/>
                </a:solidFill>
                <a:latin typeface="游明朝"/>
              </a:rPr>
              <a:t>── 差枚数管理AT×喰種対決×裏AT 三層構造の傑作</a:t>
            </a:r>
          </a:p>
        </p:txBody>
      </p:sp>
      <p:sp>
        <p:nvSpPr>
          <p:cNvPr id="13" name="TextBox 12"/>
          <p:cNvSpPr txBox="1"/>
          <p:nvPr/>
        </p:nvSpPr>
        <p:spPr>
          <a:xfrm>
            <a:off x="201168" y="3383280"/>
            <a:ext cx="4480560" cy="230000"/>
          </a:xfrm>
          <a:prstGeom prst="rect">
            <a:avLst/>
          </a:prstGeom>
          <a:noFill/>
        </p:spPr>
        <p:txBody>
          <a:bodyPr wrap="square">
            <a:spAutoFit/>
          </a:bodyPr>
          <a:lstStyle/>
          <a:p>
            <a:pPr algn="l"/>
            <a:r>
              <a:rPr sz="850" b="0">
                <a:solidFill>
                  <a:srgbClr val="8888AA"/>
                </a:solidFill>
                <a:latin typeface="メイリオ"/>
              </a:rPr>
              <a:t>設定: 1〜6段階　　AT純増: 約4.0枚/G（差枚数管理）</a:t>
            </a:r>
          </a:p>
        </p:txBody>
      </p:sp>
      <p:sp>
        <p:nvSpPr>
          <p:cNvPr id="14" name="TextBox 13"/>
          <p:cNvSpPr txBox="1"/>
          <p:nvPr/>
        </p:nvSpPr>
        <p:spPr>
          <a:xfrm>
            <a:off x="201168" y="3657600"/>
            <a:ext cx="4480560" cy="230000"/>
          </a:xfrm>
          <a:prstGeom prst="rect">
            <a:avLst/>
          </a:prstGeom>
          <a:noFill/>
        </p:spPr>
        <p:txBody>
          <a:bodyPr wrap="square">
            <a:spAutoFit/>
          </a:bodyPr>
          <a:lstStyle/>
          <a:p>
            <a:pPr algn="l"/>
            <a:r>
              <a:rPr sz="850" b="0">
                <a:solidFill>
                  <a:srgbClr val="8888AA"/>
                </a:solidFill>
                <a:latin typeface="メイリオ"/>
              </a:rPr>
              <a:t>裏AT純増: 約5.0枚/G　　期待枚数（裏AT込）: 約3430枚</a:t>
            </a:r>
          </a:p>
        </p:txBody>
      </p:sp>
      <p:sp>
        <p:nvSpPr>
          <p:cNvPr id="15" name="TextBox 14"/>
          <p:cNvSpPr txBox="1"/>
          <p:nvPr/>
        </p:nvSpPr>
        <p:spPr>
          <a:xfrm>
            <a:off x="201168" y="3931920"/>
            <a:ext cx="4480560" cy="230000"/>
          </a:xfrm>
          <a:prstGeom prst="rect">
            <a:avLst/>
          </a:prstGeom>
          <a:noFill/>
        </p:spPr>
        <p:txBody>
          <a:bodyPr wrap="square">
            <a:spAutoFit/>
          </a:bodyPr>
          <a:lstStyle/>
          <a:p>
            <a:pPr algn="l"/>
            <a:r>
              <a:rPr sz="850" b="0">
                <a:solidFill>
                  <a:srgbClr val="8888AA"/>
                </a:solidFill>
                <a:latin typeface="メイリオ"/>
              </a:rPr>
              <a:t>機械割: 設定1=97.5%〜設定6=114.9%　　導入: 2024年</a:t>
            </a:r>
          </a:p>
        </p:txBody>
      </p:sp>
      <p:sp>
        <p:nvSpPr>
          <p:cNvPr id="16" name="Rectangle 15"/>
          <p:cNvSpPr/>
          <p:nvPr/>
        </p:nvSpPr>
        <p:spPr>
          <a:xfrm>
            <a:off x="5166360" y="274320"/>
            <a:ext cx="3749039" cy="1280160"/>
          </a:xfrm>
          <a:prstGeom prst="rect">
            <a:avLst/>
          </a:prstGeom>
          <a:solidFill>
            <a:srgbClr val="0E061C"/>
          </a:solidFill>
          <a:ln w="2540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66360" y="274320"/>
            <a:ext cx="60000" cy="128016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334320"/>
            <a:ext cx="3474720" cy="300000"/>
          </a:xfrm>
          <a:prstGeom prst="rect">
            <a:avLst/>
          </a:prstGeom>
          <a:noFill/>
        </p:spPr>
        <p:txBody>
          <a:bodyPr wrap="square">
            <a:spAutoFit/>
          </a:bodyPr>
          <a:lstStyle/>
          <a:p>
            <a:pPr algn="l"/>
            <a:r>
              <a:rPr sz="1100" b="1">
                <a:solidFill>
                  <a:srgbClr val="8833CC"/>
                </a:solidFill>
                <a:latin typeface="游明朝"/>
              </a:rPr>
              <a:t>差枚数管理AT「東京喰種咬」</a:t>
            </a:r>
          </a:p>
        </p:txBody>
      </p:sp>
      <p:sp>
        <p:nvSpPr>
          <p:cNvPr id="19" name="TextBox 18"/>
          <p:cNvSpPr txBox="1"/>
          <p:nvPr/>
        </p:nvSpPr>
        <p:spPr>
          <a:xfrm>
            <a:off x="5349240" y="634320"/>
            <a:ext cx="3474720" cy="500000"/>
          </a:xfrm>
          <a:prstGeom prst="rect">
            <a:avLst/>
          </a:prstGeom>
          <a:noFill/>
        </p:spPr>
        <p:txBody>
          <a:bodyPr wrap="square">
            <a:spAutoFit/>
          </a:bodyPr>
          <a:lstStyle/>
          <a:p>
            <a:pPr algn="l"/>
            <a:r>
              <a:rPr sz="800" b="0">
                <a:solidFill>
                  <a:srgbClr val="E8E8F4"/>
                </a:solidFill>
                <a:latin typeface="メイリオ"/>
              </a:rPr>
              <a:t>純増4.0枚/G・初期差枚150枚
レア役→差枚上乗せ or 喰種対決抽選
特化ゾーンで一気に積み増し</a:t>
            </a:r>
          </a:p>
        </p:txBody>
      </p:sp>
      <p:sp>
        <p:nvSpPr>
          <p:cNvPr id="20" name="Rectangle 19"/>
          <p:cNvSpPr/>
          <p:nvPr/>
        </p:nvSpPr>
        <p:spPr>
          <a:xfrm>
            <a:off x="5166360" y="1783080"/>
            <a:ext cx="3749039" cy="1280160"/>
          </a:xfrm>
          <a:prstGeom prst="rect">
            <a:avLst/>
          </a:prstGeom>
          <a:solidFill>
            <a:srgbClr val="0E061C"/>
          </a:solidFill>
          <a:ln w="2540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66360" y="1783080"/>
            <a:ext cx="60000" cy="128016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1843080"/>
            <a:ext cx="3474720" cy="300000"/>
          </a:xfrm>
          <a:prstGeom prst="rect">
            <a:avLst/>
          </a:prstGeom>
          <a:noFill/>
        </p:spPr>
        <p:txBody>
          <a:bodyPr wrap="square">
            <a:spAutoFit/>
          </a:bodyPr>
          <a:lstStyle/>
          <a:p>
            <a:pPr algn="l"/>
            <a:r>
              <a:rPr sz="1100" b="1">
                <a:solidFill>
                  <a:srgbClr val="CC2222"/>
                </a:solidFill>
                <a:latin typeface="游明朝"/>
              </a:rPr>
              <a:t>喰種対決→BITES→特化ゾーン</a:t>
            </a:r>
          </a:p>
        </p:txBody>
      </p:sp>
      <p:sp>
        <p:nvSpPr>
          <p:cNvPr id="23" name="TextBox 22"/>
          <p:cNvSpPr txBox="1"/>
          <p:nvPr/>
        </p:nvSpPr>
        <p:spPr>
          <a:xfrm>
            <a:off x="5349240" y="2143080"/>
            <a:ext cx="3474720" cy="500000"/>
          </a:xfrm>
          <a:prstGeom prst="rect">
            <a:avLst/>
          </a:prstGeom>
          <a:noFill/>
        </p:spPr>
        <p:txBody>
          <a:bodyPr wrap="square">
            <a:spAutoFit/>
          </a:bodyPr>
          <a:lstStyle/>
          <a:p>
            <a:pPr algn="l"/>
            <a:r>
              <a:rPr sz="800" b="0">
                <a:solidFill>
                  <a:srgbClr val="E8E8F4"/>
                </a:solidFill>
                <a:latin typeface="メイリオ"/>
              </a:rPr>
              <a:t>バトル勝利でBITES（4桁上乗せ期待）
「百足覚醒」(期待約300枚)「隻眼の梟」(約500枚)
上乗せ連打で爆発力が生まれる</a:t>
            </a:r>
          </a:p>
        </p:txBody>
      </p:sp>
      <p:sp>
        <p:nvSpPr>
          <p:cNvPr id="24" name="Rectangle 23"/>
          <p:cNvSpPr/>
          <p:nvPr/>
        </p:nvSpPr>
        <p:spPr>
          <a:xfrm>
            <a:off x="5166360" y="3291839"/>
            <a:ext cx="3749039" cy="1280160"/>
          </a:xfrm>
          <a:prstGeom prst="rect">
            <a:avLst/>
          </a:prstGeom>
          <a:solidFill>
            <a:srgbClr val="0E061C"/>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66360" y="3291839"/>
            <a:ext cx="60000" cy="128016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3351839"/>
            <a:ext cx="3474720" cy="300000"/>
          </a:xfrm>
          <a:prstGeom prst="rect">
            <a:avLst/>
          </a:prstGeom>
          <a:noFill/>
        </p:spPr>
        <p:txBody>
          <a:bodyPr wrap="square">
            <a:spAutoFit/>
          </a:bodyPr>
          <a:lstStyle/>
          <a:p>
            <a:pPr algn="l"/>
            <a:r>
              <a:rPr sz="1100" b="1">
                <a:solidFill>
                  <a:srgbClr val="C8A840"/>
                </a:solidFill>
                <a:latin typeface="游明朝"/>
              </a:rPr>
              <a:t>裏AT（上位AT）で一撃3430枚</a:t>
            </a:r>
          </a:p>
        </p:txBody>
      </p:sp>
      <p:sp>
        <p:nvSpPr>
          <p:cNvPr id="27" name="TextBox 26"/>
          <p:cNvSpPr txBox="1"/>
          <p:nvPr/>
        </p:nvSpPr>
        <p:spPr>
          <a:xfrm>
            <a:off x="5349240" y="3651839"/>
            <a:ext cx="3474720" cy="500000"/>
          </a:xfrm>
          <a:prstGeom prst="rect">
            <a:avLst/>
          </a:prstGeom>
          <a:noFill/>
        </p:spPr>
        <p:txBody>
          <a:bodyPr wrap="square">
            <a:spAutoFit/>
          </a:bodyPr>
          <a:lstStyle/>
          <a:p>
            <a:pPr algn="l"/>
            <a:r>
              <a:rPr sz="800" b="0">
                <a:solidFill>
                  <a:srgbClr val="E8E8F4"/>
                </a:solidFill>
                <a:latin typeface="メイリオ"/>
              </a:rPr>
              <a:t>有馬貴将ジャッジメント成功→裏AT
純増5.0枚・喰種対決成功率が大幅UP
CCG死神で300〜2000枚上乗せ確定</a:t>
            </a:r>
          </a:p>
        </p:txBody>
      </p:sp>
      <p:sp>
        <p:nvSpPr>
          <p:cNvPr id="28" name="TextBox 27"/>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E0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300" b="1">
                <a:solidFill>
                  <a:srgbClr val="FF4444"/>
                </a:solidFill>
                <a:latin typeface="游明朝"/>
              </a:rPr>
              <a:t>ゲームフロー全体図 ── 通常→CZ→AT→喰種対決→BITES→裏AT</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2/9</a:t>
            </a:r>
          </a:p>
        </p:txBody>
      </p:sp>
      <p:sp>
        <p:nvSpPr>
          <p:cNvPr id="7" name="Rectangle 6"/>
          <p:cNvSpPr/>
          <p:nvPr/>
        </p:nvSpPr>
        <p:spPr>
          <a:xfrm>
            <a:off x="0" y="530352"/>
            <a:ext cx="9144000" cy="7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713232"/>
            <a:ext cx="1828800" cy="1500000"/>
          </a:xfrm>
          <a:prstGeom prst="rect">
            <a:avLst/>
          </a:prstGeom>
          <a:solidFill>
            <a:srgbClr val="160A28"/>
          </a:solidFill>
          <a:ln w="2286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4320" y="793232"/>
            <a:ext cx="1748800" cy="420000"/>
          </a:xfrm>
          <a:prstGeom prst="rect">
            <a:avLst/>
          </a:prstGeom>
          <a:noFill/>
        </p:spPr>
        <p:txBody>
          <a:bodyPr wrap="square">
            <a:spAutoFit/>
          </a:bodyPr>
          <a:lstStyle/>
          <a:p>
            <a:pPr algn="ctr"/>
            <a:r>
              <a:rPr sz="950" b="1">
                <a:solidFill>
                  <a:srgbClr val="8833CC"/>
                </a:solidFill>
                <a:latin typeface="游明朝"/>
              </a:rPr>
              <a:t>通常時</a:t>
            </a:r>
          </a:p>
        </p:txBody>
      </p:sp>
      <p:sp>
        <p:nvSpPr>
          <p:cNvPr id="10" name="TextBox 9"/>
          <p:cNvSpPr txBox="1"/>
          <p:nvPr/>
        </p:nvSpPr>
        <p:spPr>
          <a:xfrm>
            <a:off x="304320" y="1223232"/>
            <a:ext cx="1768800" cy="850000"/>
          </a:xfrm>
          <a:prstGeom prst="rect">
            <a:avLst/>
          </a:prstGeom>
          <a:noFill/>
        </p:spPr>
        <p:txBody>
          <a:bodyPr wrap="square">
            <a:spAutoFit/>
          </a:bodyPr>
          <a:lstStyle/>
          <a:p>
            <a:pPr algn="ctr"/>
            <a:r>
              <a:rPr sz="750" b="0">
                <a:solidFill>
                  <a:srgbClr val="8888AA"/>
                </a:solidFill>
                <a:latin typeface="メイリオ"/>
              </a:rPr>
              <a:t>レア役・規定G消化
招待状50G周期
CZ/EP BONUS目指す</a:t>
            </a:r>
          </a:p>
        </p:txBody>
      </p:sp>
      <p:sp>
        <p:nvSpPr>
          <p:cNvPr id="11" name="Can 10"/>
          <p:cNvSpPr/>
          <p:nvPr/>
        </p:nvSpPr>
        <p:spPr>
          <a:xfrm>
            <a:off x="2113120" y="1373232"/>
            <a:ext cx="200000" cy="180000"/>
          </a:xfrm>
          <a:prstGeom prst="can">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59152" y="713232"/>
            <a:ext cx="1828800" cy="1500000"/>
          </a:xfrm>
          <a:prstGeom prst="rect">
            <a:avLst/>
          </a:prstGeom>
          <a:solidFill>
            <a:srgbClr val="160A28"/>
          </a:solidFill>
          <a:ln w="2286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99152" y="793232"/>
            <a:ext cx="1748800" cy="420000"/>
          </a:xfrm>
          <a:prstGeom prst="rect">
            <a:avLst/>
          </a:prstGeom>
          <a:noFill/>
        </p:spPr>
        <p:txBody>
          <a:bodyPr wrap="square">
            <a:spAutoFit/>
          </a:bodyPr>
          <a:lstStyle/>
          <a:p>
            <a:pPr algn="ctr"/>
            <a:r>
              <a:rPr sz="950" b="1">
                <a:solidFill>
                  <a:srgbClr val="8833CC"/>
                </a:solidFill>
                <a:latin typeface="游明朝"/>
              </a:rPr>
              <a:t>CZ
追憶/大喰種討伐</a:t>
            </a:r>
          </a:p>
        </p:txBody>
      </p:sp>
      <p:sp>
        <p:nvSpPr>
          <p:cNvPr id="14" name="TextBox 13"/>
          <p:cNvSpPr txBox="1"/>
          <p:nvPr/>
        </p:nvSpPr>
        <p:spPr>
          <a:xfrm>
            <a:off x="2389152" y="1223232"/>
            <a:ext cx="1768800" cy="850000"/>
          </a:xfrm>
          <a:prstGeom prst="rect">
            <a:avLst/>
          </a:prstGeom>
          <a:noFill/>
        </p:spPr>
        <p:txBody>
          <a:bodyPr wrap="square">
            <a:spAutoFit/>
          </a:bodyPr>
          <a:lstStyle/>
          <a:p>
            <a:pPr algn="ctr"/>
            <a:r>
              <a:rPr sz="750" b="0">
                <a:solidFill>
                  <a:srgbClr val="8888AA"/>
                </a:solidFill>
                <a:latin typeface="メイリオ"/>
              </a:rPr>
              <a:t>2種類のCZ
大喰種討伐が高期待
突破でAT確定</a:t>
            </a:r>
          </a:p>
        </p:txBody>
      </p:sp>
      <p:sp>
        <p:nvSpPr>
          <p:cNvPr id="15" name="Can 14"/>
          <p:cNvSpPr/>
          <p:nvPr/>
        </p:nvSpPr>
        <p:spPr>
          <a:xfrm>
            <a:off x="4197952" y="1373232"/>
            <a:ext cx="200000" cy="180000"/>
          </a:xfrm>
          <a:prstGeom prst="can">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43984" y="713232"/>
            <a:ext cx="1828800" cy="1500000"/>
          </a:xfrm>
          <a:prstGeom prst="rect">
            <a:avLst/>
          </a:prstGeom>
          <a:solidFill>
            <a:srgbClr val="160A28"/>
          </a:solidFill>
          <a:ln w="22860">
            <a:solidFill>
              <a:srgbClr val="AA5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3984" y="793232"/>
            <a:ext cx="1748800" cy="420000"/>
          </a:xfrm>
          <a:prstGeom prst="rect">
            <a:avLst/>
          </a:prstGeom>
          <a:noFill/>
        </p:spPr>
        <p:txBody>
          <a:bodyPr wrap="square">
            <a:spAutoFit/>
          </a:bodyPr>
          <a:lstStyle/>
          <a:p>
            <a:pPr algn="ctr"/>
            <a:r>
              <a:rPr sz="950" b="1">
                <a:solidFill>
                  <a:srgbClr val="AA55EE"/>
                </a:solidFill>
                <a:latin typeface="游明朝"/>
              </a:rPr>
              <a:t>EP BONUS</a:t>
            </a:r>
          </a:p>
        </p:txBody>
      </p:sp>
      <p:sp>
        <p:nvSpPr>
          <p:cNvPr id="18" name="TextBox 17"/>
          <p:cNvSpPr txBox="1"/>
          <p:nvPr/>
        </p:nvSpPr>
        <p:spPr>
          <a:xfrm>
            <a:off x="4473984" y="1223232"/>
            <a:ext cx="1768800" cy="850000"/>
          </a:xfrm>
          <a:prstGeom prst="rect">
            <a:avLst/>
          </a:prstGeom>
          <a:noFill/>
        </p:spPr>
        <p:txBody>
          <a:bodyPr wrap="square">
            <a:spAutoFit/>
          </a:bodyPr>
          <a:lstStyle/>
          <a:p>
            <a:pPr algn="ctr"/>
            <a:r>
              <a:rPr sz="750" b="0">
                <a:solidFill>
                  <a:srgbClr val="8888AA"/>
                </a:solidFill>
                <a:latin typeface="メイリオ"/>
              </a:rPr>
              <a:t>EP BONUS当選で
AT直行ルート
レア役から直撃も</a:t>
            </a:r>
          </a:p>
        </p:txBody>
      </p:sp>
      <p:sp>
        <p:nvSpPr>
          <p:cNvPr id="19" name="Can 18"/>
          <p:cNvSpPr/>
          <p:nvPr/>
        </p:nvSpPr>
        <p:spPr>
          <a:xfrm>
            <a:off x="6282784" y="1373232"/>
            <a:ext cx="200000" cy="180000"/>
          </a:xfrm>
          <a:prstGeom prst="can">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28816" y="713232"/>
            <a:ext cx="1828800" cy="1500000"/>
          </a:xfrm>
          <a:prstGeom prst="rect">
            <a:avLst/>
          </a:prstGeom>
          <a:solidFill>
            <a:srgbClr val="160A28"/>
          </a:solidFill>
          <a:ln w="2286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8816" y="793232"/>
            <a:ext cx="1748800" cy="420000"/>
          </a:xfrm>
          <a:prstGeom prst="rect">
            <a:avLst/>
          </a:prstGeom>
          <a:noFill/>
        </p:spPr>
        <p:txBody>
          <a:bodyPr wrap="square">
            <a:spAutoFit/>
          </a:bodyPr>
          <a:lstStyle/>
          <a:p>
            <a:pPr algn="ctr"/>
            <a:r>
              <a:rPr sz="950" b="1">
                <a:solidFill>
                  <a:srgbClr val="CC2222"/>
                </a:solidFill>
                <a:latin typeface="游明朝"/>
              </a:rPr>
              <a:t>AT
東京喰種咬</a:t>
            </a:r>
          </a:p>
        </p:txBody>
      </p:sp>
      <p:sp>
        <p:nvSpPr>
          <p:cNvPr id="22" name="TextBox 21"/>
          <p:cNvSpPr txBox="1"/>
          <p:nvPr/>
        </p:nvSpPr>
        <p:spPr>
          <a:xfrm>
            <a:off x="6558816" y="1223232"/>
            <a:ext cx="1768800" cy="850000"/>
          </a:xfrm>
          <a:prstGeom prst="rect">
            <a:avLst/>
          </a:prstGeom>
          <a:noFill/>
        </p:spPr>
        <p:txBody>
          <a:bodyPr wrap="square">
            <a:spAutoFit/>
          </a:bodyPr>
          <a:lstStyle/>
          <a:p>
            <a:pPr algn="ctr"/>
            <a:r>
              <a:rPr sz="750" b="0">
                <a:solidFill>
                  <a:srgbClr val="8888AA"/>
                </a:solidFill>
                <a:latin typeface="メイリオ"/>
              </a:rPr>
              <a:t>純増4.0枚/G
差枚管理・初期150枚
喰種対決を目指す</a:t>
            </a:r>
          </a:p>
        </p:txBody>
      </p:sp>
      <p:sp>
        <p:nvSpPr>
          <p:cNvPr id="23" name="TextBox 22"/>
          <p:cNvSpPr txBox="1"/>
          <p:nvPr/>
        </p:nvSpPr>
        <p:spPr>
          <a:xfrm>
            <a:off x="8229600" y="1313232"/>
            <a:ext cx="822960" cy="600000"/>
          </a:xfrm>
          <a:prstGeom prst="rect">
            <a:avLst/>
          </a:prstGeom>
          <a:noFill/>
        </p:spPr>
        <p:txBody>
          <a:bodyPr wrap="square">
            <a:spAutoFit/>
          </a:bodyPr>
          <a:lstStyle/>
          <a:p>
            <a:pPr algn="ctr"/>
            <a:r>
              <a:rPr sz="850" b="1">
                <a:solidFill>
                  <a:srgbClr val="CC2222"/>
                </a:solidFill>
                <a:latin typeface="游明朝"/>
              </a:rPr>
              <a:t>喰種対決
抽選！</a:t>
            </a:r>
          </a:p>
        </p:txBody>
      </p:sp>
      <p:sp>
        <p:nvSpPr>
          <p:cNvPr id="24" name="Smiley Face 23"/>
          <p:cNvSpPr/>
          <p:nvPr/>
        </p:nvSpPr>
        <p:spPr>
          <a:xfrm>
            <a:off x="8551080" y="2233232"/>
            <a:ext cx="180000" cy="200000"/>
          </a:xfrm>
          <a:prstGeom prst="smileyFace">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28816" y="2563232"/>
            <a:ext cx="1828800" cy="1550000"/>
          </a:xfrm>
          <a:prstGeom prst="rect">
            <a:avLst/>
          </a:prstGeom>
          <a:solidFill>
            <a:srgbClr val="180404"/>
          </a:solidFill>
          <a:ln w="2286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8816" y="2643232"/>
            <a:ext cx="1748800" cy="420000"/>
          </a:xfrm>
          <a:prstGeom prst="rect">
            <a:avLst/>
          </a:prstGeom>
          <a:noFill/>
        </p:spPr>
        <p:txBody>
          <a:bodyPr wrap="square">
            <a:spAutoFit/>
          </a:bodyPr>
          <a:lstStyle/>
          <a:p>
            <a:pPr algn="ctr"/>
            <a:r>
              <a:rPr sz="950" b="1">
                <a:solidFill>
                  <a:srgbClr val="FF4444"/>
                </a:solidFill>
                <a:latin typeface="游明朝"/>
              </a:rPr>
              <a:t>BITES
報酬ゾーン</a:t>
            </a:r>
          </a:p>
        </p:txBody>
      </p:sp>
      <p:sp>
        <p:nvSpPr>
          <p:cNvPr id="27" name="TextBox 26"/>
          <p:cNvSpPr txBox="1"/>
          <p:nvPr/>
        </p:nvSpPr>
        <p:spPr>
          <a:xfrm>
            <a:off x="6558816" y="3073232"/>
            <a:ext cx="1768800" cy="900000"/>
          </a:xfrm>
          <a:prstGeom prst="rect">
            <a:avLst/>
          </a:prstGeom>
          <a:noFill/>
        </p:spPr>
        <p:txBody>
          <a:bodyPr wrap="square">
            <a:spAutoFit/>
          </a:bodyPr>
          <a:lstStyle/>
          <a:p>
            <a:pPr algn="ctr"/>
            <a:r>
              <a:rPr sz="750" b="0">
                <a:solidFill>
                  <a:srgbClr val="8888AA"/>
                </a:solidFill>
                <a:latin typeface="メイリオ"/>
              </a:rPr>
              <a:t>喰種対決勝利で突入
4桁上乗せ期待
小役でUP/ハズレで終了</a:t>
            </a:r>
          </a:p>
        </p:txBody>
      </p:sp>
      <p:sp>
        <p:nvSpPr>
          <p:cNvPr id="28" name="Can 27"/>
          <p:cNvSpPr/>
          <p:nvPr/>
        </p:nvSpPr>
        <p:spPr>
          <a:xfrm>
            <a:off x="6262784" y="3248232"/>
            <a:ext cx="200000" cy="180000"/>
          </a:xfrm>
          <a:prstGeom prst="can">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43984" y="2563232"/>
            <a:ext cx="1828800" cy="1550000"/>
          </a:xfrm>
          <a:prstGeom prst="rect">
            <a:avLst/>
          </a:prstGeom>
          <a:solidFill>
            <a:srgbClr val="120620"/>
          </a:solidFill>
          <a:ln w="2286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3984" y="2643232"/>
            <a:ext cx="1748800" cy="420000"/>
          </a:xfrm>
          <a:prstGeom prst="rect">
            <a:avLst/>
          </a:prstGeom>
          <a:noFill/>
        </p:spPr>
        <p:txBody>
          <a:bodyPr wrap="square">
            <a:spAutoFit/>
          </a:bodyPr>
          <a:lstStyle/>
          <a:p>
            <a:pPr algn="ctr"/>
            <a:r>
              <a:rPr sz="950" b="1">
                <a:solidFill>
                  <a:srgbClr val="8833CC"/>
                </a:solidFill>
                <a:latin typeface="游明朝"/>
              </a:rPr>
              <a:t>特化ゾーン
(百足覚醒/隻眼の梟)</a:t>
            </a:r>
          </a:p>
        </p:txBody>
      </p:sp>
      <p:sp>
        <p:nvSpPr>
          <p:cNvPr id="31" name="TextBox 30"/>
          <p:cNvSpPr txBox="1"/>
          <p:nvPr/>
        </p:nvSpPr>
        <p:spPr>
          <a:xfrm>
            <a:off x="4473984" y="3073232"/>
            <a:ext cx="1768800" cy="900000"/>
          </a:xfrm>
          <a:prstGeom prst="rect">
            <a:avLst/>
          </a:prstGeom>
          <a:noFill/>
        </p:spPr>
        <p:txBody>
          <a:bodyPr wrap="square">
            <a:spAutoFit/>
          </a:bodyPr>
          <a:lstStyle/>
          <a:p>
            <a:pPr algn="ctr"/>
            <a:r>
              <a:rPr sz="750" b="0">
                <a:solidFill>
                  <a:srgbClr val="8888AA"/>
                </a:solidFill>
                <a:latin typeface="メイリオ"/>
              </a:rPr>
              <a:t>百足覚醒：期待300枚
隻眼の梟：期待500枚
BITES勝利後に突入</a:t>
            </a:r>
          </a:p>
        </p:txBody>
      </p:sp>
      <p:sp>
        <p:nvSpPr>
          <p:cNvPr id="32" name="Can 31"/>
          <p:cNvSpPr/>
          <p:nvPr/>
        </p:nvSpPr>
        <p:spPr>
          <a:xfrm>
            <a:off x="4177952" y="3248232"/>
            <a:ext cx="200000" cy="180000"/>
          </a:xfrm>
          <a:prstGeom prst="can">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59152" y="2563232"/>
            <a:ext cx="1828800" cy="1550000"/>
          </a:xfrm>
          <a:prstGeom prst="rect">
            <a:avLst/>
          </a:prstGeom>
          <a:solidFill>
            <a:srgbClr val="140404"/>
          </a:solidFill>
          <a:ln w="2286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9152" y="2643232"/>
            <a:ext cx="1748800" cy="420000"/>
          </a:xfrm>
          <a:prstGeom prst="rect">
            <a:avLst/>
          </a:prstGeom>
          <a:noFill/>
        </p:spPr>
        <p:txBody>
          <a:bodyPr wrap="square">
            <a:spAutoFit/>
          </a:bodyPr>
          <a:lstStyle/>
          <a:p>
            <a:pPr algn="ctr"/>
            <a:r>
              <a:rPr sz="950" b="1">
                <a:solidFill>
                  <a:srgbClr val="CC2222"/>
                </a:solidFill>
                <a:latin typeface="游明朝"/>
              </a:rPr>
              <a:t>有馬貴将
ジャッジメント</a:t>
            </a:r>
          </a:p>
        </p:txBody>
      </p:sp>
      <p:sp>
        <p:nvSpPr>
          <p:cNvPr id="35" name="TextBox 34"/>
          <p:cNvSpPr txBox="1"/>
          <p:nvPr/>
        </p:nvSpPr>
        <p:spPr>
          <a:xfrm>
            <a:off x="2389152" y="3073232"/>
            <a:ext cx="1768800" cy="900000"/>
          </a:xfrm>
          <a:prstGeom prst="rect">
            <a:avLst/>
          </a:prstGeom>
          <a:noFill/>
        </p:spPr>
        <p:txBody>
          <a:bodyPr wrap="square">
            <a:spAutoFit/>
          </a:bodyPr>
          <a:lstStyle/>
          <a:p>
            <a:pPr algn="ctr"/>
            <a:r>
              <a:rPr sz="750" b="0">
                <a:solidFill>
                  <a:srgbClr val="8888AA"/>
                </a:solidFill>
                <a:latin typeface="メイリオ"/>
              </a:rPr>
              <a:t>AT終了後/BITES後
成功率約61%
成功→裏AT/CCG死神</a:t>
            </a:r>
          </a:p>
        </p:txBody>
      </p:sp>
      <p:sp>
        <p:nvSpPr>
          <p:cNvPr id="36" name="Can 35"/>
          <p:cNvSpPr/>
          <p:nvPr/>
        </p:nvSpPr>
        <p:spPr>
          <a:xfrm>
            <a:off x="2093120" y="3248232"/>
            <a:ext cx="200000" cy="180000"/>
          </a:xfrm>
          <a:prstGeom prst="can">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4320" y="2563232"/>
            <a:ext cx="1828800" cy="1550000"/>
          </a:xfrm>
          <a:prstGeom prst="rect">
            <a:avLst/>
          </a:prstGeom>
          <a:solidFill>
            <a:srgbClr val="201000"/>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4320" y="2643232"/>
            <a:ext cx="1748800" cy="420000"/>
          </a:xfrm>
          <a:prstGeom prst="rect">
            <a:avLst/>
          </a:prstGeom>
          <a:noFill/>
        </p:spPr>
        <p:txBody>
          <a:bodyPr wrap="square">
            <a:spAutoFit/>
          </a:bodyPr>
          <a:lstStyle/>
          <a:p>
            <a:pPr algn="ctr"/>
            <a:r>
              <a:rPr sz="950" b="1">
                <a:solidFill>
                  <a:srgbClr val="C8A840"/>
                </a:solidFill>
                <a:latin typeface="游明朝"/>
              </a:rPr>
              <a:t>裏AT（上位AT）</a:t>
            </a:r>
          </a:p>
        </p:txBody>
      </p:sp>
      <p:sp>
        <p:nvSpPr>
          <p:cNvPr id="39" name="TextBox 38"/>
          <p:cNvSpPr txBox="1"/>
          <p:nvPr/>
        </p:nvSpPr>
        <p:spPr>
          <a:xfrm>
            <a:off x="304320" y="3073232"/>
            <a:ext cx="1768800" cy="900000"/>
          </a:xfrm>
          <a:prstGeom prst="rect">
            <a:avLst/>
          </a:prstGeom>
          <a:noFill/>
        </p:spPr>
        <p:txBody>
          <a:bodyPr wrap="square">
            <a:spAutoFit/>
          </a:bodyPr>
          <a:lstStyle/>
          <a:p>
            <a:pPr algn="ctr"/>
            <a:r>
              <a:rPr sz="750" b="0">
                <a:solidFill>
                  <a:srgbClr val="8888AA"/>
                </a:solidFill>
                <a:latin typeface="メイリオ"/>
              </a:rPr>
              <a:t>純増5.0枚
喰種対決成功率UP
CCG死神300〜2000枚</a:t>
            </a:r>
          </a:p>
        </p:txBody>
      </p:sp>
      <p:sp>
        <p:nvSpPr>
          <p:cNvPr id="40" name="Rectangle 39"/>
          <p:cNvSpPr/>
          <p:nvPr/>
        </p:nvSpPr>
        <p:spPr>
          <a:xfrm>
            <a:off x="45720" y="2963232"/>
            <a:ext cx="190000" cy="750000"/>
          </a:xfrm>
          <a:prstGeom prst="rect">
            <a:avLst/>
          </a:prstGeom>
          <a:solidFill>
            <a:srgbClr val="100420"/>
          </a:solidFill>
          <a:ln w="1905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 y="3003232"/>
            <a:ext cx="190000" cy="680000"/>
          </a:xfrm>
          <a:prstGeom prst="rect">
            <a:avLst/>
          </a:prstGeom>
          <a:noFill/>
        </p:spPr>
        <p:txBody>
          <a:bodyPr wrap="square">
            <a:spAutoFit/>
          </a:bodyPr>
          <a:lstStyle/>
          <a:p>
            <a:pPr algn="ctr"/>
            <a:r>
              <a:rPr sz="700" b="1">
                <a:solidFill>
                  <a:srgbClr val="8833CC"/>
                </a:solidFill>
                <a:latin typeface="メイリオ"/>
              </a:rPr>
              <a:t>↑
通常</a:t>
            </a:r>
          </a:p>
        </p:txBody>
      </p:sp>
      <p:sp>
        <p:nvSpPr>
          <p:cNvPr id="42" name="Rectangle 41"/>
          <p:cNvSpPr/>
          <p:nvPr/>
        </p:nvSpPr>
        <p:spPr>
          <a:xfrm>
            <a:off x="0" y="4617720"/>
            <a:ext cx="9144000" cy="502920"/>
          </a:xfrm>
          <a:prstGeom prst="rect">
            <a:avLst/>
          </a:prstGeom>
          <a:solidFill>
            <a:srgbClr val="060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 y="4647720"/>
            <a:ext cx="6400800" cy="380000"/>
          </a:xfrm>
          <a:prstGeom prst="rect">
            <a:avLst/>
          </a:prstGeom>
          <a:noFill/>
        </p:spPr>
        <p:txBody>
          <a:bodyPr wrap="square">
            <a:spAutoFit/>
          </a:bodyPr>
          <a:lstStyle/>
          <a:p>
            <a:pPr algn="l"/>
            <a:r>
              <a:rPr sz="750" b="1">
                <a:solidFill>
                  <a:srgbClr val="C8A840"/>
                </a:solidFill>
                <a:latin typeface="メイリオ"/>
              </a:rPr>
              <a:t>【設計】「通常→CZ/EP→AT→喰種対決→BITES→ジャッジメント→裏AT」の全ルートを蛇行2段で可視化。</a:t>
            </a:r>
          </a:p>
        </p:txBody>
      </p:sp>
      <p:sp>
        <p:nvSpPr>
          <p:cNvPr id="44" name="TextBox 43"/>
          <p:cNvSpPr txBox="1"/>
          <p:nvPr/>
        </p:nvSpPr>
        <p:spPr>
          <a:xfrm>
            <a:off x="182880" y="4847720"/>
            <a:ext cx="6858000" cy="200000"/>
          </a:xfrm>
          <a:prstGeom prst="rect">
            <a:avLst/>
          </a:prstGeom>
          <a:noFill/>
        </p:spPr>
        <p:txBody>
          <a:bodyPr wrap="square">
            <a:spAutoFit/>
          </a:bodyPr>
          <a:lstStyle/>
          <a:p>
            <a:pPr algn="l"/>
            <a:r>
              <a:rPr sz="650" b="0">
                <a:solidFill>
                  <a:srgbClr val="8888AA"/>
                </a:solidFill>
                <a:latin typeface="メイリオ"/>
              </a:rPr>
              <a:t>補足: 裏AT終了後は通常に戻るが、高設定ほど裏AT直行率が高く爆連しやすい構造。</a:t>
            </a:r>
          </a:p>
        </p:txBody>
      </p:sp>
      <p:sp>
        <p:nvSpPr>
          <p:cNvPr id="45" name="TextBox 44"/>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E0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300" b="1">
                <a:solidFill>
                  <a:srgbClr val="FF4444"/>
                </a:solidFill>
                <a:latin typeface="游明朝"/>
              </a:rPr>
              <a:t>通常時の遊び方 ── 招待状50G周期・CZ2種・EP BONUS直撃の3ルート</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3/9</a:t>
            </a:r>
          </a:p>
        </p:txBody>
      </p:sp>
      <p:sp>
        <p:nvSpPr>
          <p:cNvPr id="7" name="Rectangle 6"/>
          <p:cNvSpPr/>
          <p:nvPr/>
        </p:nvSpPr>
        <p:spPr>
          <a:xfrm>
            <a:off x="0" y="530352"/>
            <a:ext cx="9144000" cy="7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658368"/>
            <a:ext cx="2743200" cy="3900000"/>
          </a:xfrm>
          <a:prstGeom prst="rect">
            <a:avLst/>
          </a:prstGeom>
          <a:solidFill>
            <a:srgbClr val="0E061C"/>
          </a:solidFill>
          <a:ln w="1905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658368"/>
            <a:ext cx="45000" cy="3900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20" y="708368"/>
            <a:ext cx="2643200" cy="260000"/>
          </a:xfrm>
          <a:prstGeom prst="rect">
            <a:avLst/>
          </a:prstGeom>
          <a:noFill/>
        </p:spPr>
        <p:txBody>
          <a:bodyPr wrap="square">
            <a:spAutoFit/>
          </a:bodyPr>
          <a:lstStyle/>
          <a:p>
            <a:pPr algn="l"/>
            <a:r>
              <a:rPr sz="1100" b="1">
                <a:solidFill>
                  <a:srgbClr val="8833CC"/>
                </a:solidFill>
                <a:latin typeface="游明朝"/>
              </a:rPr>
              <a:t>周期システム</a:t>
            </a:r>
          </a:p>
        </p:txBody>
      </p:sp>
      <p:sp>
        <p:nvSpPr>
          <p:cNvPr id="11" name="Rectangle 10"/>
          <p:cNvSpPr/>
          <p:nvPr/>
        </p:nvSpPr>
        <p:spPr>
          <a:xfrm>
            <a:off x="334320" y="978368"/>
            <a:ext cx="2668200" cy="830000"/>
          </a:xfrm>
          <a:prstGeom prst="rect">
            <a:avLst/>
          </a:prstGeom>
          <a:solidFill>
            <a:srgbClr val="160A28"/>
          </a:solidFill>
          <a:ln w="762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4320" y="1028368"/>
            <a:ext cx="2613200" cy="250000"/>
          </a:xfrm>
          <a:prstGeom prst="rect">
            <a:avLst/>
          </a:prstGeom>
          <a:noFill/>
        </p:spPr>
        <p:txBody>
          <a:bodyPr wrap="square">
            <a:spAutoFit/>
          </a:bodyPr>
          <a:lstStyle/>
          <a:p>
            <a:pPr algn="l"/>
            <a:r>
              <a:rPr sz="900" b="1">
                <a:solidFill>
                  <a:srgbClr val="AA55EE"/>
                </a:solidFill>
                <a:latin typeface="メイリオ"/>
              </a:rPr>
              <a:t>招待状（50G周期）</a:t>
            </a:r>
          </a:p>
        </p:txBody>
      </p:sp>
      <p:sp>
        <p:nvSpPr>
          <p:cNvPr id="13" name="TextBox 12"/>
          <p:cNvSpPr txBox="1"/>
          <p:nvPr/>
        </p:nvSpPr>
        <p:spPr>
          <a:xfrm>
            <a:off x="364320" y="1268368"/>
            <a:ext cx="2613200" cy="480000"/>
          </a:xfrm>
          <a:prstGeom prst="rect">
            <a:avLst/>
          </a:prstGeom>
          <a:noFill/>
        </p:spPr>
        <p:txBody>
          <a:bodyPr wrap="square">
            <a:spAutoFit/>
          </a:bodyPr>
          <a:lstStyle/>
          <a:p>
            <a:pPr algn="l"/>
            <a:r>
              <a:rPr sz="750" b="0">
                <a:solidFill>
                  <a:srgbClr val="E8E8F4"/>
                </a:solidFill>
                <a:latin typeface="メイリオ"/>
              </a:rPr>
              <a:t>通常時は50G消化ごとに左下に
「招待状」が出現。次のCZまでの
G数や設定示唆を行う。</a:t>
            </a:r>
          </a:p>
        </p:txBody>
      </p:sp>
      <p:sp>
        <p:nvSpPr>
          <p:cNvPr id="14" name="Rectangle 13"/>
          <p:cNvSpPr/>
          <p:nvPr/>
        </p:nvSpPr>
        <p:spPr>
          <a:xfrm>
            <a:off x="334320" y="1858368"/>
            <a:ext cx="2668200" cy="830000"/>
          </a:xfrm>
          <a:prstGeom prst="rect">
            <a:avLst/>
          </a:prstGeom>
          <a:solidFill>
            <a:srgbClr val="160A28"/>
          </a:solidFill>
          <a:ln w="762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4320" y="1908368"/>
            <a:ext cx="2613200" cy="250000"/>
          </a:xfrm>
          <a:prstGeom prst="rect">
            <a:avLst/>
          </a:prstGeom>
          <a:noFill/>
        </p:spPr>
        <p:txBody>
          <a:bodyPr wrap="square">
            <a:spAutoFit/>
          </a:bodyPr>
          <a:lstStyle/>
          <a:p>
            <a:pPr algn="l"/>
            <a:r>
              <a:rPr sz="900" b="1">
                <a:solidFill>
                  <a:srgbClr val="AA55EE"/>
                </a:solidFill>
                <a:latin typeface="メイリオ"/>
              </a:rPr>
              <a:t>CZ ① 追憶</a:t>
            </a:r>
          </a:p>
        </p:txBody>
      </p:sp>
      <p:sp>
        <p:nvSpPr>
          <p:cNvPr id="16" name="TextBox 15"/>
          <p:cNvSpPr txBox="1"/>
          <p:nvPr/>
        </p:nvSpPr>
        <p:spPr>
          <a:xfrm>
            <a:off x="364320" y="2148368"/>
            <a:ext cx="2613200" cy="480000"/>
          </a:xfrm>
          <a:prstGeom prst="rect">
            <a:avLst/>
          </a:prstGeom>
          <a:noFill/>
        </p:spPr>
        <p:txBody>
          <a:bodyPr wrap="square">
            <a:spAutoFit/>
          </a:bodyPr>
          <a:lstStyle/>
          <a:p>
            <a:pPr algn="l"/>
            <a:r>
              <a:rPr sz="750" b="0">
                <a:solidFill>
                  <a:srgbClr val="E8E8F4"/>
                </a:solidFill>
                <a:latin typeface="メイリオ"/>
              </a:rPr>
              <a:t>通常格CZ。AT当選を目指す。
突破率は設定差あり。
失敗でも再チャレンジあり。</a:t>
            </a:r>
          </a:p>
        </p:txBody>
      </p:sp>
      <p:sp>
        <p:nvSpPr>
          <p:cNvPr id="17" name="Rectangle 16"/>
          <p:cNvSpPr/>
          <p:nvPr/>
        </p:nvSpPr>
        <p:spPr>
          <a:xfrm>
            <a:off x="334320" y="2738368"/>
            <a:ext cx="2668200" cy="830000"/>
          </a:xfrm>
          <a:prstGeom prst="rect">
            <a:avLst/>
          </a:prstGeom>
          <a:solidFill>
            <a:srgbClr val="160A28"/>
          </a:solidFill>
          <a:ln w="762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320" y="2788368"/>
            <a:ext cx="2613200" cy="250000"/>
          </a:xfrm>
          <a:prstGeom prst="rect">
            <a:avLst/>
          </a:prstGeom>
          <a:noFill/>
        </p:spPr>
        <p:txBody>
          <a:bodyPr wrap="square">
            <a:spAutoFit/>
          </a:bodyPr>
          <a:lstStyle/>
          <a:p>
            <a:pPr algn="l"/>
            <a:r>
              <a:rPr sz="900" b="1">
                <a:solidFill>
                  <a:srgbClr val="AA55EE"/>
                </a:solidFill>
                <a:latin typeface="メイリオ"/>
              </a:rPr>
              <a:t>CZ ② 大喰種討伐</a:t>
            </a:r>
          </a:p>
        </p:txBody>
      </p:sp>
      <p:sp>
        <p:nvSpPr>
          <p:cNvPr id="19" name="TextBox 18"/>
          <p:cNvSpPr txBox="1"/>
          <p:nvPr/>
        </p:nvSpPr>
        <p:spPr>
          <a:xfrm>
            <a:off x="364320" y="3028368"/>
            <a:ext cx="2613200" cy="480000"/>
          </a:xfrm>
          <a:prstGeom prst="rect">
            <a:avLst/>
          </a:prstGeom>
          <a:noFill/>
        </p:spPr>
        <p:txBody>
          <a:bodyPr wrap="square">
            <a:spAutoFit/>
          </a:bodyPr>
          <a:lstStyle/>
          <a:p>
            <a:pPr algn="l"/>
            <a:r>
              <a:rPr sz="750" b="0">
                <a:solidFill>
                  <a:srgbClr val="E8E8F4"/>
                </a:solidFill>
                <a:latin typeface="メイリオ"/>
              </a:rPr>
              <a:t>高格CZ・高期待度版。
突破成功でAT確定。
高設定ほど出現率UP。</a:t>
            </a:r>
          </a:p>
        </p:txBody>
      </p:sp>
      <p:sp>
        <p:nvSpPr>
          <p:cNvPr id="20" name="Rectangle 19"/>
          <p:cNvSpPr/>
          <p:nvPr/>
        </p:nvSpPr>
        <p:spPr>
          <a:xfrm>
            <a:off x="334320" y="3618368"/>
            <a:ext cx="2668200" cy="830000"/>
          </a:xfrm>
          <a:prstGeom prst="rect">
            <a:avLst/>
          </a:prstGeom>
          <a:solidFill>
            <a:srgbClr val="160A28"/>
          </a:solidFill>
          <a:ln w="762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4320" y="3668368"/>
            <a:ext cx="2613200" cy="250000"/>
          </a:xfrm>
          <a:prstGeom prst="rect">
            <a:avLst/>
          </a:prstGeom>
          <a:noFill/>
        </p:spPr>
        <p:txBody>
          <a:bodyPr wrap="square">
            <a:spAutoFit/>
          </a:bodyPr>
          <a:lstStyle/>
          <a:p>
            <a:pPr algn="l"/>
            <a:r>
              <a:rPr sz="900" b="1">
                <a:solidFill>
                  <a:srgbClr val="AA55EE"/>
                </a:solidFill>
                <a:latin typeface="メイリオ"/>
              </a:rPr>
              <a:t>EP BONUS</a:t>
            </a:r>
          </a:p>
        </p:txBody>
      </p:sp>
      <p:sp>
        <p:nvSpPr>
          <p:cNvPr id="22" name="TextBox 21"/>
          <p:cNvSpPr txBox="1"/>
          <p:nvPr/>
        </p:nvSpPr>
        <p:spPr>
          <a:xfrm>
            <a:off x="364320" y="3908368"/>
            <a:ext cx="2613200" cy="480000"/>
          </a:xfrm>
          <a:prstGeom prst="rect">
            <a:avLst/>
          </a:prstGeom>
          <a:noFill/>
        </p:spPr>
        <p:txBody>
          <a:bodyPr wrap="square">
            <a:spAutoFit/>
          </a:bodyPr>
          <a:lstStyle/>
          <a:p>
            <a:pPr algn="l"/>
            <a:r>
              <a:rPr sz="750" b="0">
                <a:solidFill>
                  <a:srgbClr val="E8E8F4"/>
                </a:solidFill>
                <a:latin typeface="メイリオ"/>
              </a:rPr>
              <a:t>レア役成立で直撃当選あり。
EP BONUS成立でAT直行ルート。
最も速い突入経路。</a:t>
            </a:r>
          </a:p>
        </p:txBody>
      </p:sp>
      <p:sp>
        <p:nvSpPr>
          <p:cNvPr id="23" name="Rectangle 22"/>
          <p:cNvSpPr/>
          <p:nvPr/>
        </p:nvSpPr>
        <p:spPr>
          <a:xfrm>
            <a:off x="3200400" y="658368"/>
            <a:ext cx="2743200" cy="3900000"/>
          </a:xfrm>
          <a:prstGeom prst="rect">
            <a:avLst/>
          </a:prstGeom>
          <a:solidFill>
            <a:srgbClr val="0E061C"/>
          </a:solidFill>
          <a:ln w="1905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0" y="658368"/>
            <a:ext cx="45000" cy="390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75400" y="708368"/>
            <a:ext cx="2643200" cy="260000"/>
          </a:xfrm>
          <a:prstGeom prst="rect">
            <a:avLst/>
          </a:prstGeom>
          <a:noFill/>
        </p:spPr>
        <p:txBody>
          <a:bodyPr wrap="square">
            <a:spAutoFit/>
          </a:bodyPr>
          <a:lstStyle/>
          <a:p>
            <a:pPr algn="l"/>
            <a:r>
              <a:rPr sz="1100" b="1">
                <a:solidFill>
                  <a:srgbClr val="CC2222"/>
                </a:solidFill>
                <a:latin typeface="游明朝"/>
              </a:rPr>
              <a:t>赫眼状態（高確率）</a:t>
            </a:r>
          </a:p>
        </p:txBody>
      </p:sp>
      <p:sp>
        <p:nvSpPr>
          <p:cNvPr id="26" name="Rectangle 25"/>
          <p:cNvSpPr/>
          <p:nvPr/>
        </p:nvSpPr>
        <p:spPr>
          <a:xfrm>
            <a:off x="3260400" y="978368"/>
            <a:ext cx="2668200" cy="830000"/>
          </a:xfrm>
          <a:prstGeom prst="rect">
            <a:avLst/>
          </a:prstGeom>
          <a:solidFill>
            <a:srgbClr val="160A28"/>
          </a:solidFill>
          <a:ln w="762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0400" y="1028368"/>
            <a:ext cx="2613200" cy="250000"/>
          </a:xfrm>
          <a:prstGeom prst="rect">
            <a:avLst/>
          </a:prstGeom>
          <a:noFill/>
        </p:spPr>
        <p:txBody>
          <a:bodyPr wrap="square">
            <a:spAutoFit/>
          </a:bodyPr>
          <a:lstStyle/>
          <a:p>
            <a:pPr algn="l"/>
            <a:r>
              <a:rPr sz="900" b="1">
                <a:solidFill>
                  <a:srgbClr val="FF4444"/>
                </a:solidFill>
                <a:latin typeface="メイリオ"/>
              </a:rPr>
              <a:t>赫眼状態とは</a:t>
            </a:r>
          </a:p>
        </p:txBody>
      </p:sp>
      <p:sp>
        <p:nvSpPr>
          <p:cNvPr id="28" name="TextBox 27"/>
          <p:cNvSpPr txBox="1"/>
          <p:nvPr/>
        </p:nvSpPr>
        <p:spPr>
          <a:xfrm>
            <a:off x="3290400" y="1268368"/>
            <a:ext cx="2613200" cy="480000"/>
          </a:xfrm>
          <a:prstGeom prst="rect">
            <a:avLst/>
          </a:prstGeom>
          <a:noFill/>
        </p:spPr>
        <p:txBody>
          <a:bodyPr wrap="square">
            <a:spAutoFit/>
          </a:bodyPr>
          <a:lstStyle/>
          <a:p>
            <a:pPr algn="l"/>
            <a:r>
              <a:rPr sz="750" b="0">
                <a:solidFill>
                  <a:srgbClr val="E8E8F4"/>
                </a:solidFill>
                <a:latin typeface="メイリオ"/>
              </a:rPr>
              <a:t>通常時にいつでも移行し得る
チェリー高確率状態。
CZ/AT当選率が大幅UP。</a:t>
            </a:r>
          </a:p>
        </p:txBody>
      </p:sp>
      <p:sp>
        <p:nvSpPr>
          <p:cNvPr id="29" name="Rectangle 28"/>
          <p:cNvSpPr/>
          <p:nvPr/>
        </p:nvSpPr>
        <p:spPr>
          <a:xfrm>
            <a:off x="3260400" y="1858368"/>
            <a:ext cx="2668200" cy="830000"/>
          </a:xfrm>
          <a:prstGeom prst="rect">
            <a:avLst/>
          </a:prstGeom>
          <a:solidFill>
            <a:srgbClr val="160A28"/>
          </a:solidFill>
          <a:ln w="762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90400" y="1908368"/>
            <a:ext cx="2613200" cy="250000"/>
          </a:xfrm>
          <a:prstGeom prst="rect">
            <a:avLst/>
          </a:prstGeom>
          <a:noFill/>
        </p:spPr>
        <p:txBody>
          <a:bodyPr wrap="square">
            <a:spAutoFit/>
          </a:bodyPr>
          <a:lstStyle/>
          <a:p>
            <a:pPr algn="l"/>
            <a:r>
              <a:rPr sz="900" b="1">
                <a:solidFill>
                  <a:srgbClr val="FF4444"/>
                </a:solidFill>
                <a:latin typeface="メイリオ"/>
              </a:rPr>
              <a:t>チェリー連続</a:t>
            </a:r>
          </a:p>
        </p:txBody>
      </p:sp>
      <p:sp>
        <p:nvSpPr>
          <p:cNvPr id="31" name="TextBox 30"/>
          <p:cNvSpPr txBox="1"/>
          <p:nvPr/>
        </p:nvSpPr>
        <p:spPr>
          <a:xfrm>
            <a:off x="3290400" y="2148368"/>
            <a:ext cx="2613200" cy="480000"/>
          </a:xfrm>
          <a:prstGeom prst="rect">
            <a:avLst/>
          </a:prstGeom>
          <a:noFill/>
        </p:spPr>
        <p:txBody>
          <a:bodyPr wrap="square">
            <a:spAutoFit/>
          </a:bodyPr>
          <a:lstStyle/>
          <a:p>
            <a:pPr algn="l"/>
            <a:r>
              <a:rPr sz="750" b="0">
                <a:solidFill>
                  <a:srgbClr val="E8E8F4"/>
                </a:solidFill>
                <a:latin typeface="メイリオ"/>
              </a:rPr>
              <a:t>赫眼状態中はチェリー頻出。
連続するほどCZ当選や
AT直撃期待度が上がる。</a:t>
            </a:r>
          </a:p>
        </p:txBody>
      </p:sp>
      <p:sp>
        <p:nvSpPr>
          <p:cNvPr id="32" name="Rectangle 31"/>
          <p:cNvSpPr/>
          <p:nvPr/>
        </p:nvSpPr>
        <p:spPr>
          <a:xfrm>
            <a:off x="3260400" y="2738368"/>
            <a:ext cx="2668200" cy="830000"/>
          </a:xfrm>
          <a:prstGeom prst="rect">
            <a:avLst/>
          </a:prstGeom>
          <a:solidFill>
            <a:srgbClr val="160A28"/>
          </a:solidFill>
          <a:ln w="762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90400" y="2788368"/>
            <a:ext cx="2613200" cy="250000"/>
          </a:xfrm>
          <a:prstGeom prst="rect">
            <a:avLst/>
          </a:prstGeom>
          <a:noFill/>
        </p:spPr>
        <p:txBody>
          <a:bodyPr wrap="square">
            <a:spAutoFit/>
          </a:bodyPr>
          <a:lstStyle/>
          <a:p>
            <a:pPr algn="l"/>
            <a:r>
              <a:rPr sz="900" b="1">
                <a:solidFill>
                  <a:srgbClr val="FF4444"/>
                </a:solidFill>
                <a:latin typeface="メイリオ"/>
              </a:rPr>
              <a:t>打ち方ポイント</a:t>
            </a:r>
          </a:p>
        </p:txBody>
      </p:sp>
      <p:sp>
        <p:nvSpPr>
          <p:cNvPr id="34" name="TextBox 33"/>
          <p:cNvSpPr txBox="1"/>
          <p:nvPr/>
        </p:nvSpPr>
        <p:spPr>
          <a:xfrm>
            <a:off x="3290400" y="3028368"/>
            <a:ext cx="2613200" cy="480000"/>
          </a:xfrm>
          <a:prstGeom prst="rect">
            <a:avLst/>
          </a:prstGeom>
          <a:noFill/>
        </p:spPr>
        <p:txBody>
          <a:bodyPr wrap="square">
            <a:spAutoFit/>
          </a:bodyPr>
          <a:lstStyle/>
          <a:p>
            <a:pPr algn="l"/>
            <a:r>
              <a:rPr sz="750" b="0">
                <a:solidFill>
                  <a:srgbClr val="E8E8F4"/>
                </a:solidFill>
                <a:latin typeface="メイリオ"/>
              </a:rPr>
              <a:t>左リール枠内にBARを狙う
（チェリー・スイカ対応）。
小役取得漏れに注意。</a:t>
            </a:r>
          </a:p>
        </p:txBody>
      </p:sp>
      <p:sp>
        <p:nvSpPr>
          <p:cNvPr id="35" name="Rectangle 34"/>
          <p:cNvSpPr/>
          <p:nvPr/>
        </p:nvSpPr>
        <p:spPr>
          <a:xfrm>
            <a:off x="3260400" y="3618368"/>
            <a:ext cx="2668200" cy="830000"/>
          </a:xfrm>
          <a:prstGeom prst="rect">
            <a:avLst/>
          </a:prstGeom>
          <a:solidFill>
            <a:srgbClr val="160A28"/>
          </a:solidFill>
          <a:ln w="762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90400" y="3668368"/>
            <a:ext cx="2613200" cy="250000"/>
          </a:xfrm>
          <a:prstGeom prst="rect">
            <a:avLst/>
          </a:prstGeom>
          <a:noFill/>
        </p:spPr>
        <p:txBody>
          <a:bodyPr wrap="square">
            <a:spAutoFit/>
          </a:bodyPr>
          <a:lstStyle/>
          <a:p>
            <a:pPr algn="l"/>
            <a:r>
              <a:rPr sz="900" b="1">
                <a:solidFill>
                  <a:srgbClr val="FF4444"/>
                </a:solidFill>
                <a:latin typeface="メイリオ"/>
              </a:rPr>
              <a:t>やめどき</a:t>
            </a:r>
          </a:p>
        </p:txBody>
      </p:sp>
      <p:sp>
        <p:nvSpPr>
          <p:cNvPr id="37" name="TextBox 36"/>
          <p:cNvSpPr txBox="1"/>
          <p:nvPr/>
        </p:nvSpPr>
        <p:spPr>
          <a:xfrm>
            <a:off x="3290400" y="3908368"/>
            <a:ext cx="2613200" cy="480000"/>
          </a:xfrm>
          <a:prstGeom prst="rect">
            <a:avLst/>
          </a:prstGeom>
          <a:noFill/>
        </p:spPr>
        <p:txBody>
          <a:bodyPr wrap="square">
            <a:spAutoFit/>
          </a:bodyPr>
          <a:lstStyle/>
          <a:p>
            <a:pPr algn="l"/>
            <a:r>
              <a:rPr sz="750" b="0">
                <a:solidFill>
                  <a:srgbClr val="E8E8F4"/>
                </a:solidFill>
                <a:latin typeface="メイリオ"/>
              </a:rPr>
              <a:t>AT終了後はステージ確認。
CZ前兆中やモード示唆で
続行判断する。</a:t>
            </a:r>
          </a:p>
        </p:txBody>
      </p:sp>
      <p:sp>
        <p:nvSpPr>
          <p:cNvPr id="38" name="Rectangle 37"/>
          <p:cNvSpPr/>
          <p:nvPr/>
        </p:nvSpPr>
        <p:spPr>
          <a:xfrm>
            <a:off x="6126480" y="658368"/>
            <a:ext cx="2743200" cy="3900000"/>
          </a:xfrm>
          <a:prstGeom prst="rect">
            <a:avLst/>
          </a:prstGeom>
          <a:solidFill>
            <a:srgbClr val="0E061C"/>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658368"/>
            <a:ext cx="45000" cy="39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1480" y="708368"/>
            <a:ext cx="2643200" cy="260000"/>
          </a:xfrm>
          <a:prstGeom prst="rect">
            <a:avLst/>
          </a:prstGeom>
          <a:noFill/>
        </p:spPr>
        <p:txBody>
          <a:bodyPr wrap="square">
            <a:spAutoFit/>
          </a:bodyPr>
          <a:lstStyle/>
          <a:p>
            <a:pPr algn="l"/>
            <a:r>
              <a:rPr sz="1100" b="1">
                <a:solidFill>
                  <a:srgbClr val="C8A840"/>
                </a:solidFill>
                <a:latin typeface="游明朝"/>
              </a:rPr>
              <a:t>天井・設定示唆</a:t>
            </a:r>
          </a:p>
        </p:txBody>
      </p:sp>
      <p:sp>
        <p:nvSpPr>
          <p:cNvPr id="41" name="Rectangle 40"/>
          <p:cNvSpPr/>
          <p:nvPr/>
        </p:nvSpPr>
        <p:spPr>
          <a:xfrm>
            <a:off x="6186480" y="978368"/>
            <a:ext cx="2668200" cy="830000"/>
          </a:xfrm>
          <a:prstGeom prst="rect">
            <a:avLst/>
          </a:prstGeom>
          <a:solidFill>
            <a:srgbClr val="160A28"/>
          </a:solidFill>
          <a:ln w="762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6480" y="1028368"/>
            <a:ext cx="2613200" cy="250000"/>
          </a:xfrm>
          <a:prstGeom prst="rect">
            <a:avLst/>
          </a:prstGeom>
          <a:noFill/>
        </p:spPr>
        <p:txBody>
          <a:bodyPr wrap="square">
            <a:spAutoFit/>
          </a:bodyPr>
          <a:lstStyle/>
          <a:p>
            <a:pPr algn="l"/>
            <a:r>
              <a:rPr sz="900" b="1">
                <a:solidFill>
                  <a:srgbClr val="FFD700"/>
                </a:solidFill>
                <a:latin typeface="メイリオ"/>
              </a:rPr>
              <a:t>天井G数</a:t>
            </a:r>
          </a:p>
        </p:txBody>
      </p:sp>
      <p:sp>
        <p:nvSpPr>
          <p:cNvPr id="43" name="TextBox 42"/>
          <p:cNvSpPr txBox="1"/>
          <p:nvPr/>
        </p:nvSpPr>
        <p:spPr>
          <a:xfrm>
            <a:off x="6216480" y="1268368"/>
            <a:ext cx="2613200" cy="480000"/>
          </a:xfrm>
          <a:prstGeom prst="rect">
            <a:avLst/>
          </a:prstGeom>
          <a:noFill/>
        </p:spPr>
        <p:txBody>
          <a:bodyPr wrap="square">
            <a:spAutoFit/>
          </a:bodyPr>
          <a:lstStyle/>
          <a:p>
            <a:pPr algn="l"/>
            <a:r>
              <a:rPr sz="750" b="0">
                <a:solidFill>
                  <a:srgbClr val="E8E8F4"/>
                </a:solidFill>
                <a:latin typeface="メイリオ"/>
              </a:rPr>
              <a:t>AT非当選時の天井あり。
リセット時はCZ天井
短縮（200G+α）。</a:t>
            </a:r>
          </a:p>
        </p:txBody>
      </p:sp>
      <p:sp>
        <p:nvSpPr>
          <p:cNvPr id="44" name="Rectangle 43"/>
          <p:cNvSpPr/>
          <p:nvPr/>
        </p:nvSpPr>
        <p:spPr>
          <a:xfrm>
            <a:off x="6186480" y="1858368"/>
            <a:ext cx="2668200" cy="830000"/>
          </a:xfrm>
          <a:prstGeom prst="rect">
            <a:avLst/>
          </a:prstGeom>
          <a:solidFill>
            <a:srgbClr val="160A28"/>
          </a:solidFill>
          <a:ln w="762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6480" y="1908368"/>
            <a:ext cx="2613200" cy="250000"/>
          </a:xfrm>
          <a:prstGeom prst="rect">
            <a:avLst/>
          </a:prstGeom>
          <a:noFill/>
        </p:spPr>
        <p:txBody>
          <a:bodyPr wrap="square">
            <a:spAutoFit/>
          </a:bodyPr>
          <a:lstStyle/>
          <a:p>
            <a:pPr algn="l"/>
            <a:r>
              <a:rPr sz="900" b="1">
                <a:solidFill>
                  <a:srgbClr val="FFD700"/>
                </a:solidFill>
                <a:latin typeface="メイリオ"/>
              </a:rPr>
              <a:t>CZ後の設定示唆</a:t>
            </a:r>
          </a:p>
        </p:txBody>
      </p:sp>
      <p:sp>
        <p:nvSpPr>
          <p:cNvPr id="46" name="TextBox 45"/>
          <p:cNvSpPr txBox="1"/>
          <p:nvPr/>
        </p:nvSpPr>
        <p:spPr>
          <a:xfrm>
            <a:off x="6216480" y="2148368"/>
            <a:ext cx="2613200" cy="480000"/>
          </a:xfrm>
          <a:prstGeom prst="rect">
            <a:avLst/>
          </a:prstGeom>
          <a:noFill/>
        </p:spPr>
        <p:txBody>
          <a:bodyPr wrap="square">
            <a:spAutoFit/>
          </a:bodyPr>
          <a:lstStyle/>
          <a:p>
            <a:pPr algn="l"/>
            <a:r>
              <a:rPr sz="750" b="0">
                <a:solidFill>
                  <a:srgbClr val="E8E8F4"/>
                </a:solidFill>
                <a:latin typeface="メイリオ"/>
              </a:rPr>
              <a:t>CZ終了後ボタン押しで
カード出現→設定示唆。
涼宮：偶数/梟：4以上
有馬：設定6確定。</a:t>
            </a:r>
          </a:p>
        </p:txBody>
      </p:sp>
      <p:sp>
        <p:nvSpPr>
          <p:cNvPr id="47" name="Rectangle 46"/>
          <p:cNvSpPr/>
          <p:nvPr/>
        </p:nvSpPr>
        <p:spPr>
          <a:xfrm>
            <a:off x="6186480" y="2738368"/>
            <a:ext cx="2668200" cy="830000"/>
          </a:xfrm>
          <a:prstGeom prst="rect">
            <a:avLst/>
          </a:prstGeom>
          <a:solidFill>
            <a:srgbClr val="160A28"/>
          </a:solidFill>
          <a:ln w="762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6480" y="2788368"/>
            <a:ext cx="2613200" cy="250000"/>
          </a:xfrm>
          <a:prstGeom prst="rect">
            <a:avLst/>
          </a:prstGeom>
          <a:noFill/>
        </p:spPr>
        <p:txBody>
          <a:bodyPr wrap="square">
            <a:spAutoFit/>
          </a:bodyPr>
          <a:lstStyle/>
          <a:p>
            <a:pPr algn="l"/>
            <a:r>
              <a:rPr sz="900" b="1">
                <a:solidFill>
                  <a:srgbClr val="FFD700"/>
                </a:solidFill>
                <a:latin typeface="メイリオ"/>
              </a:rPr>
              <a:t>招待状の示唆文</a:t>
            </a:r>
          </a:p>
        </p:txBody>
      </p:sp>
      <p:sp>
        <p:nvSpPr>
          <p:cNvPr id="49" name="TextBox 48"/>
          <p:cNvSpPr txBox="1"/>
          <p:nvPr/>
        </p:nvSpPr>
        <p:spPr>
          <a:xfrm>
            <a:off x="6216480" y="3028368"/>
            <a:ext cx="2613200" cy="480000"/>
          </a:xfrm>
          <a:prstGeom prst="rect">
            <a:avLst/>
          </a:prstGeom>
          <a:noFill/>
        </p:spPr>
        <p:txBody>
          <a:bodyPr wrap="square">
            <a:spAutoFit/>
          </a:bodyPr>
          <a:lstStyle/>
          <a:p>
            <a:pPr algn="l"/>
            <a:r>
              <a:rPr sz="750" b="0">
                <a:solidFill>
                  <a:srgbClr val="E8E8F4"/>
                </a:solidFill>
                <a:latin typeface="メイリオ"/>
              </a:rPr>
              <a:t>「たっぷり楽しんで」→設定4以上
「特別な夜を楽しもう」→設定6
といった示唆を含む。</a:t>
            </a:r>
          </a:p>
        </p:txBody>
      </p:sp>
      <p:sp>
        <p:nvSpPr>
          <p:cNvPr id="50" name="Rectangle 49"/>
          <p:cNvSpPr/>
          <p:nvPr/>
        </p:nvSpPr>
        <p:spPr>
          <a:xfrm>
            <a:off x="6186480" y="3618368"/>
            <a:ext cx="2668200" cy="830000"/>
          </a:xfrm>
          <a:prstGeom prst="rect">
            <a:avLst/>
          </a:prstGeom>
          <a:solidFill>
            <a:srgbClr val="160A28"/>
          </a:solidFill>
          <a:ln w="762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6480" y="3668368"/>
            <a:ext cx="2613200" cy="250000"/>
          </a:xfrm>
          <a:prstGeom prst="rect">
            <a:avLst/>
          </a:prstGeom>
          <a:noFill/>
        </p:spPr>
        <p:txBody>
          <a:bodyPr wrap="square">
            <a:spAutoFit/>
          </a:bodyPr>
          <a:lstStyle/>
          <a:p>
            <a:pPr algn="l"/>
            <a:r>
              <a:rPr sz="900" b="1">
                <a:solidFill>
                  <a:srgbClr val="FFD700"/>
                </a:solidFill>
                <a:latin typeface="メイリオ"/>
              </a:rPr>
              <a:t>モード別天井</a:t>
            </a:r>
          </a:p>
        </p:txBody>
      </p:sp>
      <p:sp>
        <p:nvSpPr>
          <p:cNvPr id="52" name="TextBox 51"/>
          <p:cNvSpPr txBox="1"/>
          <p:nvPr/>
        </p:nvSpPr>
        <p:spPr>
          <a:xfrm>
            <a:off x="6216480" y="3908368"/>
            <a:ext cx="2613200" cy="480000"/>
          </a:xfrm>
          <a:prstGeom prst="rect">
            <a:avLst/>
          </a:prstGeom>
          <a:noFill/>
        </p:spPr>
        <p:txBody>
          <a:bodyPr wrap="square">
            <a:spAutoFit/>
          </a:bodyPr>
          <a:lstStyle/>
          <a:p>
            <a:pPr algn="l"/>
            <a:r>
              <a:rPr sz="750" b="0">
                <a:solidFill>
                  <a:srgbClr val="E8E8F4"/>
                </a:solidFill>
                <a:latin typeface="メイリオ"/>
              </a:rPr>
              <a:t>滞在モードによりCZ発生
G数が変化。高モードほど
早いCZが期待できる。</a:t>
            </a:r>
          </a:p>
        </p:txBody>
      </p:sp>
      <p:sp>
        <p:nvSpPr>
          <p:cNvPr id="53" name="Rectangle 52"/>
          <p:cNvSpPr/>
          <p:nvPr/>
        </p:nvSpPr>
        <p:spPr>
          <a:xfrm>
            <a:off x="0" y="4617720"/>
            <a:ext cx="9144000" cy="502920"/>
          </a:xfrm>
          <a:prstGeom prst="rect">
            <a:avLst/>
          </a:prstGeom>
          <a:solidFill>
            <a:srgbClr val="060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2880" y="4647720"/>
            <a:ext cx="6400800" cy="380000"/>
          </a:xfrm>
          <a:prstGeom prst="rect">
            <a:avLst/>
          </a:prstGeom>
          <a:noFill/>
        </p:spPr>
        <p:txBody>
          <a:bodyPr wrap="square">
            <a:spAutoFit/>
          </a:bodyPr>
          <a:lstStyle/>
          <a:p>
            <a:pPr algn="l"/>
            <a:r>
              <a:rPr sz="750" b="1">
                <a:solidFill>
                  <a:srgbClr val="C8A840"/>
                </a:solidFill>
                <a:latin typeface="メイリオ"/>
              </a:rPr>
              <a:t>【設計】通常時は「招待状50G周期」という視覚的な周期管理+赫眼状態という二層構造でプレイヤーに常に期待感を与える。</a:t>
            </a:r>
          </a:p>
        </p:txBody>
      </p:sp>
      <p:sp>
        <p:nvSpPr>
          <p:cNvPr id="55" name="TextBox 54"/>
          <p:cNvSpPr txBox="1"/>
          <p:nvPr/>
        </p:nvSpPr>
        <p:spPr>
          <a:xfrm>
            <a:off x="182880" y="4847720"/>
            <a:ext cx="6858000" cy="200000"/>
          </a:xfrm>
          <a:prstGeom prst="rect">
            <a:avLst/>
          </a:prstGeom>
          <a:noFill/>
        </p:spPr>
        <p:txBody>
          <a:bodyPr wrap="square">
            <a:spAutoFit/>
          </a:bodyPr>
          <a:lstStyle/>
          <a:p>
            <a:pPr algn="l"/>
            <a:r>
              <a:rPr sz="650" b="0">
                <a:solidFill>
                  <a:srgbClr val="8888AA"/>
                </a:solidFill>
                <a:latin typeface="メイリオ"/>
              </a:rPr>
              <a:t>補足: CZ成功率は設定差大。設定示唆を積極的に読み取ることが高設定狙いのカギ。</a:t>
            </a:r>
          </a:p>
        </p:txBody>
      </p:sp>
      <p:sp>
        <p:nvSpPr>
          <p:cNvPr id="56" name="TextBox 55"/>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E0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300" b="1">
                <a:solidFill>
                  <a:srgbClr val="FF4444"/>
                </a:solidFill>
                <a:latin typeface="游明朝"/>
              </a:rPr>
              <a:t>CZ・前兆の仕組み ── 2種のCZと有馬貴将ジャッジメントの突破で道が開く</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4/9</a:t>
            </a:r>
          </a:p>
        </p:txBody>
      </p:sp>
      <p:sp>
        <p:nvSpPr>
          <p:cNvPr id="7" name="Rectangle 6"/>
          <p:cNvSpPr/>
          <p:nvPr/>
        </p:nvSpPr>
        <p:spPr>
          <a:xfrm>
            <a:off x="0" y="530352"/>
            <a:ext cx="9144000" cy="7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685800"/>
            <a:ext cx="4114800" cy="1700000"/>
          </a:xfrm>
          <a:prstGeom prst="rect">
            <a:avLst/>
          </a:prstGeom>
          <a:solidFill>
            <a:srgbClr val="0E061C"/>
          </a:solidFill>
          <a:ln w="1905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685800"/>
            <a:ext cx="45000" cy="1700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20" y="745800"/>
            <a:ext cx="4014800" cy="280000"/>
          </a:xfrm>
          <a:prstGeom prst="rect">
            <a:avLst/>
          </a:prstGeom>
          <a:noFill/>
        </p:spPr>
        <p:txBody>
          <a:bodyPr wrap="square">
            <a:spAutoFit/>
          </a:bodyPr>
          <a:lstStyle/>
          <a:p>
            <a:pPr algn="l"/>
            <a:r>
              <a:rPr sz="1100" b="1">
                <a:solidFill>
                  <a:srgbClr val="8833CC"/>
                </a:solidFill>
                <a:latin typeface="游明朝"/>
              </a:rPr>
              <a:t>CZ ① 追憶（通常格）</a:t>
            </a:r>
          </a:p>
        </p:txBody>
      </p:sp>
      <p:sp>
        <p:nvSpPr>
          <p:cNvPr id="11" name="TextBox 10"/>
          <p:cNvSpPr txBox="1"/>
          <p:nvPr/>
        </p:nvSpPr>
        <p:spPr>
          <a:xfrm>
            <a:off x="349320" y="1045800"/>
            <a:ext cx="4014800" cy="1280000"/>
          </a:xfrm>
          <a:prstGeom prst="rect">
            <a:avLst/>
          </a:prstGeom>
          <a:noFill/>
        </p:spPr>
        <p:txBody>
          <a:bodyPr wrap="square">
            <a:spAutoFit/>
          </a:bodyPr>
          <a:lstStyle/>
          <a:p>
            <a:pPr algn="l"/>
            <a:r>
              <a:rPr sz="850" b="0">
                <a:solidFill>
                  <a:srgbClr val="E8E8F4"/>
                </a:solidFill>
                <a:latin typeface="メイリオ"/>
              </a:rPr>
              <a:t>■ 発生条件: 50G周期消化 or レア役
■ 内容: バトル演出でAT当選を目指す
■ 成功率: 設定差あり（高設定ほど有利）
■ 失敗時: 再チャレンジ抽選あり
■ 演出見方: キャラ会話・技演出に注目</a:t>
            </a:r>
          </a:p>
        </p:txBody>
      </p:sp>
      <p:sp>
        <p:nvSpPr>
          <p:cNvPr id="12" name="Rectangle 11"/>
          <p:cNvSpPr/>
          <p:nvPr/>
        </p:nvSpPr>
        <p:spPr>
          <a:xfrm>
            <a:off x="4754880" y="685800"/>
            <a:ext cx="4114800" cy="1700000"/>
          </a:xfrm>
          <a:prstGeom prst="rect">
            <a:avLst/>
          </a:prstGeom>
          <a:solidFill>
            <a:srgbClr val="0E061C"/>
          </a:solidFill>
          <a:ln w="1905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54880" y="685800"/>
            <a:ext cx="45000" cy="170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9880" y="745800"/>
            <a:ext cx="4014800" cy="280000"/>
          </a:xfrm>
          <a:prstGeom prst="rect">
            <a:avLst/>
          </a:prstGeom>
          <a:noFill/>
        </p:spPr>
        <p:txBody>
          <a:bodyPr wrap="square">
            <a:spAutoFit/>
          </a:bodyPr>
          <a:lstStyle/>
          <a:p>
            <a:pPr algn="l"/>
            <a:r>
              <a:rPr sz="1100" b="1">
                <a:solidFill>
                  <a:srgbClr val="CC2222"/>
                </a:solidFill>
                <a:latin typeface="游明朝"/>
              </a:rPr>
              <a:t>CZ ② 大喰種討伐（高格）</a:t>
            </a:r>
          </a:p>
        </p:txBody>
      </p:sp>
      <p:sp>
        <p:nvSpPr>
          <p:cNvPr id="15" name="TextBox 14"/>
          <p:cNvSpPr txBox="1"/>
          <p:nvPr/>
        </p:nvSpPr>
        <p:spPr>
          <a:xfrm>
            <a:off x="4829880" y="1045800"/>
            <a:ext cx="4014800" cy="1280000"/>
          </a:xfrm>
          <a:prstGeom prst="rect">
            <a:avLst/>
          </a:prstGeom>
          <a:noFill/>
        </p:spPr>
        <p:txBody>
          <a:bodyPr wrap="square">
            <a:spAutoFit/>
          </a:bodyPr>
          <a:lstStyle/>
          <a:p>
            <a:pPr algn="l"/>
            <a:r>
              <a:rPr sz="850" b="0">
                <a:solidFill>
                  <a:srgbClr val="E8E8F4"/>
                </a:solidFill>
                <a:latin typeface="メイリオ"/>
              </a:rPr>
              <a:t>■ 発生条件: 高モード滞在時・レア役高確
■ 内容: 成功でAT確定（失敗なし確定型も）
■ 期待度: ① より大幅に高い
■ 演出: 大喰種（SS級）が出現
■ 高設定ほど出現頻度が高い</a:t>
            </a:r>
          </a:p>
        </p:txBody>
      </p:sp>
      <p:sp>
        <p:nvSpPr>
          <p:cNvPr id="16" name="Rectangle 15"/>
          <p:cNvSpPr/>
          <p:nvPr/>
        </p:nvSpPr>
        <p:spPr>
          <a:xfrm>
            <a:off x="274320" y="2377440"/>
            <a:ext cx="8595360" cy="1700000"/>
          </a:xfrm>
          <a:prstGeom prst="rect">
            <a:avLst/>
          </a:prstGeom>
          <a:solidFill>
            <a:srgbClr val="0E061C"/>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377440"/>
            <a:ext cx="55000" cy="17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437440"/>
            <a:ext cx="8495360" cy="280000"/>
          </a:xfrm>
          <a:prstGeom prst="rect">
            <a:avLst/>
          </a:prstGeom>
          <a:noFill/>
        </p:spPr>
        <p:txBody>
          <a:bodyPr wrap="square">
            <a:spAutoFit/>
          </a:bodyPr>
          <a:lstStyle/>
          <a:p>
            <a:pPr algn="l"/>
            <a:r>
              <a:rPr sz="1100" b="1">
                <a:solidFill>
                  <a:srgbClr val="C8A840"/>
                </a:solidFill>
                <a:latin typeface="游明朝"/>
              </a:rPr>
              <a:t>上位CZ「有馬貴将ジャッジメント」── AT終了/BITES後に突入する最重要ゾーン</a:t>
            </a:r>
          </a:p>
        </p:txBody>
      </p:sp>
      <p:sp>
        <p:nvSpPr>
          <p:cNvPr id="19" name="Rectangle 18"/>
          <p:cNvSpPr/>
          <p:nvPr/>
        </p:nvSpPr>
        <p:spPr>
          <a:xfrm>
            <a:off x="457200" y="2757440"/>
            <a:ext cx="2651760" cy="1200000"/>
          </a:xfrm>
          <a:prstGeom prst="rect">
            <a:avLst/>
          </a:prstGeom>
          <a:solidFill>
            <a:srgbClr val="160A28"/>
          </a:solidFill>
          <a:ln w="101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7200" y="2807440"/>
            <a:ext cx="2551760" cy="280000"/>
          </a:xfrm>
          <a:prstGeom prst="rect">
            <a:avLst/>
          </a:prstGeom>
          <a:noFill/>
        </p:spPr>
        <p:txBody>
          <a:bodyPr wrap="square">
            <a:spAutoFit/>
          </a:bodyPr>
          <a:lstStyle/>
          <a:p>
            <a:pPr algn="l"/>
            <a:r>
              <a:rPr sz="950" b="1">
                <a:solidFill>
                  <a:srgbClr val="FFD700"/>
                </a:solidFill>
                <a:latin typeface="メイリオ"/>
              </a:rPr>
              <a:t>突入条件</a:t>
            </a:r>
          </a:p>
        </p:txBody>
      </p:sp>
      <p:sp>
        <p:nvSpPr>
          <p:cNvPr id="21" name="TextBox 20"/>
          <p:cNvSpPr txBox="1"/>
          <p:nvPr/>
        </p:nvSpPr>
        <p:spPr>
          <a:xfrm>
            <a:off x="507200" y="3097440"/>
            <a:ext cx="2551760" cy="800000"/>
          </a:xfrm>
          <a:prstGeom prst="rect">
            <a:avLst/>
          </a:prstGeom>
          <a:noFill/>
        </p:spPr>
        <p:txBody>
          <a:bodyPr wrap="square">
            <a:spAutoFit/>
          </a:bodyPr>
          <a:lstStyle/>
          <a:p>
            <a:pPr algn="l"/>
            <a:r>
              <a:rPr sz="750" b="0">
                <a:solidFill>
                  <a:srgbClr val="E8E8F4"/>
                </a:solidFill>
                <a:latin typeface="メイリオ"/>
              </a:rPr>
              <a:t>AT中の喰種対決で有馬乱入
→勝利後にジャッジメント発生
またはAT終了時のエンディング
達成でも突入。</a:t>
            </a:r>
          </a:p>
        </p:txBody>
      </p:sp>
      <p:sp>
        <p:nvSpPr>
          <p:cNvPr id="22" name="Rectangle 21"/>
          <p:cNvSpPr/>
          <p:nvPr/>
        </p:nvSpPr>
        <p:spPr>
          <a:xfrm>
            <a:off x="3208960" y="2757440"/>
            <a:ext cx="2651760" cy="1200000"/>
          </a:xfrm>
          <a:prstGeom prst="rect">
            <a:avLst/>
          </a:prstGeom>
          <a:solidFill>
            <a:srgbClr val="160A28"/>
          </a:solidFill>
          <a:ln w="101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58960" y="2807440"/>
            <a:ext cx="2551760" cy="280000"/>
          </a:xfrm>
          <a:prstGeom prst="rect">
            <a:avLst/>
          </a:prstGeom>
          <a:noFill/>
        </p:spPr>
        <p:txBody>
          <a:bodyPr wrap="square">
            <a:spAutoFit/>
          </a:bodyPr>
          <a:lstStyle/>
          <a:p>
            <a:pPr algn="l"/>
            <a:r>
              <a:rPr sz="950" b="1">
                <a:solidFill>
                  <a:srgbClr val="FFD700"/>
                </a:solidFill>
                <a:latin typeface="メイリオ"/>
              </a:rPr>
              <a:t>5G間の挑戦</a:t>
            </a:r>
          </a:p>
        </p:txBody>
      </p:sp>
      <p:sp>
        <p:nvSpPr>
          <p:cNvPr id="24" name="TextBox 23"/>
          <p:cNvSpPr txBox="1"/>
          <p:nvPr/>
        </p:nvSpPr>
        <p:spPr>
          <a:xfrm>
            <a:off x="3258960" y="3097440"/>
            <a:ext cx="2551760" cy="800000"/>
          </a:xfrm>
          <a:prstGeom prst="rect">
            <a:avLst/>
          </a:prstGeom>
          <a:noFill/>
        </p:spPr>
        <p:txBody>
          <a:bodyPr wrap="square">
            <a:spAutoFit/>
          </a:bodyPr>
          <a:lstStyle/>
          <a:p>
            <a:pPr algn="l"/>
            <a:r>
              <a:rPr sz="750" b="0">
                <a:solidFill>
                  <a:srgbClr val="E8E8F4"/>
                </a:solidFill>
                <a:latin typeface="メイリオ"/>
              </a:rPr>
              <a:t>5G継続のミニバトル形式
成功率約61%（全設定）
成功→CCG死神ゾーン突入
失敗→AT終了（引き戻しなし）</a:t>
            </a:r>
          </a:p>
        </p:txBody>
      </p:sp>
      <p:sp>
        <p:nvSpPr>
          <p:cNvPr id="25" name="Rectangle 24"/>
          <p:cNvSpPr/>
          <p:nvPr/>
        </p:nvSpPr>
        <p:spPr>
          <a:xfrm>
            <a:off x="5960720" y="2757440"/>
            <a:ext cx="2651760" cy="1200000"/>
          </a:xfrm>
          <a:prstGeom prst="rect">
            <a:avLst/>
          </a:prstGeom>
          <a:solidFill>
            <a:srgbClr val="160A28"/>
          </a:solidFill>
          <a:ln w="101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10720" y="2807440"/>
            <a:ext cx="2551760" cy="280000"/>
          </a:xfrm>
          <a:prstGeom prst="rect">
            <a:avLst/>
          </a:prstGeom>
          <a:noFill/>
        </p:spPr>
        <p:txBody>
          <a:bodyPr wrap="square">
            <a:spAutoFit/>
          </a:bodyPr>
          <a:lstStyle/>
          <a:p>
            <a:pPr algn="l"/>
            <a:r>
              <a:rPr sz="950" b="1">
                <a:solidFill>
                  <a:srgbClr val="FFD700"/>
                </a:solidFill>
                <a:latin typeface="メイリオ"/>
              </a:rPr>
              <a:t>演出の見方</a:t>
            </a:r>
          </a:p>
        </p:txBody>
      </p:sp>
      <p:sp>
        <p:nvSpPr>
          <p:cNvPr id="27" name="TextBox 26"/>
          <p:cNvSpPr txBox="1"/>
          <p:nvPr/>
        </p:nvSpPr>
        <p:spPr>
          <a:xfrm>
            <a:off x="6010720" y="3097440"/>
            <a:ext cx="2551760" cy="800000"/>
          </a:xfrm>
          <a:prstGeom prst="rect">
            <a:avLst/>
          </a:prstGeom>
          <a:noFill/>
        </p:spPr>
        <p:txBody>
          <a:bodyPr wrap="square">
            <a:spAutoFit/>
          </a:bodyPr>
          <a:lstStyle/>
          <a:p>
            <a:pPr algn="l"/>
            <a:r>
              <a:rPr sz="750" b="0">
                <a:solidFill>
                  <a:srgbClr val="E8E8F4"/>
                </a:solidFill>
                <a:latin typeface="メイリオ"/>
              </a:rPr>
              <a:t>有馬貴将の攻撃演出に注目
白エフェクト：低期待
赤エフェクト：高期待
金エフェクト：成功濃厚</a:t>
            </a:r>
          </a:p>
        </p:txBody>
      </p:sp>
      <p:sp>
        <p:nvSpPr>
          <p:cNvPr id="28" name="Rectangle 27"/>
          <p:cNvSpPr/>
          <p:nvPr/>
        </p:nvSpPr>
        <p:spPr>
          <a:xfrm>
            <a:off x="0" y="4617720"/>
            <a:ext cx="9144000" cy="502920"/>
          </a:xfrm>
          <a:prstGeom prst="rect">
            <a:avLst/>
          </a:prstGeom>
          <a:solidFill>
            <a:srgbClr val="060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 y="4647720"/>
            <a:ext cx="6400800" cy="380000"/>
          </a:xfrm>
          <a:prstGeom prst="rect">
            <a:avLst/>
          </a:prstGeom>
          <a:noFill/>
        </p:spPr>
        <p:txBody>
          <a:bodyPr wrap="square">
            <a:spAutoFit/>
          </a:bodyPr>
          <a:lstStyle/>
          <a:p>
            <a:pPr algn="l"/>
            <a:r>
              <a:rPr sz="750" b="1">
                <a:solidFill>
                  <a:srgbClr val="C8A840"/>
                </a:solidFill>
                <a:latin typeface="メイリオ"/>
              </a:rPr>
              <a:t>【設計】CZ2種の格差設計が「大喰種討伐」発生時の高揚感を演出。ジャッジメントはAT体験のクライマックスを担う。</a:t>
            </a:r>
          </a:p>
        </p:txBody>
      </p:sp>
      <p:sp>
        <p:nvSpPr>
          <p:cNvPr id="30" name="TextBox 29"/>
          <p:cNvSpPr txBox="1"/>
          <p:nvPr/>
        </p:nvSpPr>
        <p:spPr>
          <a:xfrm>
            <a:off x="182880" y="4847720"/>
            <a:ext cx="6858000" cy="200000"/>
          </a:xfrm>
          <a:prstGeom prst="rect">
            <a:avLst/>
          </a:prstGeom>
          <a:noFill/>
        </p:spPr>
        <p:txBody>
          <a:bodyPr wrap="square">
            <a:spAutoFit/>
          </a:bodyPr>
          <a:lstStyle/>
          <a:p>
            <a:pPr algn="l"/>
            <a:r>
              <a:rPr sz="650" b="0">
                <a:solidFill>
                  <a:srgbClr val="8888AA"/>
                </a:solidFill>
                <a:latin typeface="メイリオ"/>
              </a:rPr>
              <a:t>補足: ジャッジメント失敗はAT終了確定。この緊張感がゲーム性の核心。成功時の爆発力との落差が面白さを作る。</a:t>
            </a:r>
          </a:p>
        </p:txBody>
      </p:sp>
      <p:sp>
        <p:nvSpPr>
          <p:cNvPr id="31" name="TextBox 30"/>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E0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300" b="1">
                <a:solidFill>
                  <a:srgbClr val="FF4444"/>
                </a:solidFill>
                <a:latin typeface="游明朝"/>
              </a:rPr>
              <a:t>AT「東京喰種咬」── 差枚管理＋喰種対決＋BITESで出玉を積み上げる</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5/9</a:t>
            </a:r>
          </a:p>
        </p:txBody>
      </p:sp>
      <p:sp>
        <p:nvSpPr>
          <p:cNvPr id="7" name="Rectangle 6"/>
          <p:cNvSpPr/>
          <p:nvPr/>
        </p:nvSpPr>
        <p:spPr>
          <a:xfrm>
            <a:off x="0" y="530352"/>
            <a:ext cx="9144000" cy="7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658368"/>
            <a:ext cx="4114800" cy="1850000"/>
          </a:xfrm>
          <a:prstGeom prst="rect">
            <a:avLst/>
          </a:prstGeom>
          <a:solidFill>
            <a:srgbClr val="0E061C"/>
          </a:solidFill>
          <a:ln w="1905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658368"/>
            <a:ext cx="45000" cy="185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20" y="708368"/>
            <a:ext cx="4014800" cy="260000"/>
          </a:xfrm>
          <a:prstGeom prst="rect">
            <a:avLst/>
          </a:prstGeom>
          <a:noFill/>
        </p:spPr>
        <p:txBody>
          <a:bodyPr wrap="square">
            <a:spAutoFit/>
          </a:bodyPr>
          <a:lstStyle/>
          <a:p>
            <a:pPr algn="l"/>
            <a:r>
              <a:rPr sz="1050" b="1">
                <a:solidFill>
                  <a:srgbClr val="CC2222"/>
                </a:solidFill>
                <a:latin typeface="游明朝"/>
              </a:rPr>
              <a:t>AT「東京喰種咬」概要</a:t>
            </a:r>
          </a:p>
        </p:txBody>
      </p:sp>
      <p:sp>
        <p:nvSpPr>
          <p:cNvPr id="11" name="TextBox 10"/>
          <p:cNvSpPr txBox="1"/>
          <p:nvPr/>
        </p:nvSpPr>
        <p:spPr>
          <a:xfrm>
            <a:off x="349320" y="978368"/>
            <a:ext cx="4014800" cy="1470000"/>
          </a:xfrm>
          <a:prstGeom prst="rect">
            <a:avLst/>
          </a:prstGeom>
          <a:noFill/>
        </p:spPr>
        <p:txBody>
          <a:bodyPr wrap="square">
            <a:spAutoFit/>
          </a:bodyPr>
          <a:lstStyle/>
          <a:p>
            <a:pPr algn="l"/>
            <a:r>
              <a:rPr sz="850" b="0">
                <a:solidFill>
                  <a:srgbClr val="E8E8F4"/>
                </a:solidFill>
                <a:latin typeface="メイリオ"/>
              </a:rPr>
              <a:t>■ 純増: 約4.0枚/G（差枚数管理型）
■ 初期差枚数: 150枚
■ レア役成立 → 差枚上乗せ抽選
  強チェリー/チャンス目(A・B)/確定役
  → 上乗せ濃厚（リールロックで100〜500枚）
■ 規定G消化 → 喰種対決抽選</a:t>
            </a:r>
          </a:p>
        </p:txBody>
      </p:sp>
      <p:sp>
        <p:nvSpPr>
          <p:cNvPr id="12" name="Rectangle 11"/>
          <p:cNvSpPr/>
          <p:nvPr/>
        </p:nvSpPr>
        <p:spPr>
          <a:xfrm>
            <a:off x="4663440" y="658368"/>
            <a:ext cx="4206240" cy="1850000"/>
          </a:xfrm>
          <a:prstGeom prst="rect">
            <a:avLst/>
          </a:prstGeom>
          <a:solidFill>
            <a:srgbClr val="0E061C"/>
          </a:solidFill>
          <a:ln w="1905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63440" y="658368"/>
            <a:ext cx="45000" cy="1850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38440" y="708368"/>
            <a:ext cx="4106240" cy="260000"/>
          </a:xfrm>
          <a:prstGeom prst="rect">
            <a:avLst/>
          </a:prstGeom>
          <a:noFill/>
        </p:spPr>
        <p:txBody>
          <a:bodyPr wrap="square">
            <a:spAutoFit/>
          </a:bodyPr>
          <a:lstStyle/>
          <a:p>
            <a:pPr algn="l"/>
            <a:r>
              <a:rPr sz="1050" b="1">
                <a:solidFill>
                  <a:srgbClr val="8833CC"/>
                </a:solidFill>
                <a:latin typeface="游明朝"/>
              </a:rPr>
              <a:t>喰種対決の流れ</a:t>
            </a:r>
          </a:p>
        </p:txBody>
      </p:sp>
      <p:sp>
        <p:nvSpPr>
          <p:cNvPr id="15" name="TextBox 14"/>
          <p:cNvSpPr txBox="1"/>
          <p:nvPr/>
        </p:nvSpPr>
        <p:spPr>
          <a:xfrm>
            <a:off x="4738440" y="978368"/>
            <a:ext cx="4106240" cy="1470000"/>
          </a:xfrm>
          <a:prstGeom prst="rect">
            <a:avLst/>
          </a:prstGeom>
          <a:noFill/>
        </p:spPr>
        <p:txBody>
          <a:bodyPr wrap="square">
            <a:spAutoFit/>
          </a:bodyPr>
          <a:lstStyle/>
          <a:p>
            <a:pPr algn="l"/>
            <a:r>
              <a:rPr sz="850" b="0">
                <a:solidFill>
                  <a:srgbClr val="E8E8F4"/>
                </a:solidFill>
                <a:latin typeface="メイリオ"/>
              </a:rPr>
              <a:t>■ レア役 or 規定G数 → 喰種対決抽選
■ バトル勝利 → BITES（報酬ゾーン）
  小役連続でUP / ハズレで終了のドキドキ構造
  4桁上乗せも狙える
■ 勝利後→特化ゾーン移行抽選あり</a:t>
            </a:r>
          </a:p>
        </p:txBody>
      </p:sp>
      <p:sp>
        <p:nvSpPr>
          <p:cNvPr id="16" name="Rectangle 15"/>
          <p:cNvSpPr/>
          <p:nvPr/>
        </p:nvSpPr>
        <p:spPr>
          <a:xfrm>
            <a:off x="274320" y="2514600"/>
            <a:ext cx="2743200" cy="1900000"/>
          </a:xfrm>
          <a:prstGeom prst="rect">
            <a:avLst/>
          </a:prstGeom>
          <a:solidFill>
            <a:srgbClr val="0E061C"/>
          </a:solidFill>
          <a:ln w="1905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514600"/>
            <a:ext cx="45000" cy="190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20" y="2574600"/>
            <a:ext cx="2643200" cy="380000"/>
          </a:xfrm>
          <a:prstGeom prst="rect">
            <a:avLst/>
          </a:prstGeom>
          <a:noFill/>
        </p:spPr>
        <p:txBody>
          <a:bodyPr wrap="square">
            <a:spAutoFit/>
          </a:bodyPr>
          <a:lstStyle/>
          <a:p>
            <a:pPr algn="l"/>
            <a:r>
              <a:rPr sz="1000" b="1">
                <a:solidFill>
                  <a:srgbClr val="CC2222"/>
                </a:solidFill>
                <a:latin typeface="游明朝"/>
              </a:rPr>
              <a:t>特化ゾーン ①
百足覚醒</a:t>
            </a:r>
          </a:p>
        </p:txBody>
      </p:sp>
      <p:sp>
        <p:nvSpPr>
          <p:cNvPr id="19" name="TextBox 18"/>
          <p:cNvSpPr txBox="1"/>
          <p:nvPr/>
        </p:nvSpPr>
        <p:spPr>
          <a:xfrm>
            <a:off x="349320" y="2964600"/>
            <a:ext cx="2643200" cy="1390000"/>
          </a:xfrm>
          <a:prstGeom prst="rect">
            <a:avLst/>
          </a:prstGeom>
          <a:noFill/>
        </p:spPr>
        <p:txBody>
          <a:bodyPr wrap="square">
            <a:spAutoFit/>
          </a:bodyPr>
          <a:lstStyle/>
          <a:p>
            <a:pPr algn="l"/>
            <a:r>
              <a:rPr sz="800" b="0">
                <a:solidFill>
                  <a:srgbClr val="E8E8F4"/>
                </a:solidFill>
                <a:latin typeface="メイリオ"/>
              </a:rPr>
              <a:t>■ 上乗せ期待枚数: 約300枚
■ 「咬みつく」度に上乗せ枚数が増加していく
■ 連続する咬みつきで300枚超えも
■ 終了後はAT継続 or 喰種対決へ</a:t>
            </a:r>
          </a:p>
        </p:txBody>
      </p:sp>
      <p:sp>
        <p:nvSpPr>
          <p:cNvPr id="20" name="Rectangle 19"/>
          <p:cNvSpPr/>
          <p:nvPr/>
        </p:nvSpPr>
        <p:spPr>
          <a:xfrm>
            <a:off x="3137520" y="2514600"/>
            <a:ext cx="2743200" cy="1900000"/>
          </a:xfrm>
          <a:prstGeom prst="rect">
            <a:avLst/>
          </a:prstGeom>
          <a:solidFill>
            <a:srgbClr val="0E061C"/>
          </a:solidFill>
          <a:ln w="1905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37520" y="2514600"/>
            <a:ext cx="45000" cy="1900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12520" y="2574600"/>
            <a:ext cx="2643200" cy="380000"/>
          </a:xfrm>
          <a:prstGeom prst="rect">
            <a:avLst/>
          </a:prstGeom>
          <a:noFill/>
        </p:spPr>
        <p:txBody>
          <a:bodyPr wrap="square">
            <a:spAutoFit/>
          </a:bodyPr>
          <a:lstStyle/>
          <a:p>
            <a:pPr algn="l"/>
            <a:r>
              <a:rPr sz="1000" b="1">
                <a:solidFill>
                  <a:srgbClr val="8833CC"/>
                </a:solidFill>
                <a:latin typeface="游明朝"/>
              </a:rPr>
              <a:t>特化ゾーン ②
隻眼の梟</a:t>
            </a:r>
          </a:p>
        </p:txBody>
      </p:sp>
      <p:sp>
        <p:nvSpPr>
          <p:cNvPr id="23" name="TextBox 22"/>
          <p:cNvSpPr txBox="1"/>
          <p:nvPr/>
        </p:nvSpPr>
        <p:spPr>
          <a:xfrm>
            <a:off x="3212520" y="2964600"/>
            <a:ext cx="2643200" cy="1390000"/>
          </a:xfrm>
          <a:prstGeom prst="rect">
            <a:avLst/>
          </a:prstGeom>
          <a:noFill/>
        </p:spPr>
        <p:txBody>
          <a:bodyPr wrap="square">
            <a:spAutoFit/>
          </a:bodyPr>
          <a:lstStyle/>
          <a:p>
            <a:pPr algn="l"/>
            <a:r>
              <a:rPr sz="800" b="0">
                <a:solidFill>
                  <a:srgbClr val="E8E8F4"/>
                </a:solidFill>
                <a:latin typeface="メイリオ"/>
              </a:rPr>
              <a:t>■ 上乗せ期待枚数: 約500枚
■ 1G完結型の超高速特化ゾーン
■ 1G勝負でドカンと積み増す爽快感
■ 百足覚醒より高い期待値</a:t>
            </a:r>
          </a:p>
        </p:txBody>
      </p:sp>
      <p:sp>
        <p:nvSpPr>
          <p:cNvPr id="24" name="Rectangle 23"/>
          <p:cNvSpPr/>
          <p:nvPr/>
        </p:nvSpPr>
        <p:spPr>
          <a:xfrm>
            <a:off x="6000720" y="2514600"/>
            <a:ext cx="2743200" cy="1900000"/>
          </a:xfrm>
          <a:prstGeom prst="rect">
            <a:avLst/>
          </a:prstGeom>
          <a:solidFill>
            <a:srgbClr val="0E061C"/>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00720" y="2514600"/>
            <a:ext cx="45000" cy="19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75720" y="2574600"/>
            <a:ext cx="2643200" cy="380000"/>
          </a:xfrm>
          <a:prstGeom prst="rect">
            <a:avLst/>
          </a:prstGeom>
          <a:noFill/>
        </p:spPr>
        <p:txBody>
          <a:bodyPr wrap="square">
            <a:spAutoFit/>
          </a:bodyPr>
          <a:lstStyle/>
          <a:p>
            <a:pPr algn="l"/>
            <a:r>
              <a:rPr sz="1000" b="1">
                <a:solidFill>
                  <a:srgbClr val="C8A840"/>
                </a:solidFill>
                <a:latin typeface="游明朝"/>
              </a:rPr>
              <a:t>上乗せ演出法則</a:t>
            </a:r>
          </a:p>
        </p:txBody>
      </p:sp>
      <p:sp>
        <p:nvSpPr>
          <p:cNvPr id="27" name="TextBox 26"/>
          <p:cNvSpPr txBox="1"/>
          <p:nvPr/>
        </p:nvSpPr>
        <p:spPr>
          <a:xfrm>
            <a:off x="6075720" y="2964600"/>
            <a:ext cx="2643200" cy="1390000"/>
          </a:xfrm>
          <a:prstGeom prst="rect">
            <a:avLst/>
          </a:prstGeom>
          <a:noFill/>
        </p:spPr>
        <p:txBody>
          <a:bodyPr wrap="square">
            <a:spAutoFit/>
          </a:bodyPr>
          <a:lstStyle/>
          <a:p>
            <a:pPr algn="l"/>
            <a:r>
              <a:rPr sz="800" b="0">
                <a:solidFill>
                  <a:srgbClr val="E8E8F4"/>
                </a:solidFill>
                <a:latin typeface="メイリオ"/>
              </a:rPr>
              <a:t>■ リールロック発生: 100〜500枚濃厚
■ 赫眼連続演出: 複数回上乗せ期待
■ 金枠フラッシュ: 大量上乗せ濃厚
■ 法則崩れはさらなる上乗せのサイン</a:t>
            </a:r>
          </a:p>
        </p:txBody>
      </p:sp>
      <p:sp>
        <p:nvSpPr>
          <p:cNvPr id="28" name="Rectangle 27"/>
          <p:cNvSpPr/>
          <p:nvPr/>
        </p:nvSpPr>
        <p:spPr>
          <a:xfrm>
            <a:off x="0" y="4617720"/>
            <a:ext cx="9144000" cy="502920"/>
          </a:xfrm>
          <a:prstGeom prst="rect">
            <a:avLst/>
          </a:prstGeom>
          <a:solidFill>
            <a:srgbClr val="060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 y="4647720"/>
            <a:ext cx="6400800" cy="380000"/>
          </a:xfrm>
          <a:prstGeom prst="rect">
            <a:avLst/>
          </a:prstGeom>
          <a:noFill/>
        </p:spPr>
        <p:txBody>
          <a:bodyPr wrap="square">
            <a:spAutoFit/>
          </a:bodyPr>
          <a:lstStyle/>
          <a:p>
            <a:pPr algn="l"/>
            <a:r>
              <a:rPr sz="750" b="1">
                <a:solidFill>
                  <a:srgbClr val="C8A840"/>
                </a:solidFill>
                <a:latin typeface="メイリオ"/>
              </a:rPr>
              <a:t>【設計】AT内の上乗せ設計は「差枚管理＋バトル勝利ボーナス＋特化ゾーン」の三重構造。積み上げの連鎖が快感の核。</a:t>
            </a:r>
          </a:p>
        </p:txBody>
      </p:sp>
      <p:sp>
        <p:nvSpPr>
          <p:cNvPr id="30" name="TextBox 29"/>
          <p:cNvSpPr txBox="1"/>
          <p:nvPr/>
        </p:nvSpPr>
        <p:spPr>
          <a:xfrm>
            <a:off x="182880" y="4847720"/>
            <a:ext cx="6858000" cy="200000"/>
          </a:xfrm>
          <a:prstGeom prst="rect">
            <a:avLst/>
          </a:prstGeom>
          <a:noFill/>
        </p:spPr>
        <p:txBody>
          <a:bodyPr wrap="square">
            <a:spAutoFit/>
          </a:bodyPr>
          <a:lstStyle/>
          <a:p>
            <a:pPr algn="l"/>
            <a:r>
              <a:rPr sz="650" b="0">
                <a:solidFill>
                  <a:srgbClr val="8888AA"/>
                </a:solidFill>
                <a:latin typeface="メイリオ"/>
              </a:rPr>
              <a:t>補足: 強役での上乗せ濃厚演出がプレイヤーに能動的な期待感を与え続ける設計が評価の高さにつながっている。</a:t>
            </a:r>
          </a:p>
        </p:txBody>
      </p:sp>
      <p:sp>
        <p:nvSpPr>
          <p:cNvPr id="31" name="TextBox 30"/>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E0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300" b="1">
                <a:solidFill>
                  <a:srgbClr val="FF4444"/>
                </a:solidFill>
                <a:latin typeface="游明朝"/>
              </a:rPr>
              <a:t>上位AT「裏AT」への道 ── ジャッジメント→CCG死神→裏AT 三段階の夢</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6/9</a:t>
            </a:r>
          </a:p>
        </p:txBody>
      </p:sp>
      <p:sp>
        <p:nvSpPr>
          <p:cNvPr id="7" name="Rectangle 6"/>
          <p:cNvSpPr/>
          <p:nvPr/>
        </p:nvSpPr>
        <p:spPr>
          <a:xfrm>
            <a:off x="0" y="530352"/>
            <a:ext cx="9144000" cy="7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658368"/>
            <a:ext cx="2560320" cy="3500000"/>
          </a:xfrm>
          <a:prstGeom prst="rect">
            <a:avLst/>
          </a:prstGeom>
          <a:solidFill>
            <a:srgbClr val="0E061C"/>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658368"/>
            <a:ext cx="55000" cy="35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320" y="718368"/>
            <a:ext cx="2450320" cy="380000"/>
          </a:xfrm>
          <a:prstGeom prst="rect">
            <a:avLst/>
          </a:prstGeom>
          <a:noFill/>
        </p:spPr>
        <p:txBody>
          <a:bodyPr wrap="square">
            <a:spAutoFit/>
          </a:bodyPr>
          <a:lstStyle/>
          <a:p>
            <a:pPr algn="ctr"/>
            <a:r>
              <a:rPr sz="1100" b="1">
                <a:solidFill>
                  <a:srgbClr val="C8A840"/>
                </a:solidFill>
                <a:latin typeface="游明朝"/>
              </a:rPr>
              <a:t>有馬貴将
ジャッジメント</a:t>
            </a:r>
          </a:p>
        </p:txBody>
      </p:sp>
      <p:sp>
        <p:nvSpPr>
          <p:cNvPr id="11" name="Rectangle 10"/>
          <p:cNvSpPr/>
          <p:nvPr/>
        </p:nvSpPr>
        <p:spPr>
          <a:xfrm>
            <a:off x="274320" y="1108368"/>
            <a:ext cx="2560320" cy="7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320" y="1138368"/>
            <a:ext cx="2450320" cy="2950000"/>
          </a:xfrm>
          <a:prstGeom prst="rect">
            <a:avLst/>
          </a:prstGeom>
          <a:noFill/>
        </p:spPr>
        <p:txBody>
          <a:bodyPr wrap="square">
            <a:spAutoFit/>
          </a:bodyPr>
          <a:lstStyle/>
          <a:p>
            <a:pPr algn="l"/>
            <a:r>
              <a:rPr sz="850" b="0">
                <a:solidFill>
                  <a:srgbClr val="E8E8F4"/>
                </a:solidFill>
                <a:latin typeface="メイリオ"/>
              </a:rPr>
              <a:t>突入条件:
・有馬乱入バトル勝利後
・AT中エンディング達成後
内容:
5G間バトル
成功率: 約61%
失敗 → AT終了</a:t>
            </a:r>
          </a:p>
        </p:txBody>
      </p:sp>
      <p:sp>
        <p:nvSpPr>
          <p:cNvPr id="13" name="Can 12"/>
          <p:cNvSpPr/>
          <p:nvPr/>
        </p:nvSpPr>
        <p:spPr>
          <a:xfrm>
            <a:off x="2884640" y="2318368"/>
            <a:ext cx="200000" cy="180000"/>
          </a:xfrm>
          <a:prstGeom prst="can">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4640" y="658368"/>
            <a:ext cx="2560320" cy="3500000"/>
          </a:xfrm>
          <a:prstGeom prst="rect">
            <a:avLst/>
          </a:prstGeom>
          <a:solidFill>
            <a:srgbClr val="0E061C"/>
          </a:solidFill>
          <a:ln w="2540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4640" y="658368"/>
            <a:ext cx="55000" cy="350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14640" y="718368"/>
            <a:ext cx="2450320" cy="380000"/>
          </a:xfrm>
          <a:prstGeom prst="rect">
            <a:avLst/>
          </a:prstGeom>
          <a:noFill/>
        </p:spPr>
        <p:txBody>
          <a:bodyPr wrap="square">
            <a:spAutoFit/>
          </a:bodyPr>
          <a:lstStyle/>
          <a:p>
            <a:pPr algn="ctr"/>
            <a:r>
              <a:rPr sz="1100" b="1">
                <a:solidFill>
                  <a:srgbClr val="CC2222"/>
                </a:solidFill>
                <a:latin typeface="游明朝"/>
              </a:rPr>
              <a:t>CCG死神
（特殊上乗せゾーン）</a:t>
            </a:r>
          </a:p>
        </p:txBody>
      </p:sp>
      <p:sp>
        <p:nvSpPr>
          <p:cNvPr id="17" name="Rectangle 16"/>
          <p:cNvSpPr/>
          <p:nvPr/>
        </p:nvSpPr>
        <p:spPr>
          <a:xfrm>
            <a:off x="3334640" y="1108368"/>
            <a:ext cx="2560320" cy="7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14640" y="1138368"/>
            <a:ext cx="2450320" cy="2950000"/>
          </a:xfrm>
          <a:prstGeom prst="rect">
            <a:avLst/>
          </a:prstGeom>
          <a:noFill/>
        </p:spPr>
        <p:txBody>
          <a:bodyPr wrap="square">
            <a:spAutoFit/>
          </a:bodyPr>
          <a:lstStyle/>
          <a:p>
            <a:pPr algn="l"/>
            <a:r>
              <a:rPr sz="850" b="0">
                <a:solidFill>
                  <a:srgbClr val="E8E8F4"/>
                </a:solidFill>
                <a:latin typeface="メイリオ"/>
              </a:rPr>
              <a:t>突入条件:
ジャッジメント成功
内容:
1G完結型ゾーン
300 / 500 / 1000 / 2000枚
のいずれかを上乗せ
成立役により決定</a:t>
            </a:r>
          </a:p>
        </p:txBody>
      </p:sp>
      <p:sp>
        <p:nvSpPr>
          <p:cNvPr id="19" name="Can 18"/>
          <p:cNvSpPr/>
          <p:nvPr/>
        </p:nvSpPr>
        <p:spPr>
          <a:xfrm>
            <a:off x="5944960" y="2318368"/>
            <a:ext cx="200000" cy="180000"/>
          </a:xfrm>
          <a:prstGeom prst="can">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4960" y="658368"/>
            <a:ext cx="2560320" cy="3500000"/>
          </a:xfrm>
          <a:prstGeom prst="rect">
            <a:avLst/>
          </a:prstGeom>
          <a:solidFill>
            <a:srgbClr val="0E061C"/>
          </a:solidFill>
          <a:ln w="25400">
            <a:solidFill>
              <a:srgbClr val="AA5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94960" y="658368"/>
            <a:ext cx="55000" cy="3500000"/>
          </a:xfrm>
          <a:prstGeom prst="rect">
            <a:avLst/>
          </a:prstGeom>
          <a:solidFill>
            <a:srgbClr val="AA5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4960" y="718368"/>
            <a:ext cx="2450320" cy="380000"/>
          </a:xfrm>
          <a:prstGeom prst="rect">
            <a:avLst/>
          </a:prstGeom>
          <a:noFill/>
        </p:spPr>
        <p:txBody>
          <a:bodyPr wrap="square">
            <a:spAutoFit/>
          </a:bodyPr>
          <a:lstStyle/>
          <a:p>
            <a:pPr algn="ctr"/>
            <a:r>
              <a:rPr sz="1100" b="1">
                <a:solidFill>
                  <a:srgbClr val="AA55EE"/>
                </a:solidFill>
                <a:latin typeface="游明朝"/>
              </a:rPr>
              <a:t>裏AT（上位AT）</a:t>
            </a:r>
          </a:p>
        </p:txBody>
      </p:sp>
      <p:sp>
        <p:nvSpPr>
          <p:cNvPr id="23" name="Rectangle 22"/>
          <p:cNvSpPr/>
          <p:nvPr/>
        </p:nvSpPr>
        <p:spPr>
          <a:xfrm>
            <a:off x="6394960" y="1108368"/>
            <a:ext cx="2560320" cy="7000"/>
          </a:xfrm>
          <a:prstGeom prst="rect">
            <a:avLst/>
          </a:prstGeom>
          <a:solidFill>
            <a:srgbClr val="AA5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4960" y="1138368"/>
            <a:ext cx="2450320" cy="2950000"/>
          </a:xfrm>
          <a:prstGeom prst="rect">
            <a:avLst/>
          </a:prstGeom>
          <a:noFill/>
        </p:spPr>
        <p:txBody>
          <a:bodyPr wrap="square">
            <a:spAutoFit/>
          </a:bodyPr>
          <a:lstStyle/>
          <a:p>
            <a:pPr algn="l"/>
            <a:r>
              <a:rPr sz="850" b="0">
                <a:solidFill>
                  <a:srgbClr val="E8E8F4"/>
                </a:solidFill>
                <a:latin typeface="メイリオ"/>
              </a:rPr>
              <a:t>突入条件:
・ジャッジメント成功一部
・非有馬経由AT当選時の一部
内容:
純増: 約5.0枚/G
喰種対決成功率が大幅UP
有馬乱入率: 全設定で高確率
期待枚数: 約3430枚（込）</a:t>
            </a:r>
          </a:p>
        </p:txBody>
      </p:sp>
      <p:sp>
        <p:nvSpPr>
          <p:cNvPr id="25" name="Rectangle 24"/>
          <p:cNvSpPr/>
          <p:nvPr/>
        </p:nvSpPr>
        <p:spPr>
          <a:xfrm>
            <a:off x="274320" y="4206240"/>
            <a:ext cx="8595360" cy="380000"/>
          </a:xfrm>
          <a:prstGeom prst="rect">
            <a:avLst/>
          </a:prstGeom>
          <a:solidFill>
            <a:srgbClr val="160A28"/>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256240"/>
            <a:ext cx="8229600" cy="300000"/>
          </a:xfrm>
          <a:prstGeom prst="rect">
            <a:avLst/>
          </a:prstGeom>
          <a:noFill/>
        </p:spPr>
        <p:txBody>
          <a:bodyPr wrap="square">
            <a:spAutoFit/>
          </a:bodyPr>
          <a:lstStyle/>
          <a:p>
            <a:pPr algn="l"/>
            <a:r>
              <a:rPr sz="850" b="1">
                <a:solidFill>
                  <a:srgbClr val="C8A840"/>
                </a:solidFill>
                <a:latin typeface="メイリオ"/>
              </a:rPr>
              <a:t>設定差ポイント: 高設定ほど「非有馬経由」AT当選時の裏AT直行率が高い。高設定台の爆発力の根幹がここにある。</a:t>
            </a:r>
          </a:p>
        </p:txBody>
      </p:sp>
      <p:sp>
        <p:nvSpPr>
          <p:cNvPr id="27" name="Rectangle 26"/>
          <p:cNvSpPr/>
          <p:nvPr/>
        </p:nvSpPr>
        <p:spPr>
          <a:xfrm>
            <a:off x="0" y="4617720"/>
            <a:ext cx="9144000" cy="502920"/>
          </a:xfrm>
          <a:prstGeom prst="rect">
            <a:avLst/>
          </a:prstGeom>
          <a:solidFill>
            <a:srgbClr val="060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2880" y="4647720"/>
            <a:ext cx="6400800" cy="380000"/>
          </a:xfrm>
          <a:prstGeom prst="rect">
            <a:avLst/>
          </a:prstGeom>
          <a:noFill/>
        </p:spPr>
        <p:txBody>
          <a:bodyPr wrap="square">
            <a:spAutoFit/>
          </a:bodyPr>
          <a:lstStyle/>
          <a:p>
            <a:pPr algn="l"/>
            <a:r>
              <a:rPr sz="750" b="1">
                <a:solidFill>
                  <a:srgbClr val="C8A840"/>
                </a:solidFill>
                <a:latin typeface="メイリオ"/>
              </a:rPr>
              <a:t>【設計】「ジャッジメント成功率61%」という絶妙な数字が、期待と緊張の均衡を保ちつつ爆発体験を担保する設計の要。</a:t>
            </a:r>
          </a:p>
        </p:txBody>
      </p:sp>
      <p:sp>
        <p:nvSpPr>
          <p:cNvPr id="29" name="TextBox 28"/>
          <p:cNvSpPr txBox="1"/>
          <p:nvPr/>
        </p:nvSpPr>
        <p:spPr>
          <a:xfrm>
            <a:off x="182880" y="4847720"/>
            <a:ext cx="6858000" cy="200000"/>
          </a:xfrm>
          <a:prstGeom prst="rect">
            <a:avLst/>
          </a:prstGeom>
          <a:noFill/>
        </p:spPr>
        <p:txBody>
          <a:bodyPr wrap="square">
            <a:spAutoFit/>
          </a:bodyPr>
          <a:lstStyle/>
          <a:p>
            <a:pPr algn="l"/>
            <a:r>
              <a:rPr sz="650" b="0">
                <a:solidFill>
                  <a:srgbClr val="8888AA"/>
                </a:solidFill>
                <a:latin typeface="メイリオ"/>
              </a:rPr>
              <a:t>補足: 裏AT中の有馬乱入は全設定で 1・3戦目18.75%、5戦目62.50%。高設定は突入率で差がつく構造。</a:t>
            </a:r>
          </a:p>
        </p:txBody>
      </p:sp>
      <p:sp>
        <p:nvSpPr>
          <p:cNvPr id="30" name="TextBox 29"/>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E0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300" b="1">
                <a:solidFill>
                  <a:srgbClr val="FF4444"/>
                </a:solidFill>
                <a:latin typeface="游明朝"/>
              </a:rPr>
              <a:t>面白さの設計 ── なぜアワードGOLDを獲れたのか</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7/9</a:t>
            </a:r>
          </a:p>
        </p:txBody>
      </p:sp>
      <p:sp>
        <p:nvSpPr>
          <p:cNvPr id="7" name="Rectangle 6"/>
          <p:cNvSpPr/>
          <p:nvPr/>
        </p:nvSpPr>
        <p:spPr>
          <a:xfrm>
            <a:off x="0" y="530352"/>
            <a:ext cx="9144000" cy="7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21040" y="64008"/>
            <a:ext cx="685800" cy="24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64008"/>
            <a:ext cx="685800" cy="240000"/>
          </a:xfrm>
          <a:prstGeom prst="rect">
            <a:avLst/>
          </a:prstGeom>
          <a:noFill/>
        </p:spPr>
        <p:txBody>
          <a:bodyPr wrap="square">
            <a:spAutoFit/>
          </a:bodyPr>
          <a:lstStyle/>
          <a:p>
            <a:pPr algn="ctr"/>
            <a:r>
              <a:rPr sz="750" b="1">
                <a:solidFill>
                  <a:srgbClr val="060210"/>
                </a:solidFill>
                <a:latin typeface="メイリオ"/>
              </a:rPr>
              <a:t>Part B</a:t>
            </a:r>
          </a:p>
        </p:txBody>
      </p:sp>
      <p:sp>
        <p:nvSpPr>
          <p:cNvPr id="10" name="Rectangle 9"/>
          <p:cNvSpPr/>
          <p:nvPr/>
        </p:nvSpPr>
        <p:spPr>
          <a:xfrm>
            <a:off x="274320" y="685800"/>
            <a:ext cx="2743200" cy="1450000"/>
          </a:xfrm>
          <a:prstGeom prst="rect">
            <a:avLst/>
          </a:prstGeom>
          <a:solidFill>
            <a:srgbClr val="0E061C"/>
          </a:solidFill>
          <a:ln w="1905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685800"/>
            <a:ext cx="45000" cy="1450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320" y="745800"/>
            <a:ext cx="2653200" cy="280000"/>
          </a:xfrm>
          <a:prstGeom prst="rect">
            <a:avLst/>
          </a:prstGeom>
          <a:noFill/>
        </p:spPr>
        <p:txBody>
          <a:bodyPr wrap="square">
            <a:spAutoFit/>
          </a:bodyPr>
          <a:lstStyle/>
          <a:p>
            <a:pPr algn="l"/>
            <a:r>
              <a:rPr sz="950" b="1">
                <a:solidFill>
                  <a:srgbClr val="8833CC"/>
                </a:solidFill>
                <a:latin typeface="游明朝"/>
              </a:rPr>
              <a:t>三層の上乗せ設計</a:t>
            </a:r>
          </a:p>
        </p:txBody>
      </p:sp>
      <p:sp>
        <p:nvSpPr>
          <p:cNvPr id="13" name="TextBox 12"/>
          <p:cNvSpPr txBox="1"/>
          <p:nvPr/>
        </p:nvSpPr>
        <p:spPr>
          <a:xfrm>
            <a:off x="344320" y="1045800"/>
            <a:ext cx="2653200" cy="1030000"/>
          </a:xfrm>
          <a:prstGeom prst="rect">
            <a:avLst/>
          </a:prstGeom>
          <a:noFill/>
        </p:spPr>
        <p:txBody>
          <a:bodyPr wrap="square">
            <a:spAutoFit/>
          </a:bodyPr>
          <a:lstStyle/>
          <a:p>
            <a:pPr algn="l"/>
            <a:r>
              <a:rPr sz="800" b="0">
                <a:solidFill>
                  <a:srgbClr val="E8E8F4"/>
                </a:solidFill>
                <a:latin typeface="メイリオ"/>
              </a:rPr>
              <a:t>差枚管理→喰種対決→BITES→特化ゾーン
と段階的に上乗せが重なる構造。
「まだ続く？」という連続期待感がクセになる。</a:t>
            </a:r>
          </a:p>
        </p:txBody>
      </p:sp>
      <p:sp>
        <p:nvSpPr>
          <p:cNvPr id="14" name="Rectangle 13"/>
          <p:cNvSpPr/>
          <p:nvPr/>
        </p:nvSpPr>
        <p:spPr>
          <a:xfrm>
            <a:off x="3137520" y="685800"/>
            <a:ext cx="2743200" cy="1450000"/>
          </a:xfrm>
          <a:prstGeom prst="rect">
            <a:avLst/>
          </a:prstGeom>
          <a:solidFill>
            <a:srgbClr val="0E061C"/>
          </a:solidFill>
          <a:ln w="1905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37520" y="685800"/>
            <a:ext cx="45000" cy="145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7520" y="745800"/>
            <a:ext cx="2653200" cy="280000"/>
          </a:xfrm>
          <a:prstGeom prst="rect">
            <a:avLst/>
          </a:prstGeom>
          <a:noFill/>
        </p:spPr>
        <p:txBody>
          <a:bodyPr wrap="square">
            <a:spAutoFit/>
          </a:bodyPr>
          <a:lstStyle/>
          <a:p>
            <a:pPr algn="l"/>
            <a:r>
              <a:rPr sz="950" b="1">
                <a:solidFill>
                  <a:srgbClr val="CC2222"/>
                </a:solidFill>
                <a:latin typeface="游明朝"/>
              </a:rPr>
              <a:t>ジャッジメントの緊張設計</a:t>
            </a:r>
          </a:p>
        </p:txBody>
      </p:sp>
      <p:sp>
        <p:nvSpPr>
          <p:cNvPr id="17" name="TextBox 16"/>
          <p:cNvSpPr txBox="1"/>
          <p:nvPr/>
        </p:nvSpPr>
        <p:spPr>
          <a:xfrm>
            <a:off x="3207520" y="1045800"/>
            <a:ext cx="2653200" cy="1030000"/>
          </a:xfrm>
          <a:prstGeom prst="rect">
            <a:avLst/>
          </a:prstGeom>
          <a:noFill/>
        </p:spPr>
        <p:txBody>
          <a:bodyPr wrap="square">
            <a:spAutoFit/>
          </a:bodyPr>
          <a:lstStyle/>
          <a:p>
            <a:pPr algn="l"/>
            <a:r>
              <a:rPr sz="800" b="0">
                <a:solidFill>
                  <a:srgbClr val="E8E8F4"/>
                </a:solidFill>
                <a:latin typeface="メイリオ"/>
              </a:rPr>
              <a:t>AT終了間際の5Gバトル（成功率61%）。
失敗確定のリスクがあるからこそ
成功時の爆発が感動的になる。</a:t>
            </a:r>
          </a:p>
        </p:txBody>
      </p:sp>
      <p:sp>
        <p:nvSpPr>
          <p:cNvPr id="18" name="Rectangle 17"/>
          <p:cNvSpPr/>
          <p:nvPr/>
        </p:nvSpPr>
        <p:spPr>
          <a:xfrm>
            <a:off x="6000720" y="685800"/>
            <a:ext cx="2743200" cy="1450000"/>
          </a:xfrm>
          <a:prstGeom prst="rect">
            <a:avLst/>
          </a:prstGeom>
          <a:solidFill>
            <a:srgbClr val="0E061C"/>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00720" y="685800"/>
            <a:ext cx="45000" cy="145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70720" y="745800"/>
            <a:ext cx="2653200" cy="280000"/>
          </a:xfrm>
          <a:prstGeom prst="rect">
            <a:avLst/>
          </a:prstGeom>
          <a:noFill/>
        </p:spPr>
        <p:txBody>
          <a:bodyPr wrap="square">
            <a:spAutoFit/>
          </a:bodyPr>
          <a:lstStyle/>
          <a:p>
            <a:pPr algn="l"/>
            <a:r>
              <a:rPr sz="950" b="1">
                <a:solidFill>
                  <a:srgbClr val="C8A840"/>
                </a:solidFill>
                <a:latin typeface="游明朝"/>
              </a:rPr>
              <a:t>裏ATによる一撃性</a:t>
            </a:r>
          </a:p>
        </p:txBody>
      </p:sp>
      <p:sp>
        <p:nvSpPr>
          <p:cNvPr id="21" name="TextBox 20"/>
          <p:cNvSpPr txBox="1"/>
          <p:nvPr/>
        </p:nvSpPr>
        <p:spPr>
          <a:xfrm>
            <a:off x="6070720" y="1045800"/>
            <a:ext cx="2653200" cy="1030000"/>
          </a:xfrm>
          <a:prstGeom prst="rect">
            <a:avLst/>
          </a:prstGeom>
          <a:noFill/>
        </p:spPr>
        <p:txBody>
          <a:bodyPr wrap="square">
            <a:spAutoFit/>
          </a:bodyPr>
          <a:lstStyle/>
          <a:p>
            <a:pPr algn="l"/>
            <a:r>
              <a:rPr sz="800" b="0">
                <a:solidFill>
                  <a:srgbClr val="E8E8F4"/>
                </a:solidFill>
                <a:latin typeface="メイリオ"/>
              </a:rPr>
              <a:t>裏AT突入で期待枚数3430枚。
高設定ほど突入率が高く
高設定探しへの動機がホールに客を呼ぶ。</a:t>
            </a:r>
          </a:p>
        </p:txBody>
      </p:sp>
      <p:sp>
        <p:nvSpPr>
          <p:cNvPr id="22" name="Rectangle 21"/>
          <p:cNvSpPr/>
          <p:nvPr/>
        </p:nvSpPr>
        <p:spPr>
          <a:xfrm>
            <a:off x="274320" y="2235800"/>
            <a:ext cx="2743200" cy="1450000"/>
          </a:xfrm>
          <a:prstGeom prst="rect">
            <a:avLst/>
          </a:prstGeom>
          <a:solidFill>
            <a:srgbClr val="0E061C"/>
          </a:solidFill>
          <a:ln w="19050">
            <a:solidFill>
              <a:srgbClr val="AA5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2235800"/>
            <a:ext cx="45000" cy="1450000"/>
          </a:xfrm>
          <a:prstGeom prst="rect">
            <a:avLst/>
          </a:prstGeom>
          <a:solidFill>
            <a:srgbClr val="AA5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4320" y="2295800"/>
            <a:ext cx="2653200" cy="280000"/>
          </a:xfrm>
          <a:prstGeom prst="rect">
            <a:avLst/>
          </a:prstGeom>
          <a:noFill/>
        </p:spPr>
        <p:txBody>
          <a:bodyPr wrap="square">
            <a:spAutoFit/>
          </a:bodyPr>
          <a:lstStyle/>
          <a:p>
            <a:pPr algn="l"/>
            <a:r>
              <a:rPr sz="950" b="1">
                <a:solidFill>
                  <a:srgbClr val="AA55EE"/>
                </a:solidFill>
                <a:latin typeface="游明朝"/>
              </a:rPr>
              <a:t>原作IPとの一致度</a:t>
            </a:r>
          </a:p>
        </p:txBody>
      </p:sp>
      <p:sp>
        <p:nvSpPr>
          <p:cNvPr id="25" name="TextBox 24"/>
          <p:cNvSpPr txBox="1"/>
          <p:nvPr/>
        </p:nvSpPr>
        <p:spPr>
          <a:xfrm>
            <a:off x="344320" y="2595800"/>
            <a:ext cx="2653200" cy="1030000"/>
          </a:xfrm>
          <a:prstGeom prst="rect">
            <a:avLst/>
          </a:prstGeom>
          <a:noFill/>
        </p:spPr>
        <p:txBody>
          <a:bodyPr wrap="square">
            <a:spAutoFit/>
          </a:bodyPr>
          <a:lstStyle/>
          <a:p>
            <a:pPr algn="l"/>
            <a:r>
              <a:rPr sz="800" b="0">
                <a:solidFill>
                  <a:srgbClr val="E8E8F4"/>
                </a:solidFill>
                <a:latin typeface="メイリオ"/>
              </a:rPr>
              <a:t>「喰種対決」「有馬貴将」「CCG死神」等
東京喰種の世界観をそのままゲーム設計に転換。
ファン心理を刺激する演出と符合した報酬構造。</a:t>
            </a:r>
          </a:p>
        </p:txBody>
      </p:sp>
      <p:sp>
        <p:nvSpPr>
          <p:cNvPr id="26" name="Rectangle 25"/>
          <p:cNvSpPr/>
          <p:nvPr/>
        </p:nvSpPr>
        <p:spPr>
          <a:xfrm>
            <a:off x="3137520" y="2235800"/>
            <a:ext cx="2743200" cy="1450000"/>
          </a:xfrm>
          <a:prstGeom prst="rect">
            <a:avLst/>
          </a:prstGeom>
          <a:solidFill>
            <a:srgbClr val="0E061C"/>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137520" y="2235800"/>
            <a:ext cx="45000" cy="1450000"/>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7520" y="2295800"/>
            <a:ext cx="2653200" cy="280000"/>
          </a:xfrm>
          <a:prstGeom prst="rect">
            <a:avLst/>
          </a:prstGeom>
          <a:noFill/>
        </p:spPr>
        <p:txBody>
          <a:bodyPr wrap="square">
            <a:spAutoFit/>
          </a:bodyPr>
          <a:lstStyle/>
          <a:p>
            <a:pPr algn="l"/>
            <a:r>
              <a:rPr sz="950" b="1">
                <a:solidFill>
                  <a:srgbClr val="FF4444"/>
                </a:solidFill>
                <a:latin typeface="游明朝"/>
              </a:rPr>
              <a:t>複数の到達ルート</a:t>
            </a:r>
          </a:p>
        </p:txBody>
      </p:sp>
      <p:sp>
        <p:nvSpPr>
          <p:cNvPr id="29" name="TextBox 28"/>
          <p:cNvSpPr txBox="1"/>
          <p:nvPr/>
        </p:nvSpPr>
        <p:spPr>
          <a:xfrm>
            <a:off x="3207520" y="2595800"/>
            <a:ext cx="2653200" cy="1030000"/>
          </a:xfrm>
          <a:prstGeom prst="rect">
            <a:avLst/>
          </a:prstGeom>
          <a:noFill/>
        </p:spPr>
        <p:txBody>
          <a:bodyPr wrap="square">
            <a:spAutoFit/>
          </a:bodyPr>
          <a:lstStyle/>
          <a:p>
            <a:pPr algn="l"/>
            <a:r>
              <a:rPr sz="800" b="0">
                <a:solidFill>
                  <a:srgbClr val="E8E8F4"/>
                </a:solidFill>
                <a:latin typeface="メイリオ"/>
              </a:rPr>
              <a:t>通常→CZ→AT だけでなく
EP BONUS直撃や赫眼状態からの直撃など
多様な体験を生む複線的な設計。</a:t>
            </a:r>
          </a:p>
        </p:txBody>
      </p:sp>
      <p:sp>
        <p:nvSpPr>
          <p:cNvPr id="30" name="Rectangle 29"/>
          <p:cNvSpPr/>
          <p:nvPr/>
        </p:nvSpPr>
        <p:spPr>
          <a:xfrm>
            <a:off x="6000720" y="2235800"/>
            <a:ext cx="2743200" cy="1450000"/>
          </a:xfrm>
          <a:prstGeom prst="rect">
            <a:avLst/>
          </a:prstGeom>
          <a:solidFill>
            <a:srgbClr val="0E061C"/>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00720" y="2235800"/>
            <a:ext cx="45000" cy="14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70720" y="2295800"/>
            <a:ext cx="2653200" cy="280000"/>
          </a:xfrm>
          <a:prstGeom prst="rect">
            <a:avLst/>
          </a:prstGeom>
          <a:noFill/>
        </p:spPr>
        <p:txBody>
          <a:bodyPr wrap="square">
            <a:spAutoFit/>
          </a:bodyPr>
          <a:lstStyle/>
          <a:p>
            <a:pPr algn="l"/>
            <a:r>
              <a:rPr sz="950" b="1">
                <a:solidFill>
                  <a:srgbClr val="FFD700"/>
                </a:solidFill>
                <a:latin typeface="游明朝"/>
              </a:rPr>
              <a:t>設定差の可視化</a:t>
            </a:r>
          </a:p>
        </p:txBody>
      </p:sp>
      <p:sp>
        <p:nvSpPr>
          <p:cNvPr id="33" name="TextBox 32"/>
          <p:cNvSpPr txBox="1"/>
          <p:nvPr/>
        </p:nvSpPr>
        <p:spPr>
          <a:xfrm>
            <a:off x="6070720" y="2595800"/>
            <a:ext cx="2653200" cy="1030000"/>
          </a:xfrm>
          <a:prstGeom prst="rect">
            <a:avLst/>
          </a:prstGeom>
          <a:noFill/>
        </p:spPr>
        <p:txBody>
          <a:bodyPr wrap="square">
            <a:spAutoFit/>
          </a:bodyPr>
          <a:lstStyle/>
          <a:p>
            <a:pPr algn="l"/>
            <a:r>
              <a:rPr sz="800" b="0">
                <a:solidFill>
                  <a:srgbClr val="E8E8F4"/>
                </a:solidFill>
                <a:latin typeface="メイリオ"/>
              </a:rPr>
              <a:t>CZ後のカード・招待状文言など
多数の設定示唆要素を内包。
上手い人ほど楽しめる深みを担保。</a:t>
            </a:r>
          </a:p>
        </p:txBody>
      </p:sp>
      <p:sp>
        <p:nvSpPr>
          <p:cNvPr id="34" name="Rectangle 33"/>
          <p:cNvSpPr/>
          <p:nvPr/>
        </p:nvSpPr>
        <p:spPr>
          <a:xfrm>
            <a:off x="0" y="4617720"/>
            <a:ext cx="9144000" cy="502920"/>
          </a:xfrm>
          <a:prstGeom prst="rect">
            <a:avLst/>
          </a:prstGeom>
          <a:solidFill>
            <a:srgbClr val="060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4647720"/>
            <a:ext cx="6400800" cy="380000"/>
          </a:xfrm>
          <a:prstGeom prst="rect">
            <a:avLst/>
          </a:prstGeom>
          <a:noFill/>
        </p:spPr>
        <p:txBody>
          <a:bodyPr wrap="square">
            <a:spAutoFit/>
          </a:bodyPr>
          <a:lstStyle/>
          <a:p>
            <a:pPr algn="l"/>
            <a:r>
              <a:rPr sz="750" b="1">
                <a:solidFill>
                  <a:srgbClr val="C8A840"/>
                </a:solidFill>
                <a:latin typeface="メイリオ"/>
              </a:rPr>
              <a:t>【設計】「特別なレアフラグ不要で出玉トリガーまでたどり着ける」という間口の広さと、裏ATの爆発力の両立がGOLD受賞の本質。</a:t>
            </a:r>
          </a:p>
        </p:txBody>
      </p:sp>
      <p:sp>
        <p:nvSpPr>
          <p:cNvPr id="36" name="TextBox 35"/>
          <p:cNvSpPr txBox="1"/>
          <p:nvPr/>
        </p:nvSpPr>
        <p:spPr>
          <a:xfrm>
            <a:off x="182880" y="4847720"/>
            <a:ext cx="6858000" cy="200000"/>
          </a:xfrm>
          <a:prstGeom prst="rect">
            <a:avLst/>
          </a:prstGeom>
          <a:noFill/>
        </p:spPr>
        <p:txBody>
          <a:bodyPr wrap="square">
            <a:spAutoFit/>
          </a:bodyPr>
          <a:lstStyle/>
          <a:p>
            <a:pPr algn="l"/>
            <a:r>
              <a:rPr sz="650" b="0">
                <a:solidFill>
                  <a:srgbClr val="8888AA"/>
                </a:solidFill>
                <a:latin typeface="メイリオ"/>
              </a:rPr>
              <a:t>補足: ホールでも中古機150万円前後と高値安定。オペレーター側の評価も高く稼動・粗利ともに好評価。</a:t>
            </a:r>
          </a:p>
        </p:txBody>
      </p:sp>
      <p:sp>
        <p:nvSpPr>
          <p:cNvPr id="37" name="TextBox 36"/>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E0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300" b="1">
                <a:solidFill>
                  <a:srgbClr val="FF4444"/>
                </a:solidFill>
                <a:latin typeface="游明朝"/>
              </a:rPr>
              <a:t>良い点と課題 ── ホール・プレイヤー・メーカー三視点での評価</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8/9</a:t>
            </a:r>
          </a:p>
        </p:txBody>
      </p:sp>
      <p:sp>
        <p:nvSpPr>
          <p:cNvPr id="7" name="Rectangle 6"/>
          <p:cNvSpPr/>
          <p:nvPr/>
        </p:nvSpPr>
        <p:spPr>
          <a:xfrm>
            <a:off x="0" y="530352"/>
            <a:ext cx="9144000" cy="7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658368"/>
            <a:ext cx="4114800" cy="3900000"/>
          </a:xfrm>
          <a:prstGeom prst="rect">
            <a:avLst/>
          </a:prstGeom>
          <a:solidFill>
            <a:srgbClr val="0E061C"/>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658368"/>
            <a:ext cx="45000" cy="390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20" y="708368"/>
            <a:ext cx="4014800" cy="280000"/>
          </a:xfrm>
          <a:prstGeom prst="rect">
            <a:avLst/>
          </a:prstGeom>
          <a:noFill/>
        </p:spPr>
        <p:txBody>
          <a:bodyPr wrap="square">
            <a:spAutoFit/>
          </a:bodyPr>
          <a:lstStyle/>
          <a:p>
            <a:pPr algn="l"/>
            <a:r>
              <a:rPr sz="1200" b="1">
                <a:solidFill>
                  <a:srgbClr val="22CC66"/>
                </a:solidFill>
                <a:latin typeface="游明朝"/>
              </a:rPr>
              <a:t>良い点（PROS）</a:t>
            </a:r>
          </a:p>
        </p:txBody>
      </p:sp>
      <p:sp>
        <p:nvSpPr>
          <p:cNvPr id="11" name="Rectangle 10"/>
          <p:cNvSpPr/>
          <p:nvPr/>
        </p:nvSpPr>
        <p:spPr>
          <a:xfrm>
            <a:off x="329320" y="1008368"/>
            <a:ext cx="40000" cy="3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9320" y="1038368"/>
            <a:ext cx="3954800" cy="480000"/>
          </a:xfrm>
          <a:prstGeom prst="rect">
            <a:avLst/>
          </a:prstGeom>
          <a:noFill/>
        </p:spPr>
        <p:txBody>
          <a:bodyPr wrap="square">
            <a:spAutoFit/>
          </a:bodyPr>
          <a:lstStyle/>
          <a:p>
            <a:pPr algn="l"/>
            <a:r>
              <a:rPr sz="850" b="0">
                <a:solidFill>
                  <a:srgbClr val="E8E8F4"/>
                </a:solidFill>
                <a:latin typeface="メイリオ"/>
              </a:rPr>
              <a:t>間口の広さ: 特別な強役不要で喰種対決までたどり着ける設計</a:t>
            </a:r>
          </a:p>
        </p:txBody>
      </p:sp>
      <p:sp>
        <p:nvSpPr>
          <p:cNvPr id="13" name="Rectangle 12"/>
          <p:cNvSpPr/>
          <p:nvPr/>
        </p:nvSpPr>
        <p:spPr>
          <a:xfrm>
            <a:off x="329320" y="1578368"/>
            <a:ext cx="40000" cy="3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9320" y="1608368"/>
            <a:ext cx="3954800" cy="480000"/>
          </a:xfrm>
          <a:prstGeom prst="rect">
            <a:avLst/>
          </a:prstGeom>
          <a:noFill/>
        </p:spPr>
        <p:txBody>
          <a:bodyPr wrap="square">
            <a:spAutoFit/>
          </a:bodyPr>
          <a:lstStyle/>
          <a:p>
            <a:pPr algn="l"/>
            <a:r>
              <a:rPr sz="850" b="0">
                <a:solidFill>
                  <a:srgbClr val="E8E8F4"/>
                </a:solidFill>
                <a:latin typeface="メイリオ"/>
              </a:rPr>
              <a:t>三層上乗せで常に「続き」への期待感が持続</a:t>
            </a:r>
          </a:p>
        </p:txBody>
      </p:sp>
      <p:sp>
        <p:nvSpPr>
          <p:cNvPr id="15" name="Rectangle 14"/>
          <p:cNvSpPr/>
          <p:nvPr/>
        </p:nvSpPr>
        <p:spPr>
          <a:xfrm>
            <a:off x="329320" y="2148368"/>
            <a:ext cx="40000" cy="3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9320" y="2178368"/>
            <a:ext cx="3954800" cy="480000"/>
          </a:xfrm>
          <a:prstGeom prst="rect">
            <a:avLst/>
          </a:prstGeom>
          <a:noFill/>
        </p:spPr>
        <p:txBody>
          <a:bodyPr wrap="square">
            <a:spAutoFit/>
          </a:bodyPr>
          <a:lstStyle/>
          <a:p>
            <a:pPr algn="l"/>
            <a:r>
              <a:rPr sz="850" b="0">
                <a:solidFill>
                  <a:srgbClr val="E8E8F4"/>
                </a:solidFill>
                <a:latin typeface="メイリオ"/>
              </a:rPr>
              <a:t>ジャッジメントの緊張×成功時の爆発落差が高い感情体験を生む</a:t>
            </a:r>
          </a:p>
        </p:txBody>
      </p:sp>
      <p:sp>
        <p:nvSpPr>
          <p:cNvPr id="17" name="Rectangle 16"/>
          <p:cNvSpPr/>
          <p:nvPr/>
        </p:nvSpPr>
        <p:spPr>
          <a:xfrm>
            <a:off x="329320" y="2718368"/>
            <a:ext cx="40000" cy="3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9320" y="2748368"/>
            <a:ext cx="3954800" cy="480000"/>
          </a:xfrm>
          <a:prstGeom prst="rect">
            <a:avLst/>
          </a:prstGeom>
          <a:noFill/>
        </p:spPr>
        <p:txBody>
          <a:bodyPr wrap="square">
            <a:spAutoFit/>
          </a:bodyPr>
          <a:lstStyle/>
          <a:p>
            <a:pPr algn="l"/>
            <a:r>
              <a:rPr sz="850" b="0">
                <a:solidFill>
                  <a:srgbClr val="E8E8F4"/>
                </a:solidFill>
                <a:latin typeface="メイリオ"/>
              </a:rPr>
              <a:t>原作IPとゲーム設計の一致度が高くファン層・一般層両方に響く</a:t>
            </a:r>
          </a:p>
        </p:txBody>
      </p:sp>
      <p:sp>
        <p:nvSpPr>
          <p:cNvPr id="19" name="Rectangle 18"/>
          <p:cNvSpPr/>
          <p:nvPr/>
        </p:nvSpPr>
        <p:spPr>
          <a:xfrm>
            <a:off x="329320" y="3288368"/>
            <a:ext cx="40000" cy="3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9320" y="3318368"/>
            <a:ext cx="3954800" cy="480000"/>
          </a:xfrm>
          <a:prstGeom prst="rect">
            <a:avLst/>
          </a:prstGeom>
          <a:noFill/>
        </p:spPr>
        <p:txBody>
          <a:bodyPr wrap="square">
            <a:spAutoFit/>
          </a:bodyPr>
          <a:lstStyle/>
          <a:p>
            <a:pPr algn="l"/>
            <a:r>
              <a:rPr sz="850" b="0">
                <a:solidFill>
                  <a:srgbClr val="E8E8F4"/>
                </a:solidFill>
                <a:latin typeface="メイリオ"/>
              </a:rPr>
              <a:t>高設定の裏AT突入率で設定差が明確→高設定探しモチベUP</a:t>
            </a:r>
          </a:p>
        </p:txBody>
      </p:sp>
      <p:sp>
        <p:nvSpPr>
          <p:cNvPr id="21" name="Rectangle 20"/>
          <p:cNvSpPr/>
          <p:nvPr/>
        </p:nvSpPr>
        <p:spPr>
          <a:xfrm>
            <a:off x="329320" y="3858368"/>
            <a:ext cx="40000" cy="38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9320" y="3888368"/>
            <a:ext cx="3954800" cy="480000"/>
          </a:xfrm>
          <a:prstGeom prst="rect">
            <a:avLst/>
          </a:prstGeom>
          <a:noFill/>
        </p:spPr>
        <p:txBody>
          <a:bodyPr wrap="square">
            <a:spAutoFit/>
          </a:bodyPr>
          <a:lstStyle/>
          <a:p>
            <a:pPr algn="l"/>
            <a:r>
              <a:rPr sz="850" b="0">
                <a:solidFill>
                  <a:srgbClr val="E8E8F4"/>
                </a:solidFill>
                <a:latin typeface="メイリオ"/>
              </a:rPr>
              <a:t>CCG死神1G完結の爽快感・BITESの小役連打の没入感が独自</a:t>
            </a:r>
          </a:p>
        </p:txBody>
      </p:sp>
      <p:sp>
        <p:nvSpPr>
          <p:cNvPr id="23" name="Rectangle 22"/>
          <p:cNvSpPr/>
          <p:nvPr/>
        </p:nvSpPr>
        <p:spPr>
          <a:xfrm>
            <a:off x="4663440" y="658368"/>
            <a:ext cx="4206240" cy="3900000"/>
          </a:xfrm>
          <a:prstGeom prst="rect">
            <a:avLst/>
          </a:prstGeom>
          <a:solidFill>
            <a:srgbClr val="0E061C"/>
          </a:solidFill>
          <a:ln w="1905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63440" y="658368"/>
            <a:ext cx="45000" cy="390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38440" y="708368"/>
            <a:ext cx="4106240" cy="280000"/>
          </a:xfrm>
          <a:prstGeom prst="rect">
            <a:avLst/>
          </a:prstGeom>
          <a:noFill/>
        </p:spPr>
        <p:txBody>
          <a:bodyPr wrap="square">
            <a:spAutoFit/>
          </a:bodyPr>
          <a:lstStyle/>
          <a:p>
            <a:pPr algn="l"/>
            <a:r>
              <a:rPr sz="1200" b="1">
                <a:solidFill>
                  <a:srgbClr val="FF4444"/>
                </a:solidFill>
                <a:latin typeface="游明朝"/>
              </a:rPr>
              <a:t>課題・改善点（CONS）</a:t>
            </a:r>
          </a:p>
        </p:txBody>
      </p:sp>
      <p:sp>
        <p:nvSpPr>
          <p:cNvPr id="26" name="Rectangle 25"/>
          <p:cNvSpPr/>
          <p:nvPr/>
        </p:nvSpPr>
        <p:spPr>
          <a:xfrm>
            <a:off x="4718440" y="1008368"/>
            <a:ext cx="40000" cy="38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8440" y="1038368"/>
            <a:ext cx="4046240" cy="480000"/>
          </a:xfrm>
          <a:prstGeom prst="rect">
            <a:avLst/>
          </a:prstGeom>
          <a:noFill/>
        </p:spPr>
        <p:txBody>
          <a:bodyPr wrap="square">
            <a:spAutoFit/>
          </a:bodyPr>
          <a:lstStyle/>
          <a:p>
            <a:pPr algn="l"/>
            <a:r>
              <a:rPr sz="850" b="0">
                <a:solidFill>
                  <a:srgbClr val="E8E8F4"/>
                </a:solidFill>
                <a:latin typeface="メイリオ"/>
              </a:rPr>
              <a:t>駆け抜けが多い: 差枚数切れでのAT終了が頻発しやすい</a:t>
            </a:r>
          </a:p>
        </p:txBody>
      </p:sp>
      <p:sp>
        <p:nvSpPr>
          <p:cNvPr id="28" name="Rectangle 27"/>
          <p:cNvSpPr/>
          <p:nvPr/>
        </p:nvSpPr>
        <p:spPr>
          <a:xfrm>
            <a:off x="4718440" y="1578368"/>
            <a:ext cx="40000" cy="38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8440" y="1608368"/>
            <a:ext cx="4046240" cy="480000"/>
          </a:xfrm>
          <a:prstGeom prst="rect">
            <a:avLst/>
          </a:prstGeom>
          <a:noFill/>
        </p:spPr>
        <p:txBody>
          <a:bodyPr wrap="square">
            <a:spAutoFit/>
          </a:bodyPr>
          <a:lstStyle/>
          <a:p>
            <a:pPr algn="l"/>
            <a:r>
              <a:rPr sz="850" b="0">
                <a:solidFill>
                  <a:srgbClr val="E8E8F4"/>
                </a:solidFill>
                <a:latin typeface="メイリオ"/>
              </a:rPr>
              <a:t>成功時との格差大: ジャッジメント失敗でゼロリターンのストレス</a:t>
            </a:r>
          </a:p>
        </p:txBody>
      </p:sp>
      <p:sp>
        <p:nvSpPr>
          <p:cNvPr id="30" name="Rectangle 29"/>
          <p:cNvSpPr/>
          <p:nvPr/>
        </p:nvSpPr>
        <p:spPr>
          <a:xfrm>
            <a:off x="4718440" y="2148368"/>
            <a:ext cx="40000" cy="38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78440" y="2178368"/>
            <a:ext cx="4046240" cy="480000"/>
          </a:xfrm>
          <a:prstGeom prst="rect">
            <a:avLst/>
          </a:prstGeom>
          <a:noFill/>
        </p:spPr>
        <p:txBody>
          <a:bodyPr wrap="square">
            <a:spAutoFit/>
          </a:bodyPr>
          <a:lstStyle/>
          <a:p>
            <a:pPr algn="l"/>
            <a:r>
              <a:rPr sz="850" b="0">
                <a:solidFill>
                  <a:srgbClr val="E8E8F4"/>
                </a:solidFill>
                <a:latin typeface="メイリオ"/>
              </a:rPr>
              <a:t>荒い出玉性能: 引き次第で高設定でも噛み合わない局面が発生</a:t>
            </a:r>
          </a:p>
        </p:txBody>
      </p:sp>
      <p:sp>
        <p:nvSpPr>
          <p:cNvPr id="32" name="Rectangle 31"/>
          <p:cNvSpPr/>
          <p:nvPr/>
        </p:nvSpPr>
        <p:spPr>
          <a:xfrm>
            <a:off x="4718440" y="2718368"/>
            <a:ext cx="40000" cy="38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8440" y="2748368"/>
            <a:ext cx="4046240" cy="480000"/>
          </a:xfrm>
          <a:prstGeom prst="rect">
            <a:avLst/>
          </a:prstGeom>
          <a:noFill/>
        </p:spPr>
        <p:txBody>
          <a:bodyPr wrap="square">
            <a:spAutoFit/>
          </a:bodyPr>
          <a:lstStyle/>
          <a:p>
            <a:pPr algn="l"/>
            <a:r>
              <a:rPr sz="850" b="0">
                <a:solidFill>
                  <a:srgbClr val="E8E8F4"/>
                </a:solidFill>
                <a:latin typeface="メイリオ"/>
              </a:rPr>
              <a:t>裏AT一極集中: 裏AT非突入時の消化が単調に感じやすい</a:t>
            </a:r>
          </a:p>
        </p:txBody>
      </p:sp>
      <p:sp>
        <p:nvSpPr>
          <p:cNvPr id="34" name="Rectangle 33"/>
          <p:cNvSpPr/>
          <p:nvPr/>
        </p:nvSpPr>
        <p:spPr>
          <a:xfrm>
            <a:off x="4718440" y="3288368"/>
            <a:ext cx="40000" cy="38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78440" y="3318368"/>
            <a:ext cx="4046240" cy="480000"/>
          </a:xfrm>
          <a:prstGeom prst="rect">
            <a:avLst/>
          </a:prstGeom>
          <a:noFill/>
        </p:spPr>
        <p:txBody>
          <a:bodyPr wrap="square">
            <a:spAutoFit/>
          </a:bodyPr>
          <a:lstStyle/>
          <a:p>
            <a:pPr algn="l"/>
            <a:r>
              <a:rPr sz="850" b="0">
                <a:solidFill>
                  <a:srgbClr val="E8E8F4"/>
                </a:solidFill>
                <a:latin typeface="メイリオ"/>
              </a:rPr>
              <a:t>設定判別難度: 示唆要素は多いが確定系が少なく長時間必要</a:t>
            </a:r>
          </a:p>
        </p:txBody>
      </p:sp>
      <p:sp>
        <p:nvSpPr>
          <p:cNvPr id="36" name="Rectangle 35"/>
          <p:cNvSpPr/>
          <p:nvPr/>
        </p:nvSpPr>
        <p:spPr>
          <a:xfrm>
            <a:off x="4718440" y="3858368"/>
            <a:ext cx="40000" cy="38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78440" y="3888368"/>
            <a:ext cx="4046240" cy="480000"/>
          </a:xfrm>
          <a:prstGeom prst="rect">
            <a:avLst/>
          </a:prstGeom>
          <a:noFill/>
        </p:spPr>
        <p:txBody>
          <a:bodyPr wrap="square">
            <a:spAutoFit/>
          </a:bodyPr>
          <a:lstStyle/>
          <a:p>
            <a:pPr algn="l"/>
            <a:r>
              <a:rPr sz="850" b="0">
                <a:solidFill>
                  <a:srgbClr val="E8E8F4"/>
                </a:solidFill>
                <a:latin typeface="メイリオ"/>
              </a:rPr>
              <a:t>初心者導線: ゲームフローの複雑さは初見プレイヤーに難解</a:t>
            </a:r>
          </a:p>
        </p:txBody>
      </p:sp>
      <p:sp>
        <p:nvSpPr>
          <p:cNvPr id="38" name="Rectangle 37"/>
          <p:cNvSpPr/>
          <p:nvPr/>
        </p:nvSpPr>
        <p:spPr>
          <a:xfrm>
            <a:off x="0" y="4617720"/>
            <a:ext cx="9144000" cy="502920"/>
          </a:xfrm>
          <a:prstGeom prst="rect">
            <a:avLst/>
          </a:prstGeom>
          <a:solidFill>
            <a:srgbClr val="060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2880" y="4647720"/>
            <a:ext cx="6400800" cy="380000"/>
          </a:xfrm>
          <a:prstGeom prst="rect">
            <a:avLst/>
          </a:prstGeom>
          <a:noFill/>
        </p:spPr>
        <p:txBody>
          <a:bodyPr wrap="square">
            <a:spAutoFit/>
          </a:bodyPr>
          <a:lstStyle/>
          <a:p>
            <a:pPr algn="l"/>
            <a:r>
              <a:rPr sz="750" b="1">
                <a:solidFill>
                  <a:srgbClr val="C8A840"/>
                </a:solidFill>
                <a:latin typeface="メイリオ"/>
              </a:rPr>
              <a:t>【設計】良い点も課題も「差枚管理＋バトル構造」の特性から生まれている。荒さとエンタメ性は表裏一体の設計判断。</a:t>
            </a:r>
          </a:p>
        </p:txBody>
      </p:sp>
      <p:sp>
        <p:nvSpPr>
          <p:cNvPr id="40" name="TextBox 39"/>
          <p:cNvSpPr txBox="1"/>
          <p:nvPr/>
        </p:nvSpPr>
        <p:spPr>
          <a:xfrm>
            <a:off x="182880" y="4847720"/>
            <a:ext cx="6858000" cy="200000"/>
          </a:xfrm>
          <a:prstGeom prst="rect">
            <a:avLst/>
          </a:prstGeom>
          <a:noFill/>
        </p:spPr>
        <p:txBody>
          <a:bodyPr wrap="square">
            <a:spAutoFit/>
          </a:bodyPr>
          <a:lstStyle/>
          <a:p>
            <a:pPr algn="l"/>
            <a:r>
              <a:rPr sz="650" b="0">
                <a:solidFill>
                  <a:srgbClr val="8888AA"/>
                </a:solidFill>
                <a:latin typeface="メイリオ"/>
              </a:rPr>
              <a:t>補足: 賛否両論の声があることがむしろ「尖った個性」の証拠。万人受けより熱狂的なファンを作る設計思想。</a:t>
            </a:r>
          </a:p>
        </p:txBody>
      </p:sp>
      <p:sp>
        <p:nvSpPr>
          <p:cNvPr id="41" name="TextBox 40"/>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E0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300" b="1">
                <a:solidFill>
                  <a:srgbClr val="FF4444"/>
                </a:solidFill>
                <a:latin typeface="游明朝"/>
              </a:rPr>
              <a:t>まとめ ── アワードGOLD受賞機から学べる設計の本質</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9/9</a:t>
            </a:r>
          </a:p>
        </p:txBody>
      </p:sp>
      <p:sp>
        <p:nvSpPr>
          <p:cNvPr id="7" name="Rectangle 6"/>
          <p:cNvSpPr/>
          <p:nvPr/>
        </p:nvSpPr>
        <p:spPr>
          <a:xfrm>
            <a:off x="0" y="530352"/>
            <a:ext cx="9144000" cy="7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658368"/>
            <a:ext cx="8595360" cy="1100000"/>
          </a:xfrm>
          <a:prstGeom prst="rect">
            <a:avLst/>
          </a:prstGeom>
          <a:solidFill>
            <a:srgbClr val="0E061C"/>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658368"/>
            <a:ext cx="8595360" cy="55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749808"/>
            <a:ext cx="8229600" cy="280000"/>
          </a:xfrm>
          <a:prstGeom prst="rect">
            <a:avLst/>
          </a:prstGeom>
          <a:noFill/>
        </p:spPr>
        <p:txBody>
          <a:bodyPr wrap="square">
            <a:spAutoFit/>
          </a:bodyPr>
          <a:lstStyle/>
          <a:p>
            <a:pPr algn="l"/>
            <a:r>
              <a:rPr sz="1100" b="1">
                <a:solidFill>
                  <a:srgbClr val="C8A840"/>
                </a:solidFill>
                <a:latin typeface="游明朝"/>
              </a:rPr>
              <a:t>L東京喰種 総括</a:t>
            </a:r>
          </a:p>
        </p:txBody>
      </p:sp>
      <p:sp>
        <p:nvSpPr>
          <p:cNvPr id="11" name="TextBox 10"/>
          <p:cNvSpPr txBox="1"/>
          <p:nvPr/>
        </p:nvSpPr>
        <p:spPr>
          <a:xfrm>
            <a:off x="457200" y="1024128"/>
            <a:ext cx="8229600" cy="600000"/>
          </a:xfrm>
          <a:prstGeom prst="rect">
            <a:avLst/>
          </a:prstGeom>
          <a:noFill/>
        </p:spPr>
        <p:txBody>
          <a:bodyPr wrap="square">
            <a:spAutoFit/>
          </a:bodyPr>
          <a:lstStyle/>
          <a:p>
            <a:pPr algn="l"/>
            <a:r>
              <a:rPr sz="850" b="0">
                <a:solidFill>
                  <a:srgbClr val="E8E8F4"/>
                </a:solidFill>
                <a:latin typeface="メイリオ"/>
              </a:rPr>
              <a:t>差枚管理AT×喰種対決バトル×裏ATという三層構造で、「特別な役不要の間口の広さ」と「裏ATの一撃爆発力」を両立。
IPの世界観をゲーム設計に落とし込み、有馬貴将ジャッジメントで感情的クライマックスを演出。ホール・ユーザー双方から高評価を獲得しパチスロアワード2025 GOLDを受賞。</a:t>
            </a:r>
          </a:p>
        </p:txBody>
      </p:sp>
      <p:sp>
        <p:nvSpPr>
          <p:cNvPr id="12" name="Rectangle 11"/>
          <p:cNvSpPr/>
          <p:nvPr/>
        </p:nvSpPr>
        <p:spPr>
          <a:xfrm>
            <a:off x="274320" y="1874519"/>
            <a:ext cx="4114800" cy="1350000"/>
          </a:xfrm>
          <a:prstGeom prst="rect">
            <a:avLst/>
          </a:prstGeom>
          <a:solidFill>
            <a:srgbClr val="0E061C"/>
          </a:solidFill>
          <a:ln w="19050">
            <a:solidFill>
              <a:srgbClr val="883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874519"/>
            <a:ext cx="45000" cy="1350000"/>
          </a:xfrm>
          <a:prstGeom prst="rect">
            <a:avLst/>
          </a:prstGeom>
          <a:solidFill>
            <a:srgbClr val="88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320" y="1934519"/>
            <a:ext cx="4024800" cy="270000"/>
          </a:xfrm>
          <a:prstGeom prst="rect">
            <a:avLst/>
          </a:prstGeom>
          <a:noFill/>
        </p:spPr>
        <p:txBody>
          <a:bodyPr wrap="square">
            <a:spAutoFit/>
          </a:bodyPr>
          <a:lstStyle/>
          <a:p>
            <a:pPr algn="l"/>
            <a:r>
              <a:rPr sz="950" b="1">
                <a:solidFill>
                  <a:srgbClr val="8833CC"/>
                </a:solidFill>
                <a:latin typeface="游明朝"/>
              </a:rPr>
              <a:t>間口×爆発の両立設計</a:t>
            </a:r>
          </a:p>
        </p:txBody>
      </p:sp>
      <p:sp>
        <p:nvSpPr>
          <p:cNvPr id="15" name="TextBox 14"/>
          <p:cNvSpPr txBox="1"/>
          <p:nvPr/>
        </p:nvSpPr>
        <p:spPr>
          <a:xfrm>
            <a:off x="344320" y="2224519"/>
            <a:ext cx="4024800" cy="940000"/>
          </a:xfrm>
          <a:prstGeom prst="rect">
            <a:avLst/>
          </a:prstGeom>
          <a:noFill/>
        </p:spPr>
        <p:txBody>
          <a:bodyPr wrap="square">
            <a:spAutoFit/>
          </a:bodyPr>
          <a:lstStyle/>
          <a:p>
            <a:pPr algn="l"/>
            <a:r>
              <a:rPr sz="800" b="0">
                <a:solidFill>
                  <a:srgbClr val="E8E8F4"/>
                </a:solidFill>
                <a:latin typeface="メイリオ"/>
              </a:rPr>
              <a:t>強役不要で高揚感を得られる導線を引きつつ、上位ルートで圧倒的な爆発力を担保する設計が最も重要な学び。
「誰でも楽しめる」と「熱狂できる頂点」を同時に設計することがアワード級の機種の条件。</a:t>
            </a:r>
          </a:p>
        </p:txBody>
      </p:sp>
      <p:sp>
        <p:nvSpPr>
          <p:cNvPr id="16" name="Rectangle 15"/>
          <p:cNvSpPr/>
          <p:nvPr/>
        </p:nvSpPr>
        <p:spPr>
          <a:xfrm>
            <a:off x="4689120" y="1874519"/>
            <a:ext cx="4114800" cy="1350000"/>
          </a:xfrm>
          <a:prstGeom prst="rect">
            <a:avLst/>
          </a:prstGeom>
          <a:solidFill>
            <a:srgbClr val="0E061C"/>
          </a:solidFill>
          <a:ln w="19050">
            <a:solidFill>
              <a:srgbClr val="CC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89120" y="1874519"/>
            <a:ext cx="45000" cy="1350000"/>
          </a:xfrm>
          <a:prstGeom prst="rect">
            <a:avLst/>
          </a:prstGeom>
          <a:solidFill>
            <a:srgbClr val="CC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9120" y="1934519"/>
            <a:ext cx="4024800" cy="270000"/>
          </a:xfrm>
          <a:prstGeom prst="rect">
            <a:avLst/>
          </a:prstGeom>
          <a:noFill/>
        </p:spPr>
        <p:txBody>
          <a:bodyPr wrap="square">
            <a:spAutoFit/>
          </a:bodyPr>
          <a:lstStyle/>
          <a:p>
            <a:pPr algn="l"/>
            <a:r>
              <a:rPr sz="950" b="1">
                <a:solidFill>
                  <a:srgbClr val="CC2222"/>
                </a:solidFill>
                <a:latin typeface="游明朝"/>
              </a:rPr>
              <a:t>緊張と爆発の落差設計</a:t>
            </a:r>
          </a:p>
        </p:txBody>
      </p:sp>
      <p:sp>
        <p:nvSpPr>
          <p:cNvPr id="19" name="TextBox 18"/>
          <p:cNvSpPr txBox="1"/>
          <p:nvPr/>
        </p:nvSpPr>
        <p:spPr>
          <a:xfrm>
            <a:off x="4759120" y="2224519"/>
            <a:ext cx="4024800" cy="940000"/>
          </a:xfrm>
          <a:prstGeom prst="rect">
            <a:avLst/>
          </a:prstGeom>
          <a:noFill/>
        </p:spPr>
        <p:txBody>
          <a:bodyPr wrap="square">
            <a:spAutoFit/>
          </a:bodyPr>
          <a:lstStyle/>
          <a:p>
            <a:pPr algn="l"/>
            <a:r>
              <a:rPr sz="800" b="0">
                <a:solidFill>
                  <a:srgbClr val="E8E8F4"/>
                </a:solidFill>
                <a:latin typeface="メイリオ"/>
              </a:rPr>
              <a:t>ジャッジメントの失敗リスク（AT終了確定）があるからこそ成功時の爆発が輝く。
ゼロリスクの上乗せゲームより「失うかもしれない緊張感」が感動体験を生む。</a:t>
            </a:r>
          </a:p>
        </p:txBody>
      </p:sp>
      <p:sp>
        <p:nvSpPr>
          <p:cNvPr id="20" name="Rectangle 19"/>
          <p:cNvSpPr/>
          <p:nvPr/>
        </p:nvSpPr>
        <p:spPr>
          <a:xfrm>
            <a:off x="274320" y="3304519"/>
            <a:ext cx="4114800" cy="1350000"/>
          </a:xfrm>
          <a:prstGeom prst="rect">
            <a:avLst/>
          </a:prstGeom>
          <a:solidFill>
            <a:srgbClr val="0E061C"/>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304519"/>
            <a:ext cx="45000" cy="135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4320" y="3364519"/>
            <a:ext cx="4024800" cy="270000"/>
          </a:xfrm>
          <a:prstGeom prst="rect">
            <a:avLst/>
          </a:prstGeom>
          <a:noFill/>
        </p:spPr>
        <p:txBody>
          <a:bodyPr wrap="square">
            <a:spAutoFit/>
          </a:bodyPr>
          <a:lstStyle/>
          <a:p>
            <a:pPr algn="l"/>
            <a:r>
              <a:rPr sz="950" b="1">
                <a:solidFill>
                  <a:srgbClr val="C8A840"/>
                </a:solidFill>
                <a:latin typeface="游明朝"/>
              </a:rPr>
              <a:t>IP世界観とメカニクスの一致</a:t>
            </a:r>
          </a:p>
        </p:txBody>
      </p:sp>
      <p:sp>
        <p:nvSpPr>
          <p:cNvPr id="23" name="TextBox 22"/>
          <p:cNvSpPr txBox="1"/>
          <p:nvPr/>
        </p:nvSpPr>
        <p:spPr>
          <a:xfrm>
            <a:off x="344320" y="3654519"/>
            <a:ext cx="4024800" cy="940000"/>
          </a:xfrm>
          <a:prstGeom prst="rect">
            <a:avLst/>
          </a:prstGeom>
          <a:noFill/>
        </p:spPr>
        <p:txBody>
          <a:bodyPr wrap="square">
            <a:spAutoFit/>
          </a:bodyPr>
          <a:lstStyle/>
          <a:p>
            <a:pPr algn="l"/>
            <a:r>
              <a:rPr sz="800" b="0">
                <a:solidFill>
                  <a:srgbClr val="E8E8F4"/>
                </a:solidFill>
                <a:latin typeface="メイリオ"/>
              </a:rPr>
              <a:t>「有馬貴将」「CCG」「赫子」「喰種対決」という原作要素がゲームフローと対応している。
IP活用は見た目だけでなく、強敵=強い報酬・組織=システムへの落とし込みが深い体験を生む。</a:t>
            </a:r>
          </a:p>
        </p:txBody>
      </p:sp>
      <p:sp>
        <p:nvSpPr>
          <p:cNvPr id="24" name="Rectangle 23"/>
          <p:cNvSpPr/>
          <p:nvPr/>
        </p:nvSpPr>
        <p:spPr>
          <a:xfrm>
            <a:off x="4689120" y="3304519"/>
            <a:ext cx="4114800" cy="1350000"/>
          </a:xfrm>
          <a:prstGeom prst="rect">
            <a:avLst/>
          </a:prstGeom>
          <a:solidFill>
            <a:srgbClr val="0E061C"/>
          </a:solidFill>
          <a:ln w="19050">
            <a:solidFill>
              <a:srgbClr val="AA5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89120" y="3304519"/>
            <a:ext cx="45000" cy="1350000"/>
          </a:xfrm>
          <a:prstGeom prst="rect">
            <a:avLst/>
          </a:prstGeom>
          <a:solidFill>
            <a:srgbClr val="AA5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9120" y="3364519"/>
            <a:ext cx="4024800" cy="270000"/>
          </a:xfrm>
          <a:prstGeom prst="rect">
            <a:avLst/>
          </a:prstGeom>
          <a:noFill/>
        </p:spPr>
        <p:txBody>
          <a:bodyPr wrap="square">
            <a:spAutoFit/>
          </a:bodyPr>
          <a:lstStyle/>
          <a:p>
            <a:pPr algn="l"/>
            <a:r>
              <a:rPr sz="950" b="1">
                <a:solidFill>
                  <a:srgbClr val="AA55EE"/>
                </a:solidFill>
                <a:latin typeface="游明朝"/>
              </a:rPr>
              <a:t>設定差の可視化と探す楽しみ</a:t>
            </a:r>
          </a:p>
        </p:txBody>
      </p:sp>
      <p:sp>
        <p:nvSpPr>
          <p:cNvPr id="27" name="TextBox 26"/>
          <p:cNvSpPr txBox="1"/>
          <p:nvPr/>
        </p:nvSpPr>
        <p:spPr>
          <a:xfrm>
            <a:off x="4759120" y="3654519"/>
            <a:ext cx="4024800" cy="940000"/>
          </a:xfrm>
          <a:prstGeom prst="rect">
            <a:avLst/>
          </a:prstGeom>
          <a:noFill/>
        </p:spPr>
        <p:txBody>
          <a:bodyPr wrap="square">
            <a:spAutoFit/>
          </a:bodyPr>
          <a:lstStyle/>
          <a:p>
            <a:pPr algn="l"/>
            <a:r>
              <a:rPr sz="800" b="0">
                <a:solidFill>
                  <a:srgbClr val="E8E8F4"/>
                </a:solidFill>
                <a:latin typeface="メイリオ"/>
              </a:rPr>
              <a:t>多層の設定示唆（カード/招待状/終了画面）で「高設定探し」という別ゲームを付与。
プレイヤーの滞在理由を「今の楽しさ」だけでなく「将来の可能性」にも分散させる設計。</a:t>
            </a:r>
          </a:p>
        </p:txBody>
      </p:sp>
      <p:sp>
        <p:nvSpPr>
          <p:cNvPr id="28" name="Rectangle 27"/>
          <p:cNvSpPr/>
          <p:nvPr/>
        </p:nvSpPr>
        <p:spPr>
          <a:xfrm>
            <a:off x="0" y="4617720"/>
            <a:ext cx="9144000" cy="502920"/>
          </a:xfrm>
          <a:prstGeom prst="rect">
            <a:avLst/>
          </a:prstGeom>
          <a:solidFill>
            <a:srgbClr val="060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 y="4647720"/>
            <a:ext cx="6400800" cy="380000"/>
          </a:xfrm>
          <a:prstGeom prst="rect">
            <a:avLst/>
          </a:prstGeom>
          <a:noFill/>
        </p:spPr>
        <p:txBody>
          <a:bodyPr wrap="square">
            <a:spAutoFit/>
          </a:bodyPr>
          <a:lstStyle/>
          <a:p>
            <a:pPr algn="l"/>
            <a:r>
              <a:rPr sz="750" b="1">
                <a:solidFill>
                  <a:srgbClr val="C8A840"/>
                </a:solidFill>
                <a:latin typeface="メイリオ"/>
              </a:rPr>
              <a:t>【設計】L東京喰種の設計哲学: 「誰もが出玉体験にたどり着ける設計」と「一撃爆発の感情的クライマックス」の共存。</a:t>
            </a:r>
          </a:p>
        </p:txBody>
      </p:sp>
      <p:sp>
        <p:nvSpPr>
          <p:cNvPr id="30" name="TextBox 29"/>
          <p:cNvSpPr txBox="1"/>
          <p:nvPr/>
        </p:nvSpPr>
        <p:spPr>
          <a:xfrm>
            <a:off x="182880" y="4847720"/>
            <a:ext cx="6858000" cy="200000"/>
          </a:xfrm>
          <a:prstGeom prst="rect">
            <a:avLst/>
          </a:prstGeom>
          <a:noFill/>
        </p:spPr>
        <p:txBody>
          <a:bodyPr wrap="square">
            <a:spAutoFit/>
          </a:bodyPr>
          <a:lstStyle/>
          <a:p>
            <a:pPr algn="l"/>
            <a:r>
              <a:rPr sz="650" b="0">
                <a:solidFill>
                  <a:srgbClr val="8888AA"/>
                </a:solidFill>
                <a:latin typeface="メイリオ"/>
              </a:rPr>
              <a:t>この二軸こそが長期ヒット・アワード受賞・高中古価格の根本要因。次世代機設計のベンチマークとなる一台。</a:t>
            </a:r>
          </a:p>
        </p:txBody>
      </p:sp>
      <p:sp>
        <p:nvSpPr>
          <p:cNvPr id="31" name="TextBox 30"/>
          <p:cNvSpPr txBox="1"/>
          <p:nvPr/>
        </p:nvSpPr>
        <p:spPr>
          <a:xfrm>
            <a:off x="7315200" y="4892040"/>
            <a:ext cx="1691640" cy="20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