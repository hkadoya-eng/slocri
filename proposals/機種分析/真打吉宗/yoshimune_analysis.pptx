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60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601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A840"/>
                </a:solidFill>
                <a:latin typeface="游明朝"/>
              </a:rPr>
              <a:t>機種分析資料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932688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7711"/>
                </a:solidFill>
                <a:latin typeface="游明朝"/>
              </a:rPr>
              <a:t>L真打吉宗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65176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C0A0"/>
                </a:solidFill>
                <a:latin typeface="游明朝"/>
              </a:rPr>
              <a:t>── 1G連×純増9枚で4号機の魂が甦る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3200400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メーカー: 大都技研　　導入: 2026年4月6日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3493008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設定: 1〜6段階　　BB純増: 約9.0枚/G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785615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1G連ループ: 真BB消化中に成立役で抽選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640080"/>
            <a:ext cx="3749039" cy="1143000"/>
          </a:xfrm>
          <a:prstGeom prst="rect">
            <a:avLst/>
          </a:prstGeom>
          <a:solidFill>
            <a:srgbClr val="100820"/>
          </a:solidFill>
          <a:ln w="2540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60" y="640080"/>
            <a:ext cx="60000" cy="1143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69508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822CC"/>
                </a:solidFill>
                <a:latin typeface="游明朝"/>
              </a:rPr>
              <a:t>勧善懲悪RUSH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01008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CZ経由でAT突入
真BBで出玉爆発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057400"/>
            <a:ext cx="3749039" cy="1143000"/>
          </a:xfrm>
          <a:prstGeom prst="rect">
            <a:avLst/>
          </a:prstGeom>
          <a:solidFill>
            <a:srgbClr val="100820"/>
          </a:solidFill>
          <a:ln w="2540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60" y="2057400"/>
            <a:ext cx="60000" cy="1143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11240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711"/>
                </a:solidFill>
                <a:latin typeface="游明朝"/>
              </a:rPr>
              <a:t>真BB（純増9.0枚）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2740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1G連ループで連続BB
究極鷹ブレイクで5000枚超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3474720"/>
            <a:ext cx="3749039" cy="1143000"/>
          </a:xfrm>
          <a:prstGeom prst="rect">
            <a:avLst/>
          </a:prstGeom>
          <a:solidFill>
            <a:srgbClr val="10082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66360" y="3474720"/>
            <a:ext cx="60000" cy="1143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352972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840"/>
                </a:solidFill>
                <a:latin typeface="游明朝"/>
              </a:rPr>
              <a:t>究極鷹ブレイク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8447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毎G1000枚ループ上乗せ
実質5000枚以上確定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スペック ── 基本数値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2/7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713232"/>
            <a:ext cx="3800000" cy="360000"/>
          </a:xfrm>
          <a:prstGeom prst="rect">
            <a:avLst/>
          </a:prstGeom>
          <a:solidFill>
            <a:srgbClr val="551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320" y="758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320" y="758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機械割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4320" y="758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BB初当り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4320" y="758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特記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073232"/>
            <a:ext cx="3800000" cy="370000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320" y="112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320" y="112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4320" y="112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4320" y="112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443232"/>
            <a:ext cx="3800000" cy="370000"/>
          </a:xfrm>
          <a:prstGeom prst="rect">
            <a:avLst/>
          </a:prstGeom>
          <a:solidFill>
            <a:srgbClr val="140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320" y="149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320" y="149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4320" y="149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4320" y="149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813232"/>
            <a:ext cx="3800000" cy="370000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320" y="186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320" y="186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4320" y="186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4320" y="186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183232"/>
            <a:ext cx="3800000" cy="370000"/>
          </a:xfrm>
          <a:prstGeom prst="rect">
            <a:avLst/>
          </a:prstGeom>
          <a:solidFill>
            <a:srgbClr val="140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320" y="223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20" y="223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4320" y="223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24320" y="223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553232"/>
            <a:ext cx="3800000" cy="370000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4320" y="260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320" y="260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44320" y="260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4320" y="260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923232"/>
            <a:ext cx="3800000" cy="370000"/>
          </a:xfrm>
          <a:prstGeom prst="rect">
            <a:avLst/>
          </a:prstGeom>
          <a:solidFill>
            <a:srgbClr val="140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320" y="297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AA55FF"/>
                </a:solidFill>
                <a:latin typeface="メイリオ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320" y="297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約110%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44320" y="297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24320" y="297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設定6確定で高機械割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713232"/>
            <a:ext cx="4663440" cy="485000"/>
          </a:xfrm>
          <a:prstGeom prst="rect">
            <a:avLst/>
          </a:prstGeom>
          <a:solidFill>
            <a:srgbClr val="100820"/>
          </a:solidFill>
          <a:ln w="1524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0" y="713232"/>
            <a:ext cx="40000" cy="485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76240" y="75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7711"/>
                </a:solidFill>
                <a:latin typeface="メイリオ"/>
              </a:rPr>
              <a:t>真BB純増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6240" y="96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約9.0枚/G（現行最高クラス）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1243232"/>
            <a:ext cx="4663440" cy="485000"/>
          </a:xfrm>
          <a:prstGeom prst="rect">
            <a:avLst/>
          </a:prstGeom>
          <a:solidFill>
            <a:srgbClr val="100820"/>
          </a:solidFill>
          <a:ln w="15240">
            <a:solidFill>
              <a:srgbClr val="FF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40" y="1243232"/>
            <a:ext cx="40000" cy="485000"/>
          </a:xfrm>
          <a:prstGeom prst="rect">
            <a:avLst/>
          </a:prstGeom>
          <a:solidFill>
            <a:srgbClr val="FF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76240" y="128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AA44"/>
                </a:solidFill>
                <a:latin typeface="メイリオ"/>
              </a:rPr>
              <a:t>真BB獲得枚数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6240" y="149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約2000枚（1セット）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1773232"/>
            <a:ext cx="4663440" cy="485000"/>
          </a:xfrm>
          <a:prstGeom prst="rect">
            <a:avLst/>
          </a:prstGeom>
          <a:solidFill>
            <a:srgbClr val="100820"/>
          </a:solidFill>
          <a:ln w="1524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06240" y="1773232"/>
            <a:ext cx="40000" cy="485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76240" y="181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22CC"/>
                </a:solidFill>
                <a:latin typeface="メイリオ"/>
              </a:rPr>
              <a:t>1G連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6240" y="202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真BB消化中に成立役→抽選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2303232"/>
            <a:ext cx="4663440" cy="485000"/>
          </a:xfrm>
          <a:prstGeom prst="rect">
            <a:avLst/>
          </a:prstGeom>
          <a:solidFill>
            <a:srgbClr val="100820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06240" y="2303232"/>
            <a:ext cx="40000" cy="48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76240" y="234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0"/>
                </a:solidFill>
                <a:latin typeface="メイリオ"/>
              </a:rPr>
              <a:t>究極鷹ブレイク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6240" y="255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毎G1000枚ループ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2833232"/>
            <a:ext cx="4663440" cy="485000"/>
          </a:xfrm>
          <a:prstGeom prst="rect">
            <a:avLst/>
          </a:prstGeom>
          <a:solidFill>
            <a:srgbClr val="100820"/>
          </a:solidFill>
          <a:ln w="15240">
            <a:solidFill>
              <a:srgbClr val="E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06240" y="2833232"/>
            <a:ext cx="40000" cy="485000"/>
          </a:xfrm>
          <a:prstGeom prst="rect">
            <a:avLst/>
          </a:prstGeom>
          <a:solidFill>
            <a:srgbClr val="E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76240" y="287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E8F4"/>
                </a:solidFill>
                <a:latin typeface="メイリオ"/>
              </a:rPr>
              <a:t>AT天井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76240" y="308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1500G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363232"/>
            <a:ext cx="4663440" cy="485000"/>
          </a:xfrm>
          <a:prstGeom prst="rect">
            <a:avLst/>
          </a:prstGeom>
          <a:solidFill>
            <a:srgbClr val="100820"/>
          </a:solidFill>
          <a:ln w="1524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06240" y="3363232"/>
            <a:ext cx="40000" cy="4850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76240" y="340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CZ天井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76240" y="361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1000G or 6周期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ゲームフロー ── CZモード → 勧善懲悪RUSH → 真BB → 1G連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3/7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"/>
            <a:ext cx="8595360" cy="280000"/>
          </a:xfrm>
          <a:prstGeom prst="rect">
            <a:avLst/>
          </a:prstGeom>
          <a:solidFill>
            <a:srgbClr val="18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76656"/>
            <a:ext cx="27432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通常時CZモード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320" y="950976"/>
            <a:ext cx="2815120" cy="700000"/>
          </a:xfrm>
          <a:prstGeom prst="rect">
            <a:avLst/>
          </a:prstGeom>
          <a:solidFill>
            <a:srgbClr val="100820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320" y="978408"/>
            <a:ext cx="277512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6周期制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320" y="1234440"/>
            <a:ext cx="2775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CZ発生タイミングが
モードで管理される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9440" y="950976"/>
            <a:ext cx="2815120" cy="700000"/>
          </a:xfrm>
          <a:prstGeom prst="rect">
            <a:avLst/>
          </a:prstGeom>
          <a:solidFill>
            <a:srgbClr val="100820"/>
          </a:solidFill>
          <a:ln w="1524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99440" y="978408"/>
            <a:ext cx="277512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8822CC"/>
                </a:solidFill>
                <a:latin typeface="メイリオ"/>
              </a:rPr>
              <a:t>天国モード相当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9440" y="1234440"/>
            <a:ext cx="2775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1周期目でCZ確定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4560" y="950976"/>
            <a:ext cx="2815120" cy="700000"/>
          </a:xfrm>
          <a:prstGeom prst="rect">
            <a:avLst/>
          </a:prstGeom>
          <a:solidFill>
            <a:srgbClr val="100820"/>
          </a:solidFill>
          <a:ln w="1524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4560" y="978408"/>
            <a:ext cx="277512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7711"/>
                </a:solidFill>
                <a:latin typeface="メイリオ"/>
              </a:rPr>
              <a:t>鷹CZ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4560" y="1234440"/>
            <a:ext cx="2775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最高格CZ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880360"/>
            <a:ext cx="1645920" cy="1280160"/>
          </a:xfrm>
          <a:prstGeom prst="rect">
            <a:avLst/>
          </a:prstGeom>
          <a:solidFill>
            <a:srgbClr val="18102C"/>
          </a:solidFill>
          <a:ln w="2286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112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822CC"/>
                </a:solidFill>
                <a:latin typeface="游明朝"/>
              </a:rPr>
              <a:t>CZ
「悪人成敗チャンス」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112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CZモードから発生
AT当選を目指す</a:t>
            </a:r>
          </a:p>
        </p:txBody>
      </p:sp>
      <p:sp>
        <p:nvSpPr>
          <p:cNvPr id="22" name="Can 21"/>
          <p:cNvSpPr/>
          <p:nvPr/>
        </p:nvSpPr>
        <p:spPr>
          <a:xfrm>
            <a:off x="2552032" y="3430440"/>
            <a:ext cx="200000" cy="180000"/>
          </a:xfrm>
          <a:prstGeom prst="can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98064" y="2880360"/>
            <a:ext cx="1645920" cy="1280160"/>
          </a:xfrm>
          <a:prstGeom prst="rect">
            <a:avLst/>
          </a:prstGeom>
          <a:solidFill>
            <a:srgbClr val="18102C"/>
          </a:solidFill>
          <a:ln w="2286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8064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A55FF"/>
                </a:solidFill>
                <a:latin typeface="游明朝"/>
              </a:rPr>
              <a:t>AT
「勧善懲悪RUSH」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8064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AT突入
真BBを目指すメインルート</a:t>
            </a:r>
          </a:p>
        </p:txBody>
      </p:sp>
      <p:sp>
        <p:nvSpPr>
          <p:cNvPr id="26" name="Can 25"/>
          <p:cNvSpPr/>
          <p:nvPr/>
        </p:nvSpPr>
        <p:spPr>
          <a:xfrm>
            <a:off x="4453984" y="3430440"/>
            <a:ext cx="200000" cy="180000"/>
          </a:xfrm>
          <a:prstGeom prst="can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2880360"/>
            <a:ext cx="1645920" cy="1280160"/>
          </a:xfrm>
          <a:prstGeom prst="rect">
            <a:avLst/>
          </a:prstGeom>
          <a:solidFill>
            <a:srgbClr val="200804"/>
          </a:solidFill>
          <a:ln w="2286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0016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7711"/>
                </a:solidFill>
                <a:latin typeface="游明朝"/>
              </a:rPr>
              <a:t>真BB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0016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純増9.0枚/G
2000枚獲得
1G連抽選が走る</a:t>
            </a:r>
          </a:p>
        </p:txBody>
      </p:sp>
      <p:sp>
        <p:nvSpPr>
          <p:cNvPr id="30" name="Can 29"/>
          <p:cNvSpPr/>
          <p:nvPr/>
        </p:nvSpPr>
        <p:spPr>
          <a:xfrm>
            <a:off x="6355936" y="3430440"/>
            <a:ext cx="200000" cy="180000"/>
          </a:xfrm>
          <a:prstGeom prst="can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01968" y="2880360"/>
            <a:ext cx="1645920" cy="1280160"/>
          </a:xfrm>
          <a:prstGeom prst="rect">
            <a:avLst/>
          </a:prstGeom>
          <a:solidFill>
            <a:srgbClr val="18100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1968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游明朝"/>
              </a:rPr>
              <a:t>1G連 / 究極鷹ブレイク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1968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1G連ループで連続BB
究極鷹ブレイクで5000枚超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真BB構成 ── 1G連ループ × 究極鷹ブレイクの爆裂設計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4/7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150000"/>
          </a:xfrm>
          <a:prstGeom prst="rect">
            <a:avLst/>
          </a:prstGeom>
          <a:solidFill>
            <a:srgbClr val="100820"/>
          </a:solidFill>
          <a:ln w="1905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5000" cy="2150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32" y="70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711"/>
                </a:solidFill>
                <a:latin typeface="游明朝"/>
              </a:rPr>
              <a:t>真BBの仕組み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32" y="963368"/>
            <a:ext cx="4014800" cy="1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純増約9.0枚/G（現行機最高クラス）
1セットで約2000枚獲得
BB消化中、成立役に応じて1G連抽選
1G連=次のBBがBB終了の1G後に開始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888368"/>
            <a:ext cx="4114800" cy="2075132"/>
          </a:xfrm>
          <a:prstGeom prst="rect">
            <a:avLst/>
          </a:prstGeom>
          <a:solidFill>
            <a:srgbClr val="100820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888368"/>
            <a:ext cx="45000" cy="2075132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32" y="293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究極鷹ブレイク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32" y="3193368"/>
            <a:ext cx="4014800" cy="1715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本機最強の特化ゾーン
毎ゲーム1000枚のループ上乗せが発生
実質5000枚以上確定
「天文学的な出玉」体験を提供する最高峰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658368"/>
            <a:ext cx="4297680" cy="2150000"/>
          </a:xfrm>
          <a:prstGeom prst="rect">
            <a:avLst/>
          </a:prstGeom>
          <a:solidFill>
            <a:srgbClr val="100820"/>
          </a:solidFill>
          <a:ln w="1905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658368"/>
            <a:ext cx="45000" cy="2150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7000" y="70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22CC"/>
                </a:solidFill>
                <a:latin typeface="游明朝"/>
              </a:rPr>
              <a:t>1G連の衝撃体験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7000" y="963368"/>
            <a:ext cx="4197680" cy="1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真BB終了の1G後に即座に次のBBが始まる
「終わった！」から「え、また!?」の衝撃体験
4号機吉宗の代名詞を現代スマスロで再現
1G連が連続すると指数的に興奮が高まる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888368"/>
            <a:ext cx="4297680" cy="2075132"/>
          </a:xfrm>
          <a:prstGeom prst="rect">
            <a:avLst/>
          </a:prstGeom>
          <a:solidFill>
            <a:srgbClr val="180404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2888368"/>
            <a:ext cx="45000" cy="2075132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7000" y="293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游明朝"/>
              </a:rPr>
              <a:t>コイン単価と荒波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7000" y="3193368"/>
            <a:ext cx="4197680" cy="1715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真BB純増9.0枚は速いが荒波も激しい
真BBを引けないと消化不良になりやすい
設定1は特に初当たりが遠い設計
「当たれば爆発・当たらなければ深みにハマる」二極体験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ゲーム体験の核心 ── 4号機の記憶と現行最速9枚が生む興奮体験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5/7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1463040" cy="1380000"/>
          </a:xfrm>
          <a:prstGeom prst="rect">
            <a:avLst/>
          </a:prstGeom>
          <a:solidFill>
            <a:srgbClr val="18102C"/>
          </a:solidFill>
          <a:ln w="1905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880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8822CC"/>
                </a:solidFill>
                <a:latin typeface="游明朝"/>
              </a:rPr>
              <a:t>CZ突入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880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悪人成敗チャンス
鷹CZで期待度MAX</a:t>
            </a:r>
          </a:p>
        </p:txBody>
      </p:sp>
      <p:sp>
        <p:nvSpPr>
          <p:cNvPr id="11" name="Can 10"/>
          <p:cNvSpPr/>
          <p:nvPr/>
        </p:nvSpPr>
        <p:spPr>
          <a:xfrm>
            <a:off x="1725920" y="1258368"/>
            <a:ext cx="200000" cy="180000"/>
          </a:xfrm>
          <a:prstGeom prst="can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75104" y="658368"/>
            <a:ext cx="1463040" cy="1380000"/>
          </a:xfrm>
          <a:prstGeom prst="rect">
            <a:avLst/>
          </a:prstGeom>
          <a:solidFill>
            <a:srgbClr val="140820"/>
          </a:solidFill>
          <a:ln w="19050">
            <a:solidFill>
              <a:srgbClr val="AA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5104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AA55FF"/>
                </a:solidFill>
                <a:latin typeface="游明朝"/>
              </a:rPr>
              <a:t>AT突入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0104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勧善懲悪RUSH
真BBを目指す</a:t>
            </a:r>
          </a:p>
        </p:txBody>
      </p:sp>
      <p:sp>
        <p:nvSpPr>
          <p:cNvPr id="15" name="Can 14"/>
          <p:cNvSpPr/>
          <p:nvPr/>
        </p:nvSpPr>
        <p:spPr>
          <a:xfrm>
            <a:off x="3518144" y="1258368"/>
            <a:ext cx="200000" cy="180000"/>
          </a:xfrm>
          <a:prstGeom prst="can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658368"/>
            <a:ext cx="1463040" cy="1380000"/>
          </a:xfrm>
          <a:prstGeom prst="rect">
            <a:avLst/>
          </a:prstGeom>
          <a:solidFill>
            <a:srgbClr val="200804"/>
          </a:solidFill>
          <a:ln w="1905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7328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7711"/>
                </a:solidFill>
                <a:latin typeface="游明朝"/>
              </a:rPr>
              <a:t>真BB発動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2328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純増9.0枚の嵐
2000枚を爆速獲得</a:t>
            </a:r>
          </a:p>
        </p:txBody>
      </p:sp>
      <p:sp>
        <p:nvSpPr>
          <p:cNvPr id="19" name="Can 18"/>
          <p:cNvSpPr/>
          <p:nvPr/>
        </p:nvSpPr>
        <p:spPr>
          <a:xfrm>
            <a:off x="5310368" y="1258368"/>
            <a:ext cx="200000" cy="180000"/>
          </a:xfrm>
          <a:prstGeom prst="can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59552" y="658368"/>
            <a:ext cx="1463040" cy="1380000"/>
          </a:xfrm>
          <a:prstGeom prst="rect">
            <a:avLst/>
          </a:prstGeom>
          <a:solidFill>
            <a:srgbClr val="140A00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9552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8A840"/>
                </a:solidFill>
                <a:latin typeface="游明朝"/>
              </a:rPr>
              <a:t>1G連！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4552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終わったと思ったら
次のBBが始まる衝撃</a:t>
            </a:r>
          </a:p>
        </p:txBody>
      </p:sp>
      <p:sp>
        <p:nvSpPr>
          <p:cNvPr id="23" name="Can 22"/>
          <p:cNvSpPr/>
          <p:nvPr/>
        </p:nvSpPr>
        <p:spPr>
          <a:xfrm>
            <a:off x="7102592" y="1258368"/>
            <a:ext cx="200000" cy="180000"/>
          </a:xfrm>
          <a:prstGeom prst="can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51776" y="658368"/>
            <a:ext cx="1463040" cy="1380000"/>
          </a:xfrm>
          <a:prstGeom prst="rect">
            <a:avLst/>
          </a:prstGeom>
          <a:solidFill>
            <a:srgbClr val="18120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1776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D700"/>
                </a:solidFill>
                <a:latin typeface="游明朝"/>
              </a:rPr>
              <a:t>究極鷹ブレイク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6776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毎G1000枚ループ
現実が変わる体験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2158368"/>
            <a:ext cx="4114800" cy="2650000"/>
          </a:xfrm>
          <a:prstGeom prst="rect">
            <a:avLst/>
          </a:prstGeom>
          <a:solidFill>
            <a:srgbClr val="100820"/>
          </a:solidFill>
          <a:ln w="1905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2158368"/>
            <a:ext cx="45000" cy="2650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032" y="220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22CC"/>
                </a:solidFill>
                <a:latin typeface="游明朝"/>
              </a:rPr>
              <a:t>4号機記憶との接続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32" y="2458368"/>
            <a:ext cx="4014800" cy="2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「1G連」は4号機吉宗の代名詞だった。
スマスロ版で同じ体験ができるという事実が
30〜40代の休眠層を引き戻す力を持つ。
純増9.0枚という圧倒的なスピードは
「あの頃の爆発感」を現代のスペックで再現。
ノスタルジアと現行最高水準の性能が
一台に共存している稀有な設計。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158368"/>
            <a:ext cx="4297680" cy="2650000"/>
          </a:xfrm>
          <a:prstGeom prst="rect">
            <a:avLst/>
          </a:prstGeom>
          <a:solidFill>
            <a:srgbClr val="180800"/>
          </a:solidFill>
          <a:ln w="1905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2158368"/>
            <a:ext cx="45000" cy="2650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7000" y="220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711"/>
                </a:solidFill>
                <a:latin typeface="游明朝"/>
              </a:rPr>
              <a:t>1G連という設計的天才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7000" y="2458368"/>
            <a:ext cx="4197680" cy="2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1G連は単なるボーナス連続ではなく
「終わり → 始まり」の体験を1Gで完結させる設計。
通常のAT継続と違い:
① 「終わった」という感情が生まれる（一旦落ちる）
② 「また始まった」という驚きが来る（爆上がる）
この感情の波が興奮を最大化する。
究極鷹ブレイクはこの1G連体験の
究極形として機能する。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設定判別 ── 実戦で使えるポイント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6/7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2633472" cy="360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032" y="703368"/>
            <a:ext cx="2587752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80414"/>
                </a:solidFill>
                <a:latin typeface="メイリオ"/>
              </a:rPr>
              <a:t>CZ確率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18368"/>
            <a:ext cx="2633472" cy="1210000"/>
          </a:xfrm>
          <a:prstGeom prst="rect">
            <a:avLst/>
          </a:prstGeom>
          <a:solidFill>
            <a:srgbClr val="100820"/>
          </a:solidFill>
          <a:ln w="635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032" y="107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822CC"/>
                </a:solidFill>
                <a:latin typeface="メイリオ"/>
              </a:rPr>
              <a:t>設定差あり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32" y="132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設定差あり・高設定ほど
CZ発生が早い。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288368"/>
            <a:ext cx="2633472" cy="1210000"/>
          </a:xfrm>
          <a:prstGeom prst="rect">
            <a:avLst/>
          </a:prstGeom>
          <a:solidFill>
            <a:srgbClr val="140C24"/>
          </a:solidFill>
          <a:ln w="635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032" y="234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822CC"/>
                </a:solidFill>
                <a:latin typeface="メイリオ"/>
              </a:rPr>
              <a:t>周期の短さで判断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032" y="259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周期の短さで判断する。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558368"/>
            <a:ext cx="2633472" cy="1210000"/>
          </a:xfrm>
          <a:prstGeom prst="rect">
            <a:avLst/>
          </a:prstGeom>
          <a:solidFill>
            <a:srgbClr val="100820"/>
          </a:solidFill>
          <a:ln w="635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032" y="361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822CC"/>
                </a:solidFill>
                <a:latin typeface="メイリオ"/>
              </a:rPr>
              <a:t>高設定の目安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032" y="386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CZが早く来る台は
高設定の可能性あり。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82112" y="658368"/>
            <a:ext cx="2633472" cy="360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2112" y="703368"/>
            <a:ext cx="2587752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80414"/>
                </a:solidFill>
                <a:latin typeface="メイリオ"/>
              </a:rPr>
              <a:t>真BB中の1G連率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2112" y="1018368"/>
            <a:ext cx="2633472" cy="1210000"/>
          </a:xfrm>
          <a:prstGeom prst="rect">
            <a:avLst/>
          </a:prstGeom>
          <a:solidFill>
            <a:srgbClr val="100820"/>
          </a:solidFill>
          <a:ln w="635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2112" y="107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7711"/>
                </a:solidFill>
                <a:latin typeface="メイリオ"/>
              </a:rPr>
              <a:t>高設定優遇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2112" y="132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高設定ほど1G連抽選優遇。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2112" y="2288368"/>
            <a:ext cx="2633472" cy="1210000"/>
          </a:xfrm>
          <a:prstGeom prst="rect">
            <a:avLst/>
          </a:prstGeom>
          <a:solidFill>
            <a:srgbClr val="140C24"/>
          </a:solidFill>
          <a:ln w="635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2112" y="234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7711"/>
                </a:solidFill>
                <a:latin typeface="メイリオ"/>
              </a:rPr>
              <a:t>BB後すぐ確認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2112" y="259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BB後すぐ次BBが始まるか確認。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2112" y="3558368"/>
            <a:ext cx="2633472" cy="1210000"/>
          </a:xfrm>
          <a:prstGeom prst="rect">
            <a:avLst/>
          </a:prstGeom>
          <a:solidFill>
            <a:srgbClr val="100820"/>
          </a:solidFill>
          <a:ln w="635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32112" y="361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7711"/>
                </a:solidFill>
                <a:latin typeface="メイリオ"/>
              </a:rPr>
              <a:t>連続1G連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112" y="386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1G連が連続するほど
高設定期待度UP。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658368"/>
            <a:ext cx="2633472" cy="36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8192" y="703368"/>
            <a:ext cx="2587752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80414"/>
                </a:solidFill>
                <a:latin typeface="メイリオ"/>
              </a:rPr>
              <a:t>終了画面示唆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018368"/>
            <a:ext cx="2633472" cy="1210000"/>
          </a:xfrm>
          <a:prstGeom prst="rect">
            <a:avLst/>
          </a:prstGeom>
          <a:solidFill>
            <a:srgbClr val="100820"/>
          </a:solidFill>
          <a:ln w="63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8192" y="107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終了画面示唆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8192" y="132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BBやAT終了後の画面に
設定示唆が出る。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8192" y="2288368"/>
            <a:ext cx="2633472" cy="1210000"/>
          </a:xfrm>
          <a:prstGeom prst="rect">
            <a:avLst/>
          </a:prstGeom>
          <a:solidFill>
            <a:srgbClr val="140C24"/>
          </a:solidFill>
          <a:ln w="63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58192" y="234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鷹の衣装・色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8192" y="259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鷹の衣装・色で示唆が変化。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3558368"/>
            <a:ext cx="2633472" cy="1210000"/>
          </a:xfrm>
          <a:prstGeom prst="rect">
            <a:avLst/>
          </a:prstGeom>
          <a:solidFill>
            <a:srgbClr val="100820"/>
          </a:solidFill>
          <a:ln w="63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8192" y="361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複数回で精度UP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8192" y="386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複数回の確認で
総合的に判断する。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711"/>
                </a:solidFill>
                <a:latin typeface="游明朝"/>
              </a:rPr>
              <a:t>まとめ ──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7/7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300000"/>
          </a:xfrm>
          <a:prstGeom prst="rect">
            <a:avLst/>
          </a:prstGeom>
          <a:solidFill>
            <a:srgbClr val="551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08368"/>
            <a:ext cx="4034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設計から学べること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58368"/>
            <a:ext cx="4114800" cy="1200000"/>
          </a:xfrm>
          <a:prstGeom prst="rect">
            <a:avLst/>
          </a:prstGeom>
          <a:solidFill>
            <a:srgbClr val="100820"/>
          </a:solidFill>
          <a:ln w="1905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58368"/>
            <a:ext cx="45000" cy="1200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100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22CC"/>
                </a:solidFill>
                <a:latin typeface="メイリオ"/>
              </a:rPr>
              <a:t>1G連という設計資産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6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4号機から引き継いだ1G連は
「終わりと始まり」の感情波を1Gで生む。
設計的天才として今も機能している。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228368"/>
            <a:ext cx="4114800" cy="1200000"/>
          </a:xfrm>
          <a:prstGeom prst="rect">
            <a:avLst/>
          </a:prstGeom>
          <a:solidFill>
            <a:srgbClr val="100820"/>
          </a:solidFill>
          <a:ln w="19050">
            <a:solidFill>
              <a:srgbClr val="FF77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228368"/>
            <a:ext cx="45000" cy="1200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27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7711"/>
                </a:solidFill>
                <a:latin typeface="メイリオ"/>
              </a:rPr>
              <a:t>純増9.0枚の爆発力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53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現行最高クラスの純増速度が
「速く大きく勝つ」体験を実現。
究極鷹ブレイクとの組み合わせが頂点体験。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498368"/>
            <a:ext cx="4114800" cy="1200000"/>
          </a:xfrm>
          <a:prstGeom prst="rect">
            <a:avLst/>
          </a:prstGeom>
          <a:solidFill>
            <a:srgbClr val="100820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498368"/>
            <a:ext cx="45000" cy="12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54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荒波という諸刃の剣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80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爆発力と引き換えに荒波も激しい。
勝つ時の快感が大きい分、負ける時の傷も深い。
コアユーザーへの訴求が最大の課題。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80000"/>
          </a:xfrm>
          <a:prstGeom prst="rect">
            <a:avLst/>
          </a:prstGeom>
          <a:solidFill>
            <a:srgbClr val="18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2000" y="703368"/>
            <a:ext cx="422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設計原則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38368"/>
            <a:ext cx="20000" cy="490000"/>
          </a:xfrm>
          <a:prstGeom prst="rect">
            <a:avLst/>
          </a:prstGeom>
          <a:solidFill>
            <a:srgbClr val="882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2000" y="101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1G連の「終わり→始まり」体験が興奮を最大化する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478368"/>
            <a:ext cx="20000" cy="490000"/>
          </a:xfrm>
          <a:prstGeom prst="rect">
            <a:avLst/>
          </a:prstGeom>
          <a:solidFill>
            <a:srgbClr val="FF7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2000" y="155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純増9枚×1G連×究極鷹ブレイクの三位一体が爆発を生む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018368"/>
            <a:ext cx="20000" cy="49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2000" y="209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IP記憶との接続が休眠層を呼び戻す武器になる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558368"/>
            <a:ext cx="20000" cy="4900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2000" y="263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荒波設計はコアファン向けに徹した潔い設計判断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108368"/>
            <a:ext cx="4297680" cy="800000"/>
          </a:xfrm>
          <a:prstGeom prst="rect">
            <a:avLst/>
          </a:prstGeom>
          <a:solidFill>
            <a:srgbClr val="140620"/>
          </a:solidFill>
          <a:ln w="19050">
            <a:solidFill>
              <a:srgbClr val="88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7000" y="3158368"/>
            <a:ext cx="4222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22CC"/>
                </a:solidFill>
                <a:latin typeface="メイリオ"/>
              </a:rPr>
              <a:t>総括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7000" y="3418368"/>
            <a:ext cx="422268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4号機吉宗の遺産を現行最高スペックで昇華した一台。
1G連という普遍的な興奮体験は時代を超えて機能し続ける。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