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943600" cy="5143500"/>
          </a:xfrm>
          <a:prstGeom prst="rect">
            <a:avLst/>
          </a:prstGeom>
          <a:solidFill>
            <a:srgbClr val="0503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365760"/>
            <a:ext cx="40000" cy="292608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50292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メイリオ"/>
              </a:rPr>
              <a:t>スマスロ 大都技研  2026年4月6日導入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22960"/>
            <a:ext cx="530352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D760"/>
                </a:solidFill>
                <a:latin typeface="メイリオ"/>
              </a:rPr>
              <a:t>真打 吉宗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03120"/>
            <a:ext cx="530352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5E6C8"/>
                </a:solidFill>
                <a:latin typeface="メイリオ"/>
              </a:rPr>
              <a:t>2000枚が、次の1ゲームでもう1回来るかもしれない。それが怖くてたまらない台。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834640"/>
            <a:ext cx="5029200" cy="700000"/>
          </a:xfrm>
          <a:prstGeom prst="rect">
            <a:avLst/>
          </a:prstGeom>
          <a:solidFill>
            <a:srgbClr val="180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834640"/>
            <a:ext cx="60000" cy="700000"/>
          </a:xfrm>
          <a:prstGeom prst="rect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907792"/>
            <a:ext cx="466344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E6C8"/>
                </a:solidFill>
                <a:latin typeface="メイリオ"/>
              </a:rPr>
              <a:t>初代2003年から続く伝説のシリーズ最新作
「真BB 2000枚 × 1G連」で爆発する
一撃性能と周期システムを徹底解剖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4389120"/>
            <a:ext cx="292608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4A520"/>
                </a:solidFill>
                <a:latin typeface="メイリオ"/>
              </a:rPr>
              <a:t>機械割  設定1: 97.8%  /  設定6: 114.0%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30000"/>
          </a:xfrm>
          <a:prstGeom prst="rect">
            <a:avLst/>
          </a:prstGeom>
          <a:solidFill>
            <a:srgbClr val="12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0000" cy="43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0000" y="60000"/>
            <a:ext cx="86868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520"/>
                </a:solidFill>
                <a:latin typeface="メイリオ"/>
              </a:rPr>
              <a:t>この台の正直なところ  ──  知ってから打てばもっと楽しい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749808"/>
            <a:ext cx="8778240" cy="900000"/>
          </a:xfrm>
          <a:prstGeom prst="rect">
            <a:avLst/>
          </a:prstGeom>
          <a:solidFill>
            <a:srgbClr val="140800"/>
          </a:solidFill>
          <a:ln w="25400">
            <a:solidFill>
              <a:srgbClr val="D4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804672"/>
            <a:ext cx="841248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4A520"/>
                </a:solidFill>
                <a:latin typeface="メイリオ"/>
              </a:rPr>
              <a:t>一言で言うと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097280"/>
            <a:ext cx="841248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E6C8"/>
                </a:solidFill>
                <a:latin typeface="メイリオ"/>
              </a:rPr>
              <a:t>初代吉宗の「7を狙う・1G連」をスマスロで進化させた爆裂機。真BBに辿り着くまでは地味だが、辿り着いた瞬間から別の台になる。
勝ってるのに、次の1ゲームが怖くてたまらない ── それがこの台の本質。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1755648"/>
            <a:ext cx="4206240" cy="1417320"/>
          </a:xfrm>
          <a:prstGeom prst="rect">
            <a:avLst/>
          </a:prstGeom>
          <a:solidFill>
            <a:srgbClr val="061406"/>
          </a:solidFill>
          <a:ln w="19050">
            <a:solidFill>
              <a:srgbClr val="22B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801368"/>
            <a:ext cx="393192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BB55"/>
                </a:solidFill>
                <a:latin typeface="メイリオ"/>
              </a:rPr>
              <a:t>打ってよかった声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103120"/>
            <a:ext cx="3931920" cy="10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✔ 「2000枚が複数回来た時の興奮は別格」
✔ 「1G連が来るかどうかの1ゲームが忘れられない」
✔ 「周期システムが分かると見え方が変わる」
✔ 「吉宗世代には刺さりまくる」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3440" y="1755648"/>
            <a:ext cx="4297680" cy="1417320"/>
          </a:xfrm>
          <a:prstGeom prst="rect">
            <a:avLst/>
          </a:prstGeom>
          <a:solidFill>
            <a:srgbClr val="140606"/>
          </a:solidFill>
          <a:ln w="19050">
            <a:solidFill>
              <a:srgbClr val="CC2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1801368"/>
            <a:ext cx="402336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2200"/>
                </a:solidFill>
                <a:latin typeface="メイリオ"/>
              </a:rPr>
              <a:t>知っておくべきリスク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103120"/>
            <a:ext cx="4023360" cy="10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✗ 低設定は真BBまでの道のりが長く苦しい
✗ CZスルーが続くとペースが掴めない
✗ 真高確率に入っても真BBを引けないことも
✗ コイン単価が高め・荒波耐性が必要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3264408"/>
            <a:ext cx="8778240" cy="480000"/>
          </a:xfrm>
          <a:prstGeom prst="rect">
            <a:avLst/>
          </a:prstGeom>
          <a:solidFill>
            <a:srgbClr val="100800"/>
          </a:solidFill>
          <a:ln w="15240">
            <a:solidFill>
              <a:srgbClr val="D4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3319272"/>
            <a:ext cx="841248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4A520"/>
                </a:solidFill>
                <a:latin typeface="メイリオ"/>
              </a:rPr>
              <a:t>導入台数 約15,000台（2026年4月）  /  吉宗シリーズファン多数  /  4月導入組で稼働独走中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3794760"/>
            <a:ext cx="8778240" cy="700000"/>
          </a:xfrm>
          <a:prstGeom prst="rect">
            <a:avLst/>
          </a:prstGeom>
          <a:solidFill>
            <a:srgbClr val="080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3858768"/>
            <a:ext cx="841248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この資料では、「真BBまでの道のり」と「1G連が生まれる瞬間」を順を追って解説します。
仕組みを知ってから打つと、1ゲームごとの意味が変わります。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30000"/>
          </a:xfrm>
          <a:prstGeom prst="rect">
            <a:avLst/>
          </a:prstGeom>
          <a:solidFill>
            <a:srgbClr val="12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0000" cy="43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0000" y="60000"/>
            <a:ext cx="86868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520"/>
                </a:solidFill>
                <a:latin typeface="メイリオ"/>
              </a:rPr>
              <a:t>HISTORY  ──  吉宗シリーズの歴史と「真打」の意味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777240"/>
            <a:ext cx="1371600" cy="3291840"/>
          </a:xfrm>
          <a:prstGeom prst="rect">
            <a:avLst/>
          </a:prstGeom>
          <a:solidFill>
            <a:srgbClr val="990000"/>
          </a:solidFill>
          <a:ln w="12700">
            <a:solidFill>
              <a:srgbClr val="CC2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777240"/>
            <a:ext cx="1371600" cy="380000"/>
          </a:xfrm>
          <a:prstGeom prst="rect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827240"/>
            <a:ext cx="13716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7070E"/>
                </a:solidFill>
                <a:latin typeface="メイリオ"/>
              </a:rPr>
              <a:t>2003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167240"/>
            <a:ext cx="1371600" cy="800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2880" y="2007240"/>
            <a:ext cx="12116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2200"/>
                </a:solidFill>
                <a:latin typeface="メイリオ"/>
              </a:rPr>
              <a:t>初代 吉宗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2880" y="2347240"/>
            <a:ext cx="1211600" cy="166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BBBB"/>
                </a:solidFill>
                <a:latin typeface="メイリオ"/>
              </a:rPr>
              <a:t>BIG 711枚 × 1G連ボーナス機
爆裂4号機・26万台設置
吉宗/姫/爺の3種BB
7を狙うゲーム性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34480" y="777240"/>
            <a:ext cx="1371600" cy="3291840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634480" y="777240"/>
            <a:ext cx="1371600" cy="3800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34480" y="827240"/>
            <a:ext cx="13716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7070E"/>
                </a:solidFill>
                <a:latin typeface="メイリオ"/>
              </a:rPr>
              <a:t>2013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4480" y="1167240"/>
            <a:ext cx="1371600" cy="800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714480" y="2007240"/>
            <a:ext cx="12116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88888"/>
                </a:solidFill>
                <a:latin typeface="メイリオ"/>
              </a:rPr>
              <a:t>吉宗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14480" y="2347240"/>
            <a:ext cx="1211600" cy="166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BBBB"/>
                </a:solidFill>
                <a:latin typeface="メイリオ"/>
              </a:rPr>
              <a:t>5号機AT機に転換
純増約2.8枚・1セット40G
シリーズを現代仕様に再構成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86080" y="777240"/>
            <a:ext cx="1371600" cy="3291840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086080" y="777240"/>
            <a:ext cx="1371600" cy="3800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86080" y="827240"/>
            <a:ext cx="13716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7070E"/>
                </a:solidFill>
                <a:latin typeface="メイリオ"/>
              </a:rPr>
              <a:t>2015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6080" y="1167240"/>
            <a:ext cx="1371600" cy="8000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166080" y="2007240"/>
            <a:ext cx="12116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88888"/>
                </a:solidFill>
                <a:latin typeface="メイリオ"/>
              </a:rPr>
              <a:t>吉宗 ～極～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66080" y="2347240"/>
            <a:ext cx="1211600" cy="166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BBBB"/>
                </a:solidFill>
                <a:latin typeface="メイリオ"/>
              </a:rPr>
              <a:t>BB払出320枚に強化
1セット80G+αに拡張
AT上乗せ性能を大幅強化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37680" y="777240"/>
            <a:ext cx="1371600" cy="3291840"/>
          </a:xfrm>
          <a:prstGeom prst="rect">
            <a:avLst/>
          </a:prstGeom>
          <a:solidFill>
            <a:srgbClr val="120C04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37680" y="777240"/>
            <a:ext cx="1371600" cy="3800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37680" y="827240"/>
            <a:ext cx="13716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7070E"/>
                </a:solidFill>
                <a:latin typeface="メイリオ"/>
              </a:rPr>
              <a:t>2024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7680" y="1167240"/>
            <a:ext cx="1371600" cy="8000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617680" y="2007240"/>
            <a:ext cx="12116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4A520"/>
                </a:solidFill>
                <a:latin typeface="メイリオ"/>
              </a:rPr>
              <a:t>吉宗RISING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7680" y="2347240"/>
            <a:ext cx="1211600" cy="166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BBBB"/>
                </a:solidFill>
                <a:latin typeface="メイリオ"/>
              </a:rPr>
              <a:t>スマスロ初復活
純増4.0枚・AT平均711枚
昇天ループ・爺と姫が仲間に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89280" y="777240"/>
            <a:ext cx="1371600" cy="3291840"/>
          </a:xfrm>
          <a:prstGeom prst="rect">
            <a:avLst/>
          </a:prstGeom>
          <a:solidFill>
            <a:srgbClr val="120C04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989280" y="777240"/>
            <a:ext cx="1371600" cy="3800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89280" y="827240"/>
            <a:ext cx="13716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7070E"/>
                </a:solidFill>
                <a:latin typeface="メイリオ"/>
              </a:rPr>
              <a:t>2025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9280" y="1167240"/>
            <a:ext cx="1371600" cy="8000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069280" y="2007240"/>
            <a:ext cx="12116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4A520"/>
                </a:solidFill>
                <a:latin typeface="メイリオ"/>
              </a:rPr>
              <a:t>L吉宗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69280" y="2347240"/>
            <a:ext cx="1211600" cy="166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BBBB"/>
                </a:solidFill>
                <a:latin typeface="メイリオ"/>
              </a:rPr>
              <a:t>純増7.11枚・BB 711枚
1G連2回で「裏鷹狩り」
期待枚数3600枚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40880" y="777240"/>
            <a:ext cx="1371600" cy="3291840"/>
          </a:xfrm>
          <a:prstGeom prst="rect">
            <a:avLst/>
          </a:prstGeom>
          <a:solidFill>
            <a:srgbClr val="201000"/>
          </a:solidFill>
          <a:ln w="25400">
            <a:solidFill>
              <a:srgbClr val="FFD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440880" y="777240"/>
            <a:ext cx="1371600" cy="380000"/>
          </a:xfrm>
          <a:prstGeom prst="rect">
            <a:avLst/>
          </a:prstGeom>
          <a:solidFill>
            <a:srgbClr val="FFD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40880" y="827240"/>
            <a:ext cx="13716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</a:rPr>
              <a:t>2026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40880" y="1167240"/>
            <a:ext cx="1371600" cy="80000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7520880" y="2007240"/>
            <a:ext cx="12116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D760"/>
                </a:solidFill>
                <a:latin typeface="メイリオ"/>
              </a:rPr>
              <a:t>真打 吉宗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20880" y="2347240"/>
            <a:ext cx="1211600" cy="166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5E6C8"/>
                </a:solidFill>
                <a:latin typeface="メイリオ"/>
              </a:rPr>
              <a:t>真BB 2000枚 × 1G連
「7を狙う」DNA進化
4月6日導入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82880" y="4160520"/>
            <a:ext cx="8778240" cy="430000"/>
          </a:xfrm>
          <a:prstGeom prst="rect">
            <a:avLst/>
          </a:prstGeom>
          <a:solidFill>
            <a:srgbClr val="18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040" y="4224528"/>
            <a:ext cx="841248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4A520"/>
                </a:solidFill>
                <a:latin typeface="メイリオ"/>
              </a:rPr>
              <a:t>初代から受け継がれる「7を狙う・1G連・711枚」のDNA ── 真打吉宗はそれを「真BB 2000枚 × 1G連」として昇華させた集大成だから「真打」を名乗れる。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0" y="4919472"/>
            <a:ext cx="128016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888888"/>
                </a:solidFill>
                <a:latin typeface="メイリオ"/>
              </a:rPr>
              <a:t>※ネットより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30000"/>
          </a:xfrm>
          <a:prstGeom prst="rect">
            <a:avLst/>
          </a:prstGeom>
          <a:solidFill>
            <a:srgbClr val="12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0000" cy="43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0000" y="60000"/>
            <a:ext cx="86868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520"/>
                </a:solidFill>
                <a:latin typeface="メイリオ"/>
              </a:rPr>
              <a:t>SPEC  ──  基本スペック一覧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777240"/>
            <a:ext cx="4297680" cy="380000"/>
          </a:xfrm>
          <a:prstGeom prst="rect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62880" y="804672"/>
            <a:ext cx="41148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メイリオ"/>
              </a:rPr>
              <a:t>基本スペック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1207008"/>
            <a:ext cx="4297680" cy="325000"/>
          </a:xfrm>
          <a:prstGeom prst="rect">
            <a:avLst/>
          </a:prstGeom>
          <a:solidFill>
            <a:srgbClr val="12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2880" y="1232008"/>
            <a:ext cx="128016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  <a:latin typeface="メイリオ"/>
              </a:rPr>
              <a:t>メーカー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2880" y="1232008"/>
            <a:ext cx="265176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E6C8"/>
                </a:solidFill>
                <a:latin typeface="メイリオ"/>
              </a:rPr>
              <a:t>大都技研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537008"/>
            <a:ext cx="4297680" cy="325000"/>
          </a:xfrm>
          <a:prstGeom prst="rect">
            <a:avLst/>
          </a:prstGeom>
          <a:solidFill>
            <a:srgbClr val="1810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2880" y="1562008"/>
            <a:ext cx="128016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  <a:latin typeface="メイリオ"/>
              </a:rPr>
              <a:t>タイプ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62880" y="1562008"/>
            <a:ext cx="265176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E6C8"/>
                </a:solidFill>
                <a:latin typeface="メイリオ"/>
              </a:rPr>
              <a:t>スマスロ（L型）AT機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1867008"/>
            <a:ext cx="4297680" cy="325000"/>
          </a:xfrm>
          <a:prstGeom prst="rect">
            <a:avLst/>
          </a:prstGeom>
          <a:solidFill>
            <a:srgbClr val="12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2880" y="1892008"/>
            <a:ext cx="128016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  <a:latin typeface="メイリオ"/>
              </a:rPr>
              <a:t>導入日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62880" y="1892008"/>
            <a:ext cx="265176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E6C8"/>
                </a:solidFill>
                <a:latin typeface="メイリオ"/>
              </a:rPr>
              <a:t>2026年4月6日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2197008"/>
            <a:ext cx="4297680" cy="325000"/>
          </a:xfrm>
          <a:prstGeom prst="rect">
            <a:avLst/>
          </a:prstGeom>
          <a:solidFill>
            <a:srgbClr val="1810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2880" y="2222008"/>
            <a:ext cx="128016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  <a:latin typeface="メイリオ"/>
              </a:rPr>
              <a:t>AT純増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62880" y="2222008"/>
            <a:ext cx="265176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E6C8"/>
                </a:solidFill>
                <a:latin typeface="メイリオ"/>
              </a:rPr>
              <a:t>約2.7枚/G（通常）/ 約9.0枚/G（真BB）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2527008"/>
            <a:ext cx="4297680" cy="325000"/>
          </a:xfrm>
          <a:prstGeom prst="rect">
            <a:avLst/>
          </a:prstGeom>
          <a:solidFill>
            <a:srgbClr val="12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2880" y="2552008"/>
            <a:ext cx="128016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  <a:latin typeface="メイリオ"/>
              </a:rPr>
              <a:t>ベース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2880" y="2552008"/>
            <a:ext cx="265176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E6C8"/>
                </a:solidFill>
                <a:latin typeface="メイリオ"/>
              </a:rPr>
              <a:t>約31G／50枚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2857008"/>
            <a:ext cx="4297680" cy="325000"/>
          </a:xfrm>
          <a:prstGeom prst="rect">
            <a:avLst/>
          </a:prstGeom>
          <a:solidFill>
            <a:srgbClr val="1810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2880" y="2882008"/>
            <a:ext cx="128016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  <a:latin typeface="メイリオ"/>
              </a:rPr>
              <a:t>CZ初当り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62880" y="2882008"/>
            <a:ext cx="265176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E6C8"/>
                </a:solidFill>
                <a:latin typeface="メイリオ"/>
              </a:rPr>
              <a:t>設定1: 1/313.0  〜  設定6: 1/250.6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" y="3187008"/>
            <a:ext cx="4297680" cy="325000"/>
          </a:xfrm>
          <a:prstGeom prst="rect">
            <a:avLst/>
          </a:prstGeom>
          <a:solidFill>
            <a:srgbClr val="12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2880" y="3212008"/>
            <a:ext cx="128016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  <a:latin typeface="メイリオ"/>
              </a:rPr>
              <a:t>AT初当り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62880" y="3212008"/>
            <a:ext cx="265176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E6C8"/>
                </a:solidFill>
                <a:latin typeface="メイリオ"/>
              </a:rPr>
              <a:t>設定1: 1/488.9  〜  設定6: 1/354.9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3517008"/>
            <a:ext cx="4297680" cy="325000"/>
          </a:xfrm>
          <a:prstGeom prst="rect">
            <a:avLst/>
          </a:prstGeom>
          <a:solidFill>
            <a:srgbClr val="1810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2880" y="3542008"/>
            <a:ext cx="128016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  <a:latin typeface="メイリオ"/>
              </a:rPr>
              <a:t>CZ天井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62880" y="3542008"/>
            <a:ext cx="265176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E6C8"/>
                </a:solidFill>
                <a:latin typeface="メイリオ"/>
              </a:rPr>
              <a:t>1,000G（真BB後は700Gに短縮）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82880" y="3847008"/>
            <a:ext cx="4297680" cy="325000"/>
          </a:xfrm>
          <a:prstGeom prst="rect">
            <a:avLst/>
          </a:prstGeom>
          <a:solidFill>
            <a:srgbClr val="12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62880" y="3872008"/>
            <a:ext cx="128016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  <a:latin typeface="メイリオ"/>
              </a:rPr>
              <a:t>AT天井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62880" y="3872008"/>
            <a:ext cx="265176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E6C8"/>
                </a:solidFill>
                <a:latin typeface="メイリオ"/>
              </a:rPr>
              <a:t>1,500G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754880" y="777240"/>
            <a:ext cx="4206240" cy="380000"/>
          </a:xfrm>
          <a:prstGeom prst="rect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34880" y="804672"/>
            <a:ext cx="402336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メイリオ"/>
              </a:rPr>
              <a:t>設定別 機械割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54880" y="1234440"/>
            <a:ext cx="1828800" cy="240000"/>
          </a:xfrm>
          <a:prstGeom prst="rect">
            <a:avLst/>
          </a:prstGeom>
          <a:solidFill>
            <a:srgbClr val="201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54880" y="1234440"/>
            <a:ext cx="269507" cy="240000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834880" y="1264440"/>
            <a:ext cx="580000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設定1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83680" y="1254440"/>
            <a:ext cx="9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BBBBBB"/>
                </a:solidFill>
                <a:latin typeface="メイリオ"/>
              </a:rPr>
              <a:t>97.8%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54880" y="1579440"/>
            <a:ext cx="1828800" cy="240000"/>
          </a:xfrm>
          <a:prstGeom prst="rect">
            <a:avLst/>
          </a:prstGeom>
          <a:solidFill>
            <a:srgbClr val="201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454880" y="1579440"/>
            <a:ext cx="529389" cy="240000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34880" y="1609440"/>
            <a:ext cx="580000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設定2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83680" y="1599440"/>
            <a:ext cx="9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BBBBBB"/>
                </a:solidFill>
                <a:latin typeface="メイリオ"/>
              </a:rPr>
              <a:t>100.5%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54880" y="1924440"/>
            <a:ext cx="1828800" cy="240000"/>
          </a:xfrm>
          <a:prstGeom prst="rect">
            <a:avLst/>
          </a:prstGeom>
          <a:solidFill>
            <a:srgbClr val="201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54880" y="1924440"/>
            <a:ext cx="683393" cy="240000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834880" y="1954440"/>
            <a:ext cx="580000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設定3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83680" y="1944440"/>
            <a:ext cx="9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BBBBBB"/>
                </a:solidFill>
                <a:latin typeface="メイリオ"/>
              </a:rPr>
              <a:t>102.1%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54880" y="2269440"/>
            <a:ext cx="1828800" cy="240000"/>
          </a:xfrm>
          <a:prstGeom prst="rect">
            <a:avLst/>
          </a:prstGeom>
          <a:solidFill>
            <a:srgbClr val="201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454880" y="2269440"/>
            <a:ext cx="914400" cy="240000"/>
          </a:xfrm>
          <a:prstGeom prst="rect">
            <a:avLst/>
          </a:prstGeom>
          <a:solidFill>
            <a:srgbClr val="FFE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834880" y="2299440"/>
            <a:ext cx="580000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設定4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83680" y="2289440"/>
            <a:ext cx="9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FEE44"/>
                </a:solidFill>
                <a:latin typeface="メイリオ"/>
              </a:rPr>
              <a:t>104.5%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54880" y="2614440"/>
            <a:ext cx="1828800" cy="240000"/>
          </a:xfrm>
          <a:prstGeom prst="rect">
            <a:avLst/>
          </a:prstGeom>
          <a:solidFill>
            <a:srgbClr val="201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454880" y="2614440"/>
            <a:ext cx="1232033" cy="240000"/>
          </a:xfrm>
          <a:prstGeom prst="rect">
            <a:avLst/>
          </a:prstGeom>
          <a:solidFill>
            <a:srgbClr val="FF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834880" y="2644440"/>
            <a:ext cx="580000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設定5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83680" y="2634440"/>
            <a:ext cx="9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F8800"/>
                </a:solidFill>
                <a:latin typeface="メイリオ"/>
              </a:rPr>
              <a:t>107.8%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454880" y="2959440"/>
            <a:ext cx="1828800" cy="240000"/>
          </a:xfrm>
          <a:prstGeom prst="rect">
            <a:avLst/>
          </a:prstGeom>
          <a:solidFill>
            <a:srgbClr val="201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454880" y="2959440"/>
            <a:ext cx="1828800" cy="240000"/>
          </a:xfrm>
          <a:prstGeom prst="rect">
            <a:avLst/>
          </a:prstGeom>
          <a:solidFill>
            <a:srgbClr val="FFD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834880" y="2989440"/>
            <a:ext cx="580000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設定6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83680" y="2979440"/>
            <a:ext cx="9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FD760"/>
                </a:solidFill>
                <a:latin typeface="メイリオ"/>
              </a:rPr>
              <a:t>114.0%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82880" y="4160520"/>
            <a:ext cx="8778240" cy="450000"/>
          </a:xfrm>
          <a:prstGeom prst="rect">
            <a:avLst/>
          </a:prstGeom>
          <a:solidFill>
            <a:srgbClr val="080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20040" y="4224528"/>
            <a:ext cx="841248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4A520"/>
                </a:solidFill>
                <a:latin typeface="メイリオ"/>
              </a:rPr>
              <a:t>設定6の114.0%は現行スマスロの中でも高水準。設定1の97.8%は微マイナスだが天井（CZ間1000G / AT間1500G）がカバー。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30000"/>
          </a:xfrm>
          <a:prstGeom prst="rect">
            <a:avLst/>
          </a:prstGeom>
          <a:solidFill>
            <a:srgbClr val="12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0000" cy="43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0000" y="60000"/>
            <a:ext cx="86868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520"/>
                </a:solidFill>
                <a:latin typeface="メイリオ"/>
              </a:rPr>
              <a:t>ゲームフロー全体図  ──  通常時から爆発まで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502920"/>
            <a:ext cx="2743200" cy="1097280"/>
          </a:xfrm>
          <a:prstGeom prst="rect">
            <a:avLst/>
          </a:prstGeom>
          <a:solidFill>
            <a:srgbClr val="120C04"/>
          </a:solidFill>
          <a:ln w="2286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62880" y="562920"/>
            <a:ext cx="25832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メイリオ"/>
              </a:rPr>
              <a:t>通常時 / 周期到達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2880" y="922920"/>
            <a:ext cx="2583200" cy="60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夜回りPTを毎G積算
規定PT × 最大6周期でCZへ</a:t>
            </a:r>
          </a:p>
        </p:txBody>
      </p:sp>
      <p:sp>
        <p:nvSpPr>
          <p:cNvPr id="8" name="Rectangle 7"/>
          <p:cNvSpPr/>
          <p:nvPr/>
        </p:nvSpPr>
        <p:spPr>
          <a:xfrm>
            <a:off x="3108960" y="502920"/>
            <a:ext cx="2743200" cy="1097280"/>
          </a:xfrm>
          <a:prstGeom prst="rect">
            <a:avLst/>
          </a:prstGeom>
          <a:solidFill>
            <a:srgbClr val="180600"/>
          </a:solidFill>
          <a:ln w="22860">
            <a:solidFill>
              <a:srgbClr val="CC2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88960" y="562920"/>
            <a:ext cx="25832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メイリオ"/>
              </a:rPr>
              <a:t>CZ  悪人成敗チャンス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88960" y="922920"/>
            <a:ext cx="2583200" cy="60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成功率 約55%
成功 → AT直行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502920"/>
            <a:ext cx="2743200" cy="1097280"/>
          </a:xfrm>
          <a:prstGeom prst="rect">
            <a:avLst/>
          </a:prstGeom>
          <a:solidFill>
            <a:srgbClr val="060618"/>
          </a:solidFill>
          <a:ln w="22860">
            <a:solidFill>
              <a:srgbClr val="336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15040" y="562920"/>
            <a:ext cx="25832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メイリオ"/>
              </a:rPr>
              <a:t>AT  勧善懲悪RUSH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15040" y="922920"/>
            <a:ext cx="2583200" cy="60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純増 2.7枚/G
40G周期で真高確率へのジャッジ</a:t>
            </a:r>
          </a:p>
        </p:txBody>
      </p:sp>
      <p:sp>
        <p:nvSpPr>
          <p:cNvPr id="14" name="Can 13"/>
          <p:cNvSpPr/>
          <p:nvPr/>
        </p:nvSpPr>
        <p:spPr>
          <a:xfrm>
            <a:off x="2966080" y="1025840"/>
            <a:ext cx="102880" cy="51440"/>
          </a:xfrm>
          <a:prstGeom prst="can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an 14"/>
          <p:cNvSpPr/>
          <p:nvPr/>
        </p:nvSpPr>
        <p:spPr>
          <a:xfrm>
            <a:off x="5892160" y="1025840"/>
            <a:ext cx="102880" cy="51440"/>
          </a:xfrm>
          <a:prstGeom prst="can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an 15"/>
          <p:cNvSpPr/>
          <p:nvPr/>
        </p:nvSpPr>
        <p:spPr>
          <a:xfrm rot="5400000">
            <a:off x="7341640" y="1660200"/>
            <a:ext cx="130000" cy="380000"/>
          </a:xfrm>
          <a:prstGeom prst="can">
            <a:avLst/>
          </a:prstGeom>
          <a:solidFill>
            <a:srgbClr val="FF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35040" y="2148840"/>
            <a:ext cx="2743200" cy="1097280"/>
          </a:xfrm>
          <a:prstGeom prst="rect">
            <a:avLst/>
          </a:prstGeom>
          <a:solidFill>
            <a:srgbClr val="180A00"/>
          </a:solidFill>
          <a:ln w="22860">
            <a:solidFill>
              <a:srgbClr val="FF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15040" y="2208840"/>
            <a:ext cx="25832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メイリオ"/>
              </a:rPr>
              <a:t>真高確率ゾーン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15040" y="2568840"/>
            <a:ext cx="2583200" cy="60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青7を狙え！
約1/168 で真BIG BONUS確定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08960" y="2148840"/>
            <a:ext cx="2743200" cy="1097280"/>
          </a:xfrm>
          <a:prstGeom prst="rect">
            <a:avLst/>
          </a:prstGeom>
          <a:solidFill>
            <a:srgbClr val="1C0800"/>
          </a:solidFill>
          <a:ln w="22860">
            <a:solidFill>
              <a:srgbClr val="CC2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88960" y="2208840"/>
            <a:ext cx="25832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メイリオ"/>
              </a:rPr>
              <a:t>真 BIG BONUS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88960" y="2568840"/>
            <a:ext cx="2583200" cy="60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約2,000枚 / 純増9.0枚/G
消化中に「1G連抽選」！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148840"/>
            <a:ext cx="2743200" cy="1097280"/>
          </a:xfrm>
          <a:prstGeom prst="rect">
            <a:avLst/>
          </a:prstGeom>
          <a:solidFill>
            <a:srgbClr val="1C1400"/>
          </a:solidFill>
          <a:ln w="22860">
            <a:solidFill>
              <a:srgbClr val="FFD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2880" y="2208840"/>
            <a:ext cx="25832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メイリオ"/>
              </a:rPr>
              <a:t>1G連ループ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2880" y="2568840"/>
            <a:ext cx="2583200" cy="60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次の1Gで再び真BB発動！
2,000枚 × N回 積み上がる</a:t>
            </a:r>
          </a:p>
        </p:txBody>
      </p:sp>
      <p:sp>
        <p:nvSpPr>
          <p:cNvPr id="26" name="Can 25"/>
          <p:cNvSpPr/>
          <p:nvPr/>
        </p:nvSpPr>
        <p:spPr>
          <a:xfrm rot="10800000">
            <a:off x="5892160" y="2622480"/>
            <a:ext cx="102880" cy="150000"/>
          </a:xfrm>
          <a:prstGeom prst="can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an 26"/>
          <p:cNvSpPr/>
          <p:nvPr/>
        </p:nvSpPr>
        <p:spPr>
          <a:xfrm rot="10800000">
            <a:off x="2966080" y="2622480"/>
            <a:ext cx="102880" cy="150000"/>
          </a:xfrm>
          <a:prstGeom prst="can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526980" y="1798840"/>
            <a:ext cx="55000" cy="35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6980" y="1771340"/>
            <a:ext cx="2981080" cy="55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453060" y="1798840"/>
            <a:ext cx="55000" cy="35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34480" y="1838840"/>
            <a:ext cx="284608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D760"/>
                </a:solidFill>
                <a:latin typeface="メイリオ"/>
              </a:rPr>
              <a:t>↺ 1G連成功でループ！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2880" y="3429000"/>
            <a:ext cx="2286000" cy="900000"/>
          </a:xfrm>
          <a:prstGeom prst="rect">
            <a:avLst/>
          </a:prstGeom>
          <a:solidFill>
            <a:srgbClr val="060828"/>
          </a:solidFill>
          <a:ln w="19050">
            <a:solidFill>
              <a:srgbClr val="336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2880" y="3509000"/>
            <a:ext cx="2011680" cy="7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AAFF"/>
                </a:solidFill>
                <a:latin typeface="メイリオ"/>
              </a:rPr>
              <a:t>天井ルート
CZ間 1,000G
AT間 1,500G
天井到達でAT保証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697480" y="3429000"/>
            <a:ext cx="6263640" cy="900000"/>
          </a:xfrm>
          <a:prstGeom prst="rect">
            <a:avLst/>
          </a:prstGeom>
          <a:solidFill>
            <a:srgbClr val="080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34640" y="3529000"/>
            <a:ext cx="5943600" cy="7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4A520"/>
                </a:solidFill>
                <a:latin typeface="メイリオ"/>
              </a:rPr>
              <a:t>★ 鍵は「真BB + 1G連」。AT自体の純増は2.7枚とおとなしいが、真高確率→真BBに到達すれば
2,000枚×複数ループが現実的になる。「当たりをいくつ引けるか」よりも「真BBを連鎖できるか」が勝負。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30000"/>
          </a:xfrm>
          <a:prstGeom prst="rect">
            <a:avLst/>
          </a:prstGeom>
          <a:solidFill>
            <a:srgbClr val="12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0000" cy="43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0000" y="60000"/>
            <a:ext cx="86868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520"/>
                </a:solidFill>
                <a:latin typeface="メイリオ"/>
              </a:rPr>
              <a:t>通常時の仕組み  ──  夜回りカウンター × 周期システム × CZモード4種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777240"/>
            <a:ext cx="2834640" cy="1920240"/>
          </a:xfrm>
          <a:prstGeom prst="rect">
            <a:avLst/>
          </a:prstGeom>
          <a:solidFill>
            <a:srgbClr val="120C04"/>
          </a:solidFill>
          <a:ln w="19050">
            <a:solidFill>
              <a:srgbClr val="D4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822960"/>
            <a:ext cx="256032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4A520"/>
                </a:solidFill>
                <a:latin typeface="メイリオ"/>
              </a:rPr>
              <a:t>① 夜回りカウンター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143000"/>
            <a:ext cx="2651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E6C8"/>
                </a:solidFill>
                <a:latin typeface="メイリオ"/>
              </a:rPr>
              <a:t>画面左下に常時表示するポイントゲージ。
毎ゲーム役に応じてPTが加算される。
  ハズレ     ▶  1PT
  リプレイ   ▶  5PT以上
  弱スイカ   ▶  10PT以上
  強チェリー ▶  さらに大量PT
規定PT（100〜600PT）到達で周期進行！</a:t>
            </a:r>
          </a:p>
        </p:txBody>
      </p:sp>
      <p:sp>
        <p:nvSpPr>
          <p:cNvPr id="8" name="Rectangle 7"/>
          <p:cNvSpPr/>
          <p:nvPr/>
        </p:nvSpPr>
        <p:spPr>
          <a:xfrm>
            <a:off x="3154680" y="777240"/>
            <a:ext cx="2834640" cy="1920240"/>
          </a:xfrm>
          <a:prstGeom prst="rect">
            <a:avLst/>
          </a:prstGeom>
          <a:solidFill>
            <a:srgbClr val="120C04"/>
          </a:solidFill>
          <a:ln w="19050">
            <a:solidFill>
              <a:srgbClr val="CC2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46120" y="822960"/>
            <a:ext cx="265176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2200"/>
                </a:solidFill>
                <a:latin typeface="メイリオ"/>
              </a:rPr>
              <a:t>② 周期システム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1143000"/>
            <a:ext cx="2651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E6C8"/>
                </a:solidFill>
                <a:latin typeface="メイリオ"/>
              </a:rPr>
              <a:t>規定PT到達 = 1周期クリア。
規定周期数に到達するとCZ「悪人成敗チャンス」へ。
周期カウンターの色が示唆する：
  白…通常  /  青…やや期待
  赤…大チャンス  /  金…CZ濃厚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777240"/>
            <a:ext cx="2834640" cy="1920240"/>
          </a:xfrm>
          <a:prstGeom prst="rect">
            <a:avLst/>
          </a:prstGeom>
          <a:solidFill>
            <a:srgbClr val="120C04"/>
          </a:solidFill>
          <a:ln w="19050">
            <a:solidFill>
              <a:srgbClr val="FFD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822960"/>
            <a:ext cx="265176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760"/>
                </a:solidFill>
                <a:latin typeface="メイリオ"/>
              </a:rPr>
              <a:t>③ CZモード4種（内部管理）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161288"/>
            <a:ext cx="77724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BBBBBB"/>
                </a:solidFill>
                <a:latin typeface="メイリオ"/>
              </a:rPr>
              <a:t>通常A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161288"/>
            <a:ext cx="18288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E6C8"/>
                </a:solidFill>
                <a:latin typeface="メイリオ"/>
              </a:rPr>
              <a:t>最大6周期でCZ当選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446288"/>
            <a:ext cx="77724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BBBBBB"/>
                </a:solidFill>
                <a:latin typeface="メイリオ"/>
              </a:rPr>
              <a:t>通常B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1446288"/>
            <a:ext cx="18288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E6C8"/>
                </a:solidFill>
                <a:latin typeface="メイリオ"/>
              </a:rPr>
              <a:t>通常Aより少ない周期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1731288"/>
            <a:ext cx="77724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EE44"/>
                </a:solidFill>
                <a:latin typeface="メイリオ"/>
              </a:rPr>
              <a:t>通常C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1731288"/>
            <a:ext cx="18288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E6C8"/>
                </a:solidFill>
                <a:latin typeface="メイリオ"/>
              </a:rPr>
              <a:t>最速ルート（少周期）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016288"/>
            <a:ext cx="77724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D760"/>
                </a:solidFill>
                <a:latin typeface="メイリオ"/>
              </a:rPr>
              <a:t>天国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2016288"/>
            <a:ext cx="18288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E6C8"/>
                </a:solidFill>
                <a:latin typeface="メイリオ"/>
              </a:rPr>
              <a:t>1周期のみ・CZ最速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" y="2834640"/>
            <a:ext cx="4297680" cy="1371600"/>
          </a:xfrm>
          <a:prstGeom prst="rect">
            <a:avLst/>
          </a:prstGeom>
          <a:solidFill>
            <a:srgbClr val="140500"/>
          </a:solidFill>
          <a:ln w="19050">
            <a:solidFill>
              <a:srgbClr val="CC2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2880360"/>
            <a:ext cx="402336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2200"/>
                </a:solidFill>
                <a:latin typeface="メイリオ"/>
              </a:rPr>
              <a:t>④ 抜刀チャンス（ベル10PT到達で発生）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3246120"/>
            <a:ext cx="4023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E6C8"/>
                </a:solidFill>
                <a:latin typeface="メイリオ"/>
              </a:rPr>
              <a:t>刀エフェクトが走る演出バトル。
成功 → ポイント特化ゾーン or CZ直当選
スイカ契機なら「人馬一体チャンス以上」濃厚！
刀エフェクトが豪華なほど期待度UP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63440" y="2834640"/>
            <a:ext cx="4297680" cy="1371600"/>
          </a:xfrm>
          <a:prstGeom prst="rect">
            <a:avLst/>
          </a:prstGeom>
          <a:solidFill>
            <a:srgbClr val="080818"/>
          </a:solidFill>
          <a:ln w="19050">
            <a:solidFill>
              <a:srgbClr val="336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80" y="2880360"/>
            <a:ext cx="402336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366DD"/>
                </a:solidFill>
                <a:latin typeface="メイリオ"/>
              </a:rPr>
              <a:t>通常時フロー（ざっくり）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0" y="3246120"/>
            <a:ext cx="4023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AAFF"/>
                </a:solidFill>
                <a:latin typeface="メイリオ"/>
              </a:rPr>
              <a:t>毎ゲーム夜回りPT加算
  ↓ 規定PT到達
周期クリア（最大6周期）
  ↓ 規定周期到達
CZ「悪人成敗チャンス」へ！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2880" y="4297680"/>
            <a:ext cx="8778240" cy="380000"/>
          </a:xfrm>
          <a:prstGeom prst="rect">
            <a:avLst/>
          </a:prstGeom>
          <a:solidFill>
            <a:srgbClr val="080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4352544"/>
            <a:ext cx="841248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4A520"/>
                </a:solidFill>
                <a:latin typeface="メイリオ"/>
              </a:rPr>
              <a:t>★ 天国モード時は1周期のみでCZ到達。AT後は天国移行率約43%なので「連チャンしやすい状態」が頻繁に発生する。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4919472"/>
            <a:ext cx="128016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888888"/>
                </a:solidFill>
                <a:latin typeface="メイリオ"/>
              </a:rPr>
              <a:t>※ネットより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30000"/>
          </a:xfrm>
          <a:prstGeom prst="rect">
            <a:avLst/>
          </a:prstGeom>
          <a:solidFill>
            <a:srgbClr val="12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0000" cy="43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0000" y="60000"/>
            <a:ext cx="86868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520"/>
                </a:solidFill>
                <a:latin typeface="メイリオ"/>
              </a:rPr>
              <a:t>CZ → AT  ──  悪人成敗チャンス → 勧善懲悪RUSH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777240"/>
            <a:ext cx="4023360" cy="2743200"/>
          </a:xfrm>
          <a:prstGeom prst="rect">
            <a:avLst/>
          </a:prstGeom>
          <a:solidFill>
            <a:srgbClr val="140600"/>
          </a:solidFill>
          <a:ln w="25400">
            <a:solidFill>
              <a:srgbClr val="CC2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822960"/>
            <a:ext cx="3749039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C2200"/>
                </a:solidFill>
                <a:latin typeface="メイリオ"/>
              </a:rPr>
              <a:t>CZ「悪人成敗チャンス」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170432"/>
            <a:ext cx="3749039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E6C8"/>
                </a:solidFill>
                <a:latin typeface="メイリオ"/>
              </a:rPr>
              <a:t>成功期待度：約55%
【ルール】
「BARを狙え！」演出が最大3回発生。
対戦相手は5種類（強さで期待度変化）。
対応役（強チェリー/強スイカ等）成立で
大チャンス演出に格上げ。
成功 → AT「勧善懲悪RUSH」へ直行
失敗 → 天国移行抽選（継続のチャンス）</a:t>
            </a:r>
          </a:p>
        </p:txBody>
      </p:sp>
      <p:sp>
        <p:nvSpPr>
          <p:cNvPr id="8" name="Can 7"/>
          <p:cNvSpPr/>
          <p:nvPr/>
        </p:nvSpPr>
        <p:spPr>
          <a:xfrm>
            <a:off x="4251960" y="2078840"/>
            <a:ext cx="280000" cy="140000"/>
          </a:xfrm>
          <a:prstGeom prst="can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63440" y="777240"/>
            <a:ext cx="4297680" cy="2743200"/>
          </a:xfrm>
          <a:prstGeom prst="rect">
            <a:avLst/>
          </a:prstGeom>
          <a:solidFill>
            <a:srgbClr val="060618"/>
          </a:solidFill>
          <a:ln w="25400">
            <a:solidFill>
              <a:srgbClr val="336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822960"/>
            <a:ext cx="402336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8AAFF"/>
                </a:solidFill>
                <a:latin typeface="メイリオ"/>
              </a:rPr>
              <a:t>AT「勧善懲悪RUSH」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170432"/>
            <a:ext cx="40233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E6C8"/>
                </a:solidFill>
                <a:latin typeface="メイリオ"/>
              </a:rPr>
              <a:t>差枚数管理型AT  /  純増：約2.7枚/G
初期差枚数：150枚
【消化中の仕組み】
  ・毎G：弱スイカ等でPT直乗せ抽選
  ・強レア役：上乗せ100%確定
  ・弱スイカ：約15%で上乗せ
  ・40G周期：「勧善懲悪チャンス」
    　→ 上乗せ ＋ 真高確率ジャッジ
  ・周期10・20G目：柳生一族対決濃厚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" y="3611880"/>
            <a:ext cx="8778240" cy="4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3703320"/>
            <a:ext cx="841248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4A520"/>
                </a:solidFill>
                <a:latin typeface="メイリオ"/>
              </a:rPr>
              <a:t>AT内の上乗せ分岐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4041648"/>
            <a:ext cx="2084831" cy="650000"/>
          </a:xfrm>
          <a:prstGeom prst="rect">
            <a:avLst/>
          </a:prstGeom>
          <a:solidFill>
            <a:srgbClr val="10101C"/>
          </a:solidFill>
          <a:ln w="1524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8600" y="4087368"/>
            <a:ext cx="192024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BBBBB"/>
                </a:solidFill>
                <a:latin typeface="メイリオ"/>
              </a:rPr>
              <a:t>差枚数直乗せ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8600" y="4343400"/>
            <a:ext cx="192024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5E6C8"/>
                </a:solidFill>
                <a:latin typeface="メイリオ"/>
              </a:rPr>
              <a:t>毎G小役成立時に
枚数を直接加算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41448" y="4041648"/>
            <a:ext cx="2084831" cy="650000"/>
          </a:xfrm>
          <a:prstGeom prst="rect">
            <a:avLst/>
          </a:prstGeom>
          <a:solidFill>
            <a:srgbClr val="10101C"/>
          </a:solidFill>
          <a:ln w="15240">
            <a:solidFill>
              <a:srgbClr val="FFE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21448" y="4087368"/>
            <a:ext cx="192024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EE44"/>
                </a:solidFill>
                <a:latin typeface="メイリオ"/>
              </a:rPr>
              <a:t>ビジョンチャンス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21448" y="4343400"/>
            <a:ext cx="192024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5E6C8"/>
                </a:solidFill>
                <a:latin typeface="メイリオ"/>
              </a:rPr>
              <a:t>演出発展で
大量上乗せ抽選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54296" y="4041648"/>
            <a:ext cx="2084831" cy="650000"/>
          </a:xfrm>
          <a:prstGeom prst="rect">
            <a:avLst/>
          </a:prstGeom>
          <a:solidFill>
            <a:srgbClr val="10101C"/>
          </a:solidFill>
          <a:ln w="15240">
            <a:solidFill>
              <a:srgbClr val="FF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34296" y="4087368"/>
            <a:ext cx="192024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8800"/>
                </a:solidFill>
                <a:latin typeface="メイリオ"/>
              </a:rPr>
              <a:t>勧善懲悪チャンス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34296" y="4343400"/>
            <a:ext cx="192024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5E6C8"/>
                </a:solidFill>
                <a:latin typeface="メイリオ"/>
              </a:rPr>
              <a:t>40G周期で必ず発生
勝利で大量上乗せ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67144" y="4041648"/>
            <a:ext cx="2084831" cy="650000"/>
          </a:xfrm>
          <a:prstGeom prst="rect">
            <a:avLst/>
          </a:prstGeom>
          <a:solidFill>
            <a:srgbClr val="10101C"/>
          </a:solidFill>
          <a:ln w="15240">
            <a:solidFill>
              <a:srgbClr val="CC2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7144" y="4087368"/>
            <a:ext cx="192024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2200"/>
                </a:solidFill>
                <a:latin typeface="メイリオ"/>
              </a:rPr>
              <a:t>真高確率突入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7144" y="4343400"/>
            <a:ext cx="192024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5E6C8"/>
                </a:solidFill>
                <a:latin typeface="メイリオ"/>
              </a:rPr>
              <a:t>最大の分岐点
真BBへの入口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4919472"/>
            <a:ext cx="128016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888888"/>
                </a:solidFill>
                <a:latin typeface="メイリオ"/>
              </a:rPr>
              <a:t>※ネットより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30000"/>
          </a:xfrm>
          <a:prstGeom prst="rect">
            <a:avLst/>
          </a:prstGeom>
          <a:solidFill>
            <a:srgbClr val="12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0000" cy="43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0000" y="60000"/>
            <a:ext cx="86868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520"/>
                </a:solidFill>
                <a:latin typeface="メイリオ"/>
              </a:rPr>
              <a:t>クライマックス  ──  真高確率 → 真BB（2000枚）→ 1G連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777240"/>
            <a:ext cx="2651760" cy="3017520"/>
          </a:xfrm>
          <a:prstGeom prst="rect">
            <a:avLst/>
          </a:prstGeom>
          <a:solidFill>
            <a:srgbClr val="100500"/>
          </a:solidFill>
          <a:ln w="25400">
            <a:solidFill>
              <a:srgbClr val="FF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822960"/>
            <a:ext cx="237744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8800"/>
                </a:solidFill>
                <a:latin typeface="メイリオ"/>
              </a:rPr>
              <a:t>真高確率ゾーン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170432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AT内「勧善懲悪チャンス」勝利後に
突入する上乗せ特化状態。
消化中は「青7を狙え」
カットインが頻発！
  青7揃い（約1/168）
  　↓ 真BIG BONUS確定！
真BB1枚ごとに上乗せ抽選も走る。
平均上乗せ：約150枚</a:t>
            </a:r>
          </a:p>
        </p:txBody>
      </p:sp>
      <p:sp>
        <p:nvSpPr>
          <p:cNvPr id="8" name="Can 7"/>
          <p:cNvSpPr/>
          <p:nvPr/>
        </p:nvSpPr>
        <p:spPr>
          <a:xfrm>
            <a:off x="2926080" y="2218500"/>
            <a:ext cx="270000" cy="135000"/>
          </a:xfrm>
          <a:prstGeom prst="can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37560" y="777240"/>
            <a:ext cx="2834640" cy="3017520"/>
          </a:xfrm>
          <a:prstGeom prst="rect">
            <a:avLst/>
          </a:prstGeom>
          <a:solidFill>
            <a:srgbClr val="180800"/>
          </a:solidFill>
          <a:ln w="31750">
            <a:solidFill>
              <a:srgbClr val="CC2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822960"/>
            <a:ext cx="265176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760"/>
                </a:solidFill>
                <a:latin typeface="メイリオ"/>
              </a:rPr>
              <a:t>真 BIG BONUS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1170432"/>
            <a:ext cx="2651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獲得枚数：約 2,000枚
純増：約 9.0枚/G
【1G連抽選（核心！）】
消化中に「成敗役」成立で
次ゲームに連チャン抽選！
  非成敗役  ▶  約 5.5%で1G連
  成敗役   ▶  約30〜100%で1G連
「月下ノ花道」演出が発生すると
次の真BB確定！</a:t>
            </a:r>
          </a:p>
        </p:txBody>
      </p:sp>
      <p:sp>
        <p:nvSpPr>
          <p:cNvPr id="12" name="Can 11"/>
          <p:cNvSpPr/>
          <p:nvPr/>
        </p:nvSpPr>
        <p:spPr>
          <a:xfrm>
            <a:off x="6263640" y="2218500"/>
            <a:ext cx="270000" cy="135000"/>
          </a:xfrm>
          <a:prstGeom prst="can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75120" y="777240"/>
            <a:ext cx="2286000" cy="3017520"/>
          </a:xfrm>
          <a:prstGeom prst="rect">
            <a:avLst/>
          </a:prstGeom>
          <a:solidFill>
            <a:srgbClr val="1C1400"/>
          </a:solidFill>
          <a:ln w="31750">
            <a:solidFill>
              <a:srgbClr val="FFD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822960"/>
            <a:ext cx="210312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760"/>
                </a:solidFill>
                <a:latin typeface="メイリオ"/>
              </a:rPr>
              <a:t>1G連 ループ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1170432"/>
            <a:ext cx="2103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真BB終了後、
次の1ゲームで
再び真BBが発動！
ループするたびに
2000枚×N回が
積み上がる。
★ 4〜5連で
   1万枚超えも夢ではない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3886200"/>
            <a:ext cx="8778240" cy="750000"/>
          </a:xfrm>
          <a:prstGeom prst="rect">
            <a:avLst/>
          </a:prstGeom>
          <a:solidFill>
            <a:srgbClr val="140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2880" y="3886200"/>
            <a:ext cx="60000" cy="75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3931920"/>
            <a:ext cx="841248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4A520"/>
                </a:solidFill>
                <a:latin typeface="メイリオ"/>
              </a:rPr>
              <a:t>この台の爆発力の仕組み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4251960"/>
            <a:ext cx="841248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E6C8"/>
                </a:solidFill>
                <a:latin typeface="メイリオ"/>
              </a:rPr>
              <a:t>AT（勧善懲悪RUSH）→ 真高確率 → 真BB（2000枚）→ 1G連ループ
1G連が連続すれば「2000枚 × 複数回」の大爆発。これが真打吉宗の醍醐味。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4919472"/>
            <a:ext cx="128016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888888"/>
                </a:solidFill>
                <a:latin typeface="メイリオ"/>
              </a:rPr>
              <a:t>※ネットより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30000"/>
          </a:xfrm>
          <a:prstGeom prst="rect">
            <a:avLst/>
          </a:prstGeom>
          <a:solidFill>
            <a:srgbClr val="12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0000" cy="43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0000" y="60000"/>
            <a:ext cx="86868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520"/>
                </a:solidFill>
                <a:latin typeface="メイリオ"/>
              </a:rPr>
              <a:t>設定示唆 &amp; 設定差  ──  高設定を見抜く判別ポイント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777240"/>
            <a:ext cx="4297680" cy="3337560"/>
          </a:xfrm>
          <a:prstGeom prst="rect">
            <a:avLst/>
          </a:prstGeom>
          <a:solidFill>
            <a:srgbClr val="120C04"/>
          </a:solidFill>
          <a:ln w="19050">
            <a:solidFill>
              <a:srgbClr val="D4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62880" y="822960"/>
            <a:ext cx="402336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4A520"/>
                </a:solidFill>
                <a:latin typeface="メイリオ"/>
              </a:rPr>
              <a:t>設定示唆演出</a:t>
            </a:r>
          </a:p>
        </p:txBody>
      </p:sp>
      <p:sp>
        <p:nvSpPr>
          <p:cNvPr id="7" name="Rectangle 6"/>
          <p:cNvSpPr/>
          <p:nvPr/>
        </p:nvSpPr>
        <p:spPr>
          <a:xfrm>
            <a:off x="262880" y="1188720"/>
            <a:ext cx="4023360" cy="50000"/>
          </a:xfrm>
          <a:prstGeom prst="rect">
            <a:avLst/>
          </a:prstGeom>
          <a:solidFill>
            <a:srgbClr val="FFD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2880" y="1248720"/>
            <a:ext cx="402336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D760"/>
                </a:solidFill>
                <a:latin typeface="メイリオ"/>
              </a:rPr>
              <a:t>コパンダトロフィー色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2880" y="1508720"/>
            <a:ext cx="402336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E6C8"/>
                </a:solidFill>
                <a:latin typeface="メイリオ"/>
              </a:rPr>
              <a:t>銅→設定2以上 / 銀→設定3以上
金→設定4以上 / 虹→設定6濃厚！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2880" y="1938720"/>
            <a:ext cx="4023360" cy="50000"/>
          </a:xfrm>
          <a:prstGeom prst="rect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2880" y="1998720"/>
            <a:ext cx="402336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2200"/>
                </a:solidFill>
                <a:latin typeface="メイリオ"/>
              </a:rPr>
              <a:t>真BB中ボイス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2880" y="2258720"/>
            <a:ext cx="402336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E6C8"/>
                </a:solidFill>
                <a:latin typeface="メイリオ"/>
              </a:rPr>
              <a:t>特定キャラのセリフで示唆
「江戸を守る！」→ 設定6濃厚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2880" y="2688720"/>
            <a:ext cx="4023360" cy="50000"/>
          </a:xfrm>
          <a:prstGeom prst="rect">
            <a:avLst/>
          </a:prstGeom>
          <a:solidFill>
            <a:srgbClr val="88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2880" y="2748720"/>
            <a:ext cx="402336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8AAFF"/>
                </a:solidFill>
                <a:latin typeface="メイリオ"/>
              </a:rPr>
              <a:t>御白洲ビジョン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2880" y="3008720"/>
            <a:ext cx="402336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E6C8"/>
                </a:solidFill>
                <a:latin typeface="メイリオ"/>
              </a:rPr>
              <a:t>吉宗＜大岡越前＜天英院
天英院出現で高設定期待大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2880" y="3438720"/>
            <a:ext cx="4023360" cy="50000"/>
          </a:xfrm>
          <a:prstGeom prst="rect">
            <a:avLst/>
          </a:prstGeom>
          <a:solidFill>
            <a:srgbClr val="FF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2880" y="3498720"/>
            <a:ext cx="402336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8800"/>
                </a:solidFill>
                <a:latin typeface="メイリオ"/>
              </a:rPr>
              <a:t>AT終了画面（差枚表示）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2880" y="3758720"/>
            <a:ext cx="402336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E6C8"/>
                </a:solidFill>
                <a:latin typeface="メイリオ"/>
              </a:rPr>
              <a:t>456枚→設4以上 / 555枚→設5以上
666枚→設定6濃厚！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54880" y="777240"/>
            <a:ext cx="4206240" cy="380000"/>
          </a:xfrm>
          <a:prstGeom prst="rect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34880" y="822960"/>
            <a:ext cx="402336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メイリオ"/>
              </a:rPr>
              <a:t>設定差まとめ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4880" y="1188720"/>
            <a:ext cx="7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D4A520"/>
                </a:solidFill>
                <a:latin typeface="メイリオ"/>
              </a:rPr>
              <a:t>設定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54880" y="1188720"/>
            <a:ext cx="85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D4A520"/>
                </a:solidFill>
                <a:latin typeface="メイリオ"/>
              </a:rPr>
              <a:t>CZ初当り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4880" y="1188720"/>
            <a:ext cx="9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D4A520"/>
                </a:solidFill>
                <a:latin typeface="メイリオ"/>
              </a:rPr>
              <a:t>AT初当り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4880" y="1188720"/>
            <a:ext cx="85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D4A520"/>
                </a:solidFill>
                <a:latin typeface="メイリオ"/>
              </a:rPr>
              <a:t>機械割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54880" y="1508760"/>
            <a:ext cx="4206240" cy="330000"/>
          </a:xfrm>
          <a:prstGeom prst="rect">
            <a:avLst/>
          </a:prstGeom>
          <a:solidFill>
            <a:srgbClr val="10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04880" y="1538760"/>
            <a:ext cx="7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FD760"/>
                </a:solidFill>
                <a:latin typeface="メイリオ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54880" y="1538760"/>
            <a:ext cx="8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5E6C8"/>
                </a:solidFill>
                <a:latin typeface="メイリオ"/>
              </a:rPr>
              <a:t>1/313.0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54880" y="1538760"/>
            <a:ext cx="9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5E6C8"/>
                </a:solidFill>
                <a:latin typeface="メイリオ"/>
              </a:rPr>
              <a:t>1/488.9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4880" y="1538760"/>
            <a:ext cx="8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BBBBBB"/>
                </a:solidFill>
                <a:latin typeface="メイリオ"/>
              </a:rPr>
              <a:t>97.8%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54880" y="1843760"/>
            <a:ext cx="4206240" cy="330000"/>
          </a:xfrm>
          <a:prstGeom prst="rect">
            <a:avLst/>
          </a:prstGeom>
          <a:solidFill>
            <a:srgbClr val="160E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4880" y="1873760"/>
            <a:ext cx="7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FD760"/>
                </a:solidFill>
                <a:latin typeface="メイリオ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54880" y="1873760"/>
            <a:ext cx="8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5E6C8"/>
                </a:solidFill>
                <a:latin typeface="メイリオ"/>
              </a:rPr>
              <a:t>1/300.3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54880" y="1873760"/>
            <a:ext cx="9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5E6C8"/>
                </a:solidFill>
                <a:latin typeface="メイリオ"/>
              </a:rPr>
              <a:t>1/465.2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54880" y="1873760"/>
            <a:ext cx="8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BBBBBB"/>
                </a:solidFill>
                <a:latin typeface="メイリオ"/>
              </a:rPr>
              <a:t>100.5%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754880" y="2178760"/>
            <a:ext cx="4206240" cy="330000"/>
          </a:xfrm>
          <a:prstGeom prst="rect">
            <a:avLst/>
          </a:prstGeom>
          <a:solidFill>
            <a:srgbClr val="10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04880" y="2208760"/>
            <a:ext cx="7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FD760"/>
                </a:solidFill>
                <a:latin typeface="メイリオ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54880" y="2208760"/>
            <a:ext cx="8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5E6C8"/>
                </a:solidFill>
                <a:latin typeface="メイリオ"/>
              </a:rPr>
              <a:t>1/288.1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54880" y="2208760"/>
            <a:ext cx="9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5E6C8"/>
                </a:solidFill>
                <a:latin typeface="メイリオ"/>
              </a:rPr>
              <a:t>1/441.8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54880" y="2208760"/>
            <a:ext cx="8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BBBBBB"/>
                </a:solidFill>
                <a:latin typeface="メイリオ"/>
              </a:rPr>
              <a:t>102.1%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754880" y="2513760"/>
            <a:ext cx="4206240" cy="330000"/>
          </a:xfrm>
          <a:prstGeom prst="rect">
            <a:avLst/>
          </a:prstGeom>
          <a:solidFill>
            <a:srgbClr val="160E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804880" y="2543760"/>
            <a:ext cx="7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FD760"/>
                </a:solidFill>
                <a:latin typeface="メイリオ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54880" y="2543760"/>
            <a:ext cx="8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5E6C8"/>
                </a:solidFill>
                <a:latin typeface="メイリオ"/>
              </a:rPr>
              <a:t>1/274.6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54880" y="2543760"/>
            <a:ext cx="9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5E6C8"/>
                </a:solidFill>
                <a:latin typeface="メイリオ"/>
              </a:rPr>
              <a:t>1/415.3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54880" y="2543760"/>
            <a:ext cx="8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EE44"/>
                </a:solidFill>
                <a:latin typeface="メイリオ"/>
              </a:rPr>
              <a:t>104.5%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754880" y="2848760"/>
            <a:ext cx="4206240" cy="330000"/>
          </a:xfrm>
          <a:prstGeom prst="rect">
            <a:avLst/>
          </a:prstGeom>
          <a:solidFill>
            <a:srgbClr val="10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804880" y="2878760"/>
            <a:ext cx="7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FD760"/>
                </a:solidFill>
                <a:latin typeface="メイリオ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554880" y="2878760"/>
            <a:ext cx="8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5E6C8"/>
                </a:solidFill>
                <a:latin typeface="メイリオ"/>
              </a:rPr>
              <a:t>1/261.9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54880" y="2878760"/>
            <a:ext cx="9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5E6C8"/>
                </a:solidFill>
                <a:latin typeface="メイリオ"/>
              </a:rPr>
              <a:t>1/388.4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54880" y="2878760"/>
            <a:ext cx="8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8800"/>
                </a:solidFill>
                <a:latin typeface="メイリオ"/>
              </a:rPr>
              <a:t>107.8%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754880" y="3183760"/>
            <a:ext cx="4206240" cy="330000"/>
          </a:xfrm>
          <a:prstGeom prst="rect">
            <a:avLst/>
          </a:prstGeom>
          <a:solidFill>
            <a:srgbClr val="160E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804880" y="3213760"/>
            <a:ext cx="7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FD760"/>
                </a:solidFill>
                <a:latin typeface="メイリオ"/>
              </a:rPr>
              <a:t>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554880" y="3213760"/>
            <a:ext cx="8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5E6C8"/>
                </a:solidFill>
                <a:latin typeface="メイリオ"/>
              </a:rPr>
              <a:t>1/250.6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54880" y="3213760"/>
            <a:ext cx="9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5E6C8"/>
                </a:solidFill>
                <a:latin typeface="メイリオ"/>
              </a:rPr>
              <a:t>1/354.9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54880" y="3213760"/>
            <a:ext cx="8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D760"/>
                </a:solidFill>
                <a:latin typeface="メイリオ"/>
              </a:rPr>
              <a:t>114.0%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82880" y="4160520"/>
            <a:ext cx="8778240" cy="450000"/>
          </a:xfrm>
          <a:prstGeom prst="rect">
            <a:avLst/>
          </a:prstGeom>
          <a:solidFill>
            <a:srgbClr val="080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20040" y="4224528"/>
            <a:ext cx="841248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4A520"/>
                </a:solidFill>
                <a:latin typeface="メイリオ"/>
              </a:rPr>
              <a:t>設定差はCZ・AT当選率に集中。設定6の114%は高水準だが「荒い」機種なので、設定4でも厳しい局面あり。判別は累積示唆演出で総合判断が重要。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72400" y="4919472"/>
            <a:ext cx="128016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888888"/>
                </a:solidFill>
                <a:latin typeface="メイリオ"/>
              </a:rPr>
              <a:t>※ネットより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30000"/>
          </a:xfrm>
          <a:prstGeom prst="rect">
            <a:avLst/>
          </a:prstGeom>
          <a:solidFill>
            <a:srgbClr val="12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0000" cy="43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0000" y="60000"/>
            <a:ext cx="86868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520"/>
                </a:solidFill>
                <a:latin typeface="メイリオ"/>
              </a:rPr>
              <a:t>まとめ  ──  真打吉宗で覚えておくべき3つのこと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749808"/>
            <a:ext cx="8778240" cy="760000"/>
          </a:xfrm>
          <a:prstGeom prst="rect">
            <a:avLst/>
          </a:prstGeom>
          <a:solidFill>
            <a:srgbClr val="140800"/>
          </a:solidFill>
          <a:ln w="25400">
            <a:solidFill>
              <a:srgbClr val="D4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822960"/>
            <a:ext cx="8412480" cy="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1">
                <a:solidFill>
                  <a:srgbClr val="FFD760"/>
                </a:solidFill>
                <a:latin typeface="メイリオ"/>
              </a:rPr>
              <a:t>「2000枚が、次の1ゲームでもう1回来るかもしれない。それが怖くてたまらない台。」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1618488"/>
            <a:ext cx="2834640" cy="2148840"/>
          </a:xfrm>
          <a:prstGeom prst="rect">
            <a:avLst/>
          </a:prstGeom>
          <a:solidFill>
            <a:srgbClr val="120C04"/>
          </a:solidFill>
          <a:ln w="25400">
            <a:solidFill>
              <a:srgbClr val="FF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" y="1618488"/>
            <a:ext cx="2834640" cy="380000"/>
          </a:xfrm>
          <a:prstGeom prst="rect">
            <a:avLst/>
          </a:prstGeom>
          <a:solidFill>
            <a:srgbClr val="FF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2880" y="1673352"/>
            <a:ext cx="267464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7070E"/>
                </a:solidFill>
                <a:latin typeface="メイリオ"/>
              </a:rPr>
              <a:t>① 真BBが本番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2880" y="2066543"/>
            <a:ext cx="2674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E6C8"/>
                </a:solidFill>
                <a:latin typeface="メイリオ"/>
              </a:rPr>
              <a:t>通常ATは「真BBへの道のり」。
真高確率に入って青7が揃った瞬間、
2000枚×9枚/Gの別の台が始まる。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97520" y="1618488"/>
            <a:ext cx="2834640" cy="2148840"/>
          </a:xfrm>
          <a:prstGeom prst="rect">
            <a:avLst/>
          </a:prstGeom>
          <a:solidFill>
            <a:srgbClr val="120C04"/>
          </a:solidFill>
          <a:ln w="25400">
            <a:solidFill>
              <a:srgbClr val="CC2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197520" y="1618488"/>
            <a:ext cx="2834640" cy="380000"/>
          </a:xfrm>
          <a:prstGeom prst="rect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77520" y="1673352"/>
            <a:ext cx="267464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7070E"/>
                </a:solidFill>
                <a:latin typeface="メイリオ"/>
              </a:rPr>
              <a:t>② 次の1Gに全部かかっている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77520" y="2066543"/>
            <a:ext cx="2674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E6C8"/>
                </a:solidFill>
                <a:latin typeface="メイリオ"/>
              </a:rPr>
              <a:t>真BB中の1G連抽選がこの台の核心。
成敗役を引くたびにループのチャンス。
連鎖するほど2000枚が積み上がる。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2160" y="1618488"/>
            <a:ext cx="2834640" cy="2148840"/>
          </a:xfrm>
          <a:prstGeom prst="rect">
            <a:avLst/>
          </a:prstGeom>
          <a:solidFill>
            <a:srgbClr val="120C04"/>
          </a:solidFill>
          <a:ln w="25400">
            <a:solidFill>
              <a:srgbClr val="D4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2160" y="1618488"/>
            <a:ext cx="2834640" cy="38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92160" y="1673352"/>
            <a:ext cx="267464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7070E"/>
                </a:solidFill>
                <a:latin typeface="メイリオ"/>
              </a:rPr>
              <a:t>③ 設定が入る日を選ぶ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2160" y="2066543"/>
            <a:ext cx="2674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E6C8"/>
                </a:solidFill>
                <a:latin typeface="メイリオ"/>
              </a:rPr>
              <a:t>設定6は機械割114%・業界最高水準。
設定1と設定6では別の台と思うべき。
高設定確保が最大の攻略。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3858768"/>
            <a:ext cx="8778240" cy="680000"/>
          </a:xfrm>
          <a:prstGeom prst="rect">
            <a:avLst/>
          </a:prstGeom>
          <a:solidFill>
            <a:srgbClr val="080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82880" y="3858768"/>
            <a:ext cx="60000" cy="68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3913632"/>
            <a:ext cx="832104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4A520"/>
                </a:solidFill>
                <a:latin typeface="メイリオ"/>
              </a:rPr>
              <a:t>初代から受け継がれた「7を狙う・1G連・711枚」のDNA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4224528"/>
            <a:ext cx="832104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E6C8"/>
                </a:solidFill>
                <a:latin typeface="メイリオ"/>
              </a:rPr>
              <a:t>真打吉宗はそれを「真BB 2000枚 × 1G連ループ」として昇華させたシリーズの集大成。怖くてたまらない1ゲームを、ぜひ体験してください。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