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50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40000" cy="292608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50292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メイリオ"/>
              </a:rPr>
              <a:t>スマスロ 大都技研  2026年4月6日導入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53035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035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C8"/>
                </a:solidFill>
                <a:latin typeface="メイリオ"/>
              </a:rPr>
              <a:t>2000枚が、次の1ゲームでもう1回来るかもしれない。それが怖くてたまらない台。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5029200" cy="70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60000" cy="70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466344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8"/>
                </a:solidFill>
                <a:latin typeface="メイリオ"/>
              </a:rPr>
              <a:t>初代2003年から続く伝説のシリーズ最新作
「真BB 2000枚 × 1G連」で爆発する
一撃性能と周期システムを徹底解剖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89120"/>
            <a:ext cx="29260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4A520"/>
                </a:solidFill>
                <a:latin typeface="メイリオ"/>
              </a:rPr>
              <a:t>機械割  設定1: 97.8%  /  設定6: 114.0%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この台の正直なところ  ──  知ってから打てばもっと楽しい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8778240" cy="90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8412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一言で言うと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841248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初代吉宗の「7を狙う・1G連」をスマスロで進化させた爆裂機。真BBに辿り着くまでは地味だが、辿り着いた瞬間から別の台になる。
勝ってるのに、次の1ゲームが怖くてたまらない ── それがこの台の本質。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755648"/>
            <a:ext cx="4206240" cy="1417320"/>
          </a:xfrm>
          <a:prstGeom prst="rect">
            <a:avLst/>
          </a:prstGeom>
          <a:solidFill>
            <a:srgbClr val="061406"/>
          </a:solidFill>
          <a:ln w="19050">
            <a:solidFill>
              <a:srgbClr val="22B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01368"/>
            <a:ext cx="39319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BB55"/>
                </a:solidFill>
                <a:latin typeface="メイリオ"/>
              </a:rPr>
              <a:t>打ってよかった声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39319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✔ 「2000枚が複数回来た時の興奮は別格」
✔ 「1G連が来るかどうかの1ゲームが忘れられない」
✔ 「周期システムが分かると見え方が変わる」
✔ 「吉宗世代には刺さりまくる」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755648"/>
            <a:ext cx="4297680" cy="1417320"/>
          </a:xfrm>
          <a:prstGeom prst="rect">
            <a:avLst/>
          </a:prstGeom>
          <a:solidFill>
            <a:srgbClr val="140606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01368"/>
            <a:ext cx="4023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知っておくべきリスク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402336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✗ 低設定は真BBまでの道のりが長く苦しい
✗ CZスルーが続くとペースが掴めない
✗ 真高確率に入っても真BBを引けないことも
✗ コイン単価が高め・荒波耐性が必要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264408"/>
            <a:ext cx="8778240" cy="480000"/>
          </a:xfrm>
          <a:prstGeom prst="rect">
            <a:avLst/>
          </a:prstGeom>
          <a:solidFill>
            <a:srgbClr val="100800"/>
          </a:solidFill>
          <a:ln w="1524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319272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導入台数 約15,000台（2026年4月）  /  吉宗シリーズファン多数  /  4月導入組で稼働独走中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94760"/>
            <a:ext cx="8778240" cy="70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858768"/>
            <a:ext cx="84124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この資料では、「真BBまでの道のり」と「1G連が生まれる瞬間」を順を追って解説します。
仕組みを知ってから打つと、1ゲームごとの意味が変わります。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HISTORY  ──  吉宗シリーズの歴史と「真打」の意味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1371600" cy="3291840"/>
          </a:xfrm>
          <a:prstGeom prst="rect">
            <a:avLst/>
          </a:prstGeom>
          <a:solidFill>
            <a:srgbClr val="990000"/>
          </a:solidFill>
          <a:ln w="127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37160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2003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67240"/>
            <a:ext cx="1371600" cy="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28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初代 吉宗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BIG 711枚 × 1G連ボーナス機
爆裂4号機・26万台設置
吉宗/姫/爺の3種BB
7を狙うゲーム性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44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344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44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80" y="1167240"/>
            <a:ext cx="1371600" cy="80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144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メイリオ"/>
              </a:rPr>
              <a:t>吉宗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4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5号機AT機に転換
純増約2.8枚・1セット40G
シリーズを現代仕様に再構成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60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60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860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2015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080" y="1167240"/>
            <a:ext cx="1371600" cy="80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660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メイリオ"/>
              </a:rPr>
              <a:t>吉宗 ～極～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60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BB払出320枚に強化
1セット80G+αに拡張
AT上乗せ性能を大幅強化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7680" y="777240"/>
            <a:ext cx="1371600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376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76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2024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680" y="1167240"/>
            <a:ext cx="1371600" cy="80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176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520"/>
                </a:solidFill>
                <a:latin typeface="メイリオ"/>
              </a:rPr>
              <a:t>吉宗RISING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6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スマスロ初復活
純増4.0枚・AT平均711枚
昇天ループ・爺と姫が仲間に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280" y="777240"/>
            <a:ext cx="1371600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2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2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2025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280" y="1167240"/>
            <a:ext cx="1371600" cy="800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692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520"/>
                </a:solidFill>
                <a:latin typeface="メイリオ"/>
              </a:rPr>
              <a:t>L吉宗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92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純増7.11枚・BB 711枚
1G連2回で「裏鷹狩り」
期待枚数3600枚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40880" y="777240"/>
            <a:ext cx="1371600" cy="3291840"/>
          </a:xfrm>
          <a:prstGeom prst="rect">
            <a:avLst/>
          </a:prstGeom>
          <a:solidFill>
            <a:srgbClr val="201000"/>
          </a:solidFill>
          <a:ln w="2540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40880" y="777240"/>
            <a:ext cx="1371600" cy="38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408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</a:rPr>
              <a:t>2026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0880" y="1167240"/>
            <a:ext cx="1371600" cy="800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5208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08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真BB 2000枚 × 1G連
「7を狙う」DNA進化
4月6日導入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160520"/>
            <a:ext cx="8778240" cy="43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224528"/>
            <a:ext cx="84124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初代から受け継がれる「7を狙う・1G連・711枚」のDNA ── 真打吉宗はそれを「真BB 2000枚 × 1G連」として昇華させた集大成だから「真打」を名乗れる。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SPEC  ──  基本スペック一覧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04672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基本スペック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3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880" y="123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大都技研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3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56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880" y="156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スマスロ（L型）AT機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6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189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導入日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880" y="189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2026年4月6日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19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222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880" y="222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約2.7枚/G（通常）/ 約9.0枚/G（真BB）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52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880" y="255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ベース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2880" y="255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約31G／50枚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85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880" y="288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2880" y="288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1/313.0  〜  設定6: 1/250.6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18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880" y="321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AT初当り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2880" y="321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1/488.9  〜  設定6: 1/354.9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51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880" y="354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CZ天井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2880" y="354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1,000G（真BB後は700Gに短縮）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84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880" y="387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2880" y="387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1,500G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4880" y="804672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設定別 機械割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54880" y="123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54880" y="1234440"/>
            <a:ext cx="269507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4880" y="126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3680" y="125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54880" y="157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54880" y="1579440"/>
            <a:ext cx="529389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34880" y="160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3680" y="159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54880" y="192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54880" y="1924440"/>
            <a:ext cx="683393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34880" y="195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3680" y="194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4880" y="226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54880" y="2269440"/>
            <a:ext cx="914400" cy="240000"/>
          </a:xfrm>
          <a:prstGeom prst="rect">
            <a:avLst/>
          </a:prstGeom>
          <a:solidFill>
            <a:srgbClr val="FFE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34880" y="229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3680" y="228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54880" y="261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54880" y="2614440"/>
            <a:ext cx="1232033" cy="24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34880" y="264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83680" y="263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34880" y="298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83680" y="297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設定6の114.0%は現行スマスロの中でも高水準。設定1の97.8%は微マイナスだが天井（CZ間1000G / AT間1500G）がカバー。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ゲームフロー全体図  ──  通常時から爆発まで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22960"/>
            <a:ext cx="182880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2296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通常時
夜回りカウンター
PT加算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08760"/>
            <a:ext cx="182880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50876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周期到達
（100〜600PT×最大6周期）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240280"/>
            <a:ext cx="1828800" cy="500000"/>
          </a:xfrm>
          <a:prstGeom prst="rect">
            <a:avLst/>
          </a:prstGeom>
          <a:solidFill>
            <a:srgbClr val="1806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224028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CZ
悪人成敗チャンス
成功率約55%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240280"/>
            <a:ext cx="1828800" cy="500000"/>
          </a:xfrm>
          <a:prstGeom prst="rect">
            <a:avLst/>
          </a:prstGeom>
          <a:solidFill>
            <a:srgbClr val="060618"/>
          </a:solidFill>
          <a:ln w="2286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24028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AT
勧善懲悪RUSH
純増2.7枚/G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240280"/>
            <a:ext cx="1828800" cy="500000"/>
          </a:xfrm>
          <a:prstGeom prst="rect">
            <a:avLst/>
          </a:prstGeom>
          <a:solidFill>
            <a:srgbClr val="180A00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真高確率
青7狙え！
約1/168で真BB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240280"/>
            <a:ext cx="1828800" cy="500000"/>
          </a:xfrm>
          <a:prstGeom prst="rect">
            <a:avLst/>
          </a:prstGeom>
          <a:solidFill>
            <a:srgbClr val="2008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24028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真BB
約2000枚
純増9.0枚/G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508760"/>
            <a:ext cx="1828800" cy="500000"/>
          </a:xfrm>
          <a:prstGeom prst="rect">
            <a:avLst/>
          </a:prstGeom>
          <a:solidFill>
            <a:srgbClr val="221600"/>
          </a:solidFill>
          <a:ln w="2286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508760"/>
            <a:ext cx="182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1G連
ループ
2000枚×N回！</a:t>
            </a:r>
          </a:p>
        </p:txBody>
      </p:sp>
      <p:sp>
        <p:nvSpPr>
          <p:cNvPr id="19" name="Can 18"/>
          <p:cNvSpPr/>
          <p:nvPr/>
        </p:nvSpPr>
        <p:spPr>
          <a:xfrm rot="5400000">
            <a:off x="1047280" y="13441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 rot="5400000">
            <a:off x="1047280" y="20299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2029968" y="2427168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4178808" y="2427168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 22"/>
          <p:cNvSpPr/>
          <p:nvPr/>
        </p:nvSpPr>
        <p:spPr>
          <a:xfrm>
            <a:off x="6327648" y="2427168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 23"/>
          <p:cNvSpPr/>
          <p:nvPr/>
        </p:nvSpPr>
        <p:spPr>
          <a:xfrm rot="16200000">
            <a:off x="7493800" y="2011680"/>
            <a:ext cx="100000" cy="200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76488" y="1508760"/>
            <a:ext cx="80000" cy="985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11112" y="1490472"/>
            <a:ext cx="2120000" cy="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822960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↺ 1G連ループ（2000枚×N）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291840"/>
            <a:ext cx="2011680" cy="700000"/>
          </a:xfrm>
          <a:prstGeom prst="rect">
            <a:avLst/>
          </a:prstGeom>
          <a:solidFill>
            <a:srgbClr val="06082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" y="3355848"/>
            <a:ext cx="18288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AAFF"/>
                </a:solidFill>
                <a:latin typeface="メイリオ"/>
              </a:rPr>
              <a:t>天井ルート
CZ間 1,000G
AT間 1,500G
→ 天井到達でAT保証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291840"/>
            <a:ext cx="6583680" cy="75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3355848"/>
            <a:ext cx="630936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鍵は「真BB + 1G連」。AT自体の純増は2.7枚とおとなしいが、真高確率→真BBに到達すれば
　2000枚×複数ループが現実的になる。「当たりをいくつ引けるか」よりも「真BBを連鎖できるか」が勝負。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通常時の仕組み  ──  夜回りカウンター × 周期システム × CZモード4種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① 夜回りカウンター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画面左下に常時表示するポイントゲージ。
毎ゲーム役に応じてPTが加算される。
  ハズレ     ▶  1PT
  リプレイ   ▶  5PT以上
  弱スイカ   ▶  10PT以上
  強チェリー ▶  さらに大量PT
規定PT（100〜600PT）到達で周期進行！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② 周期システム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規定PT到達 = 1周期クリア。
規定周期数に到達するとCZ「悪人成敗チャンス」へ。
周期カウンターの色が示唆する：
  白…通常  /  青…やや期待
  赤…大チャンス  /  金…CZ濃厚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③ CZモード4種（内部管理）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6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16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最大6周期でCZ当選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4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4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通常Aより少ない周期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EE44"/>
                </a:solidFill>
                <a:latin typeface="メイリオ"/>
              </a:rPr>
              <a:t>通常C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73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最速ルート（少周期）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1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60"/>
                </a:solidFill>
                <a:latin typeface="メイリオ"/>
              </a:rPr>
              <a:t>天国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01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1周期のみ・CZ最速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834640"/>
            <a:ext cx="4297680" cy="1371600"/>
          </a:xfrm>
          <a:prstGeom prst="rect">
            <a:avLst/>
          </a:prstGeom>
          <a:solidFill>
            <a:srgbClr val="140500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④ 抜刀チャンス（ベル10PT到達で発生）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刀エフェクトが走る演出バトル。
成功 → ポイント特化ゾーン or CZ直当選
スイカ契機なら「人馬一体チャンス以上」濃厚！
刀エフェクトが豪華なほど期待度UP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834640"/>
            <a:ext cx="4297680" cy="1371600"/>
          </a:xfrm>
          <a:prstGeom prst="rect">
            <a:avLst/>
          </a:prstGeom>
          <a:solidFill>
            <a:srgbClr val="080818"/>
          </a:solidFill>
          <a:ln w="1905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66DD"/>
                </a:solidFill>
                <a:latin typeface="メイリオ"/>
              </a:rPr>
              <a:t>通常時フロー（ざっくり）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FF"/>
                </a:solidFill>
                <a:latin typeface="メイリオ"/>
              </a:rPr>
              <a:t>毎ゲーム夜回りPT加算
  ↓ 規定PT到達
周期クリア（最大6周期）
  ↓ 規定周期到達
CZ「悪人成敗チャンス」へ！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297680"/>
            <a:ext cx="8778240" cy="3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352544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天国モード時は1周期のみでCZ到達。AT後は天国移行率約43%なので「連チャンしやすい状態」が頻繁に発生する。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CZ → AT  ──  悪人成敗チャンス → 勧善懲悪RUSH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023360" cy="2743200"/>
          </a:xfrm>
          <a:prstGeom prst="rect">
            <a:avLst/>
          </a:prstGeom>
          <a:solidFill>
            <a:srgbClr val="140600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3749039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200"/>
                </a:solidFill>
                <a:latin typeface="メイリオ"/>
              </a:rPr>
              <a:t>CZ「悪人成敗チャンス」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成功期待度：約55%
【ルール】
「BARを狙え！」演出が最大3回発生。
対戦相手は5種類（強さで期待度変化）。
対応役（強チェリー/強スイカ等）成立で
大チャンス演出に格上げ。
成功 → AT「勧善懲悪RUSH」へ直行
失敗 → 天国移行抽選（継続のチャンス）</a:t>
            </a:r>
          </a:p>
        </p:txBody>
      </p:sp>
      <p:sp>
        <p:nvSpPr>
          <p:cNvPr id="8" name="Can 7"/>
          <p:cNvSpPr/>
          <p:nvPr/>
        </p:nvSpPr>
        <p:spPr>
          <a:xfrm>
            <a:off x="4251960" y="2078840"/>
            <a:ext cx="280000" cy="14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777240"/>
            <a:ext cx="4297680" cy="2743200"/>
          </a:xfrm>
          <a:prstGeom prst="rect">
            <a:avLst/>
          </a:prstGeom>
          <a:solidFill>
            <a:srgbClr val="06061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AAFF"/>
                </a:solidFill>
                <a:latin typeface="メイリオ"/>
              </a:rPr>
              <a:t>AT「勧善懲悪RUSH」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170432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差枚数管理型AT  /  純増：約2.7枚/G
初期差枚数：150枚
【消化中の仕組み】
  ・毎G：弱スイカ等でPT直乗せ抽選
  ・強レア役：上乗せ100%確定
  ・弱スイカ：約15%で上乗せ
  ・40G周期：「勧善懲悪チャンス」
    　→ 上乗せ ＋ 真高確率ジャッジ
  ・周期10・20G目：柳生一族対決濃厚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611880"/>
            <a:ext cx="8778240" cy="4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AT内の上乗せ分岐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600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BBBB"/>
                </a:solidFill>
                <a:latin typeface="メイリオ"/>
              </a:rPr>
              <a:t>差枚数直乗せ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600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毎G小役成立時に
枚数を直接加算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E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1448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E44"/>
                </a:solidFill>
                <a:latin typeface="メイリオ"/>
              </a:rPr>
              <a:t>ビジョンチャンス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1448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演出発展で
大量上乗せ抽選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4296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4296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勧善懲悪チャンス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4296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40G周期で必ず発生
勝利で大量上乗せ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7144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7144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真高確率突入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7144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最大の分岐点
真BBへの入口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クライマックス  ──  真高確率 → 真BB（2000枚）→ 1G連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00500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800"/>
                </a:solidFill>
                <a:latin typeface="メイリオ"/>
              </a:rPr>
              <a:t>真高確率ゾーン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AT内「勧善懲悪チャンス」勝利後に
突入する上乗せ特化状態。
消化中は「青7を狙え」
カットインが頻発！
  青7揃い（約1/168）
  　↓ 真BIG BONUS確定！
真BB1枚ごとに上乗せ抽選も走る。
平均上乗せ：約150枚</a:t>
            </a:r>
          </a:p>
        </p:txBody>
      </p:sp>
      <p:sp>
        <p:nvSpPr>
          <p:cNvPr id="8" name="Can 7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180800"/>
          </a:solidFill>
          <a:ln w="317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60"/>
                </a:solidFill>
                <a:latin typeface="メイリオ"/>
              </a:rPr>
              <a:t>真 BIG 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獲得枚数：約 2,000枚
純増：約 9.0枚/G
【1G連抽選（核心！）】
消化中に「成敗役」成立で
次ゲームに連チャン抽選！
  非成敗役  ▶  約 5.5%で1G連
  成敗役   ▶  約30〜100%で1G連
「月下ノ花道」演出が発生すると
次の真BB確定！</a:t>
            </a:r>
          </a:p>
        </p:txBody>
      </p:sp>
      <p:sp>
        <p:nvSpPr>
          <p:cNvPr id="12" name="Can 11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1C1400"/>
          </a:solidFill>
          <a:ln w="317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60"/>
                </a:solidFill>
                <a:latin typeface="メイリオ"/>
              </a:rPr>
              <a:t>1G連 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真BB終了後、
次の1ゲームで
再び真BBが発動！
ループするたびに
2000枚×N回が
積み上がる。
★ 4〜5連で
   1万枚超えも夢ではない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4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この台の爆発力の仕組み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AT（勧善懲悪RUSH）→ 真高確率 → 真BB（2000枚）→ 1G連ループ
1G連が連続すれば「2000枚 × 複数回」の大爆発。これが真打吉宗の醍醐味。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設定示唆 &amp; 設定差  ──  高設定を見抜く判別ポイント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33756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520"/>
                </a:solidFill>
                <a:latin typeface="メイリオ"/>
              </a:rPr>
              <a:t>設定示唆演出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880" y="1188720"/>
            <a:ext cx="4023360" cy="5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コパンダトロフィー色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銅→設定2以上 / 銀→設定3以上
金→設定4以上 / 虹→設定6濃厚！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880" y="1938720"/>
            <a:ext cx="4023360" cy="5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9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真BB中ボイス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80" y="22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特定キャラのセリフで示唆
「江戸を守る！」→ 設定6濃厚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880" y="2688720"/>
            <a:ext cx="4023360" cy="50000"/>
          </a:xfrm>
          <a:prstGeom prst="rect">
            <a:avLst/>
          </a:prstGeom>
          <a:solidFill>
            <a:srgbClr val="88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27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AAFF"/>
                </a:solidFill>
                <a:latin typeface="メイリオ"/>
              </a:rPr>
              <a:t>御白洲ビジョン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80" y="30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吉宗＜大岡越前＜天英院
天英院出現で高設定期待大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880" y="3438720"/>
            <a:ext cx="4023360" cy="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34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AT終了画面（差枚表示）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80" y="37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456枚→設4以上 / 555枚→設5以上
666枚→設定6濃厚！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4880" y="822960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設定差まとめ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4880" y="118872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CZ初当り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4880" y="118872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AT初当り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機械割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50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4880" y="153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1/313.0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4880" y="153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1/488.9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84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4880" y="187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1/300.3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4880" y="187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1/465.2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17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4880" y="220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1/288.1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4880" y="220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1/441.8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251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4880" y="254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1/274.6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4880" y="254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1/415.3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84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4880" y="287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1/261.9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4880" y="287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1/388.4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18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4880" y="321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1/250.6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4880" y="321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1/354.9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設定差はCZ・AT当選率に集中。設定6の114%は高水準だが「荒い」機種なので、設定4でも厳しい局面あり。判別は累積示唆演出で総合判断が重要。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まとめ  ──  真打吉宗で覚えておくべき3つのこと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8778240" cy="76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841248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FD760"/>
                </a:solidFill>
                <a:latin typeface="メイリオ"/>
              </a:rPr>
              <a:t>「2000枚が、次の1ゲームでもう1回来るかもしれない。それが怖くてたまらない台。」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618488"/>
            <a:ext cx="2834640" cy="2148840"/>
          </a:xfrm>
          <a:prstGeom prst="rect">
            <a:avLst/>
          </a:prstGeom>
          <a:solidFill>
            <a:srgbClr val="120C04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618488"/>
            <a:ext cx="2834640" cy="38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8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070E"/>
                </a:solidFill>
                <a:latin typeface="メイリオ"/>
              </a:rPr>
              <a:t>① 真BBが本番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通常ATは「真BBへの道のり」。
真高確率に入って青7が揃った瞬間、
2000枚×9枚/Gの別の台が始まる。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7520" y="1618488"/>
            <a:ext cx="2834640" cy="2148840"/>
          </a:xfrm>
          <a:prstGeom prst="rect">
            <a:avLst/>
          </a:prstGeom>
          <a:solidFill>
            <a:srgbClr val="120C04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97520" y="1618488"/>
            <a:ext cx="28346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752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070E"/>
                </a:solidFill>
                <a:latin typeface="メイリオ"/>
              </a:rPr>
              <a:t>② 次の1Gに全部かかっている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752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真BB中の1G連抽選がこの台の核心。
成敗役を引くたびにループのチャンス。
連鎖するほど2000枚が積み上がる。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2160" y="1618488"/>
            <a:ext cx="2834640" cy="2148840"/>
          </a:xfrm>
          <a:prstGeom prst="rect">
            <a:avLst/>
          </a:prstGeom>
          <a:solidFill>
            <a:srgbClr val="120C04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2160" y="1618488"/>
            <a:ext cx="2834640" cy="3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216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070E"/>
                </a:solidFill>
                <a:latin typeface="メイリオ"/>
              </a:rPr>
              <a:t>③ 設定が入る日を選ぶ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216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設定6は機械割114%・業界最高水準。
設定1と設定6では別の台と思うべき。
高設定確保が最大の攻略。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58768"/>
            <a:ext cx="8778240" cy="6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3858768"/>
            <a:ext cx="60000" cy="6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913632"/>
            <a:ext cx="83210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初代から受け継がれた「7を狙う・1G連・711枚」のDNA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24528"/>
            <a:ext cx="83210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真打吉宗はそれを「真BB 2000枚 × 1G連ループ」として昇華させたシリーズの集大成。怖くてたまらない1ゲームを、ぜひ体験してください。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