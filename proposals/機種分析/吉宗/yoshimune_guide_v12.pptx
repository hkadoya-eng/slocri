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60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601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82880"/>
            <a:ext cx="1280160" cy="260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82880"/>
            <a:ext cx="12801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80414"/>
                </a:solidFill>
                <a:latin typeface="メイリオ"/>
              </a:rPr>
              <a:t>Part A 説明編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548640"/>
            <a:ext cx="45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A840"/>
                </a:solidFill>
                <a:latin typeface="游明朝"/>
              </a:rPr>
              <a:t>機種説明＋分析 統合版資料 v12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960120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7711"/>
                </a:solidFill>
                <a:latin typeface="游明朝"/>
              </a:rPr>
              <a:t>スマスロ
真打吉宗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2788920"/>
            <a:ext cx="45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C0A0"/>
                </a:solidFill>
                <a:latin typeface="游明朝"/>
              </a:rPr>
              <a:t>── 1G連×純増9枚で4号機の魂が甦る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291840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AA"/>
                </a:solidFill>
                <a:latin typeface="メイリオ"/>
              </a:rPr>
              <a:t>メーカー: 大都技研　　導入: 2026年4月6日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3566160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AA"/>
                </a:solidFill>
                <a:latin typeface="メイリオ"/>
              </a:rPr>
              <a:t>設定: 1〜6段階　　真BB純増: 約9.0枚/G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3840480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AA"/>
                </a:solidFill>
                <a:latin typeface="メイリオ"/>
              </a:rPr>
              <a:t>AT: 勧善懲悪RUSH（純増約2.7枚/G・差枚数管理）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274320"/>
            <a:ext cx="3749039" cy="1280160"/>
          </a:xfrm>
          <a:prstGeom prst="rect">
            <a:avLst/>
          </a:prstGeom>
          <a:solidFill>
            <a:srgbClr val="100820"/>
          </a:solidFill>
          <a:ln w="2540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60" y="274320"/>
            <a:ext cx="60000" cy="128016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334320"/>
            <a:ext cx="347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22CC"/>
                </a:solidFill>
                <a:latin typeface="游明朝"/>
              </a:rPr>
              <a:t>勧善懲悪RUSH（AT）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634320"/>
            <a:ext cx="34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周期CZからAT突入
御白州チャンスで差枚数上乗せ
真高確率で真BBを目指す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1783080"/>
            <a:ext cx="3749039" cy="1280160"/>
          </a:xfrm>
          <a:prstGeom prst="rect">
            <a:avLst/>
          </a:prstGeom>
          <a:solidFill>
            <a:srgbClr val="100820"/>
          </a:solidFill>
          <a:ln w="2540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60" y="1783080"/>
            <a:ext cx="60000" cy="128016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1843080"/>
            <a:ext cx="347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711"/>
                </a:solidFill>
                <a:latin typeface="游明朝"/>
              </a:rPr>
              <a:t>真BB（純増9.0枚）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143080"/>
            <a:ext cx="34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月下ノ花道経由で突入
1セット2000枚爆獲得
BB中に1G連抽選が走る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0" y="3291839"/>
            <a:ext cx="3749039" cy="1280160"/>
          </a:xfrm>
          <a:prstGeom prst="rect">
            <a:avLst/>
          </a:prstGeom>
          <a:solidFill>
            <a:srgbClr val="10082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66360" y="3291839"/>
            <a:ext cx="60000" cy="128016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3351839"/>
            <a:ext cx="347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究極鷹ブレイク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651839"/>
            <a:ext cx="34747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毎G1000枚ループ上乗せ
終了後は月下ノ花道で真BB確定
実質5000枚以上確定の夢体験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ゲームフロー全体図 ── 通常→CZ→AT→真BB→1G連→究極鷹ブレイク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2/9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713232"/>
            <a:ext cx="1828800" cy="1500000"/>
          </a:xfrm>
          <a:prstGeom prst="rect">
            <a:avLst/>
          </a:prstGeom>
          <a:solidFill>
            <a:srgbClr val="18102C"/>
          </a:solidFill>
          <a:ln w="2286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320" y="793232"/>
            <a:ext cx="17488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8822CC"/>
                </a:solidFill>
                <a:latin typeface="游明朝"/>
              </a:rPr>
              <a:t>通常時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320" y="1223232"/>
            <a:ext cx="176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周期ポイント蓄積
(6周期制)
レア役で加算</a:t>
            </a:r>
          </a:p>
        </p:txBody>
      </p:sp>
      <p:sp>
        <p:nvSpPr>
          <p:cNvPr id="11" name="Can 10"/>
          <p:cNvSpPr/>
          <p:nvPr/>
        </p:nvSpPr>
        <p:spPr>
          <a:xfrm>
            <a:off x="2113120" y="1373232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59152" y="713232"/>
            <a:ext cx="1828800" cy="1500000"/>
          </a:xfrm>
          <a:prstGeom prst="rect">
            <a:avLst/>
          </a:prstGeom>
          <a:solidFill>
            <a:srgbClr val="18102C"/>
          </a:solidFill>
          <a:ln w="2286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9152" y="793232"/>
            <a:ext cx="17488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8822CC"/>
                </a:solidFill>
                <a:latin typeface="游明朝"/>
              </a:rPr>
              <a:t>CZ
悪人成敗チャンス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9152" y="1223232"/>
            <a:ext cx="176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鷹CZが最高格
AT当選を目指す</a:t>
            </a:r>
          </a:p>
        </p:txBody>
      </p:sp>
      <p:sp>
        <p:nvSpPr>
          <p:cNvPr id="15" name="Can 14"/>
          <p:cNvSpPr/>
          <p:nvPr/>
        </p:nvSpPr>
        <p:spPr>
          <a:xfrm>
            <a:off x="4197952" y="1373232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3984" y="713232"/>
            <a:ext cx="1828800" cy="1500000"/>
          </a:xfrm>
          <a:prstGeom prst="rect">
            <a:avLst/>
          </a:prstGeom>
          <a:solidFill>
            <a:srgbClr val="18102C"/>
          </a:solidFill>
          <a:ln w="2286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3984" y="793232"/>
            <a:ext cx="17488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AA55FF"/>
                </a:solidFill>
                <a:latin typeface="游明朝"/>
              </a:rPr>
              <a:t>AT
勧善懲悪RUSH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3984" y="1223232"/>
            <a:ext cx="176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純増2.7枚/G
差枚数管理型
40G周期で内部CZ</a:t>
            </a:r>
          </a:p>
        </p:txBody>
      </p:sp>
      <p:sp>
        <p:nvSpPr>
          <p:cNvPr id="19" name="Can 18"/>
          <p:cNvSpPr/>
          <p:nvPr/>
        </p:nvSpPr>
        <p:spPr>
          <a:xfrm>
            <a:off x="6282784" y="1373232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28816" y="713232"/>
            <a:ext cx="1828800" cy="1500000"/>
          </a:xfrm>
          <a:prstGeom prst="rect">
            <a:avLst/>
          </a:prstGeom>
          <a:solidFill>
            <a:srgbClr val="140620"/>
          </a:solidFill>
          <a:ln w="2286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8816" y="793232"/>
            <a:ext cx="17488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AA55FF"/>
                </a:solidFill>
                <a:latin typeface="游明朝"/>
              </a:rPr>
              <a:t>真高確率
（ジャッジ）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8816" y="1223232"/>
            <a:ext cx="176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AT中 勧善懲悪
チャンス勝利で突入
真BB当選を目指す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313232"/>
            <a:ext cx="82296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7711"/>
                </a:solidFill>
                <a:latin typeface="游明朝"/>
              </a:rPr>
              <a:t>真BB
当選！</a:t>
            </a:r>
          </a:p>
        </p:txBody>
      </p:sp>
      <p:sp>
        <p:nvSpPr>
          <p:cNvPr id="24" name="Smiley Face 23"/>
          <p:cNvSpPr/>
          <p:nvPr/>
        </p:nvSpPr>
        <p:spPr>
          <a:xfrm>
            <a:off x="8551080" y="2233232"/>
            <a:ext cx="180000" cy="200000"/>
          </a:xfrm>
          <a:prstGeom prst="smileyFace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28816" y="2563232"/>
            <a:ext cx="1828800" cy="1550000"/>
          </a:xfrm>
          <a:prstGeom prst="rect">
            <a:avLst/>
          </a:prstGeom>
          <a:solidFill>
            <a:srgbClr val="140620"/>
          </a:solidFill>
          <a:ln w="2286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8816" y="2643232"/>
            <a:ext cx="17488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8822CC"/>
                </a:solidFill>
                <a:latin typeface="游明朝"/>
              </a:rPr>
              <a:t>月下ノ花道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8816" y="3073232"/>
            <a:ext cx="1768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真BB突入前の
演出ゾーン
真BB確定状態</a:t>
            </a:r>
          </a:p>
        </p:txBody>
      </p:sp>
      <p:sp>
        <p:nvSpPr>
          <p:cNvPr id="28" name="Can 27"/>
          <p:cNvSpPr/>
          <p:nvPr/>
        </p:nvSpPr>
        <p:spPr>
          <a:xfrm>
            <a:off x="6262784" y="3248232"/>
            <a:ext cx="200000" cy="180000"/>
          </a:xfrm>
          <a:prstGeom prst="can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43984" y="2563232"/>
            <a:ext cx="1828800" cy="1550000"/>
          </a:xfrm>
          <a:prstGeom prst="rect">
            <a:avLst/>
          </a:prstGeom>
          <a:solidFill>
            <a:srgbClr val="220804"/>
          </a:solidFill>
          <a:ln w="2286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3984" y="2643232"/>
            <a:ext cx="17488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7711"/>
                </a:solidFill>
                <a:latin typeface="游明朝"/>
              </a:rPr>
              <a:t>真BB
(純増9.0枚)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3984" y="3073232"/>
            <a:ext cx="1768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2000枚爆獲得
BB中に1G連抽選
成立役で当選率変化</a:t>
            </a:r>
          </a:p>
        </p:txBody>
      </p:sp>
      <p:sp>
        <p:nvSpPr>
          <p:cNvPr id="32" name="Can 31"/>
          <p:cNvSpPr/>
          <p:nvPr/>
        </p:nvSpPr>
        <p:spPr>
          <a:xfrm>
            <a:off x="4177952" y="3248232"/>
            <a:ext cx="200000" cy="180000"/>
          </a:xfrm>
          <a:prstGeom prst="can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59152" y="2563232"/>
            <a:ext cx="1828800" cy="1550000"/>
          </a:xfrm>
          <a:prstGeom prst="rect">
            <a:avLst/>
          </a:prstGeom>
          <a:solidFill>
            <a:srgbClr val="180600"/>
          </a:solidFill>
          <a:ln w="228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99152" y="2643232"/>
            <a:ext cx="17488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D700"/>
                </a:solidFill>
                <a:latin typeface="游明朝"/>
              </a:rPr>
              <a:t>1G連！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89152" y="3073232"/>
            <a:ext cx="1768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真BB終了の1G後
即次のBBが始まる
連続するほど興奮↑</a:t>
            </a:r>
          </a:p>
        </p:txBody>
      </p:sp>
      <p:sp>
        <p:nvSpPr>
          <p:cNvPr id="36" name="Can 35"/>
          <p:cNvSpPr/>
          <p:nvPr/>
        </p:nvSpPr>
        <p:spPr>
          <a:xfrm>
            <a:off x="2093120" y="3248232"/>
            <a:ext cx="200000" cy="180000"/>
          </a:xfrm>
          <a:prstGeom prst="can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563232"/>
            <a:ext cx="1828800" cy="1550000"/>
          </a:xfrm>
          <a:prstGeom prst="rect">
            <a:avLst/>
          </a:prstGeom>
          <a:solidFill>
            <a:srgbClr val="20100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4320" y="2643232"/>
            <a:ext cx="17488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8A840"/>
                </a:solidFill>
                <a:latin typeface="游明朝"/>
              </a:rPr>
              <a:t>究極鷹ブレイク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320" y="3073232"/>
            <a:ext cx="1768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毎G1000枚ループ上乗せ
終了後→月下ノ花道へ
5000枚以上確定！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" y="2963232"/>
            <a:ext cx="190000" cy="750000"/>
          </a:xfrm>
          <a:prstGeom prst="rect">
            <a:avLst/>
          </a:prstGeom>
          <a:solidFill>
            <a:srgbClr val="201000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" y="3003232"/>
            <a:ext cx="19000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C8A840"/>
                </a:solidFill>
                <a:latin typeface="メイリオ"/>
              </a:rPr>
              <a:t>↑
Loop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【設計】「通常→CZ→AT→真BB→1G連→究極鷹ブレイク」の全ルートを可視化。蛇行2段で流れを追える。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AA"/>
                </a:solidFill>
                <a:latin typeface="メイリオ"/>
              </a:rPr>
              <a:t>補足: 究極鷹ブレイク終了後は月下ノ花道へ移行（真BB確定）。1G連ループで左端に戻るイメージ。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通常時の遊び方 ── 周期CZとレア役の2ルートでATを目指す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3/9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"/>
            <a:ext cx="4114800" cy="3900000"/>
          </a:xfrm>
          <a:prstGeom prst="rect">
            <a:avLst/>
          </a:prstGeom>
          <a:solidFill>
            <a:srgbClr val="100820"/>
          </a:solidFill>
          <a:ln w="1905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658368"/>
            <a:ext cx="45000" cy="3900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20" y="708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22CC"/>
                </a:solidFill>
                <a:latin typeface="游明朝"/>
              </a:rPr>
              <a:t>ルート① 周期CZシステム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320" y="978368"/>
            <a:ext cx="4039800" cy="810000"/>
          </a:xfrm>
          <a:prstGeom prst="rect">
            <a:avLst/>
          </a:prstGeom>
          <a:solidFill>
            <a:srgbClr val="18102C"/>
          </a:solidFill>
          <a:ln w="762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320" y="1028368"/>
            <a:ext cx="398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55FF"/>
                </a:solidFill>
                <a:latin typeface="メイリオ"/>
              </a:rPr>
              <a:t>6周期制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20" y="1278368"/>
            <a:ext cx="3984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通常時はゲーム数消化でポイントを蓄積。
規定ポイント到達で「CZ（悪人成敗チャンス）」が発生。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320" y="1838368"/>
            <a:ext cx="4039800" cy="810000"/>
          </a:xfrm>
          <a:prstGeom prst="rect">
            <a:avLst/>
          </a:prstGeom>
          <a:solidFill>
            <a:srgbClr val="18102C"/>
          </a:solidFill>
          <a:ln w="762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320" y="1888368"/>
            <a:ext cx="398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55FF"/>
                </a:solidFill>
                <a:latin typeface="メイリオ"/>
              </a:rPr>
              <a:t>4種のCZモード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320" y="2138368"/>
            <a:ext cx="3984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滞在モードによって天井周期が異なる。
「天国モード相当」では1周期目でCZ確定。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4320" y="2698368"/>
            <a:ext cx="4039800" cy="810000"/>
          </a:xfrm>
          <a:prstGeom prst="rect">
            <a:avLst/>
          </a:prstGeom>
          <a:solidFill>
            <a:srgbClr val="18102C"/>
          </a:solidFill>
          <a:ln w="762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320" y="2748368"/>
            <a:ext cx="398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55FF"/>
                </a:solidFill>
                <a:latin typeface="メイリオ"/>
              </a:rPr>
              <a:t>鷹CZ（最高格）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320" y="2998368"/>
            <a:ext cx="3984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最も期待度が高いCZ。
突入したら大チャンス。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320" y="3558368"/>
            <a:ext cx="4039800" cy="810000"/>
          </a:xfrm>
          <a:prstGeom prst="rect">
            <a:avLst/>
          </a:prstGeom>
          <a:solidFill>
            <a:srgbClr val="18102C"/>
          </a:solidFill>
          <a:ln w="762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320" y="3608368"/>
            <a:ext cx="398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55FF"/>
                </a:solidFill>
                <a:latin typeface="メイリオ"/>
              </a:rPr>
              <a:t>CZ天井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320" y="3858368"/>
            <a:ext cx="3984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最大6周期（約1000G）でCZ確定。
CZ後・AT後にモードが再抽選される。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658368"/>
            <a:ext cx="4297680" cy="3900000"/>
          </a:xfrm>
          <a:prstGeom prst="rect">
            <a:avLst/>
          </a:prstGeom>
          <a:solidFill>
            <a:srgbClr val="100820"/>
          </a:solidFill>
          <a:ln w="1905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658368"/>
            <a:ext cx="45000" cy="390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7000" y="708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711"/>
                </a:solidFill>
                <a:latin typeface="游明朝"/>
              </a:rPr>
              <a:t>ルート② レア役からの自力当選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32000" y="978368"/>
            <a:ext cx="4222680" cy="810000"/>
          </a:xfrm>
          <a:prstGeom prst="rect">
            <a:avLst/>
          </a:prstGeom>
          <a:solidFill>
            <a:srgbClr val="18102C"/>
          </a:solidFill>
          <a:ln w="762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2000" y="1028368"/>
            <a:ext cx="416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A44"/>
                </a:solidFill>
                <a:latin typeface="メイリオ"/>
              </a:rPr>
              <a:t>チェリー・スイカ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2000" y="1278368"/>
            <a:ext cx="41676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レア小役成立でポイントを大量加算。
周期到達を早める効果がある。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32000" y="1838368"/>
            <a:ext cx="4222680" cy="810000"/>
          </a:xfrm>
          <a:prstGeom prst="rect">
            <a:avLst/>
          </a:prstGeom>
          <a:solidFill>
            <a:srgbClr val="18102C"/>
          </a:solidFill>
          <a:ln w="762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2000" y="1888368"/>
            <a:ext cx="416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A44"/>
                </a:solidFill>
                <a:latin typeface="メイリオ"/>
              </a:rPr>
              <a:t>チャンス目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2000" y="2138368"/>
            <a:ext cx="41676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特殊な出目が絡む役。
直接CZ当選や高確率状態への抽選あり。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32000" y="2698368"/>
            <a:ext cx="4222680" cy="810000"/>
          </a:xfrm>
          <a:prstGeom prst="rect">
            <a:avLst/>
          </a:prstGeom>
          <a:solidFill>
            <a:srgbClr val="18102C"/>
          </a:solidFill>
          <a:ln w="762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2000" y="2748368"/>
            <a:ext cx="416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A44"/>
                </a:solidFill>
                <a:latin typeface="メイリオ"/>
              </a:rPr>
              <a:t>AT天井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2000" y="2998368"/>
            <a:ext cx="41676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最大約1500GでAT確定。
周期天井と合わせて管理するとよい。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32000" y="3558368"/>
            <a:ext cx="4222680" cy="810000"/>
          </a:xfrm>
          <a:prstGeom prst="rect">
            <a:avLst/>
          </a:prstGeom>
          <a:solidFill>
            <a:srgbClr val="18102C"/>
          </a:solidFill>
          <a:ln w="762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2000" y="3608368"/>
            <a:ext cx="41676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A44"/>
                </a:solidFill>
                <a:latin typeface="メイリオ"/>
              </a:rPr>
              <a:t>打ち方のポイント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2000" y="3858368"/>
            <a:ext cx="416768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全役対応の左リール枠内にBAR付きチェリーを狙う。
スイカはV字押し（右・左・中）で取得。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【設計】通常時は「待つ設計」ではなく「レア役で能動的に縮められる」二層構造。周期ゲーとレア役ゲーを両立。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AA"/>
                </a:solidFill>
                <a:latin typeface="メイリオ"/>
              </a:rPr>
              <a:t>補足: 周期モードはCZ後・AT後に抽選し直されるため、連続CZも起こりうる。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AT/ボーナスの遊び方 ── 勧善懲悪RUSH → 真高確率 → 真BB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4/9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"/>
            <a:ext cx="4114800" cy="1900000"/>
          </a:xfrm>
          <a:prstGeom prst="rect">
            <a:avLst/>
          </a:prstGeom>
          <a:solidFill>
            <a:srgbClr val="100820"/>
          </a:solidFill>
          <a:ln w="1905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658368"/>
            <a:ext cx="45000" cy="1900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20" y="708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8822CC"/>
                </a:solidFill>
                <a:latin typeface="游明朝"/>
              </a:rPr>
              <a:t>AT「勧善懲悪RUSH」概要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20" y="978368"/>
            <a:ext cx="4014800" cy="1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■ 純増: 約2.7枚/G（差枚数管理型）
■ 初期枚数: 150枚+α
■ 40Gごとに内部周期CZ「勧善懲悪チャンス」抽選
■ レア役 → 直乗せ（20〜500枚）or
   御白州チャンス高確 or 御白州チャンス突入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658368"/>
            <a:ext cx="4297680" cy="1900000"/>
          </a:xfrm>
          <a:prstGeom prst="rect">
            <a:avLst/>
          </a:prstGeom>
          <a:solidFill>
            <a:srgbClr val="100820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658368"/>
            <a:ext cx="45000" cy="19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7000" y="708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8A840"/>
                </a:solidFill>
                <a:latin typeface="游明朝"/>
              </a:rPr>
              <a:t>御白州チャンス（上乗せゾーン）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7000" y="978368"/>
            <a:ext cx="4197680" cy="1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■ 全4種類の報酬から抽選で決定
■ 最低50枚以上の差枚数上乗せ確定
■ 消化中レア役成立で特殊上乗せ以上確定
■ 最高報酬は「真BB確定」級の大当たり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" y="2678368"/>
            <a:ext cx="1965960" cy="1050000"/>
          </a:xfrm>
          <a:prstGeom prst="rect">
            <a:avLst/>
          </a:prstGeom>
          <a:solidFill>
            <a:srgbClr val="18102C"/>
          </a:solidFill>
          <a:ln w="2286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180" y="2748368"/>
            <a:ext cx="19059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822CC"/>
                </a:solidFill>
                <a:latin typeface="游明朝"/>
              </a:rPr>
              <a:t>勧善懲悪チャンス
（3G特化ゾーン）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180" y="3138368"/>
            <a:ext cx="191596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AT中40G周期で発生
勝利で真高確率へ</a:t>
            </a:r>
          </a:p>
        </p:txBody>
      </p:sp>
      <p:sp>
        <p:nvSpPr>
          <p:cNvPr id="19" name="Can 18"/>
          <p:cNvSpPr/>
          <p:nvPr/>
        </p:nvSpPr>
        <p:spPr>
          <a:xfrm>
            <a:off x="2273140" y="3113368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91740" y="2678368"/>
            <a:ext cx="1965960" cy="1050000"/>
          </a:xfrm>
          <a:prstGeom prst="rect">
            <a:avLst/>
          </a:prstGeom>
          <a:solidFill>
            <a:srgbClr val="140620"/>
          </a:solidFill>
          <a:ln w="2286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31740" y="2748368"/>
            <a:ext cx="19059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A55FF"/>
                </a:solidFill>
                <a:latin typeface="游明朝"/>
              </a:rPr>
              <a:t>真高確率
ジャッジ（1G）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1740" y="3138368"/>
            <a:ext cx="191596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真BB当選を判定
当選で月下ノ花道</a:t>
            </a:r>
          </a:p>
        </p:txBody>
      </p:sp>
      <p:sp>
        <p:nvSpPr>
          <p:cNvPr id="23" name="Can 22"/>
          <p:cNvSpPr/>
          <p:nvPr/>
        </p:nvSpPr>
        <p:spPr>
          <a:xfrm>
            <a:off x="4467700" y="3113368"/>
            <a:ext cx="200000" cy="180000"/>
          </a:xfrm>
          <a:prstGeom prst="can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86300" y="2678368"/>
            <a:ext cx="1965960" cy="1050000"/>
          </a:xfrm>
          <a:prstGeom prst="rect">
            <a:avLst/>
          </a:prstGeom>
          <a:solidFill>
            <a:srgbClr val="180600"/>
          </a:solidFill>
          <a:ln w="2286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6300" y="2748368"/>
            <a:ext cx="19059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7711"/>
                </a:solidFill>
                <a:latin typeface="游明朝"/>
              </a:rPr>
              <a:t>月下ノ花道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6300" y="3138368"/>
            <a:ext cx="191596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真BB確定の演出ゾーン
真BBへ突入！</a:t>
            </a:r>
          </a:p>
        </p:txBody>
      </p:sp>
      <p:sp>
        <p:nvSpPr>
          <p:cNvPr id="27" name="Can 26"/>
          <p:cNvSpPr/>
          <p:nvPr/>
        </p:nvSpPr>
        <p:spPr>
          <a:xfrm>
            <a:off x="6662260" y="3113368"/>
            <a:ext cx="200000" cy="180000"/>
          </a:xfrm>
          <a:prstGeom prst="can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80860" y="2678368"/>
            <a:ext cx="1965960" cy="1050000"/>
          </a:xfrm>
          <a:prstGeom prst="rect">
            <a:avLst/>
          </a:prstGeom>
          <a:solidFill>
            <a:srgbClr val="220804"/>
          </a:solidFill>
          <a:ln w="2286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20860" y="2748368"/>
            <a:ext cx="190596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7711"/>
                </a:solidFill>
                <a:latin typeface="游明朝"/>
              </a:rPr>
              <a:t>真BB
（純増9.0枚）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0860" y="3138368"/>
            <a:ext cx="191596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2000枚爆獲得
1G連抽選スタート！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【設計】ATは「差枚数管理＋御白州チャンス」で枚数を伸ばし、勧善懲悪チャンスで真BBを狙う二段構え。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AA"/>
                </a:solidFill>
                <a:latin typeface="メイリオ"/>
              </a:rPr>
              <a:t>補足: AT純増2.7枚/Gはあくまで通常消化時。真BB突入後は9.0枚/Gに跳ね上がる。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1G連の仕組み ── 「終わり→始まり」を1Gで完結させる感情設計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5/9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2651760" cy="1800000"/>
          </a:xfrm>
          <a:prstGeom prst="rect">
            <a:avLst/>
          </a:prstGeom>
          <a:solidFill>
            <a:srgbClr val="100820"/>
          </a:solidFill>
          <a:ln w="2286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685800"/>
            <a:ext cx="45000" cy="1800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20" y="740800"/>
            <a:ext cx="25567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22CC"/>
                </a:solidFill>
                <a:latin typeface="游明朝"/>
              </a:rPr>
              <a:t>① BB中の1G連抽選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20" y="1015800"/>
            <a:ext cx="2556760" cy="1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真BB消化中に成立役の種類に応じて
1G連獲得の抽選が走る。
高設定ほど1G連当選率が優遇。
レア役成立が当選チャンス。</a:t>
            </a:r>
          </a:p>
        </p:txBody>
      </p:sp>
      <p:sp>
        <p:nvSpPr>
          <p:cNvPr id="12" name="Can 11"/>
          <p:cNvSpPr/>
          <p:nvPr/>
        </p:nvSpPr>
        <p:spPr>
          <a:xfrm>
            <a:off x="2941080" y="1495800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685800"/>
            <a:ext cx="2651760" cy="1800000"/>
          </a:xfrm>
          <a:prstGeom prst="rect">
            <a:avLst/>
          </a:prstGeom>
          <a:solidFill>
            <a:srgbClr val="100820"/>
          </a:solidFill>
          <a:ln w="2286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2112" y="685800"/>
            <a:ext cx="45000" cy="180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7112" y="740800"/>
            <a:ext cx="25567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7711"/>
                </a:solidFill>
                <a:latin typeface="游明朝"/>
              </a:rPr>
              <a:t>② 1G後に次のBBが始まる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7112" y="1015800"/>
            <a:ext cx="2556760" cy="1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真BB終了の直後（1G）に
再び月下ノ花道が始まり
次の真BBに突入する。
「終わった！」が「え、また!?」に変わる。</a:t>
            </a:r>
          </a:p>
        </p:txBody>
      </p:sp>
      <p:sp>
        <p:nvSpPr>
          <p:cNvPr id="17" name="Can 16"/>
          <p:cNvSpPr/>
          <p:nvPr/>
        </p:nvSpPr>
        <p:spPr>
          <a:xfrm>
            <a:off x="5848872" y="1495800"/>
            <a:ext cx="200000" cy="180000"/>
          </a:xfrm>
          <a:prstGeom prst="can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685800"/>
            <a:ext cx="2651760" cy="1800000"/>
          </a:xfrm>
          <a:prstGeom prst="rect">
            <a:avLst/>
          </a:prstGeom>
          <a:solidFill>
            <a:srgbClr val="10082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4" y="685800"/>
            <a:ext cx="45000" cy="18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4904" y="740800"/>
            <a:ext cx="25567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游明朝"/>
              </a:rPr>
              <a:t>③ 連続するほど加速する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4904" y="1015800"/>
            <a:ext cx="2556760" cy="1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1G連が連続するたびに
獲得枚数は2000枚ずつ積み重なる。
興奮も線形ではなく指数的に上昇。
究極鷹ブレイクへの布石になることも。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05800"/>
            <a:ext cx="8595360" cy="1500000"/>
          </a:xfrm>
          <a:prstGeom prst="rect">
            <a:avLst/>
          </a:prstGeom>
          <a:solidFill>
            <a:srgbClr val="0C0620"/>
          </a:solidFill>
          <a:ln w="1524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320" y="2655800"/>
            <a:ext cx="8515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55FF"/>
                </a:solidFill>
                <a:latin typeface="游明朝"/>
              </a:rPr>
              <a:t>1G連の感情曲線 ── 興奮は「谷と山」の繰り返しで最大化される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4320" y="3205800"/>
            <a:ext cx="1635072" cy="85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4320" y="2925800"/>
            <a:ext cx="1695072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7711"/>
                </a:solidFill>
                <a:latin typeface="メイリオ"/>
              </a:rPr>
              <a:t>真BB消化
(興奮MAX)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9392" y="3655800"/>
            <a:ext cx="1635072" cy="4000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9392" y="2925800"/>
            <a:ext cx="1695072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BB終了
(落胆)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54464" y="3205800"/>
            <a:ext cx="1635072" cy="85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4464" y="2925800"/>
            <a:ext cx="1695072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D700"/>
                </a:solidFill>
                <a:latin typeface="メイリオ"/>
              </a:rPr>
              <a:t>1G連！
(衝撃MAX)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9536" y="3655800"/>
            <a:ext cx="1635072" cy="40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9536" y="2925800"/>
            <a:ext cx="1695072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F7711"/>
                </a:solidFill>
                <a:latin typeface="メイリオ"/>
              </a:rPr>
              <a:t>真BB消化
(再加速)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44608" y="3205800"/>
            <a:ext cx="1635072" cy="8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608" y="2925800"/>
            <a:ext cx="1695072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8A840"/>
                </a:solidFill>
                <a:latin typeface="メイリオ"/>
              </a:rPr>
              <a:t>究極鷹ブレイク
(現実が変わる)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【設計】1G連は「終わり→始まり」を1Gで完結させる感情設計。この「谷と山」が興奮を最大化する。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AA"/>
                </a:solidFill>
                <a:latin typeface="メイリオ"/>
              </a:rPr>
              <a:t>補足: 4号機吉宗の代名詞だった1G連を現行スマスロスペックで完全再現。30〜40代の記憶に直撃する。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究極鷹ブレイク ── 毎G1000枚ループ・5000枚以上確定の最高体験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6/9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"/>
            <a:ext cx="4023360" cy="3900000"/>
          </a:xfrm>
          <a:prstGeom prst="rect">
            <a:avLst/>
          </a:prstGeom>
          <a:solidFill>
            <a:srgbClr val="10082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658368"/>
            <a:ext cx="45000" cy="39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20" y="708368"/>
            <a:ext cx="3923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到達ルート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320" y="978368"/>
            <a:ext cx="3948360" cy="1100000"/>
          </a:xfrm>
          <a:prstGeom prst="rect">
            <a:avLst/>
          </a:prstGeom>
          <a:solidFill>
            <a:srgbClr val="161004"/>
          </a:solidFill>
          <a:ln w="101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320" y="978368"/>
            <a:ext cx="30000" cy="11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320" y="1028368"/>
            <a:ext cx="3883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STEP 1  真BB中に1G連を複数獲得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320" y="1288368"/>
            <a:ext cx="3883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真BB消化中に1G連抽選を突破。
1G連が連続するほど究極鷹ブレイクの
抽選チャンスが増える。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320" y="2138368"/>
            <a:ext cx="3948360" cy="1100000"/>
          </a:xfrm>
          <a:prstGeom prst="rect">
            <a:avLst/>
          </a:prstGeom>
          <a:solidFill>
            <a:srgbClr val="161004"/>
          </a:solidFill>
          <a:ln w="101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320" y="2138368"/>
            <a:ext cx="30000" cy="11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320" y="2188368"/>
            <a:ext cx="3883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STEP 2  BB中の特殊演出を経て発動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320" y="2448368"/>
            <a:ext cx="3883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真BBの高確率ゾーン中などに
特定演出（鷹の乱舞等）が発生すると
究極鷹ブレイク確定の報知あり。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4320" y="3298368"/>
            <a:ext cx="3948360" cy="1100000"/>
          </a:xfrm>
          <a:prstGeom prst="rect">
            <a:avLst/>
          </a:prstGeom>
          <a:solidFill>
            <a:srgbClr val="161004"/>
          </a:solidFill>
          <a:ln w="101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4320" y="3298368"/>
            <a:ext cx="30000" cy="11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320" y="3348368"/>
            <a:ext cx="3883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STEP 3  究極鷹ブレイク終了後も継続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320" y="3608368"/>
            <a:ext cx="38833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8F4"/>
                </a:solidFill>
                <a:latin typeface="メイリオ"/>
              </a:rPr>
              <a:t>1000枚ループ失敗で終了だが
終了後は月下ノ花道へ移行（真BB確定）。
1G連状態で再スタートする構造。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658368"/>
            <a:ext cx="4297680" cy="1900000"/>
          </a:xfrm>
          <a:prstGeom prst="rect">
            <a:avLst/>
          </a:prstGeom>
          <a:solidFill>
            <a:srgbClr val="1A0C02"/>
          </a:solidFill>
          <a:ln w="1905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658368"/>
            <a:ext cx="45000" cy="190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7000" y="708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7711"/>
                </a:solidFill>
                <a:latin typeface="游明朝"/>
              </a:rPr>
              <a:t>仕組みと遊び方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7000" y="978368"/>
            <a:ext cx="4197680" cy="1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■ 毎ゲーム1000枚のループ上乗せが発生
■ ループ失敗（低確率）で終了
■ 上乗せ成功中は演出を楽しみながら消化
■ 終了後は月下ノ花道（真BB確定）に移行
■ つまり究極鷹ブレイク後も真BBで1G連継続！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658368"/>
            <a:ext cx="4297680" cy="1900000"/>
          </a:xfrm>
          <a:prstGeom prst="rect">
            <a:avLst/>
          </a:prstGeom>
          <a:solidFill>
            <a:srgbClr val="1610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2658368"/>
            <a:ext cx="45000" cy="19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7000" y="2708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8A840"/>
                </a:solidFill>
                <a:latin typeface="游明朝"/>
              </a:rPr>
              <a:t>出玉インパクト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7000" y="2978368"/>
            <a:ext cx="4197680" cy="1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D700"/>
                </a:solidFill>
                <a:latin typeface="游明朝"/>
              </a:rPr>
              <a:t>究極鷹ブレイク中: 1000枚 × ループ数
終了後の真BB:     +2000枚
1G連複数:         +2000枚 × 連数
─────────────────────
合計 5000枚以上確定！
（ループが続けば10000枚超も現実的）
「現実が変わる体験」を提供する本機の頂点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【設計】究極鷹ブレイクは「毎G1000枚ループ＋終了後も真BB確定」の二重安全網。終わらない夢体験を設計している。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AA"/>
                </a:solidFill>
                <a:latin typeface="メイリオ"/>
              </a:rPr>
              <a:t>補足: 発生確認時点で最低でも5000枚以上が期待できる。スマスロ最高峰の出玉インパクトの一つ。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【分析】面白さの設計 ── なぜ真打吉宗は刺さるのか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7/9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8288"/>
            <a:ext cx="685800" cy="24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8288"/>
            <a:ext cx="6858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80414"/>
                </a:solidFill>
                <a:latin typeface="メイリオ"/>
              </a:rPr>
              <a:t>Part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58368"/>
            <a:ext cx="2651760" cy="1600000"/>
          </a:xfrm>
          <a:prstGeom prst="rect">
            <a:avLst/>
          </a:prstGeom>
          <a:solidFill>
            <a:srgbClr val="100820"/>
          </a:solidFill>
          <a:ln w="2286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658368"/>
            <a:ext cx="45000" cy="1600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20" y="713368"/>
            <a:ext cx="25567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22CC"/>
                </a:solidFill>
                <a:latin typeface="游明朝"/>
              </a:rPr>
              <a:t>IP記憶との接続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20" y="988368"/>
            <a:ext cx="2556760" cy="1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4号機吉宗の1G連は「コイン100枚が一瞬で消えた頃の記憶」。
30〜40代の休眠層が「あの台が帰ってきた」と感じる
強力な引力を持つ。ノスタルジアは最強のマーケティング。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2112" y="658368"/>
            <a:ext cx="2651760" cy="1600000"/>
          </a:xfrm>
          <a:prstGeom prst="rect">
            <a:avLst/>
          </a:prstGeom>
          <a:solidFill>
            <a:srgbClr val="100820"/>
          </a:solidFill>
          <a:ln w="2286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2112" y="658368"/>
            <a:ext cx="45000" cy="160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7112" y="713368"/>
            <a:ext cx="25567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7711"/>
                </a:solidFill>
                <a:latin typeface="游明朝"/>
              </a:rPr>
              <a:t>感情の波を設計する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7112" y="988368"/>
            <a:ext cx="2556760" cy="1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通常の継続型ATは「緩やかな興奮」しか生まない。
1G連は「落胆→衝撃」を1Gで繰り返す設計。
この感情の谷と山が記憶に残る体験を作る。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658368"/>
            <a:ext cx="2651760" cy="1600000"/>
          </a:xfrm>
          <a:prstGeom prst="rect">
            <a:avLst/>
          </a:prstGeom>
          <a:solidFill>
            <a:srgbClr val="10082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4" y="658368"/>
            <a:ext cx="45000" cy="16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4904" y="713368"/>
            <a:ext cx="25567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游明朝"/>
              </a:rPr>
              <a:t>純増9枚という体験速度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4904" y="988368"/>
            <a:ext cx="2556760" cy="1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2.7枚/Gと9.0枚/Gでは「感じるスピード」が3倍以上違う。
真BBの速さは「自分が主役になった感」を生む。
スピードそのものが演出になっている。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78368"/>
            <a:ext cx="8595360" cy="1700000"/>
          </a:xfrm>
          <a:prstGeom prst="rect">
            <a:avLst/>
          </a:prstGeom>
          <a:solidFill>
            <a:srgbClr val="100820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320" y="2428368"/>
            <a:ext cx="85153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游明朝"/>
              </a:rPr>
              <a:t>1G連システムの設計原則（他機種との比較）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88368"/>
            <a:ext cx="8595360" cy="280000"/>
          </a:xfrm>
          <a:prstGeom prst="rect">
            <a:avLst/>
          </a:prstGeom>
          <a:solidFill>
            <a:srgbClr val="441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4320" y="2708368"/>
            <a:ext cx="2286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E8F4"/>
                </a:solidFill>
                <a:latin typeface="メイリオ"/>
              </a:rPr>
              <a:t>方式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0320" y="2708368"/>
            <a:ext cx="2286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E8F4"/>
                </a:solidFill>
                <a:latin typeface="メイリオ"/>
              </a:rPr>
              <a:t>体験タイプ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6320" y="2708368"/>
            <a:ext cx="27432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E8F4"/>
                </a:solidFill>
                <a:latin typeface="メイリオ"/>
              </a:rPr>
              <a:t>プレイヤーへの効果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9520" y="2708368"/>
            <a:ext cx="12801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E8F4"/>
                </a:solidFill>
                <a:latin typeface="メイリオ"/>
              </a:rPr>
              <a:t>評価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968368"/>
            <a:ext cx="8595360" cy="426666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4320" y="3048368"/>
            <a:ext cx="228600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E8F4"/>
                </a:solidFill>
                <a:latin typeface="メイリオ"/>
              </a:rPr>
              <a:t>通常AT継続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0320" y="3048368"/>
            <a:ext cx="228600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連続する興奮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6320" y="3048368"/>
            <a:ext cx="274320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単調になりやすい・慣れで麻痺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9520" y="3048368"/>
            <a:ext cx="128016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415034"/>
            <a:ext cx="8595360" cy="426666"/>
          </a:xfrm>
          <a:prstGeom prst="rect">
            <a:avLst/>
          </a:prstGeom>
          <a:solidFill>
            <a:srgbClr val="18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320" y="3495034"/>
            <a:ext cx="228600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E8F4"/>
                </a:solidFill>
                <a:latin typeface="メイリオ"/>
              </a:rPr>
              <a:t>ゲーム数上乗せ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0320" y="3495034"/>
            <a:ext cx="228600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数字が増える喜び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06320" y="3495034"/>
            <a:ext cx="274320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抽象的・実感が遅い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49520" y="3495034"/>
            <a:ext cx="128016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861700"/>
            <a:ext cx="8595360" cy="426666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320" y="3941700"/>
            <a:ext cx="228600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D700"/>
                </a:solidFill>
                <a:latin typeface="メイリオ"/>
              </a:rPr>
              <a:t>1G連（吉宗）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20320" y="3941700"/>
            <a:ext cx="228600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落胆→衝撃の波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6320" y="3941700"/>
            <a:ext cx="274320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感情的記憶に残る・話題性が高い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49520" y="3941700"/>
            <a:ext cx="1280160" cy="34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8A840"/>
                </a:solidFill>
                <a:latin typeface="メイリオ"/>
              </a:rPr>
              <a:t>◎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【設計】1G連は「感情の波」を設計した革新。通常のAT継続では生めない「衝撃」を体験させる。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AA"/>
                </a:solidFill>
                <a:latin typeface="メイリオ"/>
              </a:rPr>
              <a:t>補足: IP記憶×感情波×速度感の三位一体が「刺さる台」の正体。それぞれ単独では到達できない高みを生む。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【分析】良い点と課題 ── 爆発力と荒波の二面性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8/9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"/>
            <a:ext cx="4114800" cy="330000"/>
          </a:xfrm>
          <a:prstGeom prst="rect">
            <a:avLst/>
          </a:prstGeom>
          <a:solidFill>
            <a:srgbClr val="104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320" y="708368"/>
            <a:ext cx="403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66"/>
                </a:solidFill>
                <a:latin typeface="游明朝"/>
              </a:rPr>
              <a:t>良い点（PROS）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8368"/>
            <a:ext cx="4114800" cy="910000"/>
          </a:xfrm>
          <a:prstGeom prst="rect">
            <a:avLst/>
          </a:prstGeom>
          <a:solidFill>
            <a:srgbClr val="100820"/>
          </a:solidFill>
          <a:ln w="1016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988368"/>
            <a:ext cx="40000" cy="910000"/>
          </a:xfrm>
          <a:prstGeom prst="rect">
            <a:avLst/>
          </a:prstGeom>
          <a:solidFill>
            <a:srgbClr val="1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320" y="103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1G連体験の再現性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320" y="1298368"/>
            <a:ext cx="4024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4号機吉宗のコア体験を完全再現。
「また!?」という衝撃は現代スペックで何倍も強烈。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38368"/>
            <a:ext cx="4114800" cy="910000"/>
          </a:xfrm>
          <a:prstGeom prst="rect">
            <a:avLst/>
          </a:prstGeom>
          <a:solidFill>
            <a:srgbClr val="100820"/>
          </a:solidFill>
          <a:ln w="1016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938368"/>
            <a:ext cx="40000" cy="910000"/>
          </a:xfrm>
          <a:prstGeom prst="rect">
            <a:avLst/>
          </a:prstGeom>
          <a:solidFill>
            <a:srgbClr val="1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320" y="198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純増9.0枚の速度感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320" y="2248368"/>
            <a:ext cx="4024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現行最高クラスの純増速度。
真BBが始まると体感は「秒で終わる」感覚になる。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88368"/>
            <a:ext cx="4114800" cy="910000"/>
          </a:xfrm>
          <a:prstGeom prst="rect">
            <a:avLst/>
          </a:prstGeom>
          <a:solidFill>
            <a:srgbClr val="100820"/>
          </a:solidFill>
          <a:ln w="1016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888368"/>
            <a:ext cx="40000" cy="910000"/>
          </a:xfrm>
          <a:prstGeom prst="rect">
            <a:avLst/>
          </a:prstGeom>
          <a:solidFill>
            <a:srgbClr val="1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320" y="293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究極鷹ブレイクの夢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320" y="3198368"/>
            <a:ext cx="4024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5000枚以上確定という数字が「夢」として機能。
台の前に座る理由を提供する最大の動機。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38368"/>
            <a:ext cx="4114800" cy="910000"/>
          </a:xfrm>
          <a:prstGeom prst="rect">
            <a:avLst/>
          </a:prstGeom>
          <a:solidFill>
            <a:srgbClr val="100820"/>
          </a:solidFill>
          <a:ln w="1016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838368"/>
            <a:ext cx="40000" cy="910000"/>
          </a:xfrm>
          <a:prstGeom prst="rect">
            <a:avLst/>
          </a:prstGeom>
          <a:solidFill>
            <a:srgbClr val="1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320" y="3888368"/>
            <a:ext cx="402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設計のシンプルさ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320" y="4148368"/>
            <a:ext cx="40248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「1G連とればいい」「鷹ブレイクに行けばいい」
という分かりやすいゴールがある。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658368"/>
            <a:ext cx="4297680" cy="330000"/>
          </a:xfrm>
          <a:prstGeom prst="rect">
            <a:avLst/>
          </a:prstGeom>
          <a:solidFill>
            <a:srgbClr val="44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2000" y="708368"/>
            <a:ext cx="421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游明朝"/>
              </a:rPr>
              <a:t>課題（CONS）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988368"/>
            <a:ext cx="4297680" cy="910000"/>
          </a:xfrm>
          <a:prstGeom prst="rect">
            <a:avLst/>
          </a:prstGeom>
          <a:solidFill>
            <a:srgbClr val="100820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988368"/>
            <a:ext cx="40000" cy="910000"/>
          </a:xfrm>
          <a:prstGeom prst="rect">
            <a:avLst/>
          </a:prstGeom>
          <a:solidFill>
            <a:srgbClr val="8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2000" y="103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メイリオ"/>
              </a:rPr>
              <a:t>荒波による消化不良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2000" y="1298368"/>
            <a:ext cx="420768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真BBを引けないと枚数が伸びない設計。
「当たらないAT」を長時間消化するストレス。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1938368"/>
            <a:ext cx="4297680" cy="910000"/>
          </a:xfrm>
          <a:prstGeom prst="rect">
            <a:avLst/>
          </a:prstGeom>
          <a:solidFill>
            <a:srgbClr val="100820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1938368"/>
            <a:ext cx="40000" cy="910000"/>
          </a:xfrm>
          <a:prstGeom prst="rect">
            <a:avLst/>
          </a:prstGeom>
          <a:solidFill>
            <a:srgbClr val="8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2000" y="198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メイリオ"/>
              </a:rPr>
              <a:t>設定1の重さ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2000" y="2248368"/>
            <a:ext cx="420768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設定差が大きく、設定1は初当たりが遠い。
低設定での長時間遊戯はコスパが厳しい。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888368"/>
            <a:ext cx="4297680" cy="910000"/>
          </a:xfrm>
          <a:prstGeom prst="rect">
            <a:avLst/>
          </a:prstGeom>
          <a:solidFill>
            <a:srgbClr val="100820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2888368"/>
            <a:ext cx="40000" cy="910000"/>
          </a:xfrm>
          <a:prstGeom prst="rect">
            <a:avLst/>
          </a:prstGeom>
          <a:solidFill>
            <a:srgbClr val="8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2000" y="293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メイリオ"/>
              </a:rPr>
              <a:t>ライト層への敷居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2000" y="3198368"/>
            <a:ext cx="420768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「1G連」の前提知識がない世代には
驚きが半減する。IP記憶は刺さる人限定の武器。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838368"/>
            <a:ext cx="4297680" cy="910000"/>
          </a:xfrm>
          <a:prstGeom prst="rect">
            <a:avLst/>
          </a:prstGeom>
          <a:solidFill>
            <a:srgbClr val="100820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0" y="3838368"/>
            <a:ext cx="40000" cy="910000"/>
          </a:xfrm>
          <a:prstGeom prst="rect">
            <a:avLst/>
          </a:prstGeom>
          <a:solidFill>
            <a:srgbClr val="8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000" y="3888368"/>
            <a:ext cx="420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22"/>
                </a:solidFill>
                <a:latin typeface="メイリオ"/>
              </a:rPr>
              <a:t>究極鷹ブレイクの偶然性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2000" y="4148368"/>
            <a:ext cx="420768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5000枚以上という数字は夢だが
実際の到達率は公開されておらず不透明感がある。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【設計】爆発力はトップクラスだが荒波も激しい。コアファン向けに徹した潔い設計判断が吉と出るか凶と出るか。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AA"/>
                </a:solidFill>
                <a:latin typeface="メイリオ"/>
              </a:rPr>
              <a:t>補足: 良い点・課題いずれも「1G連という設計の二面性」から来ている。設計の核心が強みでも弱みでもある。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【分析】まとめ ──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9/9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"/>
            <a:ext cx="4114800" cy="300000"/>
          </a:xfrm>
          <a:prstGeom prst="rect">
            <a:avLst/>
          </a:prstGeom>
          <a:solidFill>
            <a:srgbClr val="551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320" y="708368"/>
            <a:ext cx="4034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設計から学べること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58368"/>
            <a:ext cx="4114800" cy="1185000"/>
          </a:xfrm>
          <a:prstGeom prst="rect">
            <a:avLst/>
          </a:prstGeom>
          <a:solidFill>
            <a:srgbClr val="100820"/>
          </a:solidFill>
          <a:ln w="1905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958368"/>
            <a:ext cx="45000" cy="1185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20" y="100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22CC"/>
                </a:solidFill>
                <a:latin typeface="メイリオ"/>
              </a:rPr>
              <a:t>感情の「谷」が興奮を作る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20" y="126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1G連の「終わった→また始まった」は
一旦感情を下げることで次の山を高くする設計。
継続型ATでは生めない感情の振れ幅がある。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88368"/>
            <a:ext cx="4114800" cy="1185000"/>
          </a:xfrm>
          <a:prstGeom prst="rect">
            <a:avLst/>
          </a:prstGeom>
          <a:solidFill>
            <a:srgbClr val="100820"/>
          </a:solidFill>
          <a:ln w="1905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188368"/>
            <a:ext cx="45000" cy="1185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20" y="223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7711"/>
                </a:solidFill>
                <a:latin typeface="メイリオ"/>
              </a:rPr>
              <a:t>三位一体の爆発設計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20" y="249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純増9枚（速度）×1G連（継続）×究極鷹ブレイク（頂点）
この三つが組み合わさることで
どの一つも単独では到達できない頂点体験を生む。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18368"/>
            <a:ext cx="4114800" cy="1185000"/>
          </a:xfrm>
          <a:prstGeom prst="rect">
            <a:avLst/>
          </a:prstGeom>
          <a:solidFill>
            <a:srgbClr val="100820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418368"/>
            <a:ext cx="45000" cy="118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20" y="346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IP記憶は最強の集客資産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20" y="372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4号機吉宗の記憶がある層にとって
「1G連が帰ってきた」は広告費ゼロの集客力。
ノスタルジアを機能させる設計は他機種の手本。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80000"/>
          </a:xfrm>
          <a:prstGeom prst="rect">
            <a:avLst/>
          </a:prstGeom>
          <a:solidFill>
            <a:srgbClr val="18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2000" y="703368"/>
            <a:ext cx="422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設計原則 チェックリスト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38368"/>
            <a:ext cx="20000" cy="450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2000" y="998368"/>
            <a:ext cx="4237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感情の「谷」を意図的に作ると「山」が高くなる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428368"/>
            <a:ext cx="20000" cy="45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2000" y="1488368"/>
            <a:ext cx="4237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速度感（純増枚数）は演出の代わりになりうる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1918368"/>
            <a:ext cx="20000" cy="4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2000" y="1978368"/>
            <a:ext cx="4237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IP記憶への接続は広告を超えた集客力を持つ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408368"/>
            <a:ext cx="20000" cy="450000"/>
          </a:xfrm>
          <a:prstGeom prst="rect">
            <a:avLst/>
          </a:prstGeom>
          <a:solidFill>
            <a:srgbClr val="AA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2000" y="2468368"/>
            <a:ext cx="4237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複数要素の組み合わせが到達不可能な頂点を生む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898368"/>
            <a:ext cx="20000" cy="4500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2000" y="2958368"/>
            <a:ext cx="42376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爆発設計は必ず荒波を伴う ── 想定ユーザーを絞れ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448368"/>
            <a:ext cx="4297680" cy="1375132"/>
          </a:xfrm>
          <a:prstGeom prst="rect">
            <a:avLst/>
          </a:prstGeom>
          <a:solidFill>
            <a:srgbClr val="140620"/>
          </a:solidFill>
          <a:ln w="2540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27000" y="3493368"/>
            <a:ext cx="4222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22CC"/>
                </a:solidFill>
                <a:latin typeface="游明朝"/>
              </a:rPr>
              <a:t>総括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7000" y="3753368"/>
            <a:ext cx="4222680" cy="1015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4号機吉宗の遺産を現行最高スペックで昇華した稀有な一台。
1G連という普遍的な興奮体験は時代を超えて機能し続ける。
「感情設計」の教科書として他の機種設計にも応用可能。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4647720"/>
            <a:ext cx="6400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8A840"/>
                </a:solidFill>
                <a:latin typeface="メイリオ"/>
              </a:rPr>
              <a:t>【設計】「感情の谷と山」「三位一体の爆発」「IP記憶接続」── この3原則が真打吉宗の本質。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" y="4847720"/>
            <a:ext cx="6858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8888AA"/>
                </a:solidFill>
                <a:latin typeface="メイリオ"/>
              </a:rPr>
              <a:t>補足: 荒波という諸刃の剣を承知でコアファン向けに徹したことが、この台の設計的な誠実さでもある。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892040"/>
            <a:ext cx="1691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