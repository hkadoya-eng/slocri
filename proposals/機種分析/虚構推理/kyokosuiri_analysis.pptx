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20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0"/>
            <a:ext cx="8000" cy="5143500"/>
          </a:xfrm>
          <a:prstGeom prst="rect">
            <a:avLst/>
          </a:prstGeom>
          <a:solidFill>
            <a:srgbClr val="441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A840"/>
                </a:solidFill>
                <a:latin typeface="游明朝"/>
              </a:rPr>
              <a:t>機種分析資料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932688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944FF"/>
                </a:solidFill>
                <a:latin typeface="游明朝"/>
              </a:rPr>
              <a:t>L虚構推理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651760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C0A0"/>
                </a:solidFill>
                <a:latin typeface="游明朝"/>
              </a:rPr>
              <a:t>── エピソード突破型CZ × ARROW告知の独自ゲーム性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3200400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メーカー：ディライト（D-LIGHT）　　導入：2026年4月6日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3493008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設定：1〜6段階　　天井：虚構真偽間1000G（リセット後700G）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785615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CZ：鋼人七瀬攻略議会（6G / 初回7G）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640080"/>
            <a:ext cx="3749039" cy="1143000"/>
          </a:xfrm>
          <a:prstGeom prst="rect">
            <a:avLst/>
          </a:prstGeom>
          <a:solidFill>
            <a:srgbClr val="080824"/>
          </a:solidFill>
          <a:ln w="2540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66360" y="640080"/>
            <a:ext cx="60000" cy="11430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69508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622AA"/>
                </a:solidFill>
                <a:latin typeface="游明朝"/>
              </a:rPr>
              <a:t>エピソード突破CZ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01008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5エピソード制
失敗は次回CZへキャリーオーバー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2057400"/>
            <a:ext cx="3749039" cy="1143000"/>
          </a:xfrm>
          <a:prstGeom prst="rect">
            <a:avLst/>
          </a:prstGeom>
          <a:solidFill>
            <a:srgbClr val="080824"/>
          </a:solidFill>
          <a:ln w="25400">
            <a:solidFill>
              <a:srgbClr val="22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60" y="2057400"/>
            <a:ext cx="60000" cy="1143000"/>
          </a:xfrm>
          <a:prstGeom prst="rect">
            <a:avLst/>
          </a:prstGeom>
          <a:solidFill>
            <a:srgbClr val="22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11240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AACC"/>
                </a:solidFill>
                <a:latin typeface="游明朝"/>
              </a:rPr>
              <a:t>ARROW告知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2740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最終G判定結果を色で告知
白→赤→紫の興奮演出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60" y="3474720"/>
            <a:ext cx="3749039" cy="1143000"/>
          </a:xfrm>
          <a:prstGeom prst="rect">
            <a:avLst/>
          </a:prstGeom>
          <a:solidFill>
            <a:srgbClr val="080824"/>
          </a:solidFill>
          <a:ln w="2540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66360" y="3474720"/>
            <a:ext cx="60000" cy="1143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352972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C66"/>
                </a:solidFill>
                <a:latin typeface="游明朝"/>
              </a:rPr>
              <a:t>虚構連モード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84472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Short/Middle/Long 3種
高確率ボーナス抽選ループ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0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AACC"/>
                </a:solidFill>
                <a:latin typeface="游明朝"/>
              </a:rPr>
              <a:t>スペック ── 基本数値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2/7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713232"/>
            <a:ext cx="3800000" cy="360000"/>
          </a:xfrm>
          <a:prstGeom prst="rect">
            <a:avLst/>
          </a:prstGeom>
          <a:solidFill>
            <a:srgbClr val="441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320" y="758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22AACC"/>
                </a:solidFill>
                <a:latin typeface="メイリオ"/>
              </a:rPr>
              <a:t>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320" y="758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22AACC"/>
                </a:solidFill>
                <a:latin typeface="メイリオ"/>
              </a:rPr>
              <a:t>機械割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4320" y="758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22AACC"/>
                </a:solidFill>
                <a:latin typeface="メイリオ"/>
              </a:rPr>
              <a:t>CZ突入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4320" y="758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22AACC"/>
                </a:solidFill>
                <a:latin typeface="メイリオ"/>
              </a:rPr>
              <a:t>特記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073232"/>
            <a:ext cx="3800000" cy="370000"/>
          </a:xfrm>
          <a:prstGeom prst="rect">
            <a:avLst/>
          </a:prstGeom>
          <a:solidFill>
            <a:srgbClr val="080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320" y="112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320" y="112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4320" y="112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4320" y="112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443232"/>
            <a:ext cx="3800000" cy="370000"/>
          </a:xfrm>
          <a:prstGeom prst="rect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320" y="149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320" y="149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4320" y="149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4320" y="149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813232"/>
            <a:ext cx="3800000" cy="370000"/>
          </a:xfrm>
          <a:prstGeom prst="rect">
            <a:avLst/>
          </a:prstGeom>
          <a:solidFill>
            <a:srgbClr val="080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320" y="186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320" y="186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4320" y="186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24320" y="186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183232"/>
            <a:ext cx="3800000" cy="370000"/>
          </a:xfrm>
          <a:prstGeom prst="rect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320" y="223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20" y="223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4320" y="223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24320" y="223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553232"/>
            <a:ext cx="3800000" cy="370000"/>
          </a:xfrm>
          <a:prstGeom prst="rect">
            <a:avLst/>
          </a:prstGeom>
          <a:solidFill>
            <a:srgbClr val="080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4320" y="260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320" y="260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44320" y="260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24320" y="260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923232"/>
            <a:ext cx="3800000" cy="370000"/>
          </a:xfrm>
          <a:prstGeom prst="rect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320" y="297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9944FF"/>
                </a:solidFill>
                <a:latin typeface="メイリオ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320" y="297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約111%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44320" y="297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24320" y="297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設定6 機械割約111%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713232"/>
            <a:ext cx="4663440" cy="485000"/>
          </a:xfrm>
          <a:prstGeom prst="rect">
            <a:avLst/>
          </a:prstGeom>
          <a:solidFill>
            <a:srgbClr val="080824"/>
          </a:solidFill>
          <a:ln w="1524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06240" y="713232"/>
            <a:ext cx="40000" cy="4850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76240" y="75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622AA"/>
                </a:solidFill>
                <a:latin typeface="メイリオ"/>
              </a:rPr>
              <a:t>CZ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6240" y="96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鋼人七瀬攻略議会（6G、初回7G）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1243232"/>
            <a:ext cx="4663440" cy="485000"/>
          </a:xfrm>
          <a:prstGeom prst="rect">
            <a:avLst/>
          </a:prstGeom>
          <a:solidFill>
            <a:srgbClr val="080824"/>
          </a:solidFill>
          <a:ln w="15240">
            <a:solidFill>
              <a:srgbClr val="99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06240" y="1243232"/>
            <a:ext cx="40000" cy="485000"/>
          </a:xfrm>
          <a:prstGeom prst="rect">
            <a:avLst/>
          </a:prstGeom>
          <a:solidFill>
            <a:srgbClr val="99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76240" y="128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944FF"/>
                </a:solidFill>
                <a:latin typeface="メイリオ"/>
              </a:rPr>
              <a:t>CZエピソード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6240" y="149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5エピソード制（失敗=キャリーオーバー）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1773232"/>
            <a:ext cx="4663440" cy="485000"/>
          </a:xfrm>
          <a:prstGeom prst="rect">
            <a:avLst/>
          </a:prstGeom>
          <a:solidFill>
            <a:srgbClr val="080824"/>
          </a:solidFill>
          <a:ln w="15240">
            <a:solidFill>
              <a:srgbClr val="22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06240" y="1773232"/>
            <a:ext cx="40000" cy="485000"/>
          </a:xfrm>
          <a:prstGeom prst="rect">
            <a:avLst/>
          </a:prstGeom>
          <a:solidFill>
            <a:srgbClr val="22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76240" y="181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CC"/>
                </a:solidFill>
                <a:latin typeface="メイリオ"/>
              </a:rPr>
              <a:t>天井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76240" y="202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虚構真偽間1000G（リセット後700G）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0" y="2303232"/>
            <a:ext cx="4663440" cy="485000"/>
          </a:xfrm>
          <a:prstGeom prst="rect">
            <a:avLst/>
          </a:prstGeom>
          <a:solidFill>
            <a:srgbClr val="080824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06240" y="2303232"/>
            <a:ext cx="40000" cy="485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76240" y="234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66"/>
                </a:solidFill>
                <a:latin typeface="メイリオ"/>
              </a:rPr>
              <a:t>虚構連モード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6240" y="255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Short/Middle/Long 3種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2833232"/>
            <a:ext cx="4663440" cy="485000"/>
          </a:xfrm>
          <a:prstGeom prst="rect">
            <a:avLst/>
          </a:prstGeom>
          <a:solidFill>
            <a:srgbClr val="080824"/>
          </a:solidFill>
          <a:ln w="15240">
            <a:solidFill>
              <a:srgbClr val="44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06240" y="2833232"/>
            <a:ext cx="40000" cy="485000"/>
          </a:xfrm>
          <a:prstGeom prst="rect">
            <a:avLst/>
          </a:prstGeom>
          <a:solidFill>
            <a:srgbClr val="44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76240" y="287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FF"/>
                </a:solidFill>
                <a:latin typeface="メイリオ"/>
              </a:rPr>
              <a:t>ARROW告知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76240" y="308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最終G判定結果を色告知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363232"/>
            <a:ext cx="4663440" cy="485000"/>
          </a:xfrm>
          <a:prstGeom prst="rect">
            <a:avLst/>
          </a:prstGeom>
          <a:solidFill>
            <a:srgbClr val="080824"/>
          </a:solidFill>
          <a:ln w="1524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06240" y="3363232"/>
            <a:ext cx="40000" cy="48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76240" y="340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840"/>
                </a:solidFill>
                <a:latin typeface="メイリオ"/>
              </a:rPr>
              <a:t>特記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76240" y="361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設定変更後CZ初成功時 約50%高確スタート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0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AACC"/>
                </a:solidFill>
                <a:latin typeface="游明朝"/>
              </a:rPr>
              <a:t>ゲームフロー ── 通常時 → CZ → ボーナス → 虚構連モード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3/7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"/>
            <a:ext cx="8595360" cy="280000"/>
          </a:xfrm>
          <a:prstGeom prst="rect">
            <a:avLst/>
          </a:prstGeom>
          <a:solidFill>
            <a:srgbClr val="10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76656"/>
            <a:ext cx="1828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AACC"/>
                </a:solidFill>
                <a:latin typeface="メイリオ"/>
              </a:rPr>
              <a:t>通常時 ── 3つの特徴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320" y="950976"/>
            <a:ext cx="2815120" cy="700000"/>
          </a:xfrm>
          <a:prstGeom prst="rect">
            <a:avLst/>
          </a:prstGeom>
          <a:solidFill>
            <a:srgbClr val="080824"/>
          </a:solidFill>
          <a:ln w="1524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320" y="978408"/>
            <a:ext cx="277512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622AA"/>
                </a:solidFill>
                <a:latin typeface="メイリオ"/>
              </a:rPr>
              <a:t>エピソード進行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320" y="1234440"/>
            <a:ext cx="2775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通常時に話が
進んでいく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9440" y="950976"/>
            <a:ext cx="2815120" cy="700000"/>
          </a:xfrm>
          <a:prstGeom prst="rect">
            <a:avLst/>
          </a:prstGeom>
          <a:solidFill>
            <a:srgbClr val="080824"/>
          </a:solidFill>
          <a:ln w="15240">
            <a:solidFill>
              <a:srgbClr val="22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99440" y="978408"/>
            <a:ext cx="277512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22AACC"/>
                </a:solidFill>
                <a:latin typeface="メイリオ"/>
              </a:rPr>
              <a:t>虚構真偽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9440" y="1234440"/>
            <a:ext cx="2775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高確率ゾーン
（CZ頻発）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4560" y="950976"/>
            <a:ext cx="2815120" cy="700000"/>
          </a:xfrm>
          <a:prstGeom prst="rect">
            <a:avLst/>
          </a:prstGeom>
          <a:solidFill>
            <a:srgbClr val="080824"/>
          </a:solidFill>
          <a:ln w="1524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64560" y="978408"/>
            <a:ext cx="277512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規定G数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4560" y="1234440"/>
            <a:ext cx="2775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モード管理で
天井短縮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880360"/>
            <a:ext cx="1645920" cy="1280160"/>
          </a:xfrm>
          <a:prstGeom prst="rect">
            <a:avLst/>
          </a:prstGeom>
          <a:solidFill>
            <a:srgbClr val="444466"/>
          </a:solidFill>
          <a:ln w="22860">
            <a:solidFill>
              <a:srgbClr val="E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112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E8E8F4"/>
                </a:solidFill>
                <a:latin typeface="游明朝"/>
              </a:rPr>
              <a:t>通常時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112" y="3330360"/>
            <a:ext cx="158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エピソードが進行
規定G数でCZ突入</a:t>
            </a:r>
          </a:p>
        </p:txBody>
      </p:sp>
      <p:sp>
        <p:nvSpPr>
          <p:cNvPr id="22" name="Can 21"/>
          <p:cNvSpPr/>
          <p:nvPr/>
        </p:nvSpPr>
        <p:spPr>
          <a:xfrm>
            <a:off x="2552032" y="3430440"/>
            <a:ext cx="200000" cy="180000"/>
          </a:xfrm>
          <a:prstGeom prst="can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98064" y="2880360"/>
            <a:ext cx="1645920" cy="1280160"/>
          </a:xfrm>
          <a:prstGeom prst="rect">
            <a:avLst/>
          </a:prstGeom>
          <a:solidFill>
            <a:srgbClr val="6622AA"/>
          </a:solidFill>
          <a:ln w="22860">
            <a:solidFill>
              <a:srgbClr val="99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8064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9944FF"/>
                </a:solidFill>
                <a:latin typeface="游明朝"/>
              </a:rPr>
              <a:t>CZ「鋼人七瀬攻略議会」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8064" y="3330360"/>
            <a:ext cx="158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6G/初回7G
5エピソード突破型
ARROW告知で結果判定</a:t>
            </a:r>
          </a:p>
        </p:txBody>
      </p:sp>
      <p:sp>
        <p:nvSpPr>
          <p:cNvPr id="26" name="Can 25"/>
          <p:cNvSpPr/>
          <p:nvPr/>
        </p:nvSpPr>
        <p:spPr>
          <a:xfrm>
            <a:off x="4453984" y="3430440"/>
            <a:ext cx="200000" cy="180000"/>
          </a:xfrm>
          <a:prstGeom prst="can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2880360"/>
            <a:ext cx="1645920" cy="1280160"/>
          </a:xfrm>
          <a:prstGeom prst="rect">
            <a:avLst/>
          </a:prstGeom>
          <a:solidFill>
            <a:srgbClr val="10102C"/>
          </a:solidFill>
          <a:ln w="22860">
            <a:solidFill>
              <a:srgbClr val="99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40016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9944FF"/>
                </a:solidFill>
                <a:latin typeface="游明朝"/>
              </a:rPr>
              <a:t>ボーナス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0016" y="3330360"/>
            <a:ext cx="158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スペシャルボーナス等
各種ボーナス</a:t>
            </a:r>
          </a:p>
        </p:txBody>
      </p:sp>
      <p:sp>
        <p:nvSpPr>
          <p:cNvPr id="30" name="Can 29"/>
          <p:cNvSpPr/>
          <p:nvPr/>
        </p:nvSpPr>
        <p:spPr>
          <a:xfrm>
            <a:off x="6355936" y="3430440"/>
            <a:ext cx="200000" cy="180000"/>
          </a:xfrm>
          <a:prstGeom prst="can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01968" y="2880360"/>
            <a:ext cx="1645920" cy="1280160"/>
          </a:xfrm>
          <a:prstGeom prst="rect">
            <a:avLst/>
          </a:prstGeom>
          <a:solidFill>
            <a:srgbClr val="04140C"/>
          </a:solidFill>
          <a:ln w="2286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1968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CC66"/>
                </a:solidFill>
                <a:latin typeface="游明朝"/>
              </a:rPr>
              <a:t>虚構連モード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1968" y="3330360"/>
            <a:ext cx="158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Short/Middle/Long
高確率ボーナス抽選
ループ継続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0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AACC"/>
                </a:solidFill>
                <a:latin typeface="游明朝"/>
              </a:rPr>
              <a:t>CZ構成 ── エピソード突破 × ARROW告知の独自設計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4/7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080000"/>
          </a:xfrm>
          <a:prstGeom prst="rect">
            <a:avLst/>
          </a:prstGeom>
          <a:solidFill>
            <a:srgbClr val="080824"/>
          </a:solidFill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5000" cy="20800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32" y="70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622AA"/>
                </a:solidFill>
                <a:latin typeface="游明朝"/>
              </a:rPr>
              <a:t>CZ「鋼人七瀬攻略議会」の仕組み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32" y="958368"/>
            <a:ext cx="4014800" cy="1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6G消化（初回7G）のショートCZ
エピソード突破型: 5エピソードの壁を越えることでCZ成功
失敗したエピソードは次回CZに持越し（キャリーオーバー）
つまり「諦めなければ必ずいつか成功する」設計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798368"/>
            <a:ext cx="4114800" cy="2050000"/>
          </a:xfrm>
          <a:prstGeom prst="rect">
            <a:avLst/>
          </a:prstGeom>
          <a:solidFill>
            <a:srgbClr val="080824"/>
          </a:solidFill>
          <a:ln w="19050">
            <a:solidFill>
              <a:srgbClr val="99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798368"/>
            <a:ext cx="45000" cy="2050000"/>
          </a:xfrm>
          <a:prstGeom prst="rect">
            <a:avLst/>
          </a:prstGeom>
          <a:solidFill>
            <a:srgbClr val="99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32" y="284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9944FF"/>
                </a:solidFill>
                <a:latin typeface="游明朝"/>
              </a:rPr>
              <a:t>キャリーオーバー設計の価値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32" y="3098368"/>
            <a:ext cx="4014800" cy="1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エピソード失敗が「無駄」にならない設計
前回の失敗がストックされ次回の成功可能性を高める
「あと1エピソード」という粘る動機を生む
通常のCZ失敗と違い「前進感」を演出できる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658368"/>
            <a:ext cx="4297680" cy="2080000"/>
          </a:xfrm>
          <a:prstGeom prst="rect">
            <a:avLst/>
          </a:prstGeom>
          <a:solidFill>
            <a:srgbClr val="080824"/>
          </a:solidFill>
          <a:ln w="19050">
            <a:solidFill>
              <a:srgbClr val="22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658368"/>
            <a:ext cx="45000" cy="2080000"/>
          </a:xfrm>
          <a:prstGeom prst="rect">
            <a:avLst/>
          </a:prstGeom>
          <a:solidFill>
            <a:srgbClr val="22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7000" y="703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AACC"/>
                </a:solidFill>
                <a:latin typeface="游明朝"/>
              </a:rPr>
              <a:t>ARROW告知の演出設計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7000" y="958368"/>
            <a:ext cx="4197680" cy="1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筐体上部に搭載された専用の告知デバイス
最終G（判定ゲーム）にARROWの色が変わる
色の段階: 白→青→黄→緑→赤→紫点滅→赤点滅
赤・紫点滅はほぼ確定告知レベルの高期待度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798368"/>
            <a:ext cx="4297680" cy="2050000"/>
          </a:xfrm>
          <a:prstGeom prst="rect">
            <a:avLst/>
          </a:prstGeom>
          <a:solidFill>
            <a:srgbClr val="080824"/>
          </a:solidFill>
          <a:ln w="19050">
            <a:solidFill>
              <a:srgbClr val="44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2798368"/>
            <a:ext cx="45000" cy="2050000"/>
          </a:xfrm>
          <a:prstGeom prst="rect">
            <a:avLst/>
          </a:prstGeom>
          <a:solidFill>
            <a:srgbClr val="44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7000" y="2843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4DDFF"/>
                </a:solidFill>
                <a:latin typeface="游明朝"/>
              </a:rPr>
              <a:t>ARROWが生む緊張の瞬間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7000" y="3098368"/>
            <a:ext cx="4197680" cy="1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通常の画面演出だけでなく「外部デバイス」が告知する設計
視野の端でARROWの色を確認しながら打つ体験
最終Gにすべての情報が集約される「1点集中の緊張感」
「ARROWが赤く光った瞬間に声が出た」という体験報告が続く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0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AACC"/>
                </a:solidFill>
                <a:latin typeface="游明朝"/>
              </a:rPr>
              <a:t>ゲーム体験の核心 ── 推理する・待つ・告知される3段の緊張設計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5/7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1463040" cy="1380000"/>
          </a:xfrm>
          <a:prstGeom prst="rect">
            <a:avLst/>
          </a:prstGeom>
          <a:solidFill>
            <a:srgbClr val="10102C"/>
          </a:solidFill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880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6622AA"/>
                </a:solidFill>
                <a:latin typeface="游明朝"/>
              </a:rPr>
              <a:t>CZ突入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880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鋼人七瀬攻略議会
6Gの推理が始まる</a:t>
            </a:r>
          </a:p>
        </p:txBody>
      </p:sp>
      <p:sp>
        <p:nvSpPr>
          <p:cNvPr id="11" name="Can 10"/>
          <p:cNvSpPr/>
          <p:nvPr/>
        </p:nvSpPr>
        <p:spPr>
          <a:xfrm>
            <a:off x="1725920" y="1258368"/>
            <a:ext cx="200000" cy="180000"/>
          </a:xfrm>
          <a:prstGeom prst="can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75104" y="658368"/>
            <a:ext cx="1463040" cy="1380000"/>
          </a:xfrm>
          <a:prstGeom prst="rect">
            <a:avLst/>
          </a:prstGeom>
          <a:solidFill>
            <a:srgbClr val="0C0824"/>
          </a:solidFill>
          <a:ln w="19050">
            <a:solidFill>
              <a:srgbClr val="99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5104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9944FF"/>
                </a:solidFill>
                <a:latin typeface="游明朝"/>
              </a:rPr>
              <a:t>エピソード進行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0104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突破するたびに
物語が進む快感</a:t>
            </a:r>
          </a:p>
        </p:txBody>
      </p:sp>
      <p:sp>
        <p:nvSpPr>
          <p:cNvPr id="15" name="Can 14"/>
          <p:cNvSpPr/>
          <p:nvPr/>
        </p:nvSpPr>
        <p:spPr>
          <a:xfrm>
            <a:off x="3518144" y="1258368"/>
            <a:ext cx="200000" cy="180000"/>
          </a:xfrm>
          <a:prstGeom prst="can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658368"/>
            <a:ext cx="1463040" cy="1380000"/>
          </a:xfrm>
          <a:prstGeom prst="rect">
            <a:avLst/>
          </a:prstGeom>
          <a:solidFill>
            <a:srgbClr val="04081C"/>
          </a:solidFill>
          <a:ln w="19050">
            <a:solidFill>
              <a:srgbClr val="22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7328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AACC"/>
                </a:solidFill>
                <a:latin typeface="游明朝"/>
              </a:rPr>
              <a:t>最終G判定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2328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ARROWに視線が集まる
「何色が光るか」</a:t>
            </a:r>
          </a:p>
        </p:txBody>
      </p:sp>
      <p:sp>
        <p:nvSpPr>
          <p:cNvPr id="19" name="Can 18"/>
          <p:cNvSpPr/>
          <p:nvPr/>
        </p:nvSpPr>
        <p:spPr>
          <a:xfrm>
            <a:off x="5310368" y="1258368"/>
            <a:ext cx="200000" cy="180000"/>
          </a:xfrm>
          <a:prstGeom prst="can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59552" y="658368"/>
            <a:ext cx="1463040" cy="1380000"/>
          </a:xfrm>
          <a:prstGeom prst="rect">
            <a:avLst/>
          </a:prstGeom>
          <a:solidFill>
            <a:srgbClr val="180404"/>
          </a:solidFill>
          <a:ln w="1905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9552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C1111"/>
                </a:solidFill>
                <a:latin typeface="游明朝"/>
              </a:rPr>
              <a:t>赤以上告知！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4552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確定告知の瞬間
世界が変わる体感</a:t>
            </a:r>
          </a:p>
        </p:txBody>
      </p:sp>
      <p:sp>
        <p:nvSpPr>
          <p:cNvPr id="23" name="Can 22"/>
          <p:cNvSpPr/>
          <p:nvPr/>
        </p:nvSpPr>
        <p:spPr>
          <a:xfrm>
            <a:off x="7102592" y="1258368"/>
            <a:ext cx="200000" cy="180000"/>
          </a:xfrm>
          <a:prstGeom prst="can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51776" y="658368"/>
            <a:ext cx="1463040" cy="1380000"/>
          </a:xfrm>
          <a:prstGeom prst="rect">
            <a:avLst/>
          </a:prstGeom>
          <a:solidFill>
            <a:srgbClr val="04140C"/>
          </a:solidFill>
          <a:ln w="1905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91776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CC66"/>
                </a:solidFill>
                <a:latin typeface="游明朝"/>
              </a:rPr>
              <a:t>虚構連モード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6776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Short/Middle/Long
高確率ループで積み上げ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2158368"/>
            <a:ext cx="4114800" cy="2650000"/>
          </a:xfrm>
          <a:prstGeom prst="rect">
            <a:avLst/>
          </a:prstGeom>
          <a:solidFill>
            <a:srgbClr val="080824"/>
          </a:solidFill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2158368"/>
            <a:ext cx="45000" cy="26500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032" y="220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22AA"/>
                </a:solidFill>
                <a:latin typeface="游明朝"/>
              </a:rPr>
              <a:t>失敗が「前進」になる設計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32" y="2458368"/>
            <a:ext cx="4014800" cy="2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一般的なCZは失敗すると「無」に戻る。
虚構推理のエピソードキャリーオーバーは
失敗しても「エピソード進行」が残る。
この設計が:
① 「諦めなくていい」という心理的安堵感を生む
② 次回CZへの動機（「あと○エピソード」）を与える
③ 長期投資を「前進感」で正当化できる
失敗を「ロス」ではなく「積み上げ」に変換する
心理設計として非常に優れている。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158368"/>
            <a:ext cx="4297680" cy="2650000"/>
          </a:xfrm>
          <a:prstGeom prst="rect">
            <a:avLst/>
          </a:prstGeom>
          <a:solidFill>
            <a:srgbClr val="080824"/>
          </a:solidFill>
          <a:ln w="19050">
            <a:solidFill>
              <a:srgbClr val="22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2158368"/>
            <a:ext cx="45000" cy="2650000"/>
          </a:xfrm>
          <a:prstGeom prst="rect">
            <a:avLst/>
          </a:prstGeom>
          <a:solidFill>
            <a:srgbClr val="22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7000" y="2203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AACC"/>
                </a:solidFill>
                <a:latin typeface="游明朝"/>
              </a:rPr>
              <a:t>ARROWという独自体験の価値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7000" y="2458368"/>
            <a:ext cx="4197680" cy="2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ARROWは「筐体が告知する」という
視覚的・空間的な演出装置。
通常の画面演出と違い:
① 「視野の端」で色変化を察知する体験
② 「外部デバイス」が反応する非日常感
③ 周囲の人にも見えるため「話題になる」効果
ARROWが赤く光ったことを
隣の人と共有できる設計は
ホールでの会話・コミュニティを生む。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0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AACC"/>
                </a:solidFill>
                <a:latin typeface="游明朝"/>
              </a:rPr>
              <a:t>評価の二極化 ── 独自ゲーム性への評価と設定判別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6/7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8631936" cy="900000"/>
          </a:xfrm>
          <a:prstGeom prst="rect">
            <a:avLst/>
          </a:prstGeom>
          <a:solidFill>
            <a:srgbClr val="080824"/>
          </a:solidFill>
          <a:ln w="1905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5000" cy="900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32" y="703368"/>
            <a:ext cx="853193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3333"/>
                </a:solidFill>
                <a:latin typeface="游明朝"/>
              </a:rPr>
              <a:t>評価の現実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32" y="958368"/>
            <a:ext cx="8531936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DMMレビュー平均1.4点（134件）という低評価が示す課題: 強チェリーを引いてもCZに入らない、CZ中の演出が弱い、虚構連モードへの到達が渋い、という声が多数。ただし高設定での9400枚一撃事例も確認されており、スペック上の爆発力は本物。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1638368"/>
            <a:ext cx="2633472" cy="3000000"/>
          </a:xfrm>
          <a:prstGeom prst="rect">
            <a:avLst/>
          </a:prstGeom>
          <a:solidFill>
            <a:srgbClr val="080824"/>
          </a:solidFill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1638368"/>
            <a:ext cx="45000" cy="30000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32" y="1688368"/>
            <a:ext cx="25603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622AA"/>
                </a:solidFill>
                <a:latin typeface="游明朝"/>
              </a:rPr>
              <a:t>ボーナス直撃率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32" y="1968368"/>
            <a:ext cx="2560320" cy="2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設定差あり・高設定ほど直撃当選確率が高い・CZを経由しない当選を記録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82112" y="1638368"/>
            <a:ext cx="2633472" cy="3000000"/>
          </a:xfrm>
          <a:prstGeom prst="rect">
            <a:avLst/>
          </a:prstGeom>
          <a:solidFill>
            <a:srgbClr val="080824"/>
          </a:solidFill>
          <a:ln w="19050">
            <a:solidFill>
              <a:srgbClr val="22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82112" y="1638368"/>
            <a:ext cx="45000" cy="3000000"/>
          </a:xfrm>
          <a:prstGeom prst="rect">
            <a:avLst/>
          </a:prstGeom>
          <a:solidFill>
            <a:srgbClr val="22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57112" y="1688368"/>
            <a:ext cx="25603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AACC"/>
                </a:solidFill>
                <a:latin typeface="游明朝"/>
              </a:rPr>
              <a:t>CZ成功率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7112" y="1968368"/>
            <a:ext cx="2560320" cy="2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高設定ほどCZ成功（エピソード突破）が早い・5エピソード到達G数を記録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2" y="1638368"/>
            <a:ext cx="2633472" cy="3000000"/>
          </a:xfrm>
          <a:prstGeom prst="rect">
            <a:avLst/>
          </a:prstGeom>
          <a:solidFill>
            <a:srgbClr val="080824"/>
          </a:solidFill>
          <a:ln w="1905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2" y="1638368"/>
            <a:ext cx="45000" cy="300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3192" y="1688368"/>
            <a:ext cx="25603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CC66"/>
                </a:solidFill>
                <a:latin typeface="游明朝"/>
              </a:rPr>
              <a:t>虚構連モード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3192" y="1968368"/>
            <a:ext cx="2560320" cy="2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モード種別（Short/Middle/Long）の発生比率に設定差・Long率が高い台は高設定の可能性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0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AACC"/>
                </a:solidFill>
                <a:latin typeface="游明朝"/>
              </a:rPr>
              <a:t>まとめ ── 独自設計から学べること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7/7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300000"/>
          </a:xfrm>
          <a:prstGeom prst="rect">
            <a:avLst/>
          </a:prstGeom>
          <a:solidFill>
            <a:srgbClr val="441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08368"/>
            <a:ext cx="4034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AACC"/>
                </a:solidFill>
                <a:latin typeface="游明朝"/>
              </a:rPr>
              <a:t>独自設計から学べる3要素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58368"/>
            <a:ext cx="4114800" cy="1200000"/>
          </a:xfrm>
          <a:prstGeom prst="rect">
            <a:avLst/>
          </a:prstGeom>
          <a:solidFill>
            <a:srgbClr val="080824"/>
          </a:solidFill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58368"/>
            <a:ext cx="45000" cy="12000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100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622AA"/>
                </a:solidFill>
                <a:latin typeface="メイリオ"/>
              </a:rPr>
              <a:t>① エピソードキャリーオーバーという設計的発明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6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失敗を「無」にせず「前進」に変える設計は
プレイヤーの継続動機として機能する。
長期投資を正当化できる仕組みとして革新的。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228368"/>
            <a:ext cx="4114800" cy="1200000"/>
          </a:xfrm>
          <a:prstGeom prst="rect">
            <a:avLst/>
          </a:prstGeom>
          <a:solidFill>
            <a:srgbClr val="080824"/>
          </a:solidFill>
          <a:ln w="19050">
            <a:solidFill>
              <a:srgbClr val="22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228368"/>
            <a:ext cx="45000" cy="1200000"/>
          </a:xfrm>
          <a:prstGeom prst="rect">
            <a:avLst/>
          </a:prstGeom>
          <a:solidFill>
            <a:srgbClr val="22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27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CC"/>
                </a:solidFill>
                <a:latin typeface="メイリオ"/>
              </a:rPr>
              <a:t>② ARROWという外部告知デバイスの価値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53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画面外に告知デバイスを持たせることで
「別次元の体験」を生む独自アイデア。
ホールでの話題性・コミュニティ形成に貢献。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498368"/>
            <a:ext cx="4114800" cy="1200000"/>
          </a:xfrm>
          <a:prstGeom prst="rect">
            <a:avLst/>
          </a:prstGeom>
          <a:solidFill>
            <a:srgbClr val="080824"/>
          </a:solidFill>
          <a:ln w="1905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498368"/>
            <a:ext cx="45000" cy="120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54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66"/>
                </a:solidFill>
                <a:latin typeface="メイリオ"/>
              </a:rPr>
              <a:t>③ 虚構連モードの「種別」が長期稼働を支える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80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Short/Middle/Longという分かりやすい
上位状態の可視化が「今どのモードか」を
プレイヤーに意識させ来店継続に繋がる。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80000"/>
          </a:xfrm>
          <a:prstGeom prst="rect">
            <a:avLst/>
          </a:prstGeom>
          <a:solidFill>
            <a:srgbClr val="10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2000" y="703368"/>
            <a:ext cx="42276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AACC"/>
                </a:solidFill>
                <a:latin typeface="游明朝"/>
              </a:rPr>
              <a:t>設計原則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38368"/>
            <a:ext cx="20000" cy="4900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2000" y="101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失敗キャリーオーバーで「前進感」を生む設計は他機種にない独自価値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478368"/>
            <a:ext cx="20000" cy="490000"/>
          </a:xfrm>
          <a:prstGeom prst="rect">
            <a:avLst/>
          </a:prstGeom>
          <a:solidFill>
            <a:srgbClr val="22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2000" y="155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外部デバイスARROWが非日常体験と話題性を同時に生む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018368"/>
            <a:ext cx="20000" cy="490000"/>
          </a:xfrm>
          <a:prstGeom prst="rect">
            <a:avLst/>
          </a:prstGeom>
          <a:solidFill>
            <a:srgbClr val="99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2000" y="209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エピソード突破という推理×物語の融合が知的楽しさを加える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558368"/>
            <a:ext cx="20000" cy="49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2000" y="263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3333"/>
                </a:solidFill>
                <a:latin typeface="メイリオ"/>
              </a:rPr>
              <a:t>到達可能性の改善がより多くのプレイヤーに高評価をもたらす鍵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108368"/>
            <a:ext cx="4297680" cy="800000"/>
          </a:xfrm>
          <a:prstGeom prst="rect">
            <a:avLst/>
          </a:prstGeom>
          <a:solidFill>
            <a:srgbClr val="06041C"/>
          </a:solidFill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7000" y="3158368"/>
            <a:ext cx="4222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44FF"/>
                </a:solidFill>
                <a:latin typeface="メイリオ"/>
              </a:rPr>
              <a:t>総括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7000" y="3418368"/>
            <a:ext cx="422268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独自の設計思想を持つ意欲作。
到達性の改善次第で化ける可能性を持つ唯一無二の台。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