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9144000" cy="5143500"/>
          </a:xfrm>
          <a:prstGeom prst="rect">
            <a:avLst/>
          </a:prstGeom>
        </p:spPr>
      </p:pic>
      <p:sp>
        <p:nvSpPr>
          <p:cNvPr id="3" name="Rectangle 2"/>
          <p:cNvSpPr/>
          <p:nvPr/>
        </p:nvSpPr>
        <p:spPr>
          <a:xfrm>
            <a:off x="0" y="0"/>
            <a:ext cx="4937760" cy="5143500"/>
          </a:xfrm>
          <a:prstGeom prst="rect">
            <a:avLst/>
          </a:prstGeom>
          <a:solidFill>
            <a:srgbClr val="0202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55000" cy="5143500"/>
          </a:xfrm>
          <a:prstGeom prst="rect">
            <a:avLst/>
          </a:prstGeom>
          <a:solidFill>
            <a:srgbClr val="6622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937760" y="0"/>
            <a:ext cx="8000" cy="5143500"/>
          </a:xfrm>
          <a:prstGeom prst="rect">
            <a:avLst/>
          </a:prstGeom>
          <a:solidFill>
            <a:srgbClr val="4411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01168" y="384048"/>
            <a:ext cx="4572000" cy="290000"/>
          </a:xfrm>
          <a:prstGeom prst="rect">
            <a:avLst/>
          </a:prstGeom>
          <a:noFill/>
        </p:spPr>
        <p:txBody>
          <a:bodyPr wrap="square">
            <a:spAutoFit/>
          </a:bodyPr>
          <a:lstStyle/>
          <a:p>
            <a:pPr algn="l"/>
            <a:r>
              <a:rPr sz="1000" b="0">
                <a:solidFill>
                  <a:srgbClr val="C8A840"/>
                </a:solidFill>
                <a:latin typeface="游明朝"/>
              </a:rPr>
              <a:t>機種説明＋分析資料　Part A: プレイヤー視点</a:t>
            </a:r>
          </a:p>
        </p:txBody>
      </p:sp>
      <p:sp>
        <p:nvSpPr>
          <p:cNvPr id="7" name="TextBox 6"/>
          <p:cNvSpPr txBox="1"/>
          <p:nvPr/>
        </p:nvSpPr>
        <p:spPr>
          <a:xfrm>
            <a:off x="201168" y="804672"/>
            <a:ext cx="4663440" cy="700000"/>
          </a:xfrm>
          <a:prstGeom prst="rect">
            <a:avLst/>
          </a:prstGeom>
          <a:noFill/>
        </p:spPr>
        <p:txBody>
          <a:bodyPr wrap="square">
            <a:spAutoFit/>
          </a:bodyPr>
          <a:lstStyle/>
          <a:p>
            <a:pPr algn="l"/>
            <a:r>
              <a:rPr sz="3800" b="1">
                <a:solidFill>
                  <a:srgbClr val="9944FF"/>
                </a:solidFill>
                <a:latin typeface="游明朝"/>
              </a:rPr>
              <a:t>L虚構推理</a:t>
            </a:r>
          </a:p>
        </p:txBody>
      </p:sp>
      <p:sp>
        <p:nvSpPr>
          <p:cNvPr id="8" name="TextBox 7"/>
          <p:cNvSpPr txBox="1"/>
          <p:nvPr/>
        </p:nvSpPr>
        <p:spPr>
          <a:xfrm>
            <a:off x="201168" y="2423160"/>
            <a:ext cx="4663440" cy="290000"/>
          </a:xfrm>
          <a:prstGeom prst="rect">
            <a:avLst/>
          </a:prstGeom>
          <a:noFill/>
        </p:spPr>
        <p:txBody>
          <a:bodyPr wrap="square">
            <a:spAutoFit/>
          </a:bodyPr>
          <a:lstStyle/>
          <a:p>
            <a:pPr algn="l"/>
            <a:r>
              <a:rPr sz="1000" b="0">
                <a:solidFill>
                  <a:srgbClr val="D0C0A0"/>
                </a:solidFill>
                <a:latin typeface="游明朝"/>
              </a:rPr>
              <a:t>── エピソード突破型CZ × ARROW告知 × 虚構連モード</a:t>
            </a:r>
          </a:p>
        </p:txBody>
      </p:sp>
      <p:sp>
        <p:nvSpPr>
          <p:cNvPr id="9" name="TextBox 8"/>
          <p:cNvSpPr txBox="1"/>
          <p:nvPr/>
        </p:nvSpPr>
        <p:spPr>
          <a:xfrm>
            <a:off x="201168" y="2926080"/>
            <a:ext cx="4480560" cy="210000"/>
          </a:xfrm>
          <a:prstGeom prst="rect">
            <a:avLst/>
          </a:prstGeom>
          <a:noFill/>
        </p:spPr>
        <p:txBody>
          <a:bodyPr wrap="square">
            <a:spAutoFit/>
          </a:bodyPr>
          <a:lstStyle/>
          <a:p>
            <a:pPr algn="l"/>
            <a:r>
              <a:rPr sz="850" b="0">
                <a:solidFill>
                  <a:srgbClr val="8888AA"/>
                </a:solidFill>
                <a:latin typeface="メイリオ"/>
              </a:rPr>
              <a:t>メーカー：ディライト（D-LIGHT）　　導入：2026年4月6日</a:t>
            </a:r>
          </a:p>
        </p:txBody>
      </p:sp>
      <p:sp>
        <p:nvSpPr>
          <p:cNvPr id="10" name="TextBox 9"/>
          <p:cNvSpPr txBox="1"/>
          <p:nvPr/>
        </p:nvSpPr>
        <p:spPr>
          <a:xfrm>
            <a:off x="201168" y="3163824"/>
            <a:ext cx="4480560" cy="210000"/>
          </a:xfrm>
          <a:prstGeom prst="rect">
            <a:avLst/>
          </a:prstGeom>
          <a:noFill/>
        </p:spPr>
        <p:txBody>
          <a:bodyPr wrap="square">
            <a:spAutoFit/>
          </a:bodyPr>
          <a:lstStyle/>
          <a:p>
            <a:pPr algn="l"/>
            <a:r>
              <a:rPr sz="850" b="0">
                <a:solidFill>
                  <a:srgbClr val="8888AA"/>
                </a:solidFill>
                <a:latin typeface="メイリオ"/>
              </a:rPr>
              <a:t>設定：1〜6段階　　天井：虚構真偽間1000G（リセット後700G）</a:t>
            </a:r>
          </a:p>
        </p:txBody>
      </p:sp>
      <p:sp>
        <p:nvSpPr>
          <p:cNvPr id="11" name="TextBox 10"/>
          <p:cNvSpPr txBox="1"/>
          <p:nvPr/>
        </p:nvSpPr>
        <p:spPr>
          <a:xfrm>
            <a:off x="201168" y="3401568"/>
            <a:ext cx="4480560" cy="210000"/>
          </a:xfrm>
          <a:prstGeom prst="rect">
            <a:avLst/>
          </a:prstGeom>
          <a:noFill/>
        </p:spPr>
        <p:txBody>
          <a:bodyPr wrap="square">
            <a:spAutoFit/>
          </a:bodyPr>
          <a:lstStyle/>
          <a:p>
            <a:pPr algn="l"/>
            <a:r>
              <a:rPr sz="850" b="0">
                <a:solidFill>
                  <a:srgbClr val="8888AA"/>
                </a:solidFill>
                <a:latin typeface="メイリオ"/>
              </a:rPr>
              <a:t>CZ：鋼人七瀬攻略議会（6G・5エピソード突破型）</a:t>
            </a:r>
          </a:p>
        </p:txBody>
      </p:sp>
      <p:sp>
        <p:nvSpPr>
          <p:cNvPr id="12" name="Rectangle 11"/>
          <p:cNvSpPr/>
          <p:nvPr/>
        </p:nvSpPr>
        <p:spPr>
          <a:xfrm>
            <a:off x="5166360" y="256032"/>
            <a:ext cx="3749039" cy="1430000"/>
          </a:xfrm>
          <a:prstGeom prst="rect">
            <a:avLst/>
          </a:prstGeom>
          <a:solidFill>
            <a:srgbClr val="080824"/>
          </a:solidFill>
          <a:ln w="25400">
            <a:solidFill>
              <a:srgbClr val="6622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166360" y="256032"/>
            <a:ext cx="60000" cy="1430000"/>
          </a:xfrm>
          <a:prstGeom prst="rect">
            <a:avLst/>
          </a:prstGeom>
          <a:solidFill>
            <a:srgbClr val="6622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349240" y="316032"/>
            <a:ext cx="3474720" cy="300000"/>
          </a:xfrm>
          <a:prstGeom prst="rect">
            <a:avLst/>
          </a:prstGeom>
          <a:noFill/>
        </p:spPr>
        <p:txBody>
          <a:bodyPr wrap="square">
            <a:spAutoFit/>
          </a:bodyPr>
          <a:lstStyle/>
          <a:p>
            <a:pPr algn="l"/>
            <a:r>
              <a:rPr sz="1100" b="1">
                <a:solidFill>
                  <a:srgbClr val="6622AA"/>
                </a:solidFill>
                <a:latin typeface="游明朝"/>
              </a:rPr>
              <a:t>① エピソード突破CZ</a:t>
            </a:r>
          </a:p>
        </p:txBody>
      </p:sp>
      <p:sp>
        <p:nvSpPr>
          <p:cNvPr id="15" name="TextBox 14"/>
          <p:cNvSpPr txBox="1"/>
          <p:nvPr/>
        </p:nvSpPr>
        <p:spPr>
          <a:xfrm>
            <a:off x="5349240" y="616032"/>
            <a:ext cx="3474720" cy="900000"/>
          </a:xfrm>
          <a:prstGeom prst="rect">
            <a:avLst/>
          </a:prstGeom>
          <a:noFill/>
        </p:spPr>
        <p:txBody>
          <a:bodyPr wrap="square">
            <a:spAutoFit/>
          </a:bodyPr>
          <a:lstStyle/>
          <a:p>
            <a:pPr algn="l"/>
            <a:r>
              <a:rPr sz="850" b="0">
                <a:solidFill>
                  <a:srgbClr val="E8E8F4"/>
                </a:solidFill>
                <a:latin typeface="メイリオ"/>
              </a:rPr>
              <a:t>失敗しても次回CZに持越し（キャリーオーバー）
「諦めなければ必ず成功する」積み上げ設計</a:t>
            </a:r>
          </a:p>
        </p:txBody>
      </p:sp>
      <p:sp>
        <p:nvSpPr>
          <p:cNvPr id="16" name="Rectangle 15"/>
          <p:cNvSpPr/>
          <p:nvPr/>
        </p:nvSpPr>
        <p:spPr>
          <a:xfrm>
            <a:off x="5166360" y="1786032"/>
            <a:ext cx="3749039" cy="1430000"/>
          </a:xfrm>
          <a:prstGeom prst="rect">
            <a:avLst/>
          </a:prstGeom>
          <a:solidFill>
            <a:srgbClr val="080824"/>
          </a:solidFill>
          <a:ln w="25400">
            <a:solidFill>
              <a:srgbClr val="22AA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166360" y="1786032"/>
            <a:ext cx="60000" cy="1430000"/>
          </a:xfrm>
          <a:prstGeom prst="rect">
            <a:avLst/>
          </a:prstGeom>
          <a:solidFill>
            <a:srgbClr val="22AA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349240" y="1846032"/>
            <a:ext cx="3474720" cy="300000"/>
          </a:xfrm>
          <a:prstGeom prst="rect">
            <a:avLst/>
          </a:prstGeom>
          <a:noFill/>
        </p:spPr>
        <p:txBody>
          <a:bodyPr wrap="square">
            <a:spAutoFit/>
          </a:bodyPr>
          <a:lstStyle/>
          <a:p>
            <a:pPr algn="l"/>
            <a:r>
              <a:rPr sz="1100" b="1">
                <a:solidFill>
                  <a:srgbClr val="22AACC"/>
                </a:solidFill>
                <a:latin typeface="游明朝"/>
              </a:rPr>
              <a:t>② ARROW告知デバイス</a:t>
            </a:r>
          </a:p>
        </p:txBody>
      </p:sp>
      <p:sp>
        <p:nvSpPr>
          <p:cNvPr id="19" name="TextBox 18"/>
          <p:cNvSpPr txBox="1"/>
          <p:nvPr/>
        </p:nvSpPr>
        <p:spPr>
          <a:xfrm>
            <a:off x="5349240" y="2146032"/>
            <a:ext cx="3474720" cy="900000"/>
          </a:xfrm>
          <a:prstGeom prst="rect">
            <a:avLst/>
          </a:prstGeom>
          <a:noFill/>
        </p:spPr>
        <p:txBody>
          <a:bodyPr wrap="square">
            <a:spAutoFit/>
          </a:bodyPr>
          <a:lstStyle/>
          <a:p>
            <a:pPr algn="l"/>
            <a:r>
              <a:rPr sz="850" b="0">
                <a:solidFill>
                  <a:srgbClr val="E8E8F4"/>
                </a:solidFill>
                <a:latin typeface="メイリオ"/>
              </a:rPr>
              <a:t>筐体上部の専用デバイスが当選契機を色で告知
白=一撃成功・赤点滅=強チェリー確定の興奮体験</a:t>
            </a:r>
          </a:p>
        </p:txBody>
      </p:sp>
      <p:sp>
        <p:nvSpPr>
          <p:cNvPr id="20" name="Rectangle 19"/>
          <p:cNvSpPr/>
          <p:nvPr/>
        </p:nvSpPr>
        <p:spPr>
          <a:xfrm>
            <a:off x="5166360" y="3316032"/>
            <a:ext cx="3749039" cy="1430000"/>
          </a:xfrm>
          <a:prstGeom prst="rect">
            <a:avLst/>
          </a:prstGeom>
          <a:solidFill>
            <a:srgbClr val="080824"/>
          </a:solidFill>
          <a:ln w="25400">
            <a:solidFill>
              <a:srgbClr val="22CC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166360" y="3316032"/>
            <a:ext cx="60000" cy="1430000"/>
          </a:xfrm>
          <a:prstGeom prst="rect">
            <a:avLst/>
          </a:prstGeom>
          <a:solidFill>
            <a:srgbClr val="22CC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349240" y="3376032"/>
            <a:ext cx="3474720" cy="300000"/>
          </a:xfrm>
          <a:prstGeom prst="rect">
            <a:avLst/>
          </a:prstGeom>
          <a:noFill/>
        </p:spPr>
        <p:txBody>
          <a:bodyPr wrap="square">
            <a:spAutoFit/>
          </a:bodyPr>
          <a:lstStyle/>
          <a:p>
            <a:pPr algn="l"/>
            <a:r>
              <a:rPr sz="1100" b="1">
                <a:solidFill>
                  <a:srgbClr val="22CC66"/>
                </a:solidFill>
                <a:latin typeface="游明朝"/>
              </a:rPr>
              <a:t>③ 虚構連モード</a:t>
            </a:r>
          </a:p>
        </p:txBody>
      </p:sp>
      <p:sp>
        <p:nvSpPr>
          <p:cNvPr id="23" name="TextBox 22"/>
          <p:cNvSpPr txBox="1"/>
          <p:nvPr/>
        </p:nvSpPr>
        <p:spPr>
          <a:xfrm>
            <a:off x="5349240" y="3676032"/>
            <a:ext cx="3474720" cy="900000"/>
          </a:xfrm>
          <a:prstGeom prst="rect">
            <a:avLst/>
          </a:prstGeom>
          <a:noFill/>
        </p:spPr>
        <p:txBody>
          <a:bodyPr wrap="square">
            <a:spAutoFit/>
          </a:bodyPr>
          <a:lstStyle/>
          <a:p>
            <a:pPr algn="l"/>
            <a:r>
              <a:rPr sz="850" b="0">
                <a:solidFill>
                  <a:srgbClr val="E8E8F4"/>
                </a:solidFill>
                <a:latin typeface="メイリオ"/>
              </a:rPr>
              <a:t>Short(56%) / Middle(81%) / Long(95%) 3種
六花ステージ=Long到達で9400枚超の爆発力</a:t>
            </a:r>
          </a:p>
        </p:txBody>
      </p:sp>
      <p:sp>
        <p:nvSpPr>
          <p:cNvPr id="24" name="Rectangle 23"/>
          <p:cNvSpPr/>
          <p:nvPr/>
        </p:nvSpPr>
        <p:spPr>
          <a:xfrm>
            <a:off x="0" y="4663440"/>
            <a:ext cx="9144000" cy="380000"/>
          </a:xfrm>
          <a:prstGeom prst="rect">
            <a:avLst/>
          </a:prstGeom>
          <a:solidFill>
            <a:srgbClr val="0604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0" y="4663440"/>
            <a:ext cx="20000" cy="380000"/>
          </a:xfrm>
          <a:prstGeom prst="rect">
            <a:avLst/>
          </a:prstGeom>
          <a:solidFill>
            <a:srgbClr val="6622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01168" y="4703440"/>
            <a:ext cx="5486400" cy="160000"/>
          </a:xfrm>
          <a:prstGeom prst="rect">
            <a:avLst/>
          </a:prstGeom>
          <a:noFill/>
        </p:spPr>
        <p:txBody>
          <a:bodyPr wrap="square">
            <a:spAutoFit/>
          </a:bodyPr>
          <a:lstStyle/>
          <a:p>
            <a:pPr algn="l"/>
            <a:r>
              <a:rPr sz="750" b="1">
                <a:solidFill>
                  <a:srgbClr val="9944FF"/>
                </a:solidFill>
                <a:latin typeface="メイリオ"/>
              </a:rPr>
              <a:t>設計コメント：エピソードキャリーオーバー＋ARROW告知の組み合わせが本機の最大の個性</a:t>
            </a:r>
          </a:p>
        </p:txBody>
      </p:sp>
      <p:sp>
        <p:nvSpPr>
          <p:cNvPr id="27" name="TextBox 26"/>
          <p:cNvSpPr txBox="1"/>
          <p:nvPr/>
        </p:nvSpPr>
        <p:spPr>
          <a:xfrm>
            <a:off x="201168" y="4863440"/>
            <a:ext cx="8412480" cy="160000"/>
          </a:xfrm>
          <a:prstGeom prst="rect">
            <a:avLst/>
          </a:prstGeom>
          <a:noFill/>
        </p:spPr>
        <p:txBody>
          <a:bodyPr wrap="square">
            <a:spAutoFit/>
          </a:bodyPr>
          <a:lstStyle/>
          <a:p>
            <a:pPr algn="l"/>
            <a:r>
              <a:rPr sz="700" b="0">
                <a:solidFill>
                  <a:srgbClr val="8888AA"/>
                </a:solidFill>
                <a:latin typeface="メイリオ"/>
              </a:rPr>
              <a:t>補足：原作「虚構推理」（城平京・白浜鴎）のミステリー世界観をゲーム性に落とし込んだ意欲作</a:t>
            </a:r>
          </a:p>
        </p:txBody>
      </p:sp>
      <p:sp>
        <p:nvSpPr>
          <p:cNvPr id="28" name="TextBox 27"/>
          <p:cNvSpPr txBox="1"/>
          <p:nvPr/>
        </p:nvSpPr>
        <p:spPr>
          <a:xfrm>
            <a:off x="7498079" y="4919472"/>
            <a:ext cx="1554480" cy="180000"/>
          </a:xfrm>
          <a:prstGeom prst="rect">
            <a:avLst/>
          </a:prstGeom>
          <a:noFill/>
        </p:spPr>
        <p:txBody>
          <a:bodyPr wrap="square">
            <a:spAutoFit/>
          </a:bodyPr>
          <a:lstStyle/>
          <a:p>
            <a:pPr algn="r"/>
            <a:r>
              <a:rPr sz="700" b="0">
                <a:solidFill>
                  <a:srgbClr val="8888AA"/>
                </a:solidFill>
                <a:latin typeface="メイリオ"/>
              </a:rPr>
              <a:t>※ネット解析情報より</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9144000" cy="5143500"/>
          </a:xfrm>
          <a:prstGeom prst="rect">
            <a:avLst/>
          </a:prstGeom>
        </p:spPr>
      </p:pic>
      <p:sp>
        <p:nvSpPr>
          <p:cNvPr id="3" name="Rectangle 2"/>
          <p:cNvSpPr/>
          <p:nvPr/>
        </p:nvSpPr>
        <p:spPr>
          <a:xfrm>
            <a:off x="0" y="0"/>
            <a:ext cx="9144000" cy="530352"/>
          </a:xfrm>
          <a:prstGeom prst="rect">
            <a:avLst/>
          </a:prstGeom>
          <a:solidFill>
            <a:srgbClr val="0808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45000" cy="530352"/>
          </a:xfrm>
          <a:prstGeom prst="rect">
            <a:avLst/>
          </a:prstGeom>
          <a:solidFill>
            <a:srgbClr val="6622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37160" y="28000"/>
            <a:ext cx="7772400" cy="410000"/>
          </a:xfrm>
          <a:prstGeom prst="rect">
            <a:avLst/>
          </a:prstGeom>
          <a:noFill/>
        </p:spPr>
        <p:txBody>
          <a:bodyPr wrap="square">
            <a:spAutoFit/>
          </a:bodyPr>
          <a:lstStyle/>
          <a:p>
            <a:pPr algn="l"/>
            <a:r>
              <a:rPr sz="1400" b="1">
                <a:solidFill>
                  <a:srgbClr val="22AACC"/>
                </a:solidFill>
                <a:latin typeface="游明朝"/>
              </a:rPr>
              <a:t>ゲームフロー全体図 ── 通常時→CZ→ボーナス→虚構連モードへの全ルート</a:t>
            </a:r>
          </a:p>
        </p:txBody>
      </p:sp>
      <p:sp>
        <p:nvSpPr>
          <p:cNvPr id="6" name="TextBox 5"/>
          <p:cNvSpPr txBox="1"/>
          <p:nvPr/>
        </p:nvSpPr>
        <p:spPr>
          <a:xfrm>
            <a:off x="8046720" y="45000"/>
            <a:ext cx="914400" cy="340000"/>
          </a:xfrm>
          <a:prstGeom prst="rect">
            <a:avLst/>
          </a:prstGeom>
          <a:noFill/>
        </p:spPr>
        <p:txBody>
          <a:bodyPr wrap="square">
            <a:spAutoFit/>
          </a:bodyPr>
          <a:lstStyle/>
          <a:p>
            <a:pPr algn="r"/>
            <a:r>
              <a:rPr sz="800" b="0">
                <a:solidFill>
                  <a:srgbClr val="8888AA"/>
                </a:solidFill>
                <a:latin typeface="メイリオ"/>
              </a:rPr>
              <a:t>2/9</a:t>
            </a:r>
          </a:p>
        </p:txBody>
      </p:sp>
      <p:sp>
        <p:nvSpPr>
          <p:cNvPr id="7" name="Rectangle 6"/>
          <p:cNvSpPr/>
          <p:nvPr/>
        </p:nvSpPr>
        <p:spPr>
          <a:xfrm>
            <a:off x="0" y="530352"/>
            <a:ext cx="9144000" cy="7000"/>
          </a:xfrm>
          <a:prstGeom prst="rect">
            <a:avLst/>
          </a:prstGeom>
          <a:solidFill>
            <a:srgbClr val="6622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56032" y="603504"/>
            <a:ext cx="3657600" cy="250000"/>
          </a:xfrm>
          <a:prstGeom prst="rect">
            <a:avLst/>
          </a:prstGeom>
          <a:noFill/>
        </p:spPr>
        <p:txBody>
          <a:bodyPr wrap="square">
            <a:spAutoFit/>
          </a:bodyPr>
          <a:lstStyle/>
          <a:p>
            <a:pPr algn="l"/>
            <a:r>
              <a:rPr sz="850" b="1">
                <a:solidFill>
                  <a:srgbClr val="22AACC"/>
                </a:solidFill>
                <a:latin typeface="メイリオ"/>
              </a:rPr>
              <a:t>▶ 通常ルート（基本フロー）</a:t>
            </a:r>
          </a:p>
        </p:txBody>
      </p:sp>
      <p:sp>
        <p:nvSpPr>
          <p:cNvPr id="9" name="Rectangle 8"/>
          <p:cNvSpPr/>
          <p:nvPr/>
        </p:nvSpPr>
        <p:spPr>
          <a:xfrm>
            <a:off x="873252" y="822960"/>
            <a:ext cx="1691640" cy="1550000"/>
          </a:xfrm>
          <a:prstGeom prst="rect">
            <a:avLst/>
          </a:prstGeom>
          <a:solidFill>
            <a:srgbClr val="444466"/>
          </a:solidFill>
          <a:ln w="22860">
            <a:solidFill>
              <a:srgbClr val="E8E8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3252" y="902960"/>
            <a:ext cx="1611640" cy="400000"/>
          </a:xfrm>
          <a:prstGeom prst="rect">
            <a:avLst/>
          </a:prstGeom>
          <a:noFill/>
        </p:spPr>
        <p:txBody>
          <a:bodyPr wrap="square">
            <a:spAutoFit/>
          </a:bodyPr>
          <a:lstStyle/>
          <a:p>
            <a:pPr algn="ctr"/>
            <a:r>
              <a:rPr sz="950" b="1">
                <a:solidFill>
                  <a:srgbClr val="E8E8F4"/>
                </a:solidFill>
                <a:latin typeface="游明朝"/>
              </a:rPr>
              <a:t>通常時</a:t>
            </a:r>
          </a:p>
        </p:txBody>
      </p:sp>
      <p:sp>
        <p:nvSpPr>
          <p:cNvPr id="11" name="TextBox 10"/>
          <p:cNvSpPr txBox="1"/>
          <p:nvPr/>
        </p:nvSpPr>
        <p:spPr>
          <a:xfrm>
            <a:off x="903252" y="1312960"/>
            <a:ext cx="1631640" cy="920000"/>
          </a:xfrm>
          <a:prstGeom prst="rect">
            <a:avLst/>
          </a:prstGeom>
          <a:noFill/>
        </p:spPr>
        <p:txBody>
          <a:bodyPr wrap="square">
            <a:spAutoFit/>
          </a:bodyPr>
          <a:lstStyle/>
          <a:p>
            <a:pPr algn="ctr"/>
            <a:r>
              <a:rPr sz="750" b="0">
                <a:solidFill>
                  <a:srgbClr val="8888AA"/>
                </a:solidFill>
                <a:latin typeface="メイリオ"/>
              </a:rPr>
              <a:t>エピソード進行
規定G数でCZ突入
天井:1000G</a:t>
            </a:r>
          </a:p>
        </p:txBody>
      </p:sp>
      <p:sp>
        <p:nvSpPr>
          <p:cNvPr id="12" name="Can 11"/>
          <p:cNvSpPr/>
          <p:nvPr/>
        </p:nvSpPr>
        <p:spPr>
          <a:xfrm>
            <a:off x="2574892" y="1507960"/>
            <a:ext cx="200000" cy="180000"/>
          </a:xfrm>
          <a:prstGeom prst="can">
            <a:avLst/>
          </a:prstGeom>
          <a:solidFill>
            <a:srgbClr val="6622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775204" y="822960"/>
            <a:ext cx="1691640" cy="1550000"/>
          </a:xfrm>
          <a:prstGeom prst="rect">
            <a:avLst/>
          </a:prstGeom>
          <a:solidFill>
            <a:srgbClr val="6622AA"/>
          </a:solidFill>
          <a:ln w="22860">
            <a:solidFill>
              <a:srgbClr val="9944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815204" y="902960"/>
            <a:ext cx="1611640" cy="400000"/>
          </a:xfrm>
          <a:prstGeom prst="rect">
            <a:avLst/>
          </a:prstGeom>
          <a:noFill/>
        </p:spPr>
        <p:txBody>
          <a:bodyPr wrap="square">
            <a:spAutoFit/>
          </a:bodyPr>
          <a:lstStyle/>
          <a:p>
            <a:pPr algn="ctr"/>
            <a:r>
              <a:rPr sz="950" b="1">
                <a:solidFill>
                  <a:srgbClr val="9944FF"/>
                </a:solidFill>
                <a:latin typeface="游明朝"/>
              </a:rPr>
              <a:t>CZ
攻略議会</a:t>
            </a:r>
          </a:p>
        </p:txBody>
      </p:sp>
      <p:sp>
        <p:nvSpPr>
          <p:cNvPr id="15" name="TextBox 14"/>
          <p:cNvSpPr txBox="1"/>
          <p:nvPr/>
        </p:nvSpPr>
        <p:spPr>
          <a:xfrm>
            <a:off x="2805204" y="1312960"/>
            <a:ext cx="1631640" cy="920000"/>
          </a:xfrm>
          <a:prstGeom prst="rect">
            <a:avLst/>
          </a:prstGeom>
          <a:noFill/>
        </p:spPr>
        <p:txBody>
          <a:bodyPr wrap="square">
            <a:spAutoFit/>
          </a:bodyPr>
          <a:lstStyle/>
          <a:p>
            <a:pPr algn="ctr"/>
            <a:r>
              <a:rPr sz="750" b="0">
                <a:solidFill>
                  <a:srgbClr val="8888AA"/>
                </a:solidFill>
                <a:latin typeface="メイリオ"/>
              </a:rPr>
              <a:t>6G / 初回7G
5エピソード突破
ARROW告知</a:t>
            </a:r>
          </a:p>
        </p:txBody>
      </p:sp>
      <p:sp>
        <p:nvSpPr>
          <p:cNvPr id="16" name="Can 15"/>
          <p:cNvSpPr/>
          <p:nvPr/>
        </p:nvSpPr>
        <p:spPr>
          <a:xfrm>
            <a:off x="4476844" y="1507960"/>
            <a:ext cx="200000" cy="180000"/>
          </a:xfrm>
          <a:prstGeom prst="can">
            <a:avLst/>
          </a:prstGeom>
          <a:solidFill>
            <a:srgbClr val="6622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677156" y="822960"/>
            <a:ext cx="1691640" cy="1550000"/>
          </a:xfrm>
          <a:prstGeom prst="rect">
            <a:avLst/>
          </a:prstGeom>
          <a:solidFill>
            <a:srgbClr val="10102C"/>
          </a:solidFill>
          <a:ln w="22860">
            <a:solidFill>
              <a:srgbClr val="22AA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717156" y="902960"/>
            <a:ext cx="1611640" cy="400000"/>
          </a:xfrm>
          <a:prstGeom prst="rect">
            <a:avLst/>
          </a:prstGeom>
          <a:noFill/>
        </p:spPr>
        <p:txBody>
          <a:bodyPr wrap="square">
            <a:spAutoFit/>
          </a:bodyPr>
          <a:lstStyle/>
          <a:p>
            <a:pPr algn="ctr"/>
            <a:r>
              <a:rPr sz="950" b="1">
                <a:solidFill>
                  <a:srgbClr val="22AACC"/>
                </a:solidFill>
                <a:latin typeface="游明朝"/>
              </a:rPr>
              <a:t>ボーナス</a:t>
            </a:r>
          </a:p>
        </p:txBody>
      </p:sp>
      <p:sp>
        <p:nvSpPr>
          <p:cNvPr id="19" name="TextBox 18"/>
          <p:cNvSpPr txBox="1"/>
          <p:nvPr/>
        </p:nvSpPr>
        <p:spPr>
          <a:xfrm>
            <a:off x="4707156" y="1312960"/>
            <a:ext cx="1631640" cy="920000"/>
          </a:xfrm>
          <a:prstGeom prst="rect">
            <a:avLst/>
          </a:prstGeom>
          <a:noFill/>
        </p:spPr>
        <p:txBody>
          <a:bodyPr wrap="square">
            <a:spAutoFit/>
          </a:bodyPr>
          <a:lstStyle/>
          <a:p>
            <a:pPr algn="ctr"/>
            <a:r>
              <a:rPr sz="750" b="0">
                <a:solidFill>
                  <a:srgbClr val="8888AA"/>
                </a:solidFill>
                <a:latin typeface="メイリオ"/>
              </a:rPr>
              <a:t>各種ボーナス
直撃当選もあり</a:t>
            </a:r>
          </a:p>
        </p:txBody>
      </p:sp>
      <p:sp>
        <p:nvSpPr>
          <p:cNvPr id="20" name="Can 19"/>
          <p:cNvSpPr/>
          <p:nvPr/>
        </p:nvSpPr>
        <p:spPr>
          <a:xfrm>
            <a:off x="6378796" y="1507960"/>
            <a:ext cx="200000" cy="180000"/>
          </a:xfrm>
          <a:prstGeom prst="can">
            <a:avLst/>
          </a:prstGeom>
          <a:solidFill>
            <a:srgbClr val="6622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579108" y="822960"/>
            <a:ext cx="1691640" cy="1550000"/>
          </a:xfrm>
          <a:prstGeom prst="rect">
            <a:avLst/>
          </a:prstGeom>
          <a:solidFill>
            <a:srgbClr val="04140C"/>
          </a:solidFill>
          <a:ln w="22860">
            <a:solidFill>
              <a:srgbClr val="22CC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619108" y="902960"/>
            <a:ext cx="1611640" cy="400000"/>
          </a:xfrm>
          <a:prstGeom prst="rect">
            <a:avLst/>
          </a:prstGeom>
          <a:noFill/>
        </p:spPr>
        <p:txBody>
          <a:bodyPr wrap="square">
            <a:spAutoFit/>
          </a:bodyPr>
          <a:lstStyle/>
          <a:p>
            <a:pPr algn="ctr"/>
            <a:r>
              <a:rPr sz="950" b="1">
                <a:solidFill>
                  <a:srgbClr val="22CC66"/>
                </a:solidFill>
                <a:latin typeface="游明朝"/>
              </a:rPr>
              <a:t>虚構連モード</a:t>
            </a:r>
          </a:p>
        </p:txBody>
      </p:sp>
      <p:sp>
        <p:nvSpPr>
          <p:cNvPr id="23" name="TextBox 22"/>
          <p:cNvSpPr txBox="1"/>
          <p:nvPr/>
        </p:nvSpPr>
        <p:spPr>
          <a:xfrm>
            <a:off x="6609108" y="1312960"/>
            <a:ext cx="1631640" cy="920000"/>
          </a:xfrm>
          <a:prstGeom prst="rect">
            <a:avLst/>
          </a:prstGeom>
          <a:noFill/>
        </p:spPr>
        <p:txBody>
          <a:bodyPr wrap="square">
            <a:spAutoFit/>
          </a:bodyPr>
          <a:lstStyle/>
          <a:p>
            <a:pPr algn="ctr"/>
            <a:r>
              <a:rPr sz="750" b="0">
                <a:solidFill>
                  <a:srgbClr val="8888AA"/>
                </a:solidFill>
                <a:latin typeface="メイリオ"/>
              </a:rPr>
              <a:t>Short/Middle/Long
高確率ループ</a:t>
            </a:r>
          </a:p>
        </p:txBody>
      </p:sp>
      <p:sp>
        <p:nvSpPr>
          <p:cNvPr id="24" name="TextBox 23"/>
          <p:cNvSpPr txBox="1"/>
          <p:nvPr/>
        </p:nvSpPr>
        <p:spPr>
          <a:xfrm>
            <a:off x="256032" y="2651760"/>
            <a:ext cx="3657600" cy="250000"/>
          </a:xfrm>
          <a:prstGeom prst="rect">
            <a:avLst/>
          </a:prstGeom>
          <a:noFill/>
        </p:spPr>
        <p:txBody>
          <a:bodyPr wrap="square">
            <a:spAutoFit/>
          </a:bodyPr>
          <a:lstStyle/>
          <a:p>
            <a:pPr algn="l"/>
            <a:r>
              <a:rPr sz="850" b="1">
                <a:solidFill>
                  <a:srgbClr val="9944FF"/>
                </a:solidFill>
                <a:latin typeface="メイリオ"/>
              </a:rPr>
              <a:t>▶ CZキャリーオーバー（積み上げ設計）</a:t>
            </a:r>
          </a:p>
        </p:txBody>
      </p:sp>
      <p:sp>
        <p:nvSpPr>
          <p:cNvPr id="25" name="Rectangle 24"/>
          <p:cNvSpPr/>
          <p:nvPr/>
        </p:nvSpPr>
        <p:spPr>
          <a:xfrm>
            <a:off x="256032" y="2852928"/>
            <a:ext cx="5486400" cy="1580000"/>
          </a:xfrm>
          <a:prstGeom prst="rect">
            <a:avLst/>
          </a:prstGeom>
          <a:solidFill>
            <a:srgbClr val="080824"/>
          </a:solidFill>
          <a:ln w="19050">
            <a:solidFill>
              <a:srgbClr val="6622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56032" y="2852928"/>
            <a:ext cx="45000" cy="1580000"/>
          </a:xfrm>
          <a:prstGeom prst="rect">
            <a:avLst/>
          </a:prstGeom>
          <a:solidFill>
            <a:srgbClr val="6622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57200" y="2972928"/>
            <a:ext cx="2011680" cy="1340000"/>
          </a:xfrm>
          <a:prstGeom prst="rect">
            <a:avLst/>
          </a:prstGeom>
          <a:solidFill>
            <a:srgbClr val="0C0824"/>
          </a:solidFill>
          <a:ln w="15240">
            <a:solidFill>
              <a:srgbClr val="9944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07200" y="3032928"/>
            <a:ext cx="1931680" cy="290000"/>
          </a:xfrm>
          <a:prstGeom prst="rect">
            <a:avLst/>
          </a:prstGeom>
          <a:noFill/>
        </p:spPr>
        <p:txBody>
          <a:bodyPr wrap="square">
            <a:spAutoFit/>
          </a:bodyPr>
          <a:lstStyle/>
          <a:p>
            <a:pPr algn="ctr"/>
            <a:r>
              <a:rPr sz="900" b="1">
                <a:solidFill>
                  <a:srgbClr val="9944FF"/>
                </a:solidFill>
                <a:latin typeface="メイリオ"/>
              </a:rPr>
              <a:t>1回目CZ</a:t>
            </a:r>
          </a:p>
        </p:txBody>
      </p:sp>
      <p:sp>
        <p:nvSpPr>
          <p:cNvPr id="29" name="TextBox 28"/>
          <p:cNvSpPr txBox="1"/>
          <p:nvPr/>
        </p:nvSpPr>
        <p:spPr>
          <a:xfrm>
            <a:off x="497200" y="3322928"/>
            <a:ext cx="1941680" cy="780000"/>
          </a:xfrm>
          <a:prstGeom prst="rect">
            <a:avLst/>
          </a:prstGeom>
          <a:noFill/>
        </p:spPr>
        <p:txBody>
          <a:bodyPr wrap="square">
            <a:spAutoFit/>
          </a:bodyPr>
          <a:lstStyle/>
          <a:p>
            <a:pPr algn="ctr"/>
            <a:r>
              <a:rPr sz="800" b="0">
                <a:solidFill>
                  <a:srgbClr val="E8E8F4"/>
                </a:solidFill>
                <a:latin typeface="メイリオ"/>
              </a:rPr>
              <a:t>3エピソード突破
2失敗→持越し</a:t>
            </a:r>
          </a:p>
        </p:txBody>
      </p:sp>
      <p:sp>
        <p:nvSpPr>
          <p:cNvPr id="30" name="Can 29"/>
          <p:cNvSpPr/>
          <p:nvPr/>
        </p:nvSpPr>
        <p:spPr>
          <a:xfrm>
            <a:off x="2498880" y="3552928"/>
            <a:ext cx="200000" cy="180000"/>
          </a:xfrm>
          <a:prstGeom prst="can">
            <a:avLst/>
          </a:prstGeom>
          <a:solidFill>
            <a:srgbClr val="994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2880360" y="2972928"/>
            <a:ext cx="2011680" cy="1340000"/>
          </a:xfrm>
          <a:prstGeom prst="rect">
            <a:avLst/>
          </a:prstGeom>
          <a:solidFill>
            <a:srgbClr val="0C0824"/>
          </a:solidFill>
          <a:ln w="15240">
            <a:solidFill>
              <a:srgbClr val="22CC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2930360" y="3032928"/>
            <a:ext cx="1931680" cy="290000"/>
          </a:xfrm>
          <a:prstGeom prst="rect">
            <a:avLst/>
          </a:prstGeom>
          <a:noFill/>
        </p:spPr>
        <p:txBody>
          <a:bodyPr wrap="square">
            <a:spAutoFit/>
          </a:bodyPr>
          <a:lstStyle/>
          <a:p>
            <a:pPr algn="ctr"/>
            <a:r>
              <a:rPr sz="900" b="1">
                <a:solidFill>
                  <a:srgbClr val="22CC66"/>
                </a:solidFill>
                <a:latin typeface="メイリオ"/>
              </a:rPr>
              <a:t>2回目CZ</a:t>
            </a:r>
          </a:p>
        </p:txBody>
      </p:sp>
      <p:sp>
        <p:nvSpPr>
          <p:cNvPr id="33" name="TextBox 32"/>
          <p:cNvSpPr txBox="1"/>
          <p:nvPr/>
        </p:nvSpPr>
        <p:spPr>
          <a:xfrm>
            <a:off x="2920360" y="3322928"/>
            <a:ext cx="1941680" cy="780000"/>
          </a:xfrm>
          <a:prstGeom prst="rect">
            <a:avLst/>
          </a:prstGeom>
          <a:noFill/>
        </p:spPr>
        <p:txBody>
          <a:bodyPr wrap="square">
            <a:spAutoFit/>
          </a:bodyPr>
          <a:lstStyle/>
          <a:p>
            <a:pPr algn="ctr"/>
            <a:r>
              <a:rPr sz="800" b="0">
                <a:solidFill>
                  <a:srgbClr val="E8E8F4"/>
                </a:solidFill>
                <a:latin typeface="メイリオ"/>
              </a:rPr>
              <a:t>2エピソード突破
0失敗→成功!</a:t>
            </a:r>
          </a:p>
        </p:txBody>
      </p:sp>
      <p:sp>
        <p:nvSpPr>
          <p:cNvPr id="34" name="TextBox 33"/>
          <p:cNvSpPr txBox="1"/>
          <p:nvPr/>
        </p:nvSpPr>
        <p:spPr>
          <a:xfrm>
            <a:off x="292608" y="2912928"/>
            <a:ext cx="5406400" cy="250000"/>
          </a:xfrm>
          <a:prstGeom prst="rect">
            <a:avLst/>
          </a:prstGeom>
          <a:noFill/>
        </p:spPr>
        <p:txBody>
          <a:bodyPr wrap="square">
            <a:spAutoFit/>
          </a:bodyPr>
          <a:lstStyle/>
          <a:p>
            <a:pPr algn="l"/>
            <a:r>
              <a:rPr sz="800" b="1">
                <a:solidFill>
                  <a:srgbClr val="9944FF"/>
                </a:solidFill>
                <a:latin typeface="メイリオ"/>
              </a:rPr>
              <a:t>失敗エピソードは次回CZへ持越し ── 「積み上げ」が成功への道に変わる</a:t>
            </a:r>
          </a:p>
        </p:txBody>
      </p:sp>
      <p:sp>
        <p:nvSpPr>
          <p:cNvPr id="35" name="Rectangle 34"/>
          <p:cNvSpPr/>
          <p:nvPr/>
        </p:nvSpPr>
        <p:spPr>
          <a:xfrm>
            <a:off x="5897880" y="2852928"/>
            <a:ext cx="3017520" cy="1580000"/>
          </a:xfrm>
          <a:prstGeom prst="rect">
            <a:avLst/>
          </a:prstGeom>
          <a:solidFill>
            <a:srgbClr val="080824"/>
          </a:solidFill>
          <a:ln w="19050">
            <a:solidFill>
              <a:srgbClr val="22CC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5897880" y="2852928"/>
            <a:ext cx="45000" cy="1580000"/>
          </a:xfrm>
          <a:prstGeom prst="rect">
            <a:avLst/>
          </a:prstGeom>
          <a:solidFill>
            <a:srgbClr val="22CC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967880" y="2912928"/>
            <a:ext cx="2927520" cy="260000"/>
          </a:xfrm>
          <a:prstGeom prst="rect">
            <a:avLst/>
          </a:prstGeom>
          <a:noFill/>
        </p:spPr>
        <p:txBody>
          <a:bodyPr wrap="square">
            <a:spAutoFit/>
          </a:bodyPr>
          <a:lstStyle/>
          <a:p>
            <a:pPr algn="l"/>
            <a:r>
              <a:rPr sz="950" b="1">
                <a:solidFill>
                  <a:srgbClr val="22CC66"/>
                </a:solidFill>
                <a:latin typeface="游明朝"/>
              </a:rPr>
              <a:t>虚構連モード3種</a:t>
            </a:r>
          </a:p>
        </p:txBody>
      </p:sp>
      <p:sp>
        <p:nvSpPr>
          <p:cNvPr id="38" name="Rectangle 37"/>
          <p:cNvSpPr/>
          <p:nvPr/>
        </p:nvSpPr>
        <p:spPr>
          <a:xfrm>
            <a:off x="5947880" y="3202928"/>
            <a:ext cx="30000" cy="360000"/>
          </a:xfrm>
          <a:prstGeom prst="rect">
            <a:avLst/>
          </a:prstGeom>
          <a:solidFill>
            <a:srgbClr val="22AA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007880" y="3232928"/>
            <a:ext cx="2877520" cy="250000"/>
          </a:xfrm>
          <a:prstGeom prst="rect">
            <a:avLst/>
          </a:prstGeom>
          <a:noFill/>
        </p:spPr>
        <p:txBody>
          <a:bodyPr wrap="square">
            <a:spAutoFit/>
          </a:bodyPr>
          <a:lstStyle/>
          <a:p>
            <a:pPr algn="l"/>
            <a:r>
              <a:rPr sz="900" b="1">
                <a:solidFill>
                  <a:srgbClr val="22AACC"/>
                </a:solidFill>
                <a:latin typeface="メイリオ"/>
              </a:rPr>
              <a:t>Short</a:t>
            </a:r>
          </a:p>
        </p:txBody>
      </p:sp>
      <p:sp>
        <p:nvSpPr>
          <p:cNvPr id="40" name="TextBox 39"/>
          <p:cNvSpPr txBox="1"/>
          <p:nvPr/>
        </p:nvSpPr>
        <p:spPr>
          <a:xfrm>
            <a:off x="6007880" y="3482928"/>
            <a:ext cx="2877520" cy="280000"/>
          </a:xfrm>
          <a:prstGeom prst="rect">
            <a:avLst/>
          </a:prstGeom>
          <a:noFill/>
        </p:spPr>
        <p:txBody>
          <a:bodyPr wrap="square">
            <a:spAutoFit/>
          </a:bodyPr>
          <a:lstStyle/>
          <a:p>
            <a:pPr algn="l"/>
            <a:r>
              <a:rPr sz="750" b="0">
                <a:solidFill>
                  <a:srgbClr val="8888AA"/>
                </a:solidFill>
                <a:latin typeface="メイリオ"/>
              </a:rPr>
              <a:t>ループ率約56%
短期集中型</a:t>
            </a:r>
          </a:p>
        </p:txBody>
      </p:sp>
      <p:sp>
        <p:nvSpPr>
          <p:cNvPr id="41" name="Rectangle 40"/>
          <p:cNvSpPr/>
          <p:nvPr/>
        </p:nvSpPr>
        <p:spPr>
          <a:xfrm>
            <a:off x="5947880" y="3622928"/>
            <a:ext cx="30000" cy="360000"/>
          </a:xfrm>
          <a:prstGeom prst="rect">
            <a:avLst/>
          </a:prstGeom>
          <a:solidFill>
            <a:srgbClr val="994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007880" y="3652928"/>
            <a:ext cx="2877520" cy="250000"/>
          </a:xfrm>
          <a:prstGeom prst="rect">
            <a:avLst/>
          </a:prstGeom>
          <a:noFill/>
        </p:spPr>
        <p:txBody>
          <a:bodyPr wrap="square">
            <a:spAutoFit/>
          </a:bodyPr>
          <a:lstStyle/>
          <a:p>
            <a:pPr algn="l"/>
            <a:r>
              <a:rPr sz="900" b="1">
                <a:solidFill>
                  <a:srgbClr val="9944FF"/>
                </a:solidFill>
                <a:latin typeface="メイリオ"/>
              </a:rPr>
              <a:t>Middle</a:t>
            </a:r>
          </a:p>
        </p:txBody>
      </p:sp>
      <p:sp>
        <p:nvSpPr>
          <p:cNvPr id="43" name="TextBox 42"/>
          <p:cNvSpPr txBox="1"/>
          <p:nvPr/>
        </p:nvSpPr>
        <p:spPr>
          <a:xfrm>
            <a:off x="6007880" y="3902928"/>
            <a:ext cx="2877520" cy="280000"/>
          </a:xfrm>
          <a:prstGeom prst="rect">
            <a:avLst/>
          </a:prstGeom>
          <a:noFill/>
        </p:spPr>
        <p:txBody>
          <a:bodyPr wrap="square">
            <a:spAutoFit/>
          </a:bodyPr>
          <a:lstStyle/>
          <a:p>
            <a:pPr algn="l"/>
            <a:r>
              <a:rPr sz="750" b="0">
                <a:solidFill>
                  <a:srgbClr val="8888AA"/>
                </a:solidFill>
                <a:latin typeface="メイリオ"/>
              </a:rPr>
              <a:t>ループ率約81%
中期継続型</a:t>
            </a:r>
          </a:p>
        </p:txBody>
      </p:sp>
      <p:sp>
        <p:nvSpPr>
          <p:cNvPr id="44" name="Rectangle 43"/>
          <p:cNvSpPr/>
          <p:nvPr/>
        </p:nvSpPr>
        <p:spPr>
          <a:xfrm>
            <a:off x="5947880" y="4042928"/>
            <a:ext cx="30000" cy="360000"/>
          </a:xfrm>
          <a:prstGeom prst="rect">
            <a:avLst/>
          </a:prstGeom>
          <a:solidFill>
            <a:srgbClr val="C8A8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007880" y="4072928"/>
            <a:ext cx="2877520" cy="250000"/>
          </a:xfrm>
          <a:prstGeom prst="rect">
            <a:avLst/>
          </a:prstGeom>
          <a:noFill/>
        </p:spPr>
        <p:txBody>
          <a:bodyPr wrap="square">
            <a:spAutoFit/>
          </a:bodyPr>
          <a:lstStyle/>
          <a:p>
            <a:pPr algn="l"/>
            <a:r>
              <a:rPr sz="900" b="1">
                <a:solidFill>
                  <a:srgbClr val="C8A840"/>
                </a:solidFill>
                <a:latin typeface="メイリオ"/>
              </a:rPr>
              <a:t>Long</a:t>
            </a:r>
          </a:p>
        </p:txBody>
      </p:sp>
      <p:sp>
        <p:nvSpPr>
          <p:cNvPr id="46" name="TextBox 45"/>
          <p:cNvSpPr txBox="1"/>
          <p:nvPr/>
        </p:nvSpPr>
        <p:spPr>
          <a:xfrm>
            <a:off x="6007880" y="4322928"/>
            <a:ext cx="2877520" cy="280000"/>
          </a:xfrm>
          <a:prstGeom prst="rect">
            <a:avLst/>
          </a:prstGeom>
          <a:noFill/>
        </p:spPr>
        <p:txBody>
          <a:bodyPr wrap="square">
            <a:spAutoFit/>
          </a:bodyPr>
          <a:lstStyle/>
          <a:p>
            <a:pPr algn="l"/>
            <a:r>
              <a:rPr sz="750" b="0">
                <a:solidFill>
                  <a:srgbClr val="8888AA"/>
                </a:solidFill>
                <a:latin typeface="メイリオ"/>
              </a:rPr>
              <a:t>ループ率約95%
爆発力最大</a:t>
            </a:r>
          </a:p>
        </p:txBody>
      </p:sp>
      <p:sp>
        <p:nvSpPr>
          <p:cNvPr id="47" name="Rectangle 46"/>
          <p:cNvSpPr/>
          <p:nvPr/>
        </p:nvSpPr>
        <p:spPr>
          <a:xfrm>
            <a:off x="0" y="4663440"/>
            <a:ext cx="9144000" cy="380000"/>
          </a:xfrm>
          <a:prstGeom prst="rect">
            <a:avLst/>
          </a:prstGeom>
          <a:solidFill>
            <a:srgbClr val="0604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0" y="4663440"/>
            <a:ext cx="20000" cy="380000"/>
          </a:xfrm>
          <a:prstGeom prst="rect">
            <a:avLst/>
          </a:prstGeom>
          <a:solidFill>
            <a:srgbClr val="6622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201168" y="4703440"/>
            <a:ext cx="5486400" cy="160000"/>
          </a:xfrm>
          <a:prstGeom prst="rect">
            <a:avLst/>
          </a:prstGeom>
          <a:noFill/>
        </p:spPr>
        <p:txBody>
          <a:bodyPr wrap="square">
            <a:spAutoFit/>
          </a:bodyPr>
          <a:lstStyle/>
          <a:p>
            <a:pPr algn="l"/>
            <a:r>
              <a:rPr sz="750" b="1">
                <a:solidFill>
                  <a:srgbClr val="9944FF"/>
                </a:solidFill>
                <a:latin typeface="メイリオ"/>
              </a:rPr>
              <a:t>設計コメント：失敗が必ず次回CZに繋がるキャリーオーバー設計がこの台最大の差別化要素</a:t>
            </a:r>
          </a:p>
        </p:txBody>
      </p:sp>
      <p:sp>
        <p:nvSpPr>
          <p:cNvPr id="50" name="TextBox 49"/>
          <p:cNvSpPr txBox="1"/>
          <p:nvPr/>
        </p:nvSpPr>
        <p:spPr>
          <a:xfrm>
            <a:off x="201168" y="4863440"/>
            <a:ext cx="8412480" cy="160000"/>
          </a:xfrm>
          <a:prstGeom prst="rect">
            <a:avLst/>
          </a:prstGeom>
          <a:noFill/>
        </p:spPr>
        <p:txBody>
          <a:bodyPr wrap="square">
            <a:spAutoFit/>
          </a:bodyPr>
          <a:lstStyle/>
          <a:p>
            <a:pPr algn="l"/>
            <a:r>
              <a:rPr sz="700" b="0">
                <a:solidFill>
                  <a:srgbClr val="8888AA"/>
                </a:solidFill>
                <a:latin typeface="メイリオ"/>
              </a:rPr>
              <a:t>補足：蛇行フロー上段=基本ルート、下段=失敗時の積み上げルート。どちらもボーナス・虚構連に繋がる</a:t>
            </a:r>
          </a:p>
        </p:txBody>
      </p:sp>
      <p:sp>
        <p:nvSpPr>
          <p:cNvPr id="51" name="TextBox 50"/>
          <p:cNvSpPr txBox="1"/>
          <p:nvPr/>
        </p:nvSpPr>
        <p:spPr>
          <a:xfrm>
            <a:off x="7498079" y="4919472"/>
            <a:ext cx="1554480" cy="180000"/>
          </a:xfrm>
          <a:prstGeom prst="rect">
            <a:avLst/>
          </a:prstGeom>
          <a:noFill/>
        </p:spPr>
        <p:txBody>
          <a:bodyPr wrap="square">
            <a:spAutoFit/>
          </a:bodyPr>
          <a:lstStyle/>
          <a:p>
            <a:pPr algn="r"/>
            <a:r>
              <a:rPr sz="700" b="0">
                <a:solidFill>
                  <a:srgbClr val="8888AA"/>
                </a:solidFill>
                <a:latin typeface="メイリオ"/>
              </a:rPr>
              <a:t>※ネット解析情報より</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9144000" cy="5143500"/>
          </a:xfrm>
          <a:prstGeom prst="rect">
            <a:avLst/>
          </a:prstGeom>
        </p:spPr>
      </p:pic>
      <p:sp>
        <p:nvSpPr>
          <p:cNvPr id="3" name="Rectangle 2"/>
          <p:cNvSpPr/>
          <p:nvPr/>
        </p:nvSpPr>
        <p:spPr>
          <a:xfrm>
            <a:off x="0" y="0"/>
            <a:ext cx="9144000" cy="530352"/>
          </a:xfrm>
          <a:prstGeom prst="rect">
            <a:avLst/>
          </a:prstGeom>
          <a:solidFill>
            <a:srgbClr val="0808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45000" cy="530352"/>
          </a:xfrm>
          <a:prstGeom prst="rect">
            <a:avLst/>
          </a:prstGeom>
          <a:solidFill>
            <a:srgbClr val="6622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37160" y="28000"/>
            <a:ext cx="7772400" cy="410000"/>
          </a:xfrm>
          <a:prstGeom prst="rect">
            <a:avLst/>
          </a:prstGeom>
          <a:noFill/>
        </p:spPr>
        <p:txBody>
          <a:bodyPr wrap="square">
            <a:spAutoFit/>
          </a:bodyPr>
          <a:lstStyle/>
          <a:p>
            <a:pPr algn="l"/>
            <a:r>
              <a:rPr sz="1400" b="1">
                <a:solidFill>
                  <a:srgbClr val="22AACC"/>
                </a:solidFill>
                <a:latin typeface="游明朝"/>
              </a:rPr>
              <a:t>通常時の遊び方 ── 規定G数・虚構真偽ゾーン・エピソード進行</a:t>
            </a:r>
          </a:p>
        </p:txBody>
      </p:sp>
      <p:sp>
        <p:nvSpPr>
          <p:cNvPr id="6" name="TextBox 5"/>
          <p:cNvSpPr txBox="1"/>
          <p:nvPr/>
        </p:nvSpPr>
        <p:spPr>
          <a:xfrm>
            <a:off x="8046720" y="45000"/>
            <a:ext cx="914400" cy="340000"/>
          </a:xfrm>
          <a:prstGeom prst="rect">
            <a:avLst/>
          </a:prstGeom>
          <a:noFill/>
        </p:spPr>
        <p:txBody>
          <a:bodyPr wrap="square">
            <a:spAutoFit/>
          </a:bodyPr>
          <a:lstStyle/>
          <a:p>
            <a:pPr algn="r"/>
            <a:r>
              <a:rPr sz="800" b="0">
                <a:solidFill>
                  <a:srgbClr val="8888AA"/>
                </a:solidFill>
                <a:latin typeface="メイリオ"/>
              </a:rPr>
              <a:t>3/9</a:t>
            </a:r>
          </a:p>
        </p:txBody>
      </p:sp>
      <p:sp>
        <p:nvSpPr>
          <p:cNvPr id="7" name="Rectangle 6"/>
          <p:cNvSpPr/>
          <p:nvPr/>
        </p:nvSpPr>
        <p:spPr>
          <a:xfrm>
            <a:off x="0" y="530352"/>
            <a:ext cx="9144000" cy="7000"/>
          </a:xfrm>
          <a:prstGeom prst="rect">
            <a:avLst/>
          </a:prstGeom>
          <a:solidFill>
            <a:srgbClr val="6622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56032" y="658368"/>
            <a:ext cx="2651760" cy="3800000"/>
          </a:xfrm>
          <a:prstGeom prst="rect">
            <a:avLst/>
          </a:prstGeom>
          <a:solidFill>
            <a:srgbClr val="080824"/>
          </a:solidFill>
          <a:ln w="22860">
            <a:solidFill>
              <a:srgbClr val="6622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56032" y="658368"/>
            <a:ext cx="45000" cy="3800000"/>
          </a:xfrm>
          <a:prstGeom prst="rect">
            <a:avLst/>
          </a:prstGeom>
          <a:solidFill>
            <a:srgbClr val="6622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01032" y="658368"/>
            <a:ext cx="2606760" cy="350000"/>
          </a:xfrm>
          <a:prstGeom prst="rect">
            <a:avLst/>
          </a:prstGeom>
          <a:solidFill>
            <a:srgbClr val="0C0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31032" y="718368"/>
            <a:ext cx="2551760" cy="270000"/>
          </a:xfrm>
          <a:prstGeom prst="rect">
            <a:avLst/>
          </a:prstGeom>
          <a:noFill/>
        </p:spPr>
        <p:txBody>
          <a:bodyPr wrap="square">
            <a:spAutoFit/>
          </a:bodyPr>
          <a:lstStyle/>
          <a:p>
            <a:pPr algn="l"/>
            <a:r>
              <a:rPr sz="1100" b="1">
                <a:solidFill>
                  <a:srgbClr val="6622AA"/>
                </a:solidFill>
                <a:latin typeface="游明朝"/>
              </a:rPr>
              <a:t>規定G数管理</a:t>
            </a:r>
          </a:p>
        </p:txBody>
      </p:sp>
      <p:sp>
        <p:nvSpPr>
          <p:cNvPr id="12" name="TextBox 11"/>
          <p:cNvSpPr txBox="1"/>
          <p:nvPr/>
        </p:nvSpPr>
        <p:spPr>
          <a:xfrm>
            <a:off x="331032" y="1038368"/>
            <a:ext cx="2551760" cy="3180000"/>
          </a:xfrm>
          <a:prstGeom prst="rect">
            <a:avLst/>
          </a:prstGeom>
          <a:noFill/>
        </p:spPr>
        <p:txBody>
          <a:bodyPr wrap="square">
            <a:spAutoFit/>
          </a:bodyPr>
          <a:lstStyle/>
          <a:p>
            <a:pPr algn="l"/>
            <a:r>
              <a:rPr sz="800" b="0">
                <a:solidFill>
                  <a:srgbClr val="E8E8F4"/>
                </a:solidFill>
                <a:latin typeface="メイリオ"/>
              </a:rPr>
              <a:t>通常時はモードによって
天井G数が変わる。
【天井】
虚構真偽間 1000G
リセット後は 700G
規定G数到達でCZ
「鋼人七瀬攻略議会」へ
強制突入する。
モード移行によって
CZ突入G数は短縮される。</a:t>
            </a:r>
          </a:p>
        </p:txBody>
      </p:sp>
      <p:sp>
        <p:nvSpPr>
          <p:cNvPr id="13" name="Rectangle 12"/>
          <p:cNvSpPr/>
          <p:nvPr/>
        </p:nvSpPr>
        <p:spPr>
          <a:xfrm>
            <a:off x="2087792" y="718368"/>
            <a:ext cx="790000" cy="230000"/>
          </a:xfrm>
          <a:prstGeom prst="rect">
            <a:avLst/>
          </a:prstGeom>
          <a:solidFill>
            <a:srgbClr val="10102C"/>
          </a:solidFill>
          <a:ln w="12700">
            <a:solidFill>
              <a:srgbClr val="6622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097792" y="728368"/>
            <a:ext cx="780000" cy="210000"/>
          </a:xfrm>
          <a:prstGeom prst="rect">
            <a:avLst/>
          </a:prstGeom>
          <a:noFill/>
        </p:spPr>
        <p:txBody>
          <a:bodyPr wrap="square">
            <a:spAutoFit/>
          </a:bodyPr>
          <a:lstStyle/>
          <a:p>
            <a:pPr algn="ctr"/>
            <a:r>
              <a:rPr sz="700" b="1">
                <a:solidFill>
                  <a:srgbClr val="6622AA"/>
                </a:solidFill>
                <a:latin typeface="メイリオ"/>
              </a:rPr>
              <a:t>G数管理が
投資の目安</a:t>
            </a:r>
          </a:p>
        </p:txBody>
      </p:sp>
      <p:sp>
        <p:nvSpPr>
          <p:cNvPr id="15" name="Rectangle 14"/>
          <p:cNvSpPr/>
          <p:nvPr/>
        </p:nvSpPr>
        <p:spPr>
          <a:xfrm>
            <a:off x="3090672" y="658368"/>
            <a:ext cx="2651760" cy="3800000"/>
          </a:xfrm>
          <a:prstGeom prst="rect">
            <a:avLst/>
          </a:prstGeom>
          <a:solidFill>
            <a:srgbClr val="080824"/>
          </a:solidFill>
          <a:ln w="22860">
            <a:solidFill>
              <a:srgbClr val="22AA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090672" y="658368"/>
            <a:ext cx="45000" cy="3800000"/>
          </a:xfrm>
          <a:prstGeom prst="rect">
            <a:avLst/>
          </a:prstGeom>
          <a:solidFill>
            <a:srgbClr val="22AA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135672" y="658368"/>
            <a:ext cx="2606760" cy="350000"/>
          </a:xfrm>
          <a:prstGeom prst="rect">
            <a:avLst/>
          </a:prstGeom>
          <a:solidFill>
            <a:srgbClr val="0C0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165672" y="718368"/>
            <a:ext cx="2551760" cy="270000"/>
          </a:xfrm>
          <a:prstGeom prst="rect">
            <a:avLst/>
          </a:prstGeom>
          <a:noFill/>
        </p:spPr>
        <p:txBody>
          <a:bodyPr wrap="square">
            <a:spAutoFit/>
          </a:bodyPr>
          <a:lstStyle/>
          <a:p>
            <a:pPr algn="l"/>
            <a:r>
              <a:rPr sz="1100" b="1">
                <a:solidFill>
                  <a:srgbClr val="22AACC"/>
                </a:solidFill>
                <a:latin typeface="游明朝"/>
              </a:rPr>
              <a:t>虚構真偽ゾーン</a:t>
            </a:r>
          </a:p>
        </p:txBody>
      </p:sp>
      <p:sp>
        <p:nvSpPr>
          <p:cNvPr id="19" name="TextBox 18"/>
          <p:cNvSpPr txBox="1"/>
          <p:nvPr/>
        </p:nvSpPr>
        <p:spPr>
          <a:xfrm>
            <a:off x="3165672" y="1038368"/>
            <a:ext cx="2551760" cy="3180000"/>
          </a:xfrm>
          <a:prstGeom prst="rect">
            <a:avLst/>
          </a:prstGeom>
          <a:noFill/>
        </p:spPr>
        <p:txBody>
          <a:bodyPr wrap="square">
            <a:spAutoFit/>
          </a:bodyPr>
          <a:lstStyle/>
          <a:p>
            <a:pPr algn="l"/>
            <a:r>
              <a:rPr sz="800" b="0">
                <a:solidFill>
                  <a:srgbClr val="E8E8F4"/>
                </a:solidFill>
                <a:latin typeface="メイリオ"/>
              </a:rPr>
              <a:t>高確率でCZが
連続発生するゾーン。
CZ入口となる特殊状態で
一度入れば怒濤の
CZ連続発生が期待できる。
設定が高いほど
虚構真偽ゾーン突入率も
高くなる（設定差あり）。
天井到達でも
虚構真偽ゾーン経由が
多い。</a:t>
            </a:r>
          </a:p>
        </p:txBody>
      </p:sp>
      <p:sp>
        <p:nvSpPr>
          <p:cNvPr id="20" name="Rectangle 19"/>
          <p:cNvSpPr/>
          <p:nvPr/>
        </p:nvSpPr>
        <p:spPr>
          <a:xfrm>
            <a:off x="4922432" y="718368"/>
            <a:ext cx="790000" cy="230000"/>
          </a:xfrm>
          <a:prstGeom prst="rect">
            <a:avLst/>
          </a:prstGeom>
          <a:solidFill>
            <a:srgbClr val="10102C"/>
          </a:solidFill>
          <a:ln w="12700">
            <a:solidFill>
              <a:srgbClr val="22AA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932432" y="728368"/>
            <a:ext cx="780000" cy="210000"/>
          </a:xfrm>
          <a:prstGeom prst="rect">
            <a:avLst/>
          </a:prstGeom>
          <a:noFill/>
        </p:spPr>
        <p:txBody>
          <a:bodyPr wrap="square">
            <a:spAutoFit/>
          </a:bodyPr>
          <a:lstStyle/>
          <a:p>
            <a:pPr algn="ctr"/>
            <a:r>
              <a:rPr sz="700" b="1">
                <a:solidFill>
                  <a:srgbClr val="22AACC"/>
                </a:solidFill>
                <a:latin typeface="メイリオ"/>
              </a:rPr>
              <a:t>高確率CZ発生
ゾーン</a:t>
            </a:r>
          </a:p>
        </p:txBody>
      </p:sp>
      <p:sp>
        <p:nvSpPr>
          <p:cNvPr id="22" name="Rectangle 21"/>
          <p:cNvSpPr/>
          <p:nvPr/>
        </p:nvSpPr>
        <p:spPr>
          <a:xfrm>
            <a:off x="5925312" y="658368"/>
            <a:ext cx="2651760" cy="3800000"/>
          </a:xfrm>
          <a:prstGeom prst="rect">
            <a:avLst/>
          </a:prstGeom>
          <a:solidFill>
            <a:srgbClr val="080824"/>
          </a:solidFill>
          <a:ln w="22860">
            <a:solidFill>
              <a:srgbClr val="C8A8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925312" y="658368"/>
            <a:ext cx="45000" cy="3800000"/>
          </a:xfrm>
          <a:prstGeom prst="rect">
            <a:avLst/>
          </a:prstGeom>
          <a:solidFill>
            <a:srgbClr val="C8A8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970312" y="658368"/>
            <a:ext cx="2606760" cy="350000"/>
          </a:xfrm>
          <a:prstGeom prst="rect">
            <a:avLst/>
          </a:prstGeom>
          <a:solidFill>
            <a:srgbClr val="0C0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000312" y="718368"/>
            <a:ext cx="2551760" cy="270000"/>
          </a:xfrm>
          <a:prstGeom prst="rect">
            <a:avLst/>
          </a:prstGeom>
          <a:noFill/>
        </p:spPr>
        <p:txBody>
          <a:bodyPr wrap="square">
            <a:spAutoFit/>
          </a:bodyPr>
          <a:lstStyle/>
          <a:p>
            <a:pPr algn="l"/>
            <a:r>
              <a:rPr sz="1100" b="1">
                <a:solidFill>
                  <a:srgbClr val="C8A840"/>
                </a:solidFill>
                <a:latin typeface="游明朝"/>
              </a:rPr>
              <a:t>エピソード進行</a:t>
            </a:r>
          </a:p>
        </p:txBody>
      </p:sp>
      <p:sp>
        <p:nvSpPr>
          <p:cNvPr id="26" name="TextBox 25"/>
          <p:cNvSpPr txBox="1"/>
          <p:nvPr/>
        </p:nvSpPr>
        <p:spPr>
          <a:xfrm>
            <a:off x="6000312" y="1038368"/>
            <a:ext cx="2551760" cy="3180000"/>
          </a:xfrm>
          <a:prstGeom prst="rect">
            <a:avLst/>
          </a:prstGeom>
          <a:noFill/>
        </p:spPr>
        <p:txBody>
          <a:bodyPr wrap="square">
            <a:spAutoFit/>
          </a:bodyPr>
          <a:lstStyle/>
          <a:p>
            <a:pPr algn="l"/>
            <a:r>
              <a:rPr sz="800" b="0">
                <a:solidFill>
                  <a:srgbClr val="E8E8F4"/>
                </a:solidFill>
                <a:latin typeface="メイリオ"/>
              </a:rPr>
              <a:t>通常時は背景で
アニメのエピソードが
進行していく。
5エピソード構成で
進行度合いがCZの
積み上げ状況を示す。
「何話まで進んでいるか」
がCZ攻略進捗の
目安になる。
エピソード完結で
特別演出が発生する
こともある。</a:t>
            </a:r>
          </a:p>
        </p:txBody>
      </p:sp>
      <p:sp>
        <p:nvSpPr>
          <p:cNvPr id="27" name="Rectangle 26"/>
          <p:cNvSpPr/>
          <p:nvPr/>
        </p:nvSpPr>
        <p:spPr>
          <a:xfrm>
            <a:off x="7757072" y="718368"/>
            <a:ext cx="790000" cy="230000"/>
          </a:xfrm>
          <a:prstGeom prst="rect">
            <a:avLst/>
          </a:prstGeom>
          <a:solidFill>
            <a:srgbClr val="10102C"/>
          </a:solidFill>
          <a:ln w="12700">
            <a:solidFill>
              <a:srgbClr val="C8A8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767072" y="728368"/>
            <a:ext cx="780000" cy="210000"/>
          </a:xfrm>
          <a:prstGeom prst="rect">
            <a:avLst/>
          </a:prstGeom>
          <a:noFill/>
        </p:spPr>
        <p:txBody>
          <a:bodyPr wrap="square">
            <a:spAutoFit/>
          </a:bodyPr>
          <a:lstStyle/>
          <a:p>
            <a:pPr algn="ctr"/>
            <a:r>
              <a:rPr sz="700" b="1">
                <a:solidFill>
                  <a:srgbClr val="C8A840"/>
                </a:solidFill>
                <a:latin typeface="メイリオ"/>
              </a:rPr>
              <a:t>物語進行が
攻略の指標</a:t>
            </a:r>
          </a:p>
        </p:txBody>
      </p:sp>
      <p:sp>
        <p:nvSpPr>
          <p:cNvPr id="29" name="Rectangle 28"/>
          <p:cNvSpPr/>
          <p:nvPr/>
        </p:nvSpPr>
        <p:spPr>
          <a:xfrm>
            <a:off x="8759952" y="658368"/>
            <a:ext cx="184048" cy="3800000"/>
          </a:xfrm>
          <a:prstGeom prst="rect">
            <a:avLst/>
          </a:prstGeom>
          <a:solidFill>
            <a:srgbClr val="06041C"/>
          </a:solidFill>
          <a:ln w="19050">
            <a:solidFill>
              <a:srgbClr val="9944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819952" y="718368"/>
            <a:ext cx="104048" cy="260000"/>
          </a:xfrm>
          <a:prstGeom prst="rect">
            <a:avLst/>
          </a:prstGeom>
          <a:noFill/>
        </p:spPr>
        <p:txBody>
          <a:bodyPr wrap="square">
            <a:spAutoFit/>
          </a:bodyPr>
          <a:lstStyle/>
          <a:p>
            <a:pPr algn="l"/>
            <a:r>
              <a:rPr sz="1000" b="1">
                <a:solidFill>
                  <a:srgbClr val="9944FF"/>
                </a:solidFill>
                <a:latin typeface="游明朝"/>
              </a:rPr>
              <a:t>攻略TIP</a:t>
            </a:r>
          </a:p>
        </p:txBody>
      </p:sp>
      <p:sp>
        <p:nvSpPr>
          <p:cNvPr id="31" name="Rectangle 30"/>
          <p:cNvSpPr/>
          <p:nvPr/>
        </p:nvSpPr>
        <p:spPr>
          <a:xfrm>
            <a:off x="8789952" y="1008368"/>
            <a:ext cx="15000" cy="1100000"/>
          </a:xfrm>
          <a:prstGeom prst="rect">
            <a:avLst/>
          </a:prstGeom>
          <a:solidFill>
            <a:srgbClr val="994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839952" y="1038368"/>
            <a:ext cx="74048" cy="1080000"/>
          </a:xfrm>
          <a:prstGeom prst="rect">
            <a:avLst/>
          </a:prstGeom>
          <a:noFill/>
        </p:spPr>
        <p:txBody>
          <a:bodyPr wrap="square">
            <a:spAutoFit/>
          </a:bodyPr>
          <a:lstStyle/>
          <a:p>
            <a:pPr algn="l"/>
            <a:r>
              <a:rPr sz="750" b="0">
                <a:solidFill>
                  <a:srgbClr val="E8E8F4"/>
                </a:solidFill>
                <a:latin typeface="メイリオ"/>
              </a:rPr>
              <a:t>リセット後は700G
天井が短縮される</a:t>
            </a:r>
          </a:p>
        </p:txBody>
      </p:sp>
      <p:sp>
        <p:nvSpPr>
          <p:cNvPr id="33" name="Rectangle 32"/>
          <p:cNvSpPr/>
          <p:nvPr/>
        </p:nvSpPr>
        <p:spPr>
          <a:xfrm>
            <a:off x="8789952" y="2168368"/>
            <a:ext cx="15000" cy="1100000"/>
          </a:xfrm>
          <a:prstGeom prst="rect">
            <a:avLst/>
          </a:prstGeom>
          <a:solidFill>
            <a:srgbClr val="22AA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839952" y="2198368"/>
            <a:ext cx="74048" cy="1080000"/>
          </a:xfrm>
          <a:prstGeom prst="rect">
            <a:avLst/>
          </a:prstGeom>
          <a:noFill/>
        </p:spPr>
        <p:txBody>
          <a:bodyPr wrap="square">
            <a:spAutoFit/>
          </a:bodyPr>
          <a:lstStyle/>
          <a:p>
            <a:pPr algn="l"/>
            <a:r>
              <a:rPr sz="750" b="0">
                <a:solidFill>
                  <a:srgbClr val="E8E8F4"/>
                </a:solidFill>
                <a:latin typeface="メイリオ"/>
              </a:rPr>
              <a:t>虚構真偽ゾーン中は
CZが連続しやすい</a:t>
            </a:r>
          </a:p>
        </p:txBody>
      </p:sp>
      <p:sp>
        <p:nvSpPr>
          <p:cNvPr id="35" name="Rectangle 34"/>
          <p:cNvSpPr/>
          <p:nvPr/>
        </p:nvSpPr>
        <p:spPr>
          <a:xfrm>
            <a:off x="8789952" y="3328368"/>
            <a:ext cx="15000" cy="1100000"/>
          </a:xfrm>
          <a:prstGeom prst="rect">
            <a:avLst/>
          </a:prstGeom>
          <a:solidFill>
            <a:srgbClr val="C8A8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839952" y="3358368"/>
            <a:ext cx="74048" cy="1080000"/>
          </a:xfrm>
          <a:prstGeom prst="rect">
            <a:avLst/>
          </a:prstGeom>
          <a:noFill/>
        </p:spPr>
        <p:txBody>
          <a:bodyPr wrap="square">
            <a:spAutoFit/>
          </a:bodyPr>
          <a:lstStyle/>
          <a:p>
            <a:pPr algn="l"/>
            <a:r>
              <a:rPr sz="750" b="0">
                <a:solidFill>
                  <a:srgbClr val="E8E8F4"/>
                </a:solidFill>
                <a:latin typeface="メイリオ"/>
              </a:rPr>
              <a:t>エピソード進行が
進んでいるほど
CZ積み上げ済み</a:t>
            </a:r>
          </a:p>
        </p:txBody>
      </p:sp>
      <p:sp>
        <p:nvSpPr>
          <p:cNvPr id="37" name="Rectangle 36"/>
          <p:cNvSpPr/>
          <p:nvPr/>
        </p:nvSpPr>
        <p:spPr>
          <a:xfrm>
            <a:off x="0" y="4663440"/>
            <a:ext cx="9144000" cy="380000"/>
          </a:xfrm>
          <a:prstGeom prst="rect">
            <a:avLst/>
          </a:prstGeom>
          <a:solidFill>
            <a:srgbClr val="0604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0" y="4663440"/>
            <a:ext cx="20000" cy="380000"/>
          </a:xfrm>
          <a:prstGeom prst="rect">
            <a:avLst/>
          </a:prstGeom>
          <a:solidFill>
            <a:srgbClr val="6622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201168" y="4703440"/>
            <a:ext cx="5486400" cy="160000"/>
          </a:xfrm>
          <a:prstGeom prst="rect">
            <a:avLst/>
          </a:prstGeom>
          <a:noFill/>
        </p:spPr>
        <p:txBody>
          <a:bodyPr wrap="square">
            <a:spAutoFit/>
          </a:bodyPr>
          <a:lstStyle/>
          <a:p>
            <a:pPr algn="l"/>
            <a:r>
              <a:rPr sz="750" b="1">
                <a:solidFill>
                  <a:srgbClr val="9944FF"/>
                </a:solidFill>
                <a:latin typeface="メイリオ"/>
              </a:rPr>
              <a:t>設計コメント：通常時の3要素（G数/ゾーン/エピソード）が全てCZ攻略と連動した一貫設計</a:t>
            </a:r>
          </a:p>
        </p:txBody>
      </p:sp>
      <p:sp>
        <p:nvSpPr>
          <p:cNvPr id="40" name="TextBox 39"/>
          <p:cNvSpPr txBox="1"/>
          <p:nvPr/>
        </p:nvSpPr>
        <p:spPr>
          <a:xfrm>
            <a:off x="201168" y="4863440"/>
            <a:ext cx="8412480" cy="160000"/>
          </a:xfrm>
          <a:prstGeom prst="rect">
            <a:avLst/>
          </a:prstGeom>
          <a:noFill/>
        </p:spPr>
        <p:txBody>
          <a:bodyPr wrap="square">
            <a:spAutoFit/>
          </a:bodyPr>
          <a:lstStyle/>
          <a:p>
            <a:pPr algn="l"/>
            <a:r>
              <a:rPr sz="700" b="0">
                <a:solidFill>
                  <a:srgbClr val="8888AA"/>
                </a:solidFill>
                <a:latin typeface="メイリオ"/>
              </a:rPr>
              <a:t>補足：リセット狙い（700G天井）や高確狙い（虚構真偽ゾーン中）が有効な立ち回りになる</a:t>
            </a:r>
          </a:p>
        </p:txBody>
      </p:sp>
      <p:sp>
        <p:nvSpPr>
          <p:cNvPr id="41" name="TextBox 40"/>
          <p:cNvSpPr txBox="1"/>
          <p:nvPr/>
        </p:nvSpPr>
        <p:spPr>
          <a:xfrm>
            <a:off x="7498079" y="4919472"/>
            <a:ext cx="1554480" cy="180000"/>
          </a:xfrm>
          <a:prstGeom prst="rect">
            <a:avLst/>
          </a:prstGeom>
          <a:noFill/>
        </p:spPr>
        <p:txBody>
          <a:bodyPr wrap="square">
            <a:spAutoFit/>
          </a:bodyPr>
          <a:lstStyle/>
          <a:p>
            <a:pPr algn="r"/>
            <a:r>
              <a:rPr sz="700" b="0">
                <a:solidFill>
                  <a:srgbClr val="8888AA"/>
                </a:solidFill>
                <a:latin typeface="メイリオ"/>
              </a:rPr>
              <a:t>※ネット解析情報より</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9144000" cy="5143500"/>
          </a:xfrm>
          <a:prstGeom prst="rect">
            <a:avLst/>
          </a:prstGeom>
        </p:spPr>
      </p:pic>
      <p:sp>
        <p:nvSpPr>
          <p:cNvPr id="3" name="Rectangle 2"/>
          <p:cNvSpPr/>
          <p:nvPr/>
        </p:nvSpPr>
        <p:spPr>
          <a:xfrm>
            <a:off x="0" y="0"/>
            <a:ext cx="9144000" cy="530352"/>
          </a:xfrm>
          <a:prstGeom prst="rect">
            <a:avLst/>
          </a:prstGeom>
          <a:solidFill>
            <a:srgbClr val="0808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45000" cy="530352"/>
          </a:xfrm>
          <a:prstGeom prst="rect">
            <a:avLst/>
          </a:prstGeom>
          <a:solidFill>
            <a:srgbClr val="6622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37160" y="28000"/>
            <a:ext cx="7772400" cy="410000"/>
          </a:xfrm>
          <a:prstGeom prst="rect">
            <a:avLst/>
          </a:prstGeom>
          <a:noFill/>
        </p:spPr>
        <p:txBody>
          <a:bodyPr wrap="square">
            <a:spAutoFit/>
          </a:bodyPr>
          <a:lstStyle/>
          <a:p>
            <a:pPr algn="l"/>
            <a:r>
              <a:rPr sz="1400" b="1">
                <a:solidFill>
                  <a:srgbClr val="22AACC"/>
                </a:solidFill>
                <a:latin typeface="游明朝"/>
              </a:rPr>
              <a:t>CZ「鋼人七瀬攻略議会」の攻略 ── エピソード突破・キャリーオーバー・ARROW告知</a:t>
            </a:r>
          </a:p>
        </p:txBody>
      </p:sp>
      <p:sp>
        <p:nvSpPr>
          <p:cNvPr id="6" name="TextBox 5"/>
          <p:cNvSpPr txBox="1"/>
          <p:nvPr/>
        </p:nvSpPr>
        <p:spPr>
          <a:xfrm>
            <a:off x="8046720" y="45000"/>
            <a:ext cx="914400" cy="340000"/>
          </a:xfrm>
          <a:prstGeom prst="rect">
            <a:avLst/>
          </a:prstGeom>
          <a:noFill/>
        </p:spPr>
        <p:txBody>
          <a:bodyPr wrap="square">
            <a:spAutoFit/>
          </a:bodyPr>
          <a:lstStyle/>
          <a:p>
            <a:pPr algn="r"/>
            <a:r>
              <a:rPr sz="800" b="0">
                <a:solidFill>
                  <a:srgbClr val="8888AA"/>
                </a:solidFill>
                <a:latin typeface="メイリオ"/>
              </a:rPr>
              <a:t>4/9</a:t>
            </a:r>
          </a:p>
        </p:txBody>
      </p:sp>
      <p:sp>
        <p:nvSpPr>
          <p:cNvPr id="7" name="Rectangle 6"/>
          <p:cNvSpPr/>
          <p:nvPr/>
        </p:nvSpPr>
        <p:spPr>
          <a:xfrm>
            <a:off x="0" y="530352"/>
            <a:ext cx="9144000" cy="7000"/>
          </a:xfrm>
          <a:prstGeom prst="rect">
            <a:avLst/>
          </a:prstGeom>
          <a:solidFill>
            <a:srgbClr val="6622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56032" y="658368"/>
            <a:ext cx="4160520" cy="330000"/>
          </a:xfrm>
          <a:prstGeom prst="rect">
            <a:avLst/>
          </a:prstGeom>
          <a:solidFill>
            <a:srgbClr val="4411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16032" y="713368"/>
            <a:ext cx="4080520" cy="240000"/>
          </a:xfrm>
          <a:prstGeom prst="rect">
            <a:avLst/>
          </a:prstGeom>
          <a:noFill/>
        </p:spPr>
        <p:txBody>
          <a:bodyPr wrap="square">
            <a:spAutoFit/>
          </a:bodyPr>
          <a:lstStyle/>
          <a:p>
            <a:pPr algn="l"/>
            <a:r>
              <a:rPr sz="900" b="1">
                <a:solidFill>
                  <a:srgbClr val="9944FF"/>
                </a:solidFill>
                <a:latin typeface="メイリオ"/>
              </a:rPr>
              <a:t>CZ基本仕様: 6G消化（初回7G）・5エピソード突破型</a:t>
            </a:r>
          </a:p>
        </p:txBody>
      </p:sp>
      <p:sp>
        <p:nvSpPr>
          <p:cNvPr id="10" name="Rectangle 9"/>
          <p:cNvSpPr/>
          <p:nvPr/>
        </p:nvSpPr>
        <p:spPr>
          <a:xfrm>
            <a:off x="256032" y="1038368"/>
            <a:ext cx="800104" cy="320000"/>
          </a:xfrm>
          <a:prstGeom prst="rect">
            <a:avLst/>
          </a:prstGeom>
          <a:solidFill>
            <a:srgbClr val="080824"/>
          </a:solidFill>
          <a:ln w="19050">
            <a:solidFill>
              <a:srgbClr val="22CC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56032" y="1038368"/>
            <a:ext cx="15000" cy="320000"/>
          </a:xfrm>
          <a:prstGeom prst="rect">
            <a:avLst/>
          </a:prstGeom>
          <a:solidFill>
            <a:srgbClr val="22CC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86032" y="1068368"/>
            <a:ext cx="760104" cy="270000"/>
          </a:xfrm>
          <a:prstGeom prst="rect">
            <a:avLst/>
          </a:prstGeom>
          <a:noFill/>
        </p:spPr>
        <p:txBody>
          <a:bodyPr wrap="square">
            <a:spAutoFit/>
          </a:bodyPr>
          <a:lstStyle/>
          <a:p>
            <a:pPr algn="ctr"/>
            <a:r>
              <a:rPr sz="700" b="0">
                <a:solidFill>
                  <a:srgbClr val="22CC66"/>
                </a:solidFill>
                <a:latin typeface="メイリオ"/>
              </a:rPr>
              <a:t>EP1
突破</a:t>
            </a:r>
          </a:p>
        </p:txBody>
      </p:sp>
      <p:sp>
        <p:nvSpPr>
          <p:cNvPr id="13" name="Rectangle 12"/>
          <p:cNvSpPr/>
          <p:nvPr/>
        </p:nvSpPr>
        <p:spPr>
          <a:xfrm>
            <a:off x="1096136" y="1038368"/>
            <a:ext cx="800104" cy="320000"/>
          </a:xfrm>
          <a:prstGeom prst="rect">
            <a:avLst/>
          </a:prstGeom>
          <a:solidFill>
            <a:srgbClr val="080824"/>
          </a:solidFill>
          <a:ln w="19050">
            <a:solidFill>
              <a:srgbClr val="22CC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1096136" y="1038368"/>
            <a:ext cx="15000" cy="320000"/>
          </a:xfrm>
          <a:prstGeom prst="rect">
            <a:avLst/>
          </a:prstGeom>
          <a:solidFill>
            <a:srgbClr val="22CC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126136" y="1068368"/>
            <a:ext cx="760104" cy="270000"/>
          </a:xfrm>
          <a:prstGeom prst="rect">
            <a:avLst/>
          </a:prstGeom>
          <a:noFill/>
        </p:spPr>
        <p:txBody>
          <a:bodyPr wrap="square">
            <a:spAutoFit/>
          </a:bodyPr>
          <a:lstStyle/>
          <a:p>
            <a:pPr algn="ctr"/>
            <a:r>
              <a:rPr sz="700" b="0">
                <a:solidFill>
                  <a:srgbClr val="22CC66"/>
                </a:solidFill>
                <a:latin typeface="メイリオ"/>
              </a:rPr>
              <a:t>EP2
突破</a:t>
            </a:r>
          </a:p>
        </p:txBody>
      </p:sp>
      <p:sp>
        <p:nvSpPr>
          <p:cNvPr id="16" name="Rectangle 15"/>
          <p:cNvSpPr/>
          <p:nvPr/>
        </p:nvSpPr>
        <p:spPr>
          <a:xfrm>
            <a:off x="1936240" y="1038368"/>
            <a:ext cx="800104" cy="320000"/>
          </a:xfrm>
          <a:prstGeom prst="rect">
            <a:avLst/>
          </a:prstGeom>
          <a:solidFill>
            <a:srgbClr val="080824"/>
          </a:solidFill>
          <a:ln w="19050">
            <a:solidFill>
              <a:srgbClr val="FF33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936240" y="1038368"/>
            <a:ext cx="15000" cy="320000"/>
          </a:xfrm>
          <a:prstGeom prst="rect">
            <a:avLst/>
          </a:prstGeom>
          <a:solidFill>
            <a:srgbClr val="6622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966240" y="1068368"/>
            <a:ext cx="760104" cy="270000"/>
          </a:xfrm>
          <a:prstGeom prst="rect">
            <a:avLst/>
          </a:prstGeom>
          <a:noFill/>
        </p:spPr>
        <p:txBody>
          <a:bodyPr wrap="square">
            <a:spAutoFit/>
          </a:bodyPr>
          <a:lstStyle/>
          <a:p>
            <a:pPr algn="ctr"/>
            <a:r>
              <a:rPr sz="700" b="1">
                <a:solidFill>
                  <a:srgbClr val="FF3333"/>
                </a:solidFill>
                <a:latin typeface="メイリオ"/>
              </a:rPr>
              <a:t>EP3
失敗
→持越</a:t>
            </a:r>
          </a:p>
        </p:txBody>
      </p:sp>
      <p:sp>
        <p:nvSpPr>
          <p:cNvPr id="19" name="Rectangle 18"/>
          <p:cNvSpPr/>
          <p:nvPr/>
        </p:nvSpPr>
        <p:spPr>
          <a:xfrm>
            <a:off x="2776344" y="1038368"/>
            <a:ext cx="800104" cy="320000"/>
          </a:xfrm>
          <a:prstGeom prst="rect">
            <a:avLst/>
          </a:prstGeom>
          <a:solidFill>
            <a:srgbClr val="080824"/>
          </a:solidFill>
          <a:ln w="19050">
            <a:solidFill>
              <a:srgbClr val="22CC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2776344" y="1038368"/>
            <a:ext cx="15000" cy="320000"/>
          </a:xfrm>
          <a:prstGeom prst="rect">
            <a:avLst/>
          </a:prstGeom>
          <a:solidFill>
            <a:srgbClr val="22CC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806344" y="1068368"/>
            <a:ext cx="760104" cy="270000"/>
          </a:xfrm>
          <a:prstGeom prst="rect">
            <a:avLst/>
          </a:prstGeom>
          <a:noFill/>
        </p:spPr>
        <p:txBody>
          <a:bodyPr wrap="square">
            <a:spAutoFit/>
          </a:bodyPr>
          <a:lstStyle/>
          <a:p>
            <a:pPr algn="ctr"/>
            <a:r>
              <a:rPr sz="700" b="0">
                <a:solidFill>
                  <a:srgbClr val="22CC66"/>
                </a:solidFill>
                <a:latin typeface="メイリオ"/>
              </a:rPr>
              <a:t>EP4
突破</a:t>
            </a:r>
          </a:p>
        </p:txBody>
      </p:sp>
      <p:sp>
        <p:nvSpPr>
          <p:cNvPr id="22" name="Rectangle 21"/>
          <p:cNvSpPr/>
          <p:nvPr/>
        </p:nvSpPr>
        <p:spPr>
          <a:xfrm>
            <a:off x="3616448" y="1038368"/>
            <a:ext cx="800104" cy="320000"/>
          </a:xfrm>
          <a:prstGeom prst="rect">
            <a:avLst/>
          </a:prstGeom>
          <a:solidFill>
            <a:srgbClr val="080824"/>
          </a:solidFill>
          <a:ln w="19050">
            <a:solidFill>
              <a:srgbClr val="22CC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3616448" y="1038368"/>
            <a:ext cx="15000" cy="320000"/>
          </a:xfrm>
          <a:prstGeom prst="rect">
            <a:avLst/>
          </a:prstGeom>
          <a:solidFill>
            <a:srgbClr val="22CC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646448" y="1068368"/>
            <a:ext cx="760104" cy="270000"/>
          </a:xfrm>
          <a:prstGeom prst="rect">
            <a:avLst/>
          </a:prstGeom>
          <a:noFill/>
        </p:spPr>
        <p:txBody>
          <a:bodyPr wrap="square">
            <a:spAutoFit/>
          </a:bodyPr>
          <a:lstStyle/>
          <a:p>
            <a:pPr algn="ctr"/>
            <a:r>
              <a:rPr sz="700" b="0">
                <a:solidFill>
                  <a:srgbClr val="22CC66"/>
                </a:solidFill>
                <a:latin typeface="メイリオ"/>
              </a:rPr>
              <a:t>EP5
突破
成功!</a:t>
            </a:r>
          </a:p>
        </p:txBody>
      </p:sp>
      <p:sp>
        <p:nvSpPr>
          <p:cNvPr id="25" name="TextBox 24"/>
          <p:cNvSpPr txBox="1"/>
          <p:nvPr/>
        </p:nvSpPr>
        <p:spPr>
          <a:xfrm>
            <a:off x="256032" y="1398368"/>
            <a:ext cx="4160520" cy="170000"/>
          </a:xfrm>
          <a:prstGeom prst="rect">
            <a:avLst/>
          </a:prstGeom>
          <a:noFill/>
        </p:spPr>
        <p:txBody>
          <a:bodyPr wrap="square">
            <a:spAutoFit/>
          </a:bodyPr>
          <a:lstStyle/>
          <a:p>
            <a:pPr algn="l"/>
            <a:r>
              <a:rPr sz="700" b="1">
                <a:solidFill>
                  <a:srgbClr val="9944FF"/>
                </a:solidFill>
                <a:latin typeface="メイリオ"/>
              </a:rPr>
              <a:t>▲ EP3失敗→次回CZに持越し（キャリーオーバー）　各EP突破率≒75%　EP1開始時の全突破期待度≒25%</a:t>
            </a:r>
          </a:p>
        </p:txBody>
      </p:sp>
      <p:sp>
        <p:nvSpPr>
          <p:cNvPr id="26" name="Rectangle 25"/>
          <p:cNvSpPr/>
          <p:nvPr/>
        </p:nvSpPr>
        <p:spPr>
          <a:xfrm>
            <a:off x="256032" y="1638368"/>
            <a:ext cx="4160520" cy="1750000"/>
          </a:xfrm>
          <a:prstGeom prst="rect">
            <a:avLst/>
          </a:prstGeom>
          <a:solidFill>
            <a:srgbClr val="080824"/>
          </a:solidFill>
          <a:ln w="19050">
            <a:solidFill>
              <a:srgbClr val="6622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256032" y="1638368"/>
            <a:ext cx="45000" cy="1750000"/>
          </a:xfrm>
          <a:prstGeom prst="rect">
            <a:avLst/>
          </a:prstGeom>
          <a:solidFill>
            <a:srgbClr val="6622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31032" y="1688368"/>
            <a:ext cx="4060520" cy="260000"/>
          </a:xfrm>
          <a:prstGeom prst="rect">
            <a:avLst/>
          </a:prstGeom>
          <a:noFill/>
        </p:spPr>
        <p:txBody>
          <a:bodyPr wrap="square">
            <a:spAutoFit/>
          </a:bodyPr>
          <a:lstStyle/>
          <a:p>
            <a:pPr algn="l"/>
            <a:r>
              <a:rPr sz="1000" b="1">
                <a:solidFill>
                  <a:srgbClr val="6622AA"/>
                </a:solidFill>
                <a:latin typeface="游明朝"/>
              </a:rPr>
              <a:t>キャリーオーバー設計</a:t>
            </a:r>
          </a:p>
        </p:txBody>
      </p:sp>
      <p:sp>
        <p:nvSpPr>
          <p:cNvPr id="29" name="TextBox 28"/>
          <p:cNvSpPr txBox="1"/>
          <p:nvPr/>
        </p:nvSpPr>
        <p:spPr>
          <a:xfrm>
            <a:off x="331032" y="1948368"/>
            <a:ext cx="4060520" cy="1380000"/>
          </a:xfrm>
          <a:prstGeom prst="rect">
            <a:avLst/>
          </a:prstGeom>
          <a:noFill/>
        </p:spPr>
        <p:txBody>
          <a:bodyPr wrap="square">
            <a:spAutoFit/>
          </a:bodyPr>
          <a:lstStyle/>
          <a:p>
            <a:pPr algn="l"/>
            <a:r>
              <a:rPr sz="800" b="0">
                <a:solidFill>
                  <a:srgbClr val="E8E8F4"/>
                </a:solidFill>
                <a:latin typeface="メイリオ"/>
              </a:rPr>
              <a:t>・各EP突破率≒75%　一撃全突破（EP1から）の期待度≒25%
・EP2開始:約33% / EP3開始:約44% / EP4開始:約57% / EP5:約75%
・失敗エピソードは消えず「次回CZ」にそのまま持越される
・「今回EP3まで突破→次回はEP4・5の2個のみ」
・失敗が「無」ではなく「前進」になる唯一無二の設計</a:t>
            </a:r>
          </a:p>
        </p:txBody>
      </p:sp>
      <p:sp>
        <p:nvSpPr>
          <p:cNvPr id="30" name="Rectangle 29"/>
          <p:cNvSpPr/>
          <p:nvPr/>
        </p:nvSpPr>
        <p:spPr>
          <a:xfrm>
            <a:off x="4617720" y="658368"/>
            <a:ext cx="4251960" cy="680000"/>
          </a:xfrm>
          <a:prstGeom prst="rect">
            <a:avLst/>
          </a:prstGeom>
          <a:solidFill>
            <a:srgbClr val="080824"/>
          </a:solidFill>
          <a:ln w="19050">
            <a:solidFill>
              <a:srgbClr val="22AA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4617720" y="658368"/>
            <a:ext cx="45000" cy="680000"/>
          </a:xfrm>
          <a:prstGeom prst="rect">
            <a:avLst/>
          </a:prstGeom>
          <a:solidFill>
            <a:srgbClr val="22AA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692720" y="708368"/>
            <a:ext cx="4151960" cy="250000"/>
          </a:xfrm>
          <a:prstGeom prst="rect">
            <a:avLst/>
          </a:prstGeom>
          <a:noFill/>
        </p:spPr>
        <p:txBody>
          <a:bodyPr wrap="square">
            <a:spAutoFit/>
          </a:bodyPr>
          <a:lstStyle/>
          <a:p>
            <a:pPr algn="l"/>
            <a:r>
              <a:rPr sz="1000" b="1">
                <a:solidFill>
                  <a:srgbClr val="22AACC"/>
                </a:solidFill>
                <a:latin typeface="游明朝"/>
              </a:rPr>
              <a:t>ARROW告知デバイス</a:t>
            </a:r>
          </a:p>
        </p:txBody>
      </p:sp>
      <p:sp>
        <p:nvSpPr>
          <p:cNvPr id="33" name="TextBox 32"/>
          <p:cNvSpPr txBox="1"/>
          <p:nvPr/>
        </p:nvSpPr>
        <p:spPr>
          <a:xfrm>
            <a:off x="4692720" y="963368"/>
            <a:ext cx="4151960" cy="340000"/>
          </a:xfrm>
          <a:prstGeom prst="rect">
            <a:avLst/>
          </a:prstGeom>
          <a:noFill/>
        </p:spPr>
        <p:txBody>
          <a:bodyPr wrap="square">
            <a:spAutoFit/>
          </a:bodyPr>
          <a:lstStyle/>
          <a:p>
            <a:pPr algn="l"/>
            <a:r>
              <a:rPr sz="800" b="0">
                <a:solidFill>
                  <a:srgbClr val="E8E8F4"/>
                </a:solidFill>
                <a:latin typeface="メイリオ"/>
              </a:rPr>
              <a:t>筐体上部搭載の専用デバイス。CZ最終G（JUDGEMENT）でランプ色が変化し
当選契機を告知。白=一撃成功・赤点滅=強チェリーが最高格。</a:t>
            </a:r>
          </a:p>
        </p:txBody>
      </p:sp>
      <p:sp>
        <p:nvSpPr>
          <p:cNvPr id="34" name="TextBox 33"/>
          <p:cNvSpPr txBox="1"/>
          <p:nvPr/>
        </p:nvSpPr>
        <p:spPr>
          <a:xfrm>
            <a:off x="4617720" y="1338368"/>
            <a:ext cx="4251960" cy="200000"/>
          </a:xfrm>
          <a:prstGeom prst="rect">
            <a:avLst/>
          </a:prstGeom>
          <a:noFill/>
        </p:spPr>
        <p:txBody>
          <a:bodyPr wrap="square">
            <a:spAutoFit/>
          </a:bodyPr>
          <a:lstStyle/>
          <a:p>
            <a:pPr algn="l"/>
            <a:r>
              <a:rPr sz="750" b="1">
                <a:solidFill>
                  <a:srgbClr val="22AACC"/>
                </a:solidFill>
                <a:latin typeface="メイリオ"/>
              </a:rPr>
              <a:t>ARROWランプ色 = 当選契機告知（色が強いほど高設定期待度UP）</a:t>
            </a:r>
          </a:p>
        </p:txBody>
      </p:sp>
      <p:sp>
        <p:nvSpPr>
          <p:cNvPr id="35" name="Rectangle 34"/>
          <p:cNvSpPr/>
          <p:nvPr/>
        </p:nvSpPr>
        <p:spPr>
          <a:xfrm>
            <a:off x="4617720" y="1398368"/>
            <a:ext cx="587422" cy="800000"/>
          </a:xfrm>
          <a:prstGeom prst="rect">
            <a:avLst/>
          </a:prstGeom>
          <a:solidFill>
            <a:srgbClr val="080824"/>
          </a:solidFill>
          <a:ln w="190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4617720" y="1398368"/>
            <a:ext cx="587422" cy="1800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617720" y="1598368"/>
            <a:ext cx="587422" cy="230000"/>
          </a:xfrm>
          <a:prstGeom prst="rect">
            <a:avLst/>
          </a:prstGeom>
          <a:noFill/>
        </p:spPr>
        <p:txBody>
          <a:bodyPr wrap="square">
            <a:spAutoFit/>
          </a:bodyPr>
          <a:lstStyle/>
          <a:p>
            <a:pPr algn="ctr"/>
            <a:r>
              <a:rPr sz="750" b="1">
                <a:solidFill>
                  <a:srgbClr val="E0E0E0"/>
                </a:solidFill>
                <a:latin typeface="メイリオ"/>
              </a:rPr>
              <a:t>白</a:t>
            </a:r>
          </a:p>
        </p:txBody>
      </p:sp>
      <p:sp>
        <p:nvSpPr>
          <p:cNvPr id="38" name="TextBox 37"/>
          <p:cNvSpPr txBox="1"/>
          <p:nvPr/>
        </p:nvSpPr>
        <p:spPr>
          <a:xfrm>
            <a:off x="4617720" y="1828368"/>
            <a:ext cx="587422" cy="320000"/>
          </a:xfrm>
          <a:prstGeom prst="rect">
            <a:avLst/>
          </a:prstGeom>
          <a:noFill/>
        </p:spPr>
        <p:txBody>
          <a:bodyPr wrap="square">
            <a:spAutoFit/>
          </a:bodyPr>
          <a:lstStyle/>
          <a:p>
            <a:pPr algn="ctr"/>
            <a:r>
              <a:rPr sz="650" b="0">
                <a:solidFill>
                  <a:srgbClr val="8888AA"/>
                </a:solidFill>
                <a:latin typeface="メイリオ"/>
              </a:rPr>
              <a:t>一撃成功
白7BB期待</a:t>
            </a:r>
          </a:p>
        </p:txBody>
      </p:sp>
      <p:sp>
        <p:nvSpPr>
          <p:cNvPr id="39" name="Rectangle 38"/>
          <p:cNvSpPr/>
          <p:nvPr/>
        </p:nvSpPr>
        <p:spPr>
          <a:xfrm>
            <a:off x="5225142" y="1398368"/>
            <a:ext cx="587422" cy="800000"/>
          </a:xfrm>
          <a:prstGeom prst="rect">
            <a:avLst/>
          </a:prstGeom>
          <a:solidFill>
            <a:srgbClr val="080824"/>
          </a:solidFill>
          <a:ln w="19050">
            <a:solidFill>
              <a:srgbClr val="2266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5225142" y="1398368"/>
            <a:ext cx="587422" cy="180000"/>
          </a:xfrm>
          <a:prstGeom prst="rect">
            <a:avLst/>
          </a:prstGeom>
          <a:solidFill>
            <a:srgbClr val="226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5225142" y="1598368"/>
            <a:ext cx="587422" cy="230000"/>
          </a:xfrm>
          <a:prstGeom prst="rect">
            <a:avLst/>
          </a:prstGeom>
          <a:noFill/>
        </p:spPr>
        <p:txBody>
          <a:bodyPr wrap="square">
            <a:spAutoFit/>
          </a:bodyPr>
          <a:lstStyle/>
          <a:p>
            <a:pPr algn="ctr"/>
            <a:r>
              <a:rPr sz="750" b="1">
                <a:solidFill>
                  <a:srgbClr val="2266CC"/>
                </a:solidFill>
                <a:latin typeface="メイリオ"/>
              </a:rPr>
              <a:t>青</a:t>
            </a:r>
          </a:p>
        </p:txBody>
      </p:sp>
      <p:sp>
        <p:nvSpPr>
          <p:cNvPr id="42" name="TextBox 41"/>
          <p:cNvSpPr txBox="1"/>
          <p:nvPr/>
        </p:nvSpPr>
        <p:spPr>
          <a:xfrm>
            <a:off x="5225142" y="1828368"/>
            <a:ext cx="587422" cy="320000"/>
          </a:xfrm>
          <a:prstGeom prst="rect">
            <a:avLst/>
          </a:prstGeom>
          <a:noFill/>
        </p:spPr>
        <p:txBody>
          <a:bodyPr wrap="square">
            <a:spAutoFit/>
          </a:bodyPr>
          <a:lstStyle/>
          <a:p>
            <a:pPr algn="ctr"/>
            <a:r>
              <a:rPr sz="650" b="0">
                <a:solidFill>
                  <a:srgbClr val="8888AA"/>
                </a:solidFill>
                <a:latin typeface="メイリオ"/>
              </a:rPr>
              <a:t>リプレイ
当選</a:t>
            </a:r>
          </a:p>
        </p:txBody>
      </p:sp>
      <p:sp>
        <p:nvSpPr>
          <p:cNvPr id="43" name="Rectangle 42"/>
          <p:cNvSpPr/>
          <p:nvPr/>
        </p:nvSpPr>
        <p:spPr>
          <a:xfrm>
            <a:off x="5832565" y="1398368"/>
            <a:ext cx="587422" cy="800000"/>
          </a:xfrm>
          <a:prstGeom prst="rect">
            <a:avLst/>
          </a:prstGeom>
          <a:solidFill>
            <a:srgbClr val="080824"/>
          </a:solidFill>
          <a:ln w="19050">
            <a:solidFill>
              <a:srgbClr val="DDCC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5832565" y="1398368"/>
            <a:ext cx="587422" cy="180000"/>
          </a:xfrm>
          <a:prstGeom prst="rect">
            <a:avLst/>
          </a:prstGeom>
          <a:solidFill>
            <a:srgbClr val="DDCC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5832565" y="1598368"/>
            <a:ext cx="587422" cy="230000"/>
          </a:xfrm>
          <a:prstGeom prst="rect">
            <a:avLst/>
          </a:prstGeom>
          <a:noFill/>
        </p:spPr>
        <p:txBody>
          <a:bodyPr wrap="square">
            <a:spAutoFit/>
          </a:bodyPr>
          <a:lstStyle/>
          <a:p>
            <a:pPr algn="ctr"/>
            <a:r>
              <a:rPr sz="750" b="1">
                <a:solidFill>
                  <a:srgbClr val="DDCC22"/>
                </a:solidFill>
                <a:latin typeface="メイリオ"/>
              </a:rPr>
              <a:t>黄</a:t>
            </a:r>
          </a:p>
        </p:txBody>
      </p:sp>
      <p:sp>
        <p:nvSpPr>
          <p:cNvPr id="46" name="TextBox 45"/>
          <p:cNvSpPr txBox="1"/>
          <p:nvPr/>
        </p:nvSpPr>
        <p:spPr>
          <a:xfrm>
            <a:off x="5832565" y="1828368"/>
            <a:ext cx="587422" cy="320000"/>
          </a:xfrm>
          <a:prstGeom prst="rect">
            <a:avLst/>
          </a:prstGeom>
          <a:noFill/>
        </p:spPr>
        <p:txBody>
          <a:bodyPr wrap="square">
            <a:spAutoFit/>
          </a:bodyPr>
          <a:lstStyle/>
          <a:p>
            <a:pPr algn="ctr"/>
            <a:r>
              <a:rPr sz="650" b="0">
                <a:solidFill>
                  <a:srgbClr val="8888AA"/>
                </a:solidFill>
                <a:latin typeface="メイリオ"/>
              </a:rPr>
              <a:t>ベル
当選</a:t>
            </a:r>
          </a:p>
        </p:txBody>
      </p:sp>
      <p:sp>
        <p:nvSpPr>
          <p:cNvPr id="47" name="Rectangle 46"/>
          <p:cNvSpPr/>
          <p:nvPr/>
        </p:nvSpPr>
        <p:spPr>
          <a:xfrm>
            <a:off x="6439988" y="1398368"/>
            <a:ext cx="587422" cy="800000"/>
          </a:xfrm>
          <a:prstGeom prst="rect">
            <a:avLst/>
          </a:prstGeom>
          <a:solidFill>
            <a:srgbClr val="080824"/>
          </a:solidFill>
          <a:ln w="19050">
            <a:solidFill>
              <a:srgbClr val="22CC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6439988" y="1398368"/>
            <a:ext cx="587422" cy="180000"/>
          </a:xfrm>
          <a:prstGeom prst="rect">
            <a:avLst/>
          </a:prstGeom>
          <a:solidFill>
            <a:srgbClr val="22CC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6439988" y="1598368"/>
            <a:ext cx="587422" cy="230000"/>
          </a:xfrm>
          <a:prstGeom prst="rect">
            <a:avLst/>
          </a:prstGeom>
          <a:noFill/>
        </p:spPr>
        <p:txBody>
          <a:bodyPr wrap="square">
            <a:spAutoFit/>
          </a:bodyPr>
          <a:lstStyle/>
          <a:p>
            <a:pPr algn="ctr"/>
            <a:r>
              <a:rPr sz="750" b="1">
                <a:solidFill>
                  <a:srgbClr val="22CC66"/>
                </a:solidFill>
                <a:latin typeface="メイリオ"/>
              </a:rPr>
              <a:t>緑</a:t>
            </a:r>
          </a:p>
        </p:txBody>
      </p:sp>
      <p:sp>
        <p:nvSpPr>
          <p:cNvPr id="50" name="TextBox 49"/>
          <p:cNvSpPr txBox="1"/>
          <p:nvPr/>
        </p:nvSpPr>
        <p:spPr>
          <a:xfrm>
            <a:off x="6439988" y="1828368"/>
            <a:ext cx="587422" cy="320000"/>
          </a:xfrm>
          <a:prstGeom prst="rect">
            <a:avLst/>
          </a:prstGeom>
          <a:noFill/>
        </p:spPr>
        <p:txBody>
          <a:bodyPr wrap="square">
            <a:spAutoFit/>
          </a:bodyPr>
          <a:lstStyle/>
          <a:p>
            <a:pPr algn="ctr"/>
            <a:r>
              <a:rPr sz="650" b="0">
                <a:solidFill>
                  <a:srgbClr val="8888AA"/>
                </a:solidFill>
                <a:latin typeface="メイリオ"/>
              </a:rPr>
              <a:t>スイカ
当選</a:t>
            </a:r>
          </a:p>
        </p:txBody>
      </p:sp>
      <p:sp>
        <p:nvSpPr>
          <p:cNvPr id="51" name="Rectangle 50"/>
          <p:cNvSpPr/>
          <p:nvPr/>
        </p:nvSpPr>
        <p:spPr>
          <a:xfrm>
            <a:off x="7047411" y="1398368"/>
            <a:ext cx="587422" cy="800000"/>
          </a:xfrm>
          <a:prstGeom prst="rect">
            <a:avLst/>
          </a:prstGeom>
          <a:solidFill>
            <a:srgbClr val="080824"/>
          </a:solidFill>
          <a:ln w="19050">
            <a:solidFill>
              <a:srgbClr val="CC111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7047411" y="1398368"/>
            <a:ext cx="587422" cy="180000"/>
          </a:xfrm>
          <a:prstGeom prst="rect">
            <a:avLst/>
          </a:prstGeom>
          <a:solidFill>
            <a:srgbClr val="CC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7047411" y="1598368"/>
            <a:ext cx="587422" cy="230000"/>
          </a:xfrm>
          <a:prstGeom prst="rect">
            <a:avLst/>
          </a:prstGeom>
          <a:noFill/>
        </p:spPr>
        <p:txBody>
          <a:bodyPr wrap="square">
            <a:spAutoFit/>
          </a:bodyPr>
          <a:lstStyle/>
          <a:p>
            <a:pPr algn="ctr"/>
            <a:r>
              <a:rPr sz="750" b="1">
                <a:solidFill>
                  <a:srgbClr val="CC1111"/>
                </a:solidFill>
                <a:latin typeface="メイリオ"/>
              </a:rPr>
              <a:t>赤</a:t>
            </a:r>
          </a:p>
        </p:txBody>
      </p:sp>
      <p:sp>
        <p:nvSpPr>
          <p:cNvPr id="54" name="TextBox 53"/>
          <p:cNvSpPr txBox="1"/>
          <p:nvPr/>
        </p:nvSpPr>
        <p:spPr>
          <a:xfrm>
            <a:off x="7047411" y="1828368"/>
            <a:ext cx="587422" cy="320000"/>
          </a:xfrm>
          <a:prstGeom prst="rect">
            <a:avLst/>
          </a:prstGeom>
          <a:noFill/>
        </p:spPr>
        <p:txBody>
          <a:bodyPr wrap="square">
            <a:spAutoFit/>
          </a:bodyPr>
          <a:lstStyle/>
          <a:p>
            <a:pPr algn="ctr"/>
            <a:r>
              <a:rPr sz="650" b="0">
                <a:solidFill>
                  <a:srgbClr val="8888AA"/>
                </a:solidFill>
                <a:latin typeface="メイリオ"/>
              </a:rPr>
              <a:t>弱チェリー
当選</a:t>
            </a:r>
          </a:p>
        </p:txBody>
      </p:sp>
      <p:sp>
        <p:nvSpPr>
          <p:cNvPr id="55" name="Rectangle 54"/>
          <p:cNvSpPr/>
          <p:nvPr/>
        </p:nvSpPr>
        <p:spPr>
          <a:xfrm>
            <a:off x="7654834" y="1398368"/>
            <a:ext cx="587422" cy="800000"/>
          </a:xfrm>
          <a:prstGeom prst="rect">
            <a:avLst/>
          </a:prstGeom>
          <a:solidFill>
            <a:srgbClr val="080824"/>
          </a:solidFill>
          <a:ln w="19050">
            <a:solidFill>
              <a:srgbClr val="9944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7654834" y="1398368"/>
            <a:ext cx="587422" cy="180000"/>
          </a:xfrm>
          <a:prstGeom prst="rect">
            <a:avLst/>
          </a:prstGeom>
          <a:solidFill>
            <a:srgbClr val="994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7654834" y="1598368"/>
            <a:ext cx="587422" cy="230000"/>
          </a:xfrm>
          <a:prstGeom prst="rect">
            <a:avLst/>
          </a:prstGeom>
          <a:noFill/>
        </p:spPr>
        <p:txBody>
          <a:bodyPr wrap="square">
            <a:spAutoFit/>
          </a:bodyPr>
          <a:lstStyle/>
          <a:p>
            <a:pPr algn="ctr"/>
            <a:r>
              <a:rPr sz="750" b="1">
                <a:solidFill>
                  <a:srgbClr val="9944FF"/>
                </a:solidFill>
                <a:latin typeface="メイリオ"/>
              </a:rPr>
              <a:t>紫点滅</a:t>
            </a:r>
          </a:p>
        </p:txBody>
      </p:sp>
      <p:sp>
        <p:nvSpPr>
          <p:cNvPr id="58" name="TextBox 57"/>
          <p:cNvSpPr txBox="1"/>
          <p:nvPr/>
        </p:nvSpPr>
        <p:spPr>
          <a:xfrm>
            <a:off x="7654834" y="1828368"/>
            <a:ext cx="587422" cy="320000"/>
          </a:xfrm>
          <a:prstGeom prst="rect">
            <a:avLst/>
          </a:prstGeom>
          <a:noFill/>
        </p:spPr>
        <p:txBody>
          <a:bodyPr wrap="square">
            <a:spAutoFit/>
          </a:bodyPr>
          <a:lstStyle/>
          <a:p>
            <a:pPr algn="ctr"/>
            <a:r>
              <a:rPr sz="650" b="0">
                <a:solidFill>
                  <a:srgbClr val="8888AA"/>
                </a:solidFill>
                <a:latin typeface="メイリオ"/>
              </a:rPr>
              <a:t>チャンス目
当選</a:t>
            </a:r>
          </a:p>
        </p:txBody>
      </p:sp>
      <p:sp>
        <p:nvSpPr>
          <p:cNvPr id="59" name="Rectangle 58"/>
          <p:cNvSpPr/>
          <p:nvPr/>
        </p:nvSpPr>
        <p:spPr>
          <a:xfrm>
            <a:off x="8262257" y="1398368"/>
            <a:ext cx="587422" cy="800000"/>
          </a:xfrm>
          <a:prstGeom prst="rect">
            <a:avLst/>
          </a:prstGeom>
          <a:solidFill>
            <a:srgbClr val="080824"/>
          </a:solidFill>
          <a:ln w="19050">
            <a:solidFill>
              <a:srgbClr val="FF33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ectangle 59"/>
          <p:cNvSpPr/>
          <p:nvPr/>
        </p:nvSpPr>
        <p:spPr>
          <a:xfrm>
            <a:off x="8262257" y="1398368"/>
            <a:ext cx="587422" cy="180000"/>
          </a:xfrm>
          <a:prstGeom prst="rect">
            <a:avLst/>
          </a:prstGeom>
          <a:solidFill>
            <a:srgbClr val="FF3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8262257" y="1598368"/>
            <a:ext cx="587422" cy="230000"/>
          </a:xfrm>
          <a:prstGeom prst="rect">
            <a:avLst/>
          </a:prstGeom>
          <a:noFill/>
        </p:spPr>
        <p:txBody>
          <a:bodyPr wrap="square">
            <a:spAutoFit/>
          </a:bodyPr>
          <a:lstStyle/>
          <a:p>
            <a:pPr algn="ctr"/>
            <a:r>
              <a:rPr sz="750" b="1">
                <a:solidFill>
                  <a:srgbClr val="FF3333"/>
                </a:solidFill>
                <a:latin typeface="メイリオ"/>
              </a:rPr>
              <a:t>赤点滅</a:t>
            </a:r>
          </a:p>
        </p:txBody>
      </p:sp>
      <p:sp>
        <p:nvSpPr>
          <p:cNvPr id="62" name="TextBox 61"/>
          <p:cNvSpPr txBox="1"/>
          <p:nvPr/>
        </p:nvSpPr>
        <p:spPr>
          <a:xfrm>
            <a:off x="8262257" y="1828368"/>
            <a:ext cx="587422" cy="320000"/>
          </a:xfrm>
          <a:prstGeom prst="rect">
            <a:avLst/>
          </a:prstGeom>
          <a:noFill/>
        </p:spPr>
        <p:txBody>
          <a:bodyPr wrap="square">
            <a:spAutoFit/>
          </a:bodyPr>
          <a:lstStyle/>
          <a:p>
            <a:pPr algn="ctr"/>
            <a:r>
              <a:rPr sz="650" b="0">
                <a:solidFill>
                  <a:srgbClr val="8888AA"/>
                </a:solidFill>
                <a:latin typeface="メイリオ"/>
              </a:rPr>
              <a:t>強チェリー
当選・激アツ</a:t>
            </a:r>
          </a:p>
        </p:txBody>
      </p:sp>
      <p:sp>
        <p:nvSpPr>
          <p:cNvPr id="63" name="Rectangle 62"/>
          <p:cNvSpPr/>
          <p:nvPr/>
        </p:nvSpPr>
        <p:spPr>
          <a:xfrm>
            <a:off x="4617720" y="2258368"/>
            <a:ext cx="4251960" cy="1300000"/>
          </a:xfrm>
          <a:prstGeom prst="rect">
            <a:avLst/>
          </a:prstGeom>
          <a:solidFill>
            <a:srgbClr val="080824"/>
          </a:solidFill>
          <a:ln w="19050">
            <a:solidFill>
              <a:srgbClr val="44D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ectangle 63"/>
          <p:cNvSpPr/>
          <p:nvPr/>
        </p:nvSpPr>
        <p:spPr>
          <a:xfrm>
            <a:off x="4617720" y="2258368"/>
            <a:ext cx="45000" cy="1300000"/>
          </a:xfrm>
          <a:prstGeom prst="rect">
            <a:avLst/>
          </a:prstGeom>
          <a:solidFill>
            <a:srgbClr val="44D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4692720" y="2308368"/>
            <a:ext cx="4151960" cy="260000"/>
          </a:xfrm>
          <a:prstGeom prst="rect">
            <a:avLst/>
          </a:prstGeom>
          <a:noFill/>
        </p:spPr>
        <p:txBody>
          <a:bodyPr wrap="square">
            <a:spAutoFit/>
          </a:bodyPr>
          <a:lstStyle/>
          <a:p>
            <a:pPr algn="l"/>
            <a:r>
              <a:rPr sz="1000" b="1">
                <a:solidFill>
                  <a:srgbClr val="44DDFF"/>
                </a:solidFill>
                <a:latin typeface="游明朝"/>
              </a:rPr>
              <a:t>ARROWが生む「告知の瞬間」</a:t>
            </a:r>
          </a:p>
        </p:txBody>
      </p:sp>
      <p:sp>
        <p:nvSpPr>
          <p:cNvPr id="66" name="TextBox 65"/>
          <p:cNvSpPr txBox="1"/>
          <p:nvPr/>
        </p:nvSpPr>
        <p:spPr>
          <a:xfrm>
            <a:off x="4692720" y="2568368"/>
            <a:ext cx="4151960" cy="930000"/>
          </a:xfrm>
          <a:prstGeom prst="rect">
            <a:avLst/>
          </a:prstGeom>
          <a:noFill/>
        </p:spPr>
        <p:txBody>
          <a:bodyPr wrap="square">
            <a:spAutoFit/>
          </a:bodyPr>
          <a:lstStyle/>
          <a:p>
            <a:pPr algn="l"/>
            <a:r>
              <a:rPr sz="800" b="0">
                <a:solidFill>
                  <a:srgbClr val="E8E8F4"/>
                </a:solidFill>
                <a:latin typeface="メイリオ"/>
              </a:rPr>
              <a:t>・JUDGEMENTゲームに全員の視線がARROWに集まる「1点集中の緊張感」
・「白が光れば一撃成功」という明快な判定基準
・赤点滅=強チェリー当選確定という直感的な色設計
・画面外デバイスが光る「非日常感」が体験報告として続出</a:t>
            </a:r>
          </a:p>
        </p:txBody>
      </p:sp>
      <p:sp>
        <p:nvSpPr>
          <p:cNvPr id="67" name="Rectangle 66"/>
          <p:cNvSpPr/>
          <p:nvPr/>
        </p:nvSpPr>
        <p:spPr>
          <a:xfrm>
            <a:off x="0" y="4663440"/>
            <a:ext cx="9144000" cy="380000"/>
          </a:xfrm>
          <a:prstGeom prst="rect">
            <a:avLst/>
          </a:prstGeom>
          <a:solidFill>
            <a:srgbClr val="0604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Rectangle 67"/>
          <p:cNvSpPr/>
          <p:nvPr/>
        </p:nvSpPr>
        <p:spPr>
          <a:xfrm>
            <a:off x="0" y="4663440"/>
            <a:ext cx="20000" cy="380000"/>
          </a:xfrm>
          <a:prstGeom prst="rect">
            <a:avLst/>
          </a:prstGeom>
          <a:solidFill>
            <a:srgbClr val="6622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201168" y="4703440"/>
            <a:ext cx="5486400" cy="160000"/>
          </a:xfrm>
          <a:prstGeom prst="rect">
            <a:avLst/>
          </a:prstGeom>
          <a:noFill/>
        </p:spPr>
        <p:txBody>
          <a:bodyPr wrap="square">
            <a:spAutoFit/>
          </a:bodyPr>
          <a:lstStyle/>
          <a:p>
            <a:pPr algn="l"/>
            <a:r>
              <a:rPr sz="750" b="1">
                <a:solidFill>
                  <a:srgbClr val="9944FF"/>
                </a:solidFill>
                <a:latin typeface="メイリオ"/>
              </a:rPr>
              <a:t>設計コメント：CZはエピソード突破型で失敗が積み上がり、ARROWのJUDGEMENT告知が最終Gに緊張の頂点を作る二重構造</a:t>
            </a:r>
          </a:p>
        </p:txBody>
      </p:sp>
      <p:sp>
        <p:nvSpPr>
          <p:cNvPr id="70" name="TextBox 69"/>
          <p:cNvSpPr txBox="1"/>
          <p:nvPr/>
        </p:nvSpPr>
        <p:spPr>
          <a:xfrm>
            <a:off x="201168" y="4863440"/>
            <a:ext cx="8412480" cy="160000"/>
          </a:xfrm>
          <a:prstGeom prst="rect">
            <a:avLst/>
          </a:prstGeom>
          <a:noFill/>
        </p:spPr>
        <p:txBody>
          <a:bodyPr wrap="square">
            <a:spAutoFit/>
          </a:bodyPr>
          <a:lstStyle/>
          <a:p>
            <a:pPr algn="l"/>
            <a:r>
              <a:rPr sz="700" b="0">
                <a:solidFill>
                  <a:srgbClr val="8888AA"/>
                </a:solidFill>
                <a:latin typeface="メイリオ"/>
              </a:rPr>
              <a:t>補足：ARROWランプ色は当選契機告知。白=一撃成功（白7BB期待）、赤点滅=強チェリー確定が最高格。</a:t>
            </a:r>
          </a:p>
        </p:txBody>
      </p:sp>
      <p:sp>
        <p:nvSpPr>
          <p:cNvPr id="71" name="TextBox 70"/>
          <p:cNvSpPr txBox="1"/>
          <p:nvPr/>
        </p:nvSpPr>
        <p:spPr>
          <a:xfrm>
            <a:off x="7498079" y="4919472"/>
            <a:ext cx="1554480" cy="180000"/>
          </a:xfrm>
          <a:prstGeom prst="rect">
            <a:avLst/>
          </a:prstGeom>
          <a:noFill/>
        </p:spPr>
        <p:txBody>
          <a:bodyPr wrap="square">
            <a:spAutoFit/>
          </a:bodyPr>
          <a:lstStyle/>
          <a:p>
            <a:pPr algn="r"/>
            <a:r>
              <a:rPr sz="700" b="0">
                <a:solidFill>
                  <a:srgbClr val="8888AA"/>
                </a:solidFill>
                <a:latin typeface="メイリオ"/>
              </a:rPr>
              <a:t>※ネット解析情報より</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9144000" cy="5143500"/>
          </a:xfrm>
          <a:prstGeom prst="rect">
            <a:avLst/>
          </a:prstGeom>
        </p:spPr>
      </p:pic>
      <p:sp>
        <p:nvSpPr>
          <p:cNvPr id="3" name="Rectangle 2"/>
          <p:cNvSpPr/>
          <p:nvPr/>
        </p:nvSpPr>
        <p:spPr>
          <a:xfrm>
            <a:off x="0" y="0"/>
            <a:ext cx="9144000" cy="530352"/>
          </a:xfrm>
          <a:prstGeom prst="rect">
            <a:avLst/>
          </a:prstGeom>
          <a:solidFill>
            <a:srgbClr val="0808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45000" cy="530352"/>
          </a:xfrm>
          <a:prstGeom prst="rect">
            <a:avLst/>
          </a:prstGeom>
          <a:solidFill>
            <a:srgbClr val="6622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37160" y="28000"/>
            <a:ext cx="7772400" cy="410000"/>
          </a:xfrm>
          <a:prstGeom prst="rect">
            <a:avLst/>
          </a:prstGeom>
          <a:noFill/>
        </p:spPr>
        <p:txBody>
          <a:bodyPr wrap="square">
            <a:spAutoFit/>
          </a:bodyPr>
          <a:lstStyle/>
          <a:p>
            <a:pPr algn="l"/>
            <a:r>
              <a:rPr sz="1400" b="1">
                <a:solidFill>
                  <a:srgbClr val="22AACC"/>
                </a:solidFill>
                <a:latin typeface="游明朝"/>
              </a:rPr>
              <a:t>ボーナス後の遊び方 ── 何をすれば虚構連モードへ行くのか</a:t>
            </a:r>
          </a:p>
        </p:txBody>
      </p:sp>
      <p:sp>
        <p:nvSpPr>
          <p:cNvPr id="6" name="TextBox 5"/>
          <p:cNvSpPr txBox="1"/>
          <p:nvPr/>
        </p:nvSpPr>
        <p:spPr>
          <a:xfrm>
            <a:off x="8046720" y="45000"/>
            <a:ext cx="914400" cy="340000"/>
          </a:xfrm>
          <a:prstGeom prst="rect">
            <a:avLst/>
          </a:prstGeom>
          <a:noFill/>
        </p:spPr>
        <p:txBody>
          <a:bodyPr wrap="square">
            <a:spAutoFit/>
          </a:bodyPr>
          <a:lstStyle/>
          <a:p>
            <a:pPr algn="r"/>
            <a:r>
              <a:rPr sz="800" b="0">
                <a:solidFill>
                  <a:srgbClr val="8888AA"/>
                </a:solidFill>
                <a:latin typeface="メイリオ"/>
              </a:rPr>
              <a:t>5/9</a:t>
            </a:r>
          </a:p>
        </p:txBody>
      </p:sp>
      <p:sp>
        <p:nvSpPr>
          <p:cNvPr id="7" name="Rectangle 6"/>
          <p:cNvSpPr/>
          <p:nvPr/>
        </p:nvSpPr>
        <p:spPr>
          <a:xfrm>
            <a:off x="0" y="530352"/>
            <a:ext cx="9144000" cy="7000"/>
          </a:xfrm>
          <a:prstGeom prst="rect">
            <a:avLst/>
          </a:prstGeom>
          <a:solidFill>
            <a:srgbClr val="6622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56032" y="621792"/>
            <a:ext cx="8595360" cy="220000"/>
          </a:xfrm>
          <a:prstGeom prst="rect">
            <a:avLst/>
          </a:prstGeom>
          <a:noFill/>
        </p:spPr>
        <p:txBody>
          <a:bodyPr wrap="square">
            <a:spAutoFit/>
          </a:bodyPr>
          <a:lstStyle/>
          <a:p>
            <a:pPr algn="l"/>
            <a:r>
              <a:rPr sz="900" b="1">
                <a:solidFill>
                  <a:srgbClr val="22AACC"/>
                </a:solidFill>
                <a:latin typeface="メイリオ"/>
              </a:rPr>
              <a:t>▶ ボーナス種別と虚構連モード突入の仕組み</a:t>
            </a:r>
          </a:p>
        </p:txBody>
      </p:sp>
      <p:sp>
        <p:nvSpPr>
          <p:cNvPr id="9" name="Rectangle 8"/>
          <p:cNvSpPr/>
          <p:nvPr/>
        </p:nvSpPr>
        <p:spPr>
          <a:xfrm>
            <a:off x="475488" y="841248"/>
            <a:ext cx="1828800" cy="1350000"/>
          </a:xfrm>
          <a:prstGeom prst="rect">
            <a:avLst/>
          </a:prstGeom>
          <a:solidFill>
            <a:srgbClr val="080824"/>
          </a:solidFill>
          <a:ln w="22860">
            <a:solidFill>
              <a:srgbClr val="9944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75488" y="841248"/>
            <a:ext cx="1828800" cy="200000"/>
          </a:xfrm>
          <a:prstGeom prst="rect">
            <a:avLst/>
          </a:prstGeom>
          <a:solidFill>
            <a:srgbClr val="994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5488" y="871248"/>
            <a:ext cx="1778800" cy="170000"/>
          </a:xfrm>
          <a:prstGeom prst="rect">
            <a:avLst/>
          </a:prstGeom>
          <a:noFill/>
        </p:spPr>
        <p:txBody>
          <a:bodyPr wrap="square">
            <a:spAutoFit/>
          </a:bodyPr>
          <a:lstStyle/>
          <a:p>
            <a:pPr algn="ctr"/>
            <a:r>
              <a:rPr sz="850" b="1">
                <a:solidFill>
                  <a:srgbClr val="04041C"/>
                </a:solidFill>
                <a:latin typeface="メイリオ"/>
              </a:rPr>
              <a:t>スペシャル
ボーナス</a:t>
            </a:r>
          </a:p>
        </p:txBody>
      </p:sp>
      <p:sp>
        <p:nvSpPr>
          <p:cNvPr id="12" name="TextBox 11"/>
          <p:cNvSpPr txBox="1"/>
          <p:nvPr/>
        </p:nvSpPr>
        <p:spPr>
          <a:xfrm>
            <a:off x="505488" y="1081248"/>
            <a:ext cx="1778800" cy="1070000"/>
          </a:xfrm>
          <a:prstGeom prst="rect">
            <a:avLst/>
          </a:prstGeom>
          <a:noFill/>
        </p:spPr>
        <p:txBody>
          <a:bodyPr wrap="square">
            <a:spAutoFit/>
          </a:bodyPr>
          <a:lstStyle/>
          <a:p>
            <a:pPr algn="ctr"/>
            <a:r>
              <a:rPr sz="850" b="0">
                <a:solidFill>
                  <a:srgbClr val="E8E8F4"/>
                </a:solidFill>
                <a:latin typeface="メイリオ"/>
              </a:rPr>
              <a:t>虚構連モード
確定突入
最上位ボーナス</a:t>
            </a:r>
          </a:p>
        </p:txBody>
      </p:sp>
      <p:sp>
        <p:nvSpPr>
          <p:cNvPr id="13" name="Rectangle 12"/>
          <p:cNvSpPr/>
          <p:nvPr/>
        </p:nvSpPr>
        <p:spPr>
          <a:xfrm>
            <a:off x="2596896" y="841248"/>
            <a:ext cx="1828800" cy="1350000"/>
          </a:xfrm>
          <a:prstGeom prst="rect">
            <a:avLst/>
          </a:prstGeom>
          <a:solidFill>
            <a:srgbClr val="080824"/>
          </a:solidFill>
          <a:ln w="22860">
            <a:solidFill>
              <a:srgbClr val="22AA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596896" y="841248"/>
            <a:ext cx="1828800" cy="200000"/>
          </a:xfrm>
          <a:prstGeom prst="rect">
            <a:avLst/>
          </a:prstGeom>
          <a:solidFill>
            <a:srgbClr val="22AA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626896" y="871248"/>
            <a:ext cx="1778800" cy="170000"/>
          </a:xfrm>
          <a:prstGeom prst="rect">
            <a:avLst/>
          </a:prstGeom>
          <a:noFill/>
        </p:spPr>
        <p:txBody>
          <a:bodyPr wrap="square">
            <a:spAutoFit/>
          </a:bodyPr>
          <a:lstStyle/>
          <a:p>
            <a:pPr algn="ctr"/>
            <a:r>
              <a:rPr sz="850" b="1">
                <a:solidFill>
                  <a:srgbClr val="04041C"/>
                </a:solidFill>
                <a:latin typeface="メイリオ"/>
              </a:rPr>
              <a:t>レギュラー
ボーナス</a:t>
            </a:r>
          </a:p>
        </p:txBody>
      </p:sp>
      <p:sp>
        <p:nvSpPr>
          <p:cNvPr id="16" name="TextBox 15"/>
          <p:cNvSpPr txBox="1"/>
          <p:nvPr/>
        </p:nvSpPr>
        <p:spPr>
          <a:xfrm>
            <a:off x="2626896" y="1081248"/>
            <a:ext cx="1778800" cy="1070000"/>
          </a:xfrm>
          <a:prstGeom prst="rect">
            <a:avLst/>
          </a:prstGeom>
          <a:noFill/>
        </p:spPr>
        <p:txBody>
          <a:bodyPr wrap="square">
            <a:spAutoFit/>
          </a:bodyPr>
          <a:lstStyle/>
          <a:p>
            <a:pPr algn="ctr"/>
            <a:r>
              <a:rPr sz="850" b="0">
                <a:solidFill>
                  <a:srgbClr val="E8E8F4"/>
                </a:solidFill>
                <a:latin typeface="メイリオ"/>
              </a:rPr>
              <a:t>虚構連モード
突入抽選あり
基本ボーナス</a:t>
            </a:r>
          </a:p>
        </p:txBody>
      </p:sp>
      <p:sp>
        <p:nvSpPr>
          <p:cNvPr id="17" name="Rectangle 16"/>
          <p:cNvSpPr/>
          <p:nvPr/>
        </p:nvSpPr>
        <p:spPr>
          <a:xfrm>
            <a:off x="4718304" y="841248"/>
            <a:ext cx="1828800" cy="1350000"/>
          </a:xfrm>
          <a:prstGeom prst="rect">
            <a:avLst/>
          </a:prstGeom>
          <a:solidFill>
            <a:srgbClr val="080824"/>
          </a:solidFill>
          <a:ln w="22860">
            <a:solidFill>
              <a:srgbClr val="C8A8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718304" y="841248"/>
            <a:ext cx="1828800" cy="200000"/>
          </a:xfrm>
          <a:prstGeom prst="rect">
            <a:avLst/>
          </a:prstGeom>
          <a:solidFill>
            <a:srgbClr val="C8A8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748304" y="871248"/>
            <a:ext cx="1778800" cy="170000"/>
          </a:xfrm>
          <a:prstGeom prst="rect">
            <a:avLst/>
          </a:prstGeom>
          <a:noFill/>
        </p:spPr>
        <p:txBody>
          <a:bodyPr wrap="square">
            <a:spAutoFit/>
          </a:bodyPr>
          <a:lstStyle/>
          <a:p>
            <a:pPr algn="ctr"/>
            <a:r>
              <a:rPr sz="850" b="1">
                <a:solidFill>
                  <a:srgbClr val="04041C"/>
                </a:solidFill>
                <a:latin typeface="メイリオ"/>
              </a:rPr>
              <a:t>設定変更後
特典</a:t>
            </a:r>
          </a:p>
        </p:txBody>
      </p:sp>
      <p:sp>
        <p:nvSpPr>
          <p:cNvPr id="20" name="TextBox 19"/>
          <p:cNvSpPr txBox="1"/>
          <p:nvPr/>
        </p:nvSpPr>
        <p:spPr>
          <a:xfrm>
            <a:off x="4748304" y="1081248"/>
            <a:ext cx="1778800" cy="1070000"/>
          </a:xfrm>
          <a:prstGeom prst="rect">
            <a:avLst/>
          </a:prstGeom>
          <a:noFill/>
        </p:spPr>
        <p:txBody>
          <a:bodyPr wrap="square">
            <a:spAutoFit/>
          </a:bodyPr>
          <a:lstStyle/>
          <a:p>
            <a:pPr algn="ctr"/>
            <a:r>
              <a:rPr sz="850" b="0">
                <a:solidFill>
                  <a:srgbClr val="E8E8F4"/>
                </a:solidFill>
                <a:latin typeface="メイリオ"/>
              </a:rPr>
              <a:t>CZ初成功時
約50%で高確
スタート</a:t>
            </a:r>
          </a:p>
        </p:txBody>
      </p:sp>
      <p:sp>
        <p:nvSpPr>
          <p:cNvPr id="21" name="Rectangle 20"/>
          <p:cNvSpPr/>
          <p:nvPr/>
        </p:nvSpPr>
        <p:spPr>
          <a:xfrm>
            <a:off x="6839712" y="841248"/>
            <a:ext cx="1828800" cy="1350000"/>
          </a:xfrm>
          <a:prstGeom prst="rect">
            <a:avLst/>
          </a:prstGeom>
          <a:solidFill>
            <a:srgbClr val="080824"/>
          </a:solidFill>
          <a:ln w="22860">
            <a:solidFill>
              <a:srgbClr val="22CC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839712" y="841248"/>
            <a:ext cx="1828800" cy="200000"/>
          </a:xfrm>
          <a:prstGeom prst="rect">
            <a:avLst/>
          </a:prstGeom>
          <a:solidFill>
            <a:srgbClr val="22CC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869712" y="871248"/>
            <a:ext cx="1778800" cy="170000"/>
          </a:xfrm>
          <a:prstGeom prst="rect">
            <a:avLst/>
          </a:prstGeom>
          <a:noFill/>
        </p:spPr>
        <p:txBody>
          <a:bodyPr wrap="square">
            <a:spAutoFit/>
          </a:bodyPr>
          <a:lstStyle/>
          <a:p>
            <a:pPr algn="ctr"/>
            <a:r>
              <a:rPr sz="850" b="1">
                <a:solidFill>
                  <a:srgbClr val="04041C"/>
                </a:solidFill>
                <a:latin typeface="メイリオ"/>
              </a:rPr>
              <a:t>高設定時
直撃</a:t>
            </a:r>
          </a:p>
        </p:txBody>
      </p:sp>
      <p:sp>
        <p:nvSpPr>
          <p:cNvPr id="24" name="TextBox 23"/>
          <p:cNvSpPr txBox="1"/>
          <p:nvPr/>
        </p:nvSpPr>
        <p:spPr>
          <a:xfrm>
            <a:off x="6869712" y="1081248"/>
            <a:ext cx="1778800" cy="1070000"/>
          </a:xfrm>
          <a:prstGeom prst="rect">
            <a:avLst/>
          </a:prstGeom>
          <a:noFill/>
        </p:spPr>
        <p:txBody>
          <a:bodyPr wrap="square">
            <a:spAutoFit/>
          </a:bodyPr>
          <a:lstStyle/>
          <a:p>
            <a:pPr algn="ctr"/>
            <a:r>
              <a:rPr sz="850" b="0">
                <a:solidFill>
                  <a:srgbClr val="E8E8F4"/>
                </a:solidFill>
                <a:latin typeface="メイリオ"/>
              </a:rPr>
              <a:t>CZを経由せず
ボーナス当選
設定差大</a:t>
            </a:r>
          </a:p>
        </p:txBody>
      </p:sp>
      <p:sp>
        <p:nvSpPr>
          <p:cNvPr id="25" name="TextBox 24"/>
          <p:cNvSpPr txBox="1"/>
          <p:nvPr/>
        </p:nvSpPr>
        <p:spPr>
          <a:xfrm>
            <a:off x="256032" y="2377440"/>
            <a:ext cx="8595360" cy="220000"/>
          </a:xfrm>
          <a:prstGeom prst="rect">
            <a:avLst/>
          </a:prstGeom>
          <a:noFill/>
        </p:spPr>
        <p:txBody>
          <a:bodyPr wrap="square">
            <a:spAutoFit/>
          </a:bodyPr>
          <a:lstStyle/>
          <a:p>
            <a:pPr algn="l"/>
            <a:r>
              <a:rPr sz="900" b="1">
                <a:solidFill>
                  <a:srgbClr val="22CC66"/>
                </a:solidFill>
                <a:latin typeface="メイリオ"/>
              </a:rPr>
              <a:t>▶ 虚構連モード突入条件と流れ</a:t>
            </a:r>
          </a:p>
        </p:txBody>
      </p:sp>
      <p:sp>
        <p:nvSpPr>
          <p:cNvPr id="26" name="Rectangle 25"/>
          <p:cNvSpPr/>
          <p:nvPr/>
        </p:nvSpPr>
        <p:spPr>
          <a:xfrm>
            <a:off x="256032" y="2578608"/>
            <a:ext cx="4114800" cy="1800000"/>
          </a:xfrm>
          <a:prstGeom prst="rect">
            <a:avLst/>
          </a:prstGeom>
          <a:solidFill>
            <a:srgbClr val="080824"/>
          </a:solidFill>
          <a:ln w="19050">
            <a:solidFill>
              <a:srgbClr val="22CC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256032" y="2578608"/>
            <a:ext cx="45000" cy="1800000"/>
          </a:xfrm>
          <a:prstGeom prst="rect">
            <a:avLst/>
          </a:prstGeom>
          <a:solidFill>
            <a:srgbClr val="22CC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57200" y="2628608"/>
            <a:ext cx="4014800" cy="260000"/>
          </a:xfrm>
          <a:prstGeom prst="rect">
            <a:avLst/>
          </a:prstGeom>
          <a:noFill/>
        </p:spPr>
        <p:txBody>
          <a:bodyPr wrap="square">
            <a:spAutoFit/>
          </a:bodyPr>
          <a:lstStyle/>
          <a:p>
            <a:pPr algn="l"/>
            <a:r>
              <a:rPr sz="1000" b="1">
                <a:solidFill>
                  <a:srgbClr val="22CC66"/>
                </a:solidFill>
                <a:latin typeface="游明朝"/>
              </a:rPr>
              <a:t>虚構連モード突入条件</a:t>
            </a:r>
          </a:p>
        </p:txBody>
      </p:sp>
      <p:sp>
        <p:nvSpPr>
          <p:cNvPr id="29" name="TextBox 28"/>
          <p:cNvSpPr txBox="1"/>
          <p:nvPr/>
        </p:nvSpPr>
        <p:spPr>
          <a:xfrm>
            <a:off x="457200" y="2888608"/>
            <a:ext cx="4014800" cy="1430000"/>
          </a:xfrm>
          <a:prstGeom prst="rect">
            <a:avLst/>
          </a:prstGeom>
          <a:noFill/>
        </p:spPr>
        <p:txBody>
          <a:bodyPr wrap="square">
            <a:spAutoFit/>
          </a:bodyPr>
          <a:lstStyle/>
          <a:p>
            <a:pPr algn="l"/>
            <a:r>
              <a:rPr sz="850" b="0">
                <a:solidFill>
                  <a:srgbClr val="E8E8F4"/>
                </a:solidFill>
                <a:latin typeface="メイリオ"/>
              </a:rPr>
              <a:t>① スペシャルボーナス → 確定突入
② レギュラーボーナス → 突入抽選（設定差あり）
③ 設定変更後CZ初成功時 → 約50%で高確スタート
④ 高設定ほど突入率・継続率が高い（Long率が設定差の指標）</a:t>
            </a:r>
          </a:p>
        </p:txBody>
      </p:sp>
      <p:sp>
        <p:nvSpPr>
          <p:cNvPr id="30" name="Can 29"/>
          <p:cNvSpPr/>
          <p:nvPr/>
        </p:nvSpPr>
        <p:spPr>
          <a:xfrm>
            <a:off x="4400832" y="3388608"/>
            <a:ext cx="200000" cy="180000"/>
          </a:xfrm>
          <a:prstGeom prst="can">
            <a:avLst/>
          </a:prstGeom>
          <a:solidFill>
            <a:srgbClr val="22CC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4630832" y="2578608"/>
            <a:ext cx="4251960" cy="1800000"/>
          </a:xfrm>
          <a:prstGeom prst="rect">
            <a:avLst/>
          </a:prstGeom>
          <a:solidFill>
            <a:srgbClr val="080824"/>
          </a:solidFill>
          <a:ln w="19050">
            <a:solidFill>
              <a:srgbClr val="C8A8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4630832" y="2578608"/>
            <a:ext cx="45000" cy="1800000"/>
          </a:xfrm>
          <a:prstGeom prst="rect">
            <a:avLst/>
          </a:prstGeom>
          <a:solidFill>
            <a:srgbClr val="C8A8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705832" y="2628608"/>
            <a:ext cx="4151960" cy="260000"/>
          </a:xfrm>
          <a:prstGeom prst="rect">
            <a:avLst/>
          </a:prstGeom>
          <a:noFill/>
        </p:spPr>
        <p:txBody>
          <a:bodyPr wrap="square">
            <a:spAutoFit/>
          </a:bodyPr>
          <a:lstStyle/>
          <a:p>
            <a:pPr algn="l"/>
            <a:r>
              <a:rPr sz="1000" b="1">
                <a:solidFill>
                  <a:srgbClr val="C8A840"/>
                </a:solidFill>
                <a:latin typeface="游明朝"/>
              </a:rPr>
              <a:t>虚構連モードで得られるもの</a:t>
            </a:r>
          </a:p>
        </p:txBody>
      </p:sp>
      <p:sp>
        <p:nvSpPr>
          <p:cNvPr id="34" name="TextBox 33"/>
          <p:cNvSpPr txBox="1"/>
          <p:nvPr/>
        </p:nvSpPr>
        <p:spPr>
          <a:xfrm>
            <a:off x="4705832" y="2888608"/>
            <a:ext cx="4151960" cy="1430000"/>
          </a:xfrm>
          <a:prstGeom prst="rect">
            <a:avLst/>
          </a:prstGeom>
          <a:noFill/>
        </p:spPr>
        <p:txBody>
          <a:bodyPr wrap="square">
            <a:spAutoFit/>
          </a:bodyPr>
          <a:lstStyle/>
          <a:p>
            <a:pPr algn="l"/>
            <a:r>
              <a:rPr sz="850" b="0">
                <a:solidFill>
                  <a:srgbClr val="E8E8F4"/>
                </a:solidFill>
                <a:latin typeface="メイリオ"/>
              </a:rPr>
              <a:t>・高確率ボーナス抽選ループが継続する上位状態
・Short / Middle / Long の3種（Longが最も継続）
・高設定での9400枚一撃事例あり（爆発力は本物）
・虚構連中にARROW告知で再度の興奮体験が続く</a:t>
            </a:r>
          </a:p>
        </p:txBody>
      </p:sp>
      <p:sp>
        <p:nvSpPr>
          <p:cNvPr id="35" name="Rectangle 34"/>
          <p:cNvSpPr/>
          <p:nvPr/>
        </p:nvSpPr>
        <p:spPr>
          <a:xfrm>
            <a:off x="0" y="4663440"/>
            <a:ext cx="9144000" cy="380000"/>
          </a:xfrm>
          <a:prstGeom prst="rect">
            <a:avLst/>
          </a:prstGeom>
          <a:solidFill>
            <a:srgbClr val="0604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0" y="4663440"/>
            <a:ext cx="20000" cy="380000"/>
          </a:xfrm>
          <a:prstGeom prst="rect">
            <a:avLst/>
          </a:prstGeom>
          <a:solidFill>
            <a:srgbClr val="6622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201168" y="4703440"/>
            <a:ext cx="5486400" cy="160000"/>
          </a:xfrm>
          <a:prstGeom prst="rect">
            <a:avLst/>
          </a:prstGeom>
          <a:noFill/>
        </p:spPr>
        <p:txBody>
          <a:bodyPr wrap="square">
            <a:spAutoFit/>
          </a:bodyPr>
          <a:lstStyle/>
          <a:p>
            <a:pPr algn="l"/>
            <a:r>
              <a:rPr sz="750" b="1">
                <a:solidFill>
                  <a:srgbClr val="9944FF"/>
                </a:solidFill>
                <a:latin typeface="メイリオ"/>
              </a:rPr>
              <a:t>設計コメント：スペシャルボーナス=虚構連確定という明確な頂点設計がプレイヤーの目標を単純化</a:t>
            </a:r>
          </a:p>
        </p:txBody>
      </p:sp>
      <p:sp>
        <p:nvSpPr>
          <p:cNvPr id="38" name="TextBox 37"/>
          <p:cNvSpPr txBox="1"/>
          <p:nvPr/>
        </p:nvSpPr>
        <p:spPr>
          <a:xfrm>
            <a:off x="201168" y="4863440"/>
            <a:ext cx="8412480" cy="160000"/>
          </a:xfrm>
          <a:prstGeom prst="rect">
            <a:avLst/>
          </a:prstGeom>
          <a:noFill/>
        </p:spPr>
        <p:txBody>
          <a:bodyPr wrap="square">
            <a:spAutoFit/>
          </a:bodyPr>
          <a:lstStyle/>
          <a:p>
            <a:pPr algn="l"/>
            <a:r>
              <a:rPr sz="700" b="0">
                <a:solidFill>
                  <a:srgbClr val="8888AA"/>
                </a:solidFill>
                <a:latin typeface="メイリオ"/>
              </a:rPr>
              <a:t>補足：設定変更後のCZ初成功約50%高確スタートが設定6据え置き狙いの重要な判断材料となる</a:t>
            </a:r>
          </a:p>
        </p:txBody>
      </p:sp>
      <p:sp>
        <p:nvSpPr>
          <p:cNvPr id="39" name="TextBox 38"/>
          <p:cNvSpPr txBox="1"/>
          <p:nvPr/>
        </p:nvSpPr>
        <p:spPr>
          <a:xfrm>
            <a:off x="7498079" y="4919472"/>
            <a:ext cx="1554480" cy="180000"/>
          </a:xfrm>
          <a:prstGeom prst="rect">
            <a:avLst/>
          </a:prstGeom>
          <a:noFill/>
        </p:spPr>
        <p:txBody>
          <a:bodyPr wrap="square">
            <a:spAutoFit/>
          </a:bodyPr>
          <a:lstStyle/>
          <a:p>
            <a:pPr algn="r"/>
            <a:r>
              <a:rPr sz="700" b="0">
                <a:solidFill>
                  <a:srgbClr val="8888AA"/>
                </a:solidFill>
                <a:latin typeface="メイリオ"/>
              </a:rPr>
              <a:t>※ネット解析情報より</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9144000" cy="5143500"/>
          </a:xfrm>
          <a:prstGeom prst="rect">
            <a:avLst/>
          </a:prstGeom>
        </p:spPr>
      </p:pic>
      <p:sp>
        <p:nvSpPr>
          <p:cNvPr id="3" name="Rectangle 2"/>
          <p:cNvSpPr/>
          <p:nvPr/>
        </p:nvSpPr>
        <p:spPr>
          <a:xfrm>
            <a:off x="0" y="0"/>
            <a:ext cx="9144000" cy="530352"/>
          </a:xfrm>
          <a:prstGeom prst="rect">
            <a:avLst/>
          </a:prstGeom>
          <a:solidFill>
            <a:srgbClr val="0808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45000" cy="530352"/>
          </a:xfrm>
          <a:prstGeom prst="rect">
            <a:avLst/>
          </a:prstGeom>
          <a:solidFill>
            <a:srgbClr val="6622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37160" y="28000"/>
            <a:ext cx="7772400" cy="410000"/>
          </a:xfrm>
          <a:prstGeom prst="rect">
            <a:avLst/>
          </a:prstGeom>
          <a:noFill/>
        </p:spPr>
        <p:txBody>
          <a:bodyPr wrap="square">
            <a:spAutoFit/>
          </a:bodyPr>
          <a:lstStyle/>
          <a:p>
            <a:pPr algn="l"/>
            <a:r>
              <a:rPr sz="1400" b="1">
                <a:solidFill>
                  <a:srgbClr val="22AACC"/>
                </a:solidFill>
                <a:latin typeface="游明朝"/>
              </a:rPr>
              <a:t>虚構連モード ── Short / Middle / Long の違いと遊び方・ループ</a:t>
            </a:r>
          </a:p>
        </p:txBody>
      </p:sp>
      <p:sp>
        <p:nvSpPr>
          <p:cNvPr id="6" name="TextBox 5"/>
          <p:cNvSpPr txBox="1"/>
          <p:nvPr/>
        </p:nvSpPr>
        <p:spPr>
          <a:xfrm>
            <a:off x="8046720" y="45000"/>
            <a:ext cx="914400" cy="340000"/>
          </a:xfrm>
          <a:prstGeom prst="rect">
            <a:avLst/>
          </a:prstGeom>
          <a:noFill/>
        </p:spPr>
        <p:txBody>
          <a:bodyPr wrap="square">
            <a:spAutoFit/>
          </a:bodyPr>
          <a:lstStyle/>
          <a:p>
            <a:pPr algn="r"/>
            <a:r>
              <a:rPr sz="800" b="0">
                <a:solidFill>
                  <a:srgbClr val="8888AA"/>
                </a:solidFill>
                <a:latin typeface="メイリオ"/>
              </a:rPr>
              <a:t>6/9</a:t>
            </a:r>
          </a:p>
        </p:txBody>
      </p:sp>
      <p:sp>
        <p:nvSpPr>
          <p:cNvPr id="7" name="Rectangle 6"/>
          <p:cNvSpPr/>
          <p:nvPr/>
        </p:nvSpPr>
        <p:spPr>
          <a:xfrm>
            <a:off x="0" y="530352"/>
            <a:ext cx="9144000" cy="7000"/>
          </a:xfrm>
          <a:prstGeom prst="rect">
            <a:avLst/>
          </a:prstGeom>
          <a:solidFill>
            <a:srgbClr val="6622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56032" y="658368"/>
            <a:ext cx="2606040" cy="3400000"/>
          </a:xfrm>
          <a:prstGeom prst="rect">
            <a:avLst/>
          </a:prstGeom>
          <a:solidFill>
            <a:srgbClr val="080824"/>
          </a:solidFill>
          <a:ln w="25400">
            <a:solidFill>
              <a:srgbClr val="22AA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56032" y="658368"/>
            <a:ext cx="2606040" cy="400000"/>
          </a:xfrm>
          <a:prstGeom prst="rect">
            <a:avLst/>
          </a:prstGeom>
          <a:solidFill>
            <a:srgbClr val="0C0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56032" y="658368"/>
            <a:ext cx="45000" cy="3400000"/>
          </a:xfrm>
          <a:prstGeom prst="rect">
            <a:avLst/>
          </a:prstGeom>
          <a:solidFill>
            <a:srgbClr val="22AA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092072" y="738368"/>
            <a:ext cx="740000" cy="230000"/>
          </a:xfrm>
          <a:prstGeom prst="rect">
            <a:avLst/>
          </a:prstGeom>
          <a:solidFill>
            <a:srgbClr val="22AACC"/>
          </a:solidFill>
          <a:ln w="10160">
            <a:solidFill>
              <a:srgbClr val="E8E8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102072" y="748368"/>
            <a:ext cx="730000" cy="210000"/>
          </a:xfrm>
          <a:prstGeom prst="rect">
            <a:avLst/>
          </a:prstGeom>
          <a:noFill/>
        </p:spPr>
        <p:txBody>
          <a:bodyPr wrap="square">
            <a:spAutoFit/>
          </a:bodyPr>
          <a:lstStyle/>
          <a:p>
            <a:pPr algn="ctr"/>
            <a:r>
              <a:rPr sz="700" b="1">
                <a:solidFill>
                  <a:srgbClr val="04041C"/>
                </a:solidFill>
                <a:latin typeface="メイリオ"/>
              </a:rPr>
              <a:t>到達頻度
高い</a:t>
            </a:r>
          </a:p>
        </p:txBody>
      </p:sp>
      <p:sp>
        <p:nvSpPr>
          <p:cNvPr id="13" name="TextBox 12"/>
          <p:cNvSpPr txBox="1"/>
          <p:nvPr/>
        </p:nvSpPr>
        <p:spPr>
          <a:xfrm>
            <a:off x="321032" y="718368"/>
            <a:ext cx="1786040" cy="290000"/>
          </a:xfrm>
          <a:prstGeom prst="rect">
            <a:avLst/>
          </a:prstGeom>
          <a:noFill/>
        </p:spPr>
        <p:txBody>
          <a:bodyPr wrap="square">
            <a:spAutoFit/>
          </a:bodyPr>
          <a:lstStyle/>
          <a:p>
            <a:pPr algn="l"/>
            <a:r>
              <a:rPr sz="1400" b="1">
                <a:solidFill>
                  <a:srgbClr val="22AACC"/>
                </a:solidFill>
                <a:latin typeface="游明朝"/>
              </a:rPr>
              <a:t>Short</a:t>
            </a:r>
          </a:p>
        </p:txBody>
      </p:sp>
      <p:sp>
        <p:nvSpPr>
          <p:cNvPr id="14" name="TextBox 13"/>
          <p:cNvSpPr txBox="1"/>
          <p:nvPr/>
        </p:nvSpPr>
        <p:spPr>
          <a:xfrm>
            <a:off x="321032" y="988368"/>
            <a:ext cx="2516040" cy="210000"/>
          </a:xfrm>
          <a:prstGeom prst="rect">
            <a:avLst/>
          </a:prstGeom>
          <a:noFill/>
        </p:spPr>
        <p:txBody>
          <a:bodyPr wrap="square">
            <a:spAutoFit/>
          </a:bodyPr>
          <a:lstStyle/>
          <a:p>
            <a:pPr algn="l"/>
            <a:r>
              <a:rPr sz="800" b="0">
                <a:solidFill>
                  <a:srgbClr val="8888AA"/>
                </a:solidFill>
                <a:latin typeface="メイリオ"/>
              </a:rPr>
              <a:t>短期集中型</a:t>
            </a:r>
          </a:p>
        </p:txBody>
      </p:sp>
      <p:sp>
        <p:nvSpPr>
          <p:cNvPr id="15" name="TextBox 14"/>
          <p:cNvSpPr txBox="1"/>
          <p:nvPr/>
        </p:nvSpPr>
        <p:spPr>
          <a:xfrm>
            <a:off x="321032" y="1218368"/>
            <a:ext cx="2516040" cy="2780000"/>
          </a:xfrm>
          <a:prstGeom prst="rect">
            <a:avLst/>
          </a:prstGeom>
          <a:noFill/>
        </p:spPr>
        <p:txBody>
          <a:bodyPr wrap="square">
            <a:spAutoFit/>
          </a:bodyPr>
          <a:lstStyle/>
          <a:p>
            <a:pPr algn="l"/>
            <a:r>
              <a:rPr sz="850" b="0">
                <a:solidFill>
                  <a:srgbClr val="E8E8F4"/>
                </a:solidFill>
                <a:latin typeface="メイリオ"/>
              </a:rPr>
              <a:t>ループ率：約56%
転落率：1/20.98
数回のボーナスループ
後に転落することが多い
CZ成功のたびに発生
「次のモードへの足がかり」
「すぐ終わったが枚数は
出た」という報告も</a:t>
            </a:r>
          </a:p>
        </p:txBody>
      </p:sp>
      <p:sp>
        <p:nvSpPr>
          <p:cNvPr id="16" name="Rectangle 15"/>
          <p:cNvSpPr/>
          <p:nvPr/>
        </p:nvSpPr>
        <p:spPr>
          <a:xfrm>
            <a:off x="3054096" y="658368"/>
            <a:ext cx="2606040" cy="3400000"/>
          </a:xfrm>
          <a:prstGeom prst="rect">
            <a:avLst/>
          </a:prstGeom>
          <a:solidFill>
            <a:srgbClr val="080824"/>
          </a:solidFill>
          <a:ln w="25400">
            <a:solidFill>
              <a:srgbClr val="9944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054096" y="658368"/>
            <a:ext cx="2606040" cy="400000"/>
          </a:xfrm>
          <a:prstGeom prst="rect">
            <a:avLst/>
          </a:prstGeom>
          <a:solidFill>
            <a:srgbClr val="0C0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3054096" y="658368"/>
            <a:ext cx="45000" cy="3400000"/>
          </a:xfrm>
          <a:prstGeom prst="rect">
            <a:avLst/>
          </a:prstGeom>
          <a:solidFill>
            <a:srgbClr val="994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890136" y="738368"/>
            <a:ext cx="740000" cy="230000"/>
          </a:xfrm>
          <a:prstGeom prst="rect">
            <a:avLst/>
          </a:prstGeom>
          <a:solidFill>
            <a:srgbClr val="9944FF"/>
          </a:solidFill>
          <a:ln w="10160">
            <a:solidFill>
              <a:srgbClr val="E8E8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900136" y="748368"/>
            <a:ext cx="730000" cy="210000"/>
          </a:xfrm>
          <a:prstGeom prst="rect">
            <a:avLst/>
          </a:prstGeom>
          <a:noFill/>
        </p:spPr>
        <p:txBody>
          <a:bodyPr wrap="square">
            <a:spAutoFit/>
          </a:bodyPr>
          <a:lstStyle/>
          <a:p>
            <a:pPr algn="ctr"/>
            <a:r>
              <a:rPr sz="700" b="1">
                <a:solidFill>
                  <a:srgbClr val="04041C"/>
                </a:solidFill>
                <a:latin typeface="メイリオ"/>
              </a:rPr>
              <a:t>安定した
枚数獲得</a:t>
            </a:r>
          </a:p>
        </p:txBody>
      </p:sp>
      <p:sp>
        <p:nvSpPr>
          <p:cNvPr id="21" name="TextBox 20"/>
          <p:cNvSpPr txBox="1"/>
          <p:nvPr/>
        </p:nvSpPr>
        <p:spPr>
          <a:xfrm>
            <a:off x="3119096" y="718368"/>
            <a:ext cx="1786040" cy="290000"/>
          </a:xfrm>
          <a:prstGeom prst="rect">
            <a:avLst/>
          </a:prstGeom>
          <a:noFill/>
        </p:spPr>
        <p:txBody>
          <a:bodyPr wrap="square">
            <a:spAutoFit/>
          </a:bodyPr>
          <a:lstStyle/>
          <a:p>
            <a:pPr algn="l"/>
            <a:r>
              <a:rPr sz="1400" b="1">
                <a:solidFill>
                  <a:srgbClr val="9944FF"/>
                </a:solidFill>
                <a:latin typeface="游明朝"/>
              </a:rPr>
              <a:t>Middle</a:t>
            </a:r>
          </a:p>
        </p:txBody>
      </p:sp>
      <p:sp>
        <p:nvSpPr>
          <p:cNvPr id="22" name="TextBox 21"/>
          <p:cNvSpPr txBox="1"/>
          <p:nvPr/>
        </p:nvSpPr>
        <p:spPr>
          <a:xfrm>
            <a:off x="3119096" y="988368"/>
            <a:ext cx="2516040" cy="210000"/>
          </a:xfrm>
          <a:prstGeom prst="rect">
            <a:avLst/>
          </a:prstGeom>
          <a:noFill/>
        </p:spPr>
        <p:txBody>
          <a:bodyPr wrap="square">
            <a:spAutoFit/>
          </a:bodyPr>
          <a:lstStyle/>
          <a:p>
            <a:pPr algn="l"/>
            <a:r>
              <a:rPr sz="800" b="0">
                <a:solidFill>
                  <a:srgbClr val="8888AA"/>
                </a:solidFill>
                <a:latin typeface="メイリオ"/>
              </a:rPr>
              <a:t>中期継続型</a:t>
            </a:r>
          </a:p>
        </p:txBody>
      </p:sp>
      <p:sp>
        <p:nvSpPr>
          <p:cNvPr id="23" name="TextBox 22"/>
          <p:cNvSpPr txBox="1"/>
          <p:nvPr/>
        </p:nvSpPr>
        <p:spPr>
          <a:xfrm>
            <a:off x="3119096" y="1218368"/>
            <a:ext cx="2516040" cy="2780000"/>
          </a:xfrm>
          <a:prstGeom prst="rect">
            <a:avLst/>
          </a:prstGeom>
          <a:noFill/>
        </p:spPr>
        <p:txBody>
          <a:bodyPr wrap="square">
            <a:spAutoFit/>
          </a:bodyPr>
          <a:lstStyle/>
          <a:p>
            <a:pPr algn="l"/>
            <a:r>
              <a:rPr sz="850" b="0">
                <a:solidFill>
                  <a:srgbClr val="E8E8F4"/>
                </a:solidFill>
                <a:latin typeface="メイリオ"/>
              </a:rPr>
              <a:t>ループ率：約81%
転落率：1/53.55
安定したボーナス
ループが継続する
標準的な虚構連
琴子ステージ滞在中が
目安・設定差あり</a:t>
            </a:r>
          </a:p>
        </p:txBody>
      </p:sp>
      <p:sp>
        <p:nvSpPr>
          <p:cNvPr id="24" name="Rectangle 23"/>
          <p:cNvSpPr/>
          <p:nvPr/>
        </p:nvSpPr>
        <p:spPr>
          <a:xfrm>
            <a:off x="5852160" y="658368"/>
            <a:ext cx="2606040" cy="3400000"/>
          </a:xfrm>
          <a:prstGeom prst="rect">
            <a:avLst/>
          </a:prstGeom>
          <a:solidFill>
            <a:srgbClr val="080824"/>
          </a:solidFill>
          <a:ln w="25400">
            <a:solidFill>
              <a:srgbClr val="C8A8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852160" y="658368"/>
            <a:ext cx="2606040" cy="400000"/>
          </a:xfrm>
          <a:prstGeom prst="rect">
            <a:avLst/>
          </a:prstGeom>
          <a:solidFill>
            <a:srgbClr val="0C0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852160" y="658368"/>
            <a:ext cx="45000" cy="3400000"/>
          </a:xfrm>
          <a:prstGeom prst="rect">
            <a:avLst/>
          </a:prstGeom>
          <a:solidFill>
            <a:srgbClr val="C8A8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688200" y="738368"/>
            <a:ext cx="740000" cy="230000"/>
          </a:xfrm>
          <a:prstGeom prst="rect">
            <a:avLst/>
          </a:prstGeom>
          <a:solidFill>
            <a:srgbClr val="C8A840"/>
          </a:solidFill>
          <a:ln w="10160">
            <a:solidFill>
              <a:srgbClr val="E8E8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698200" y="748368"/>
            <a:ext cx="730000" cy="210000"/>
          </a:xfrm>
          <a:prstGeom prst="rect">
            <a:avLst/>
          </a:prstGeom>
          <a:noFill/>
        </p:spPr>
        <p:txBody>
          <a:bodyPr wrap="square">
            <a:spAutoFit/>
          </a:bodyPr>
          <a:lstStyle/>
          <a:p>
            <a:pPr algn="ctr"/>
            <a:r>
              <a:rPr sz="700" b="1">
                <a:solidFill>
                  <a:srgbClr val="04041C"/>
                </a:solidFill>
                <a:latin typeface="メイリオ"/>
              </a:rPr>
              <a:t>爆発力
最大</a:t>
            </a:r>
          </a:p>
        </p:txBody>
      </p:sp>
      <p:sp>
        <p:nvSpPr>
          <p:cNvPr id="29" name="TextBox 28"/>
          <p:cNvSpPr txBox="1"/>
          <p:nvPr/>
        </p:nvSpPr>
        <p:spPr>
          <a:xfrm>
            <a:off x="5917160" y="718368"/>
            <a:ext cx="1786040" cy="290000"/>
          </a:xfrm>
          <a:prstGeom prst="rect">
            <a:avLst/>
          </a:prstGeom>
          <a:noFill/>
        </p:spPr>
        <p:txBody>
          <a:bodyPr wrap="square">
            <a:spAutoFit/>
          </a:bodyPr>
          <a:lstStyle/>
          <a:p>
            <a:pPr algn="l"/>
            <a:r>
              <a:rPr sz="1400" b="1">
                <a:solidFill>
                  <a:srgbClr val="C8A840"/>
                </a:solidFill>
                <a:latin typeface="游明朝"/>
              </a:rPr>
              <a:t>Long</a:t>
            </a:r>
          </a:p>
        </p:txBody>
      </p:sp>
      <p:sp>
        <p:nvSpPr>
          <p:cNvPr id="30" name="TextBox 29"/>
          <p:cNvSpPr txBox="1"/>
          <p:nvPr/>
        </p:nvSpPr>
        <p:spPr>
          <a:xfrm>
            <a:off x="5917160" y="988368"/>
            <a:ext cx="2516040" cy="210000"/>
          </a:xfrm>
          <a:prstGeom prst="rect">
            <a:avLst/>
          </a:prstGeom>
          <a:noFill/>
        </p:spPr>
        <p:txBody>
          <a:bodyPr wrap="square">
            <a:spAutoFit/>
          </a:bodyPr>
          <a:lstStyle/>
          <a:p>
            <a:pPr algn="l"/>
            <a:r>
              <a:rPr sz="800" b="0">
                <a:solidFill>
                  <a:srgbClr val="8888AA"/>
                </a:solidFill>
                <a:latin typeface="メイリオ"/>
              </a:rPr>
              <a:t>長期継続型（最上位）</a:t>
            </a:r>
          </a:p>
        </p:txBody>
      </p:sp>
      <p:sp>
        <p:nvSpPr>
          <p:cNvPr id="31" name="TextBox 30"/>
          <p:cNvSpPr txBox="1"/>
          <p:nvPr/>
        </p:nvSpPr>
        <p:spPr>
          <a:xfrm>
            <a:off x="5917160" y="1218368"/>
            <a:ext cx="2516040" cy="2780000"/>
          </a:xfrm>
          <a:prstGeom prst="rect">
            <a:avLst/>
          </a:prstGeom>
          <a:noFill/>
        </p:spPr>
        <p:txBody>
          <a:bodyPr wrap="square">
            <a:spAutoFit/>
          </a:bodyPr>
          <a:lstStyle/>
          <a:p>
            <a:pPr algn="l"/>
            <a:r>
              <a:rPr sz="850" b="0">
                <a:solidFill>
                  <a:srgbClr val="E8E8F4"/>
                </a:solidFill>
                <a:latin typeface="メイリオ"/>
              </a:rPr>
              <a:t>ループ率：約95%
転落率：1/185.74
9400枚一撃事例が
あるのはこのモード
六花ステージ滞在が
最上位の目印
設定判別の重要指標</a:t>
            </a:r>
          </a:p>
        </p:txBody>
      </p:sp>
      <p:sp>
        <p:nvSpPr>
          <p:cNvPr id="32" name="Rectangle 31"/>
          <p:cNvSpPr/>
          <p:nvPr/>
        </p:nvSpPr>
        <p:spPr>
          <a:xfrm>
            <a:off x="8650224" y="658368"/>
            <a:ext cx="293776" cy="3400000"/>
          </a:xfrm>
          <a:prstGeom prst="rect">
            <a:avLst/>
          </a:prstGeom>
          <a:solidFill>
            <a:srgbClr val="041008"/>
          </a:solidFill>
          <a:ln w="19050">
            <a:solidFill>
              <a:srgbClr val="22CC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710224" y="718368"/>
            <a:ext cx="213776" cy="270000"/>
          </a:xfrm>
          <a:prstGeom prst="rect">
            <a:avLst/>
          </a:prstGeom>
          <a:noFill/>
        </p:spPr>
        <p:txBody>
          <a:bodyPr wrap="square">
            <a:spAutoFit/>
          </a:bodyPr>
          <a:lstStyle/>
          <a:p>
            <a:pPr algn="l"/>
            <a:r>
              <a:rPr sz="1100" b="1">
                <a:solidFill>
                  <a:srgbClr val="22CC66"/>
                </a:solidFill>
                <a:latin typeface="游明朝"/>
              </a:rPr>
              <a:t>虚構連ループ</a:t>
            </a:r>
          </a:p>
        </p:txBody>
      </p:sp>
      <p:sp>
        <p:nvSpPr>
          <p:cNvPr id="34" name="Rectangle 33"/>
          <p:cNvSpPr/>
          <p:nvPr/>
        </p:nvSpPr>
        <p:spPr>
          <a:xfrm>
            <a:off x="8680224" y="1068368"/>
            <a:ext cx="233776" cy="695000"/>
          </a:xfrm>
          <a:prstGeom prst="rect">
            <a:avLst/>
          </a:prstGeom>
          <a:solidFill>
            <a:srgbClr val="080824"/>
          </a:solidFill>
          <a:ln w="15240">
            <a:solidFill>
              <a:srgbClr val="22CC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720224" y="1103368"/>
            <a:ext cx="183776" cy="655000"/>
          </a:xfrm>
          <a:prstGeom prst="rect">
            <a:avLst/>
          </a:prstGeom>
          <a:noFill/>
        </p:spPr>
        <p:txBody>
          <a:bodyPr wrap="square">
            <a:spAutoFit/>
          </a:bodyPr>
          <a:lstStyle/>
          <a:p>
            <a:pPr algn="ctr"/>
            <a:r>
              <a:rPr sz="800" b="1">
                <a:solidFill>
                  <a:srgbClr val="22CC66"/>
                </a:solidFill>
                <a:latin typeface="メイリオ"/>
              </a:rPr>
              <a:t>高確率
ボーナス抽選</a:t>
            </a:r>
          </a:p>
        </p:txBody>
      </p:sp>
      <p:sp>
        <p:nvSpPr>
          <p:cNvPr id="36" name="Rectangle 35"/>
          <p:cNvSpPr/>
          <p:nvPr/>
        </p:nvSpPr>
        <p:spPr>
          <a:xfrm>
            <a:off x="8767112" y="1773368"/>
            <a:ext cx="60000" cy="50000"/>
          </a:xfrm>
          <a:prstGeom prst="rect">
            <a:avLst/>
          </a:prstGeom>
          <a:solidFill>
            <a:srgbClr val="22CC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8680224" y="1813368"/>
            <a:ext cx="233776" cy="695000"/>
          </a:xfrm>
          <a:prstGeom prst="rect">
            <a:avLst/>
          </a:prstGeom>
          <a:solidFill>
            <a:srgbClr val="080824"/>
          </a:solidFill>
          <a:ln w="15240">
            <a:solidFill>
              <a:srgbClr val="9944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720224" y="1848368"/>
            <a:ext cx="183776" cy="655000"/>
          </a:xfrm>
          <a:prstGeom prst="rect">
            <a:avLst/>
          </a:prstGeom>
          <a:noFill/>
        </p:spPr>
        <p:txBody>
          <a:bodyPr wrap="square">
            <a:spAutoFit/>
          </a:bodyPr>
          <a:lstStyle/>
          <a:p>
            <a:pPr algn="ctr"/>
            <a:r>
              <a:rPr sz="800" b="1">
                <a:solidFill>
                  <a:srgbClr val="9944FF"/>
                </a:solidFill>
                <a:latin typeface="メイリオ"/>
              </a:rPr>
              <a:t>ボーナス
当選</a:t>
            </a:r>
          </a:p>
        </p:txBody>
      </p:sp>
      <p:sp>
        <p:nvSpPr>
          <p:cNvPr id="39" name="Rectangle 38"/>
          <p:cNvSpPr/>
          <p:nvPr/>
        </p:nvSpPr>
        <p:spPr>
          <a:xfrm>
            <a:off x="8767112" y="2518368"/>
            <a:ext cx="60000" cy="50000"/>
          </a:xfrm>
          <a:prstGeom prst="rect">
            <a:avLst/>
          </a:prstGeom>
          <a:solidFill>
            <a:srgbClr val="994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8680224" y="2558368"/>
            <a:ext cx="233776" cy="695000"/>
          </a:xfrm>
          <a:prstGeom prst="rect">
            <a:avLst/>
          </a:prstGeom>
          <a:solidFill>
            <a:srgbClr val="080824"/>
          </a:solidFill>
          <a:ln w="15240">
            <a:solidFill>
              <a:srgbClr val="22AA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720224" y="2593368"/>
            <a:ext cx="183776" cy="655000"/>
          </a:xfrm>
          <a:prstGeom prst="rect">
            <a:avLst/>
          </a:prstGeom>
          <a:noFill/>
        </p:spPr>
        <p:txBody>
          <a:bodyPr wrap="square">
            <a:spAutoFit/>
          </a:bodyPr>
          <a:lstStyle/>
          <a:p>
            <a:pPr algn="ctr"/>
            <a:r>
              <a:rPr sz="800" b="1">
                <a:solidFill>
                  <a:srgbClr val="22AACC"/>
                </a:solidFill>
                <a:latin typeface="メイリオ"/>
              </a:rPr>
              <a:t>ARROW JUDGEMENT
当選契機を色で告知</a:t>
            </a:r>
          </a:p>
        </p:txBody>
      </p:sp>
      <p:sp>
        <p:nvSpPr>
          <p:cNvPr id="42" name="Rectangle 41"/>
          <p:cNvSpPr/>
          <p:nvPr/>
        </p:nvSpPr>
        <p:spPr>
          <a:xfrm>
            <a:off x="8767112" y="3263368"/>
            <a:ext cx="60000" cy="50000"/>
          </a:xfrm>
          <a:prstGeom prst="rect">
            <a:avLst/>
          </a:prstGeom>
          <a:solidFill>
            <a:srgbClr val="22AA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8680224" y="3303368"/>
            <a:ext cx="233776" cy="695000"/>
          </a:xfrm>
          <a:prstGeom prst="rect">
            <a:avLst/>
          </a:prstGeom>
          <a:solidFill>
            <a:srgbClr val="080824"/>
          </a:solidFill>
          <a:ln w="15240">
            <a:solidFill>
              <a:srgbClr val="C8A8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720224" y="3338368"/>
            <a:ext cx="183776" cy="655000"/>
          </a:xfrm>
          <a:prstGeom prst="rect">
            <a:avLst/>
          </a:prstGeom>
          <a:noFill/>
        </p:spPr>
        <p:txBody>
          <a:bodyPr wrap="square">
            <a:spAutoFit/>
          </a:bodyPr>
          <a:lstStyle/>
          <a:p>
            <a:pPr algn="ctr"/>
            <a:r>
              <a:rPr sz="800" b="1">
                <a:solidFill>
                  <a:srgbClr val="C8A840"/>
                </a:solidFill>
                <a:latin typeface="メイリオ"/>
              </a:rPr>
              <a:t>Short56%/Mid81%
Long95%でループ</a:t>
            </a:r>
          </a:p>
        </p:txBody>
      </p:sp>
      <p:sp>
        <p:nvSpPr>
          <p:cNvPr id="45" name="Rectangle 44"/>
          <p:cNvSpPr/>
          <p:nvPr/>
        </p:nvSpPr>
        <p:spPr>
          <a:xfrm>
            <a:off x="0" y="4663440"/>
            <a:ext cx="9144000" cy="380000"/>
          </a:xfrm>
          <a:prstGeom prst="rect">
            <a:avLst/>
          </a:prstGeom>
          <a:solidFill>
            <a:srgbClr val="0604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0" y="4663440"/>
            <a:ext cx="20000" cy="380000"/>
          </a:xfrm>
          <a:prstGeom prst="rect">
            <a:avLst/>
          </a:prstGeom>
          <a:solidFill>
            <a:srgbClr val="6622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201168" y="4703440"/>
            <a:ext cx="5486400" cy="160000"/>
          </a:xfrm>
          <a:prstGeom prst="rect">
            <a:avLst/>
          </a:prstGeom>
          <a:noFill/>
        </p:spPr>
        <p:txBody>
          <a:bodyPr wrap="square">
            <a:spAutoFit/>
          </a:bodyPr>
          <a:lstStyle/>
          <a:p>
            <a:pPr algn="l"/>
            <a:r>
              <a:rPr sz="750" b="1">
                <a:solidFill>
                  <a:srgbClr val="9944FF"/>
                </a:solidFill>
                <a:latin typeface="メイリオ"/>
              </a:rPr>
              <a:t>設計コメント：Short56%→Middle81%→Long95%のループ率段階設計。Long（転落率1/185.74）突入時は9400枚超の爆発力</a:t>
            </a:r>
          </a:p>
        </p:txBody>
      </p:sp>
      <p:sp>
        <p:nvSpPr>
          <p:cNvPr id="48" name="TextBox 47"/>
          <p:cNvSpPr txBox="1"/>
          <p:nvPr/>
        </p:nvSpPr>
        <p:spPr>
          <a:xfrm>
            <a:off x="201168" y="4863440"/>
            <a:ext cx="8412480" cy="160000"/>
          </a:xfrm>
          <a:prstGeom prst="rect">
            <a:avLst/>
          </a:prstGeom>
          <a:noFill/>
        </p:spPr>
        <p:txBody>
          <a:bodyPr wrap="square">
            <a:spAutoFit/>
          </a:bodyPr>
          <a:lstStyle/>
          <a:p>
            <a:pPr algn="l"/>
            <a:r>
              <a:rPr sz="700" b="0">
                <a:solidFill>
                  <a:srgbClr val="8888AA"/>
                </a:solidFill>
                <a:latin typeface="メイリオ"/>
              </a:rPr>
              <a:t>補足：六花ステージ=Long（約95%ループ）が高設定判別の最重要指標。ループするたびにARROW告知で緊張体験が続く</a:t>
            </a:r>
          </a:p>
        </p:txBody>
      </p:sp>
      <p:sp>
        <p:nvSpPr>
          <p:cNvPr id="49" name="TextBox 48"/>
          <p:cNvSpPr txBox="1"/>
          <p:nvPr/>
        </p:nvSpPr>
        <p:spPr>
          <a:xfrm>
            <a:off x="7498079" y="4919472"/>
            <a:ext cx="1554480" cy="180000"/>
          </a:xfrm>
          <a:prstGeom prst="rect">
            <a:avLst/>
          </a:prstGeom>
          <a:noFill/>
        </p:spPr>
        <p:txBody>
          <a:bodyPr wrap="square">
            <a:spAutoFit/>
          </a:bodyPr>
          <a:lstStyle/>
          <a:p>
            <a:pPr algn="r"/>
            <a:r>
              <a:rPr sz="700" b="0">
                <a:solidFill>
                  <a:srgbClr val="8888AA"/>
                </a:solidFill>
                <a:latin typeface="メイリオ"/>
              </a:rPr>
              <a:t>※ネット解析情報より</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9144000" cy="5143500"/>
          </a:xfrm>
          <a:prstGeom prst="rect">
            <a:avLst/>
          </a:prstGeom>
        </p:spPr>
      </p:pic>
      <p:sp>
        <p:nvSpPr>
          <p:cNvPr id="3" name="Rectangle 2"/>
          <p:cNvSpPr/>
          <p:nvPr/>
        </p:nvSpPr>
        <p:spPr>
          <a:xfrm>
            <a:off x="0" y="0"/>
            <a:ext cx="9144000" cy="530352"/>
          </a:xfrm>
          <a:prstGeom prst="rect">
            <a:avLst/>
          </a:prstGeom>
          <a:solidFill>
            <a:srgbClr val="0808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45000" cy="530352"/>
          </a:xfrm>
          <a:prstGeom prst="rect">
            <a:avLst/>
          </a:prstGeom>
          <a:solidFill>
            <a:srgbClr val="6622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37160" y="28000"/>
            <a:ext cx="7772400" cy="410000"/>
          </a:xfrm>
          <a:prstGeom prst="rect">
            <a:avLst/>
          </a:prstGeom>
          <a:noFill/>
        </p:spPr>
        <p:txBody>
          <a:bodyPr wrap="square">
            <a:spAutoFit/>
          </a:bodyPr>
          <a:lstStyle/>
          <a:p>
            <a:pPr algn="l"/>
            <a:r>
              <a:rPr sz="1400" b="1">
                <a:solidFill>
                  <a:srgbClr val="22AACC"/>
                </a:solidFill>
                <a:latin typeface="游明朝"/>
              </a:rPr>
              <a:t>Part B 分析 ── 面白さの設計（エピソードキャリーオーバー＋ARROW告知の独自性）</a:t>
            </a:r>
          </a:p>
        </p:txBody>
      </p:sp>
      <p:sp>
        <p:nvSpPr>
          <p:cNvPr id="6" name="TextBox 5"/>
          <p:cNvSpPr txBox="1"/>
          <p:nvPr/>
        </p:nvSpPr>
        <p:spPr>
          <a:xfrm>
            <a:off x="8046720" y="45000"/>
            <a:ext cx="914400" cy="340000"/>
          </a:xfrm>
          <a:prstGeom prst="rect">
            <a:avLst/>
          </a:prstGeom>
          <a:noFill/>
        </p:spPr>
        <p:txBody>
          <a:bodyPr wrap="square">
            <a:spAutoFit/>
          </a:bodyPr>
          <a:lstStyle/>
          <a:p>
            <a:pPr algn="r"/>
            <a:r>
              <a:rPr sz="800" b="0">
                <a:solidFill>
                  <a:srgbClr val="8888AA"/>
                </a:solidFill>
                <a:latin typeface="メイリオ"/>
              </a:rPr>
              <a:t>7/9</a:t>
            </a:r>
          </a:p>
        </p:txBody>
      </p:sp>
      <p:sp>
        <p:nvSpPr>
          <p:cNvPr id="7" name="Rectangle 6"/>
          <p:cNvSpPr/>
          <p:nvPr/>
        </p:nvSpPr>
        <p:spPr>
          <a:xfrm>
            <a:off x="0" y="530352"/>
            <a:ext cx="9144000" cy="7000"/>
          </a:xfrm>
          <a:prstGeom prst="rect">
            <a:avLst/>
          </a:prstGeom>
          <a:solidFill>
            <a:srgbClr val="6622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56032" y="658368"/>
            <a:ext cx="8631936" cy="280000"/>
          </a:xfrm>
          <a:prstGeom prst="rect">
            <a:avLst/>
          </a:prstGeom>
          <a:solidFill>
            <a:srgbClr val="4411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676656"/>
            <a:ext cx="8229600" cy="250000"/>
          </a:xfrm>
          <a:prstGeom prst="rect">
            <a:avLst/>
          </a:prstGeom>
          <a:noFill/>
        </p:spPr>
        <p:txBody>
          <a:bodyPr wrap="square">
            <a:spAutoFit/>
          </a:bodyPr>
          <a:lstStyle/>
          <a:p>
            <a:pPr algn="l"/>
            <a:r>
              <a:rPr sz="900" b="1">
                <a:solidFill>
                  <a:srgbClr val="9944FF"/>
                </a:solidFill>
                <a:latin typeface="メイリオ"/>
              </a:rPr>
              <a:t>核心：「失敗が前進になる」キャリーオーバー設計 ＋ 「外部デバイスが告知する」ARROW体験</a:t>
            </a:r>
          </a:p>
        </p:txBody>
      </p:sp>
      <p:sp>
        <p:nvSpPr>
          <p:cNvPr id="10" name="Rectangle 9"/>
          <p:cNvSpPr/>
          <p:nvPr/>
        </p:nvSpPr>
        <p:spPr>
          <a:xfrm>
            <a:off x="256032" y="987552"/>
            <a:ext cx="4114800" cy="3200000"/>
          </a:xfrm>
          <a:prstGeom prst="rect">
            <a:avLst/>
          </a:prstGeom>
          <a:solidFill>
            <a:srgbClr val="080824"/>
          </a:solidFill>
          <a:ln w="19050">
            <a:solidFill>
              <a:srgbClr val="6622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56032" y="987552"/>
            <a:ext cx="45000" cy="3200000"/>
          </a:xfrm>
          <a:prstGeom prst="rect">
            <a:avLst/>
          </a:prstGeom>
          <a:solidFill>
            <a:srgbClr val="6622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31032" y="1037552"/>
            <a:ext cx="4014800" cy="270000"/>
          </a:xfrm>
          <a:prstGeom prst="rect">
            <a:avLst/>
          </a:prstGeom>
          <a:noFill/>
        </p:spPr>
        <p:txBody>
          <a:bodyPr wrap="square">
            <a:spAutoFit/>
          </a:bodyPr>
          <a:lstStyle/>
          <a:p>
            <a:pPr algn="l"/>
            <a:r>
              <a:rPr sz="1000" b="1">
                <a:solidFill>
                  <a:srgbClr val="6622AA"/>
                </a:solidFill>
                <a:latin typeface="游明朝"/>
              </a:rPr>
              <a:t>エピソードキャリーオーバーの革新性</a:t>
            </a:r>
          </a:p>
        </p:txBody>
      </p:sp>
      <p:sp>
        <p:nvSpPr>
          <p:cNvPr id="13" name="Rectangle 12"/>
          <p:cNvSpPr/>
          <p:nvPr/>
        </p:nvSpPr>
        <p:spPr>
          <a:xfrm>
            <a:off x="306032" y="1317552"/>
            <a:ext cx="4014800" cy="680000"/>
          </a:xfrm>
          <a:prstGeom prst="rect">
            <a:avLst/>
          </a:prstGeom>
          <a:solidFill>
            <a:srgbClr val="10102C"/>
          </a:solidFill>
          <a:ln w="15240">
            <a:solidFill>
              <a:srgbClr val="4444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06032" y="1317552"/>
            <a:ext cx="30000" cy="680000"/>
          </a:xfrm>
          <a:prstGeom prst="rect">
            <a:avLst/>
          </a:prstGeom>
          <a:solidFill>
            <a:srgbClr val="4444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76032" y="1377552"/>
            <a:ext cx="3914800" cy="250000"/>
          </a:xfrm>
          <a:prstGeom prst="rect">
            <a:avLst/>
          </a:prstGeom>
          <a:noFill/>
        </p:spPr>
        <p:txBody>
          <a:bodyPr wrap="square">
            <a:spAutoFit/>
          </a:bodyPr>
          <a:lstStyle/>
          <a:p>
            <a:pPr algn="l"/>
            <a:r>
              <a:rPr sz="900" b="1">
                <a:solidFill>
                  <a:srgbClr val="444466"/>
                </a:solidFill>
                <a:latin typeface="メイリオ"/>
              </a:rPr>
              <a:t>一般的なCZ</a:t>
            </a:r>
          </a:p>
        </p:txBody>
      </p:sp>
      <p:sp>
        <p:nvSpPr>
          <p:cNvPr id="16" name="TextBox 15"/>
          <p:cNvSpPr txBox="1"/>
          <p:nvPr/>
        </p:nvSpPr>
        <p:spPr>
          <a:xfrm>
            <a:off x="376032" y="1627552"/>
            <a:ext cx="3914800" cy="320000"/>
          </a:xfrm>
          <a:prstGeom prst="rect">
            <a:avLst/>
          </a:prstGeom>
          <a:noFill/>
        </p:spPr>
        <p:txBody>
          <a:bodyPr wrap="square">
            <a:spAutoFit/>
          </a:bodyPr>
          <a:lstStyle/>
          <a:p>
            <a:pPr algn="l"/>
            <a:r>
              <a:rPr sz="800" b="0">
                <a:solidFill>
                  <a:srgbClr val="E8E8F4"/>
                </a:solidFill>
                <a:latin typeface="メイリオ"/>
              </a:rPr>
              <a:t>失敗 → 振り出しに戻る
積み上げが消える（ロス感）</a:t>
            </a:r>
          </a:p>
        </p:txBody>
      </p:sp>
      <p:sp>
        <p:nvSpPr>
          <p:cNvPr id="17" name="Rectangle 16"/>
          <p:cNvSpPr/>
          <p:nvPr/>
        </p:nvSpPr>
        <p:spPr>
          <a:xfrm>
            <a:off x="306032" y="2047552"/>
            <a:ext cx="4014800" cy="680000"/>
          </a:xfrm>
          <a:prstGeom prst="rect">
            <a:avLst/>
          </a:prstGeom>
          <a:solidFill>
            <a:srgbClr val="10102C"/>
          </a:solidFill>
          <a:ln w="15240">
            <a:solidFill>
              <a:srgbClr val="6622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306032" y="2047552"/>
            <a:ext cx="30000" cy="680000"/>
          </a:xfrm>
          <a:prstGeom prst="rect">
            <a:avLst/>
          </a:prstGeom>
          <a:solidFill>
            <a:srgbClr val="6622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76032" y="2107552"/>
            <a:ext cx="3914800" cy="250000"/>
          </a:xfrm>
          <a:prstGeom prst="rect">
            <a:avLst/>
          </a:prstGeom>
          <a:noFill/>
        </p:spPr>
        <p:txBody>
          <a:bodyPr wrap="square">
            <a:spAutoFit/>
          </a:bodyPr>
          <a:lstStyle/>
          <a:p>
            <a:pPr algn="l"/>
            <a:r>
              <a:rPr sz="900" b="1">
                <a:solidFill>
                  <a:srgbClr val="6622AA"/>
                </a:solidFill>
                <a:latin typeface="メイリオ"/>
              </a:rPr>
              <a:t>虚構推理CZ</a:t>
            </a:r>
          </a:p>
        </p:txBody>
      </p:sp>
      <p:sp>
        <p:nvSpPr>
          <p:cNvPr id="20" name="TextBox 19"/>
          <p:cNvSpPr txBox="1"/>
          <p:nvPr/>
        </p:nvSpPr>
        <p:spPr>
          <a:xfrm>
            <a:off x="376032" y="2357552"/>
            <a:ext cx="3914800" cy="320000"/>
          </a:xfrm>
          <a:prstGeom prst="rect">
            <a:avLst/>
          </a:prstGeom>
          <a:noFill/>
        </p:spPr>
        <p:txBody>
          <a:bodyPr wrap="square">
            <a:spAutoFit/>
          </a:bodyPr>
          <a:lstStyle/>
          <a:p>
            <a:pPr algn="l"/>
            <a:r>
              <a:rPr sz="800" b="0">
                <a:solidFill>
                  <a:srgbClr val="E8E8F4"/>
                </a:solidFill>
                <a:latin typeface="メイリオ"/>
              </a:rPr>
              <a:t>失敗 → エピソード持越し
積み上げが残る（前進感）</a:t>
            </a:r>
          </a:p>
        </p:txBody>
      </p:sp>
      <p:sp>
        <p:nvSpPr>
          <p:cNvPr id="21" name="TextBox 20"/>
          <p:cNvSpPr txBox="1"/>
          <p:nvPr/>
        </p:nvSpPr>
        <p:spPr>
          <a:xfrm>
            <a:off x="316032" y="2857552"/>
            <a:ext cx="4014800" cy="220000"/>
          </a:xfrm>
          <a:prstGeom prst="rect">
            <a:avLst/>
          </a:prstGeom>
          <a:noFill/>
        </p:spPr>
        <p:txBody>
          <a:bodyPr wrap="square">
            <a:spAutoFit/>
          </a:bodyPr>
          <a:lstStyle/>
          <a:p>
            <a:pPr algn="l"/>
            <a:r>
              <a:rPr sz="850" b="1">
                <a:solidFill>
                  <a:srgbClr val="9944FF"/>
                </a:solidFill>
                <a:latin typeface="メイリオ"/>
              </a:rPr>
              <a:t>生まれる心理効果</a:t>
            </a:r>
          </a:p>
        </p:txBody>
      </p:sp>
      <p:sp>
        <p:nvSpPr>
          <p:cNvPr id="22" name="TextBox 21"/>
          <p:cNvSpPr txBox="1"/>
          <p:nvPr/>
        </p:nvSpPr>
        <p:spPr>
          <a:xfrm>
            <a:off x="316032" y="3097552"/>
            <a:ext cx="4014800" cy="260000"/>
          </a:xfrm>
          <a:prstGeom prst="rect">
            <a:avLst/>
          </a:prstGeom>
          <a:noFill/>
        </p:spPr>
        <p:txBody>
          <a:bodyPr wrap="square">
            <a:spAutoFit/>
          </a:bodyPr>
          <a:lstStyle/>
          <a:p>
            <a:pPr algn="l"/>
            <a:r>
              <a:rPr sz="800" b="0">
                <a:solidFill>
                  <a:srgbClr val="E8E8F4"/>
                </a:solidFill>
                <a:latin typeface="メイリオ"/>
              </a:rPr>
              <a:t>① 「諦めなくていい」という心理的安堵感</a:t>
            </a:r>
          </a:p>
        </p:txBody>
      </p:sp>
      <p:sp>
        <p:nvSpPr>
          <p:cNvPr id="23" name="TextBox 22"/>
          <p:cNvSpPr txBox="1"/>
          <p:nvPr/>
        </p:nvSpPr>
        <p:spPr>
          <a:xfrm>
            <a:off x="316032" y="3387552"/>
            <a:ext cx="4014800" cy="260000"/>
          </a:xfrm>
          <a:prstGeom prst="rect">
            <a:avLst/>
          </a:prstGeom>
          <a:noFill/>
        </p:spPr>
        <p:txBody>
          <a:bodyPr wrap="square">
            <a:spAutoFit/>
          </a:bodyPr>
          <a:lstStyle/>
          <a:p>
            <a:pPr algn="l"/>
            <a:r>
              <a:rPr sz="800" b="0">
                <a:solidFill>
                  <a:srgbClr val="E8E8F4"/>
                </a:solidFill>
                <a:latin typeface="メイリオ"/>
              </a:rPr>
              <a:t>② 「あと○エピソード」という継続動機</a:t>
            </a:r>
          </a:p>
        </p:txBody>
      </p:sp>
      <p:sp>
        <p:nvSpPr>
          <p:cNvPr id="24" name="TextBox 23"/>
          <p:cNvSpPr txBox="1"/>
          <p:nvPr/>
        </p:nvSpPr>
        <p:spPr>
          <a:xfrm>
            <a:off x="316032" y="3677552"/>
            <a:ext cx="4014800" cy="260000"/>
          </a:xfrm>
          <a:prstGeom prst="rect">
            <a:avLst/>
          </a:prstGeom>
          <a:noFill/>
        </p:spPr>
        <p:txBody>
          <a:bodyPr wrap="square">
            <a:spAutoFit/>
          </a:bodyPr>
          <a:lstStyle/>
          <a:p>
            <a:pPr algn="l"/>
            <a:r>
              <a:rPr sz="800" b="0">
                <a:solidFill>
                  <a:srgbClr val="E8E8F4"/>
                </a:solidFill>
                <a:latin typeface="メイリオ"/>
              </a:rPr>
              <a:t>③ 長期投資を「前進感」で正当化できる</a:t>
            </a:r>
          </a:p>
        </p:txBody>
      </p:sp>
      <p:sp>
        <p:nvSpPr>
          <p:cNvPr id="25" name="TextBox 24"/>
          <p:cNvSpPr txBox="1"/>
          <p:nvPr/>
        </p:nvSpPr>
        <p:spPr>
          <a:xfrm>
            <a:off x="316032" y="3967552"/>
            <a:ext cx="4014800" cy="260000"/>
          </a:xfrm>
          <a:prstGeom prst="rect">
            <a:avLst/>
          </a:prstGeom>
          <a:noFill/>
        </p:spPr>
        <p:txBody>
          <a:bodyPr wrap="square">
            <a:spAutoFit/>
          </a:bodyPr>
          <a:lstStyle/>
          <a:p>
            <a:pPr algn="l"/>
            <a:r>
              <a:rPr sz="800" b="0">
                <a:solidFill>
                  <a:srgbClr val="E8E8F4"/>
                </a:solidFill>
                <a:latin typeface="メイリオ"/>
              </a:rPr>
              <a:t>④ 失敗がストーリーの一部になる没入感</a:t>
            </a:r>
          </a:p>
        </p:txBody>
      </p:sp>
      <p:sp>
        <p:nvSpPr>
          <p:cNvPr id="26" name="Rectangle 25"/>
          <p:cNvSpPr/>
          <p:nvPr/>
        </p:nvSpPr>
        <p:spPr>
          <a:xfrm>
            <a:off x="4617720" y="987552"/>
            <a:ext cx="4251960" cy="3200000"/>
          </a:xfrm>
          <a:prstGeom prst="rect">
            <a:avLst/>
          </a:prstGeom>
          <a:solidFill>
            <a:srgbClr val="080824"/>
          </a:solidFill>
          <a:ln w="19050">
            <a:solidFill>
              <a:srgbClr val="22AA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617720" y="987552"/>
            <a:ext cx="45000" cy="3200000"/>
          </a:xfrm>
          <a:prstGeom prst="rect">
            <a:avLst/>
          </a:prstGeom>
          <a:solidFill>
            <a:srgbClr val="22AA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692720" y="1037552"/>
            <a:ext cx="4151960" cy="270000"/>
          </a:xfrm>
          <a:prstGeom prst="rect">
            <a:avLst/>
          </a:prstGeom>
          <a:noFill/>
        </p:spPr>
        <p:txBody>
          <a:bodyPr wrap="square">
            <a:spAutoFit/>
          </a:bodyPr>
          <a:lstStyle/>
          <a:p>
            <a:pPr algn="l"/>
            <a:r>
              <a:rPr sz="1000" b="1">
                <a:solidFill>
                  <a:srgbClr val="22AACC"/>
                </a:solidFill>
                <a:latin typeface="游明朝"/>
              </a:rPr>
              <a:t>ARROW告知という外部デバイスの独自価値</a:t>
            </a:r>
          </a:p>
        </p:txBody>
      </p:sp>
      <p:sp>
        <p:nvSpPr>
          <p:cNvPr id="29" name="Rectangle 28"/>
          <p:cNvSpPr/>
          <p:nvPr/>
        </p:nvSpPr>
        <p:spPr>
          <a:xfrm>
            <a:off x="4667720" y="1337552"/>
            <a:ext cx="25000" cy="660000"/>
          </a:xfrm>
          <a:prstGeom prst="rect">
            <a:avLst/>
          </a:prstGeom>
          <a:solidFill>
            <a:srgbClr val="22AA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727720" y="1367552"/>
            <a:ext cx="4091960" cy="250000"/>
          </a:xfrm>
          <a:prstGeom prst="rect">
            <a:avLst/>
          </a:prstGeom>
          <a:noFill/>
        </p:spPr>
        <p:txBody>
          <a:bodyPr wrap="square">
            <a:spAutoFit/>
          </a:bodyPr>
          <a:lstStyle/>
          <a:p>
            <a:pPr algn="l"/>
            <a:r>
              <a:rPr sz="900" b="1">
                <a:solidFill>
                  <a:srgbClr val="22AACC"/>
                </a:solidFill>
                <a:latin typeface="メイリオ"/>
              </a:rPr>
              <a:t>視覚的差別化</a:t>
            </a:r>
          </a:p>
        </p:txBody>
      </p:sp>
      <p:sp>
        <p:nvSpPr>
          <p:cNvPr id="31" name="TextBox 30"/>
          <p:cNvSpPr txBox="1"/>
          <p:nvPr/>
        </p:nvSpPr>
        <p:spPr>
          <a:xfrm>
            <a:off x="4727720" y="1617552"/>
            <a:ext cx="4091960" cy="360000"/>
          </a:xfrm>
          <a:prstGeom prst="rect">
            <a:avLst/>
          </a:prstGeom>
          <a:noFill/>
        </p:spPr>
        <p:txBody>
          <a:bodyPr wrap="square">
            <a:spAutoFit/>
          </a:bodyPr>
          <a:lstStyle/>
          <a:p>
            <a:pPr algn="l"/>
            <a:r>
              <a:rPr sz="800" b="0">
                <a:solidFill>
                  <a:srgbClr val="E8E8F4"/>
                </a:solidFill>
                <a:latin typeface="メイリオ"/>
              </a:rPr>
              <a:t>画面内の演出と異なり「筐体が光る」体験
視野の端で色変化を察知する非日常感</a:t>
            </a:r>
          </a:p>
        </p:txBody>
      </p:sp>
      <p:sp>
        <p:nvSpPr>
          <p:cNvPr id="32" name="Rectangle 31"/>
          <p:cNvSpPr/>
          <p:nvPr/>
        </p:nvSpPr>
        <p:spPr>
          <a:xfrm>
            <a:off x="4667720" y="2057552"/>
            <a:ext cx="25000" cy="660000"/>
          </a:xfrm>
          <a:prstGeom prst="rect">
            <a:avLst/>
          </a:prstGeom>
          <a:solidFill>
            <a:srgbClr val="994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727720" y="2087552"/>
            <a:ext cx="4091960" cy="250000"/>
          </a:xfrm>
          <a:prstGeom prst="rect">
            <a:avLst/>
          </a:prstGeom>
          <a:noFill/>
        </p:spPr>
        <p:txBody>
          <a:bodyPr wrap="square">
            <a:spAutoFit/>
          </a:bodyPr>
          <a:lstStyle/>
          <a:p>
            <a:pPr algn="l"/>
            <a:r>
              <a:rPr sz="900" b="1">
                <a:solidFill>
                  <a:srgbClr val="9944FF"/>
                </a:solidFill>
                <a:latin typeface="メイリオ"/>
              </a:rPr>
              <a:t>集中力の1点集中</a:t>
            </a:r>
          </a:p>
        </p:txBody>
      </p:sp>
      <p:sp>
        <p:nvSpPr>
          <p:cNvPr id="34" name="TextBox 33"/>
          <p:cNvSpPr txBox="1"/>
          <p:nvPr/>
        </p:nvSpPr>
        <p:spPr>
          <a:xfrm>
            <a:off x="4727720" y="2337552"/>
            <a:ext cx="4091960" cy="360000"/>
          </a:xfrm>
          <a:prstGeom prst="rect">
            <a:avLst/>
          </a:prstGeom>
          <a:noFill/>
        </p:spPr>
        <p:txBody>
          <a:bodyPr wrap="square">
            <a:spAutoFit/>
          </a:bodyPr>
          <a:lstStyle/>
          <a:p>
            <a:pPr algn="l"/>
            <a:r>
              <a:rPr sz="800" b="0">
                <a:solidFill>
                  <a:srgbClr val="E8E8F4"/>
                </a:solidFill>
                <a:latin typeface="メイリオ"/>
              </a:rPr>
              <a:t>最終Gにすべての情報がARROWに集約される
「何色が光るか」という純粋な緊張の頂点</a:t>
            </a:r>
          </a:p>
        </p:txBody>
      </p:sp>
      <p:sp>
        <p:nvSpPr>
          <p:cNvPr id="35" name="Rectangle 34"/>
          <p:cNvSpPr/>
          <p:nvPr/>
        </p:nvSpPr>
        <p:spPr>
          <a:xfrm>
            <a:off x="4667720" y="2777552"/>
            <a:ext cx="25000" cy="660000"/>
          </a:xfrm>
          <a:prstGeom prst="rect">
            <a:avLst/>
          </a:prstGeom>
          <a:solidFill>
            <a:srgbClr val="22CC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727720" y="2807552"/>
            <a:ext cx="4091960" cy="250000"/>
          </a:xfrm>
          <a:prstGeom prst="rect">
            <a:avLst/>
          </a:prstGeom>
          <a:noFill/>
        </p:spPr>
        <p:txBody>
          <a:bodyPr wrap="square">
            <a:spAutoFit/>
          </a:bodyPr>
          <a:lstStyle/>
          <a:p>
            <a:pPr algn="l"/>
            <a:r>
              <a:rPr sz="900" b="1">
                <a:solidFill>
                  <a:srgbClr val="22CC66"/>
                </a:solidFill>
                <a:latin typeface="メイリオ"/>
              </a:rPr>
              <a:t>社会的共有性</a:t>
            </a:r>
          </a:p>
        </p:txBody>
      </p:sp>
      <p:sp>
        <p:nvSpPr>
          <p:cNvPr id="37" name="TextBox 36"/>
          <p:cNvSpPr txBox="1"/>
          <p:nvPr/>
        </p:nvSpPr>
        <p:spPr>
          <a:xfrm>
            <a:off x="4727720" y="3057552"/>
            <a:ext cx="4091960" cy="360000"/>
          </a:xfrm>
          <a:prstGeom prst="rect">
            <a:avLst/>
          </a:prstGeom>
          <a:noFill/>
        </p:spPr>
        <p:txBody>
          <a:bodyPr wrap="square">
            <a:spAutoFit/>
          </a:bodyPr>
          <a:lstStyle/>
          <a:p>
            <a:pPr algn="l"/>
            <a:r>
              <a:rPr sz="800" b="0">
                <a:solidFill>
                  <a:srgbClr val="E8E8F4"/>
                </a:solidFill>
                <a:latin typeface="メイリオ"/>
              </a:rPr>
              <a:t>周囲からも見えるため「話題になる」設計
「ARROWが赤く光った」を隣と共有できる</a:t>
            </a:r>
          </a:p>
        </p:txBody>
      </p:sp>
      <p:sp>
        <p:nvSpPr>
          <p:cNvPr id="38" name="Rectangle 37"/>
          <p:cNvSpPr/>
          <p:nvPr/>
        </p:nvSpPr>
        <p:spPr>
          <a:xfrm>
            <a:off x="4667720" y="3497552"/>
            <a:ext cx="25000" cy="660000"/>
          </a:xfrm>
          <a:prstGeom prst="rect">
            <a:avLst/>
          </a:prstGeom>
          <a:solidFill>
            <a:srgbClr val="C8A8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727720" y="3527552"/>
            <a:ext cx="4091960" cy="250000"/>
          </a:xfrm>
          <a:prstGeom prst="rect">
            <a:avLst/>
          </a:prstGeom>
          <a:noFill/>
        </p:spPr>
        <p:txBody>
          <a:bodyPr wrap="square">
            <a:spAutoFit/>
          </a:bodyPr>
          <a:lstStyle/>
          <a:p>
            <a:pPr algn="l"/>
            <a:r>
              <a:rPr sz="900" b="1">
                <a:solidFill>
                  <a:srgbClr val="C8A840"/>
                </a:solidFill>
                <a:latin typeface="メイリオ"/>
              </a:rPr>
              <a:t>色と契機の直感的対応</a:t>
            </a:r>
          </a:p>
        </p:txBody>
      </p:sp>
      <p:sp>
        <p:nvSpPr>
          <p:cNvPr id="40" name="TextBox 39"/>
          <p:cNvSpPr txBox="1"/>
          <p:nvPr/>
        </p:nvSpPr>
        <p:spPr>
          <a:xfrm>
            <a:off x="4727720" y="3777552"/>
            <a:ext cx="4091960" cy="360000"/>
          </a:xfrm>
          <a:prstGeom prst="rect">
            <a:avLst/>
          </a:prstGeom>
          <a:noFill/>
        </p:spPr>
        <p:txBody>
          <a:bodyPr wrap="square">
            <a:spAutoFit/>
          </a:bodyPr>
          <a:lstStyle/>
          <a:p>
            <a:pPr algn="l"/>
            <a:r>
              <a:rPr sz="800" b="0">
                <a:solidFill>
                  <a:srgbClr val="E8E8F4"/>
                </a:solidFill>
                <a:latin typeface="メイリオ"/>
              </a:rPr>
              <a:t>白=一撃成功・赤=弱チェリー・赤点滅=強チェリーという
「色が当選契機を直接示す」7段階の明快設計</a:t>
            </a:r>
          </a:p>
        </p:txBody>
      </p:sp>
      <p:sp>
        <p:nvSpPr>
          <p:cNvPr id="41" name="Rectangle 40"/>
          <p:cNvSpPr/>
          <p:nvPr/>
        </p:nvSpPr>
        <p:spPr>
          <a:xfrm>
            <a:off x="0" y="4663440"/>
            <a:ext cx="9144000" cy="380000"/>
          </a:xfrm>
          <a:prstGeom prst="rect">
            <a:avLst/>
          </a:prstGeom>
          <a:solidFill>
            <a:srgbClr val="0604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0" y="4663440"/>
            <a:ext cx="20000" cy="380000"/>
          </a:xfrm>
          <a:prstGeom prst="rect">
            <a:avLst/>
          </a:prstGeom>
          <a:solidFill>
            <a:srgbClr val="6622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201168" y="4703440"/>
            <a:ext cx="5486400" cy="160000"/>
          </a:xfrm>
          <a:prstGeom prst="rect">
            <a:avLst/>
          </a:prstGeom>
          <a:noFill/>
        </p:spPr>
        <p:txBody>
          <a:bodyPr wrap="square">
            <a:spAutoFit/>
          </a:bodyPr>
          <a:lstStyle/>
          <a:p>
            <a:pPr algn="l"/>
            <a:r>
              <a:rPr sz="750" b="1">
                <a:solidFill>
                  <a:srgbClr val="9944FF"/>
                </a:solidFill>
                <a:latin typeface="メイリオ"/>
              </a:rPr>
              <a:t>設計コメント：「失敗が前進になる」キャリーオーバー設計と「色が当選契機を示す」ARROW告知の組み合わせは他機種に前例なし</a:t>
            </a:r>
          </a:p>
        </p:txBody>
      </p:sp>
      <p:sp>
        <p:nvSpPr>
          <p:cNvPr id="44" name="TextBox 43"/>
          <p:cNvSpPr txBox="1"/>
          <p:nvPr/>
        </p:nvSpPr>
        <p:spPr>
          <a:xfrm>
            <a:off x="201168" y="4863440"/>
            <a:ext cx="8412480" cy="160000"/>
          </a:xfrm>
          <a:prstGeom prst="rect">
            <a:avLst/>
          </a:prstGeom>
          <a:noFill/>
        </p:spPr>
        <p:txBody>
          <a:bodyPr wrap="square">
            <a:spAutoFit/>
          </a:bodyPr>
          <a:lstStyle/>
          <a:p>
            <a:pPr algn="l"/>
            <a:r>
              <a:rPr sz="700" b="0">
                <a:solidFill>
                  <a:srgbClr val="8888AA"/>
                </a:solidFill>
                <a:latin typeface="メイリオ"/>
              </a:rPr>
              <a:t>補足：ARROWは単なる演出でなく「何が当たったか」を教えるデバイス。白光=一撃成功で白7BB期待という設計意図が明快</a:t>
            </a:r>
          </a:p>
        </p:txBody>
      </p:sp>
      <p:sp>
        <p:nvSpPr>
          <p:cNvPr id="45" name="TextBox 44"/>
          <p:cNvSpPr txBox="1"/>
          <p:nvPr/>
        </p:nvSpPr>
        <p:spPr>
          <a:xfrm>
            <a:off x="7498079" y="4919472"/>
            <a:ext cx="1554480" cy="180000"/>
          </a:xfrm>
          <a:prstGeom prst="rect">
            <a:avLst/>
          </a:prstGeom>
          <a:noFill/>
        </p:spPr>
        <p:txBody>
          <a:bodyPr wrap="square">
            <a:spAutoFit/>
          </a:bodyPr>
          <a:lstStyle/>
          <a:p>
            <a:pPr algn="r"/>
            <a:r>
              <a:rPr sz="700" b="0">
                <a:solidFill>
                  <a:srgbClr val="8888AA"/>
                </a:solidFill>
                <a:latin typeface="メイリオ"/>
              </a:rPr>
              <a:t>※ネット解析情報より</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9144000" cy="5143500"/>
          </a:xfrm>
          <a:prstGeom prst="rect">
            <a:avLst/>
          </a:prstGeom>
        </p:spPr>
      </p:pic>
      <p:sp>
        <p:nvSpPr>
          <p:cNvPr id="3" name="Rectangle 2"/>
          <p:cNvSpPr/>
          <p:nvPr/>
        </p:nvSpPr>
        <p:spPr>
          <a:xfrm>
            <a:off x="0" y="0"/>
            <a:ext cx="9144000" cy="530352"/>
          </a:xfrm>
          <a:prstGeom prst="rect">
            <a:avLst/>
          </a:prstGeom>
          <a:solidFill>
            <a:srgbClr val="0808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45000" cy="530352"/>
          </a:xfrm>
          <a:prstGeom prst="rect">
            <a:avLst/>
          </a:prstGeom>
          <a:solidFill>
            <a:srgbClr val="6622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37160" y="28000"/>
            <a:ext cx="7772400" cy="410000"/>
          </a:xfrm>
          <a:prstGeom prst="rect">
            <a:avLst/>
          </a:prstGeom>
          <a:noFill/>
        </p:spPr>
        <p:txBody>
          <a:bodyPr wrap="square">
            <a:spAutoFit/>
          </a:bodyPr>
          <a:lstStyle/>
          <a:p>
            <a:pPr algn="l"/>
            <a:r>
              <a:rPr sz="1400" b="1">
                <a:solidFill>
                  <a:srgbClr val="22AACC"/>
                </a:solidFill>
                <a:latin typeface="游明朝"/>
              </a:rPr>
              <a:t>良い点と課題 ── 独自設計の革新性 vs 到達性の問題</a:t>
            </a:r>
          </a:p>
        </p:txBody>
      </p:sp>
      <p:sp>
        <p:nvSpPr>
          <p:cNvPr id="6" name="TextBox 5"/>
          <p:cNvSpPr txBox="1"/>
          <p:nvPr/>
        </p:nvSpPr>
        <p:spPr>
          <a:xfrm>
            <a:off x="8046720" y="45000"/>
            <a:ext cx="914400" cy="340000"/>
          </a:xfrm>
          <a:prstGeom prst="rect">
            <a:avLst/>
          </a:prstGeom>
          <a:noFill/>
        </p:spPr>
        <p:txBody>
          <a:bodyPr wrap="square">
            <a:spAutoFit/>
          </a:bodyPr>
          <a:lstStyle/>
          <a:p>
            <a:pPr algn="r"/>
            <a:r>
              <a:rPr sz="800" b="0">
                <a:solidFill>
                  <a:srgbClr val="8888AA"/>
                </a:solidFill>
                <a:latin typeface="メイリオ"/>
              </a:rPr>
              <a:t>8/9</a:t>
            </a:r>
          </a:p>
        </p:txBody>
      </p:sp>
      <p:sp>
        <p:nvSpPr>
          <p:cNvPr id="7" name="Rectangle 6"/>
          <p:cNvSpPr/>
          <p:nvPr/>
        </p:nvSpPr>
        <p:spPr>
          <a:xfrm>
            <a:off x="0" y="530352"/>
            <a:ext cx="9144000" cy="7000"/>
          </a:xfrm>
          <a:prstGeom prst="rect">
            <a:avLst/>
          </a:prstGeom>
          <a:solidFill>
            <a:srgbClr val="6622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56032" y="658368"/>
            <a:ext cx="8631936" cy="540000"/>
          </a:xfrm>
          <a:prstGeom prst="rect">
            <a:avLst/>
          </a:prstGeom>
          <a:solidFill>
            <a:srgbClr val="080824"/>
          </a:solidFill>
          <a:ln w="19050">
            <a:solidFill>
              <a:srgbClr val="CC111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56032" y="658368"/>
            <a:ext cx="45000" cy="540000"/>
          </a:xfrm>
          <a:prstGeom prst="rect">
            <a:avLst/>
          </a:prstGeom>
          <a:solidFill>
            <a:srgbClr val="CC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694944"/>
            <a:ext cx="8229600" cy="260000"/>
          </a:xfrm>
          <a:prstGeom prst="rect">
            <a:avLst/>
          </a:prstGeom>
          <a:noFill/>
        </p:spPr>
        <p:txBody>
          <a:bodyPr wrap="square">
            <a:spAutoFit/>
          </a:bodyPr>
          <a:lstStyle/>
          <a:p>
            <a:pPr algn="l"/>
            <a:r>
              <a:rPr sz="900" b="1">
                <a:solidFill>
                  <a:srgbClr val="FF3333"/>
                </a:solidFill>
                <a:latin typeface="游明朝"/>
              </a:rPr>
              <a:t>評価の現実：DMMレビュー平均1.4点（134件）という低評価　vs　高設定9400枚一撃事例</a:t>
            </a:r>
          </a:p>
        </p:txBody>
      </p:sp>
      <p:sp>
        <p:nvSpPr>
          <p:cNvPr id="11" name="TextBox 10"/>
          <p:cNvSpPr txBox="1"/>
          <p:nvPr/>
        </p:nvSpPr>
        <p:spPr>
          <a:xfrm>
            <a:off x="457200" y="969264"/>
            <a:ext cx="8229600" cy="220000"/>
          </a:xfrm>
          <a:prstGeom prst="rect">
            <a:avLst/>
          </a:prstGeom>
          <a:noFill/>
        </p:spPr>
        <p:txBody>
          <a:bodyPr wrap="square">
            <a:spAutoFit/>
          </a:bodyPr>
          <a:lstStyle/>
          <a:p>
            <a:pPr algn="l"/>
            <a:r>
              <a:rPr sz="800" b="0">
                <a:solidFill>
                  <a:srgbClr val="E8E8F4"/>
                </a:solidFill>
                <a:latin typeface="メイリオ"/>
              </a:rPr>
              <a:t>独自性の高さとプレイヤーが感じる「到達できない」課題が評価を二極化させている</a:t>
            </a:r>
          </a:p>
        </p:txBody>
      </p:sp>
      <p:sp>
        <p:nvSpPr>
          <p:cNvPr id="12" name="Rectangle 11"/>
          <p:cNvSpPr/>
          <p:nvPr/>
        </p:nvSpPr>
        <p:spPr>
          <a:xfrm>
            <a:off x="256032" y="1298448"/>
            <a:ext cx="4114800" cy="2750000"/>
          </a:xfrm>
          <a:prstGeom prst="rect">
            <a:avLst/>
          </a:prstGeom>
          <a:solidFill>
            <a:srgbClr val="080824"/>
          </a:solidFill>
          <a:ln w="19050">
            <a:solidFill>
              <a:srgbClr val="22CC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56032" y="1298448"/>
            <a:ext cx="45000" cy="2750000"/>
          </a:xfrm>
          <a:prstGeom prst="rect">
            <a:avLst/>
          </a:prstGeom>
          <a:solidFill>
            <a:srgbClr val="22CC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1348448"/>
            <a:ext cx="4014800" cy="270000"/>
          </a:xfrm>
          <a:prstGeom prst="rect">
            <a:avLst/>
          </a:prstGeom>
          <a:noFill/>
        </p:spPr>
        <p:txBody>
          <a:bodyPr wrap="square">
            <a:spAutoFit/>
          </a:bodyPr>
          <a:lstStyle/>
          <a:p>
            <a:pPr algn="l"/>
            <a:r>
              <a:rPr sz="1100" b="1">
                <a:solidFill>
                  <a:srgbClr val="22CC66"/>
                </a:solidFill>
                <a:latin typeface="游明朝"/>
              </a:rPr>
              <a:t>良い点（革新性・独自設計）</a:t>
            </a:r>
          </a:p>
        </p:txBody>
      </p:sp>
      <p:sp>
        <p:nvSpPr>
          <p:cNvPr id="15" name="Rectangle 14"/>
          <p:cNvSpPr/>
          <p:nvPr/>
        </p:nvSpPr>
        <p:spPr>
          <a:xfrm>
            <a:off x="365760" y="1638448"/>
            <a:ext cx="3934800" cy="567500"/>
          </a:xfrm>
          <a:prstGeom prst="rect">
            <a:avLst/>
          </a:prstGeom>
          <a:solidFill>
            <a:srgbClr val="10102C"/>
          </a:solidFill>
          <a:ln w="12700">
            <a:solidFill>
              <a:srgbClr val="22CC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65760" y="1638448"/>
            <a:ext cx="20000" cy="567500"/>
          </a:xfrm>
          <a:prstGeom prst="rect">
            <a:avLst/>
          </a:prstGeom>
          <a:solidFill>
            <a:srgbClr val="22CC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02920" y="1668448"/>
            <a:ext cx="3874800" cy="240000"/>
          </a:xfrm>
          <a:prstGeom prst="rect">
            <a:avLst/>
          </a:prstGeom>
          <a:noFill/>
        </p:spPr>
        <p:txBody>
          <a:bodyPr wrap="square">
            <a:spAutoFit/>
          </a:bodyPr>
          <a:lstStyle/>
          <a:p>
            <a:pPr algn="l"/>
            <a:r>
              <a:rPr sz="850" b="1">
                <a:solidFill>
                  <a:srgbClr val="22CC66"/>
                </a:solidFill>
                <a:latin typeface="メイリオ"/>
              </a:rPr>
              <a:t>エピソードキャリーオーバー</a:t>
            </a:r>
          </a:p>
        </p:txBody>
      </p:sp>
      <p:sp>
        <p:nvSpPr>
          <p:cNvPr id="18" name="TextBox 17"/>
          <p:cNvSpPr txBox="1"/>
          <p:nvPr/>
        </p:nvSpPr>
        <p:spPr>
          <a:xfrm>
            <a:off x="502920" y="1908448"/>
            <a:ext cx="3874800" cy="277500"/>
          </a:xfrm>
          <a:prstGeom prst="rect">
            <a:avLst/>
          </a:prstGeom>
          <a:noFill/>
        </p:spPr>
        <p:txBody>
          <a:bodyPr wrap="square">
            <a:spAutoFit/>
          </a:bodyPr>
          <a:lstStyle/>
          <a:p>
            <a:pPr algn="l"/>
            <a:r>
              <a:rPr sz="750" b="0">
                <a:solidFill>
                  <a:srgbClr val="E8E8F4"/>
                </a:solidFill>
                <a:latin typeface="メイリオ"/>
              </a:rPr>
              <a:t>失敗が前進になる唯一無二の設計。
パチスロ史上でも稀なCZ設計思想。</a:t>
            </a:r>
          </a:p>
        </p:txBody>
      </p:sp>
      <p:sp>
        <p:nvSpPr>
          <p:cNvPr id="19" name="Rectangle 18"/>
          <p:cNvSpPr/>
          <p:nvPr/>
        </p:nvSpPr>
        <p:spPr>
          <a:xfrm>
            <a:off x="365760" y="2245948"/>
            <a:ext cx="3934800" cy="567500"/>
          </a:xfrm>
          <a:prstGeom prst="rect">
            <a:avLst/>
          </a:prstGeom>
          <a:solidFill>
            <a:srgbClr val="10102C"/>
          </a:solidFill>
          <a:ln w="12700">
            <a:solidFill>
              <a:srgbClr val="22AA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365760" y="2245948"/>
            <a:ext cx="20000" cy="567500"/>
          </a:xfrm>
          <a:prstGeom prst="rect">
            <a:avLst/>
          </a:prstGeom>
          <a:solidFill>
            <a:srgbClr val="22AA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02920" y="2275948"/>
            <a:ext cx="3874800" cy="240000"/>
          </a:xfrm>
          <a:prstGeom prst="rect">
            <a:avLst/>
          </a:prstGeom>
          <a:noFill/>
        </p:spPr>
        <p:txBody>
          <a:bodyPr wrap="square">
            <a:spAutoFit/>
          </a:bodyPr>
          <a:lstStyle/>
          <a:p>
            <a:pPr algn="l"/>
            <a:r>
              <a:rPr sz="850" b="1">
                <a:solidFill>
                  <a:srgbClr val="22AACC"/>
                </a:solidFill>
                <a:latin typeface="メイリオ"/>
              </a:rPr>
              <a:t>ARROW告知デバイス（当選契機告知）</a:t>
            </a:r>
          </a:p>
        </p:txBody>
      </p:sp>
      <p:sp>
        <p:nvSpPr>
          <p:cNvPr id="22" name="TextBox 21"/>
          <p:cNvSpPr txBox="1"/>
          <p:nvPr/>
        </p:nvSpPr>
        <p:spPr>
          <a:xfrm>
            <a:off x="502920" y="2515948"/>
            <a:ext cx="3874800" cy="277500"/>
          </a:xfrm>
          <a:prstGeom prst="rect">
            <a:avLst/>
          </a:prstGeom>
          <a:noFill/>
        </p:spPr>
        <p:txBody>
          <a:bodyPr wrap="square">
            <a:spAutoFit/>
          </a:bodyPr>
          <a:lstStyle/>
          <a:p>
            <a:pPr algn="l"/>
            <a:r>
              <a:rPr sz="750" b="0">
                <a:solidFill>
                  <a:srgbClr val="E8E8F4"/>
                </a:solidFill>
                <a:latin typeface="メイリオ"/>
              </a:rPr>
              <a:t>色=当選契機対応（白=一撃/赤点滅=強チェリー確定）という
他機種にない外部デバイス告知体験。話題性・コミュニティ形成に貢献。</a:t>
            </a:r>
          </a:p>
        </p:txBody>
      </p:sp>
      <p:sp>
        <p:nvSpPr>
          <p:cNvPr id="23" name="Rectangle 22"/>
          <p:cNvSpPr/>
          <p:nvPr/>
        </p:nvSpPr>
        <p:spPr>
          <a:xfrm>
            <a:off x="365760" y="2853448"/>
            <a:ext cx="3934800" cy="567500"/>
          </a:xfrm>
          <a:prstGeom prst="rect">
            <a:avLst/>
          </a:prstGeom>
          <a:solidFill>
            <a:srgbClr val="10102C"/>
          </a:solidFill>
          <a:ln w="12700">
            <a:solidFill>
              <a:srgbClr val="9944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365760" y="2853448"/>
            <a:ext cx="20000" cy="567500"/>
          </a:xfrm>
          <a:prstGeom prst="rect">
            <a:avLst/>
          </a:prstGeom>
          <a:solidFill>
            <a:srgbClr val="994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02920" y="2883448"/>
            <a:ext cx="3874800" cy="240000"/>
          </a:xfrm>
          <a:prstGeom prst="rect">
            <a:avLst/>
          </a:prstGeom>
          <a:noFill/>
        </p:spPr>
        <p:txBody>
          <a:bodyPr wrap="square">
            <a:spAutoFit/>
          </a:bodyPr>
          <a:lstStyle/>
          <a:p>
            <a:pPr algn="l"/>
            <a:r>
              <a:rPr sz="850" b="1">
                <a:solidFill>
                  <a:srgbClr val="9944FF"/>
                </a:solidFill>
                <a:latin typeface="メイリオ"/>
              </a:rPr>
              <a:t>虚構連モード3種の明確化</a:t>
            </a:r>
          </a:p>
        </p:txBody>
      </p:sp>
      <p:sp>
        <p:nvSpPr>
          <p:cNvPr id="26" name="TextBox 25"/>
          <p:cNvSpPr txBox="1"/>
          <p:nvPr/>
        </p:nvSpPr>
        <p:spPr>
          <a:xfrm>
            <a:off x="502920" y="3123448"/>
            <a:ext cx="3874800" cy="277500"/>
          </a:xfrm>
          <a:prstGeom prst="rect">
            <a:avLst/>
          </a:prstGeom>
          <a:noFill/>
        </p:spPr>
        <p:txBody>
          <a:bodyPr wrap="square">
            <a:spAutoFit/>
          </a:bodyPr>
          <a:lstStyle/>
          <a:p>
            <a:pPr algn="l"/>
            <a:r>
              <a:rPr sz="750" b="0">
                <a:solidFill>
                  <a:srgbClr val="E8E8F4"/>
                </a:solidFill>
                <a:latin typeface="メイリオ"/>
              </a:rPr>
              <a:t>Short56%→Middle81%→Long95%というループ率段階設計が
プレイヤーの目標を明確化。六花ステージ=Longの判別も容易。</a:t>
            </a:r>
          </a:p>
        </p:txBody>
      </p:sp>
      <p:sp>
        <p:nvSpPr>
          <p:cNvPr id="27" name="Rectangle 26"/>
          <p:cNvSpPr/>
          <p:nvPr/>
        </p:nvSpPr>
        <p:spPr>
          <a:xfrm>
            <a:off x="365760" y="3460948"/>
            <a:ext cx="3934800" cy="567500"/>
          </a:xfrm>
          <a:prstGeom prst="rect">
            <a:avLst/>
          </a:prstGeom>
          <a:solidFill>
            <a:srgbClr val="10102C"/>
          </a:solidFill>
          <a:ln w="12700">
            <a:solidFill>
              <a:srgbClr val="C8A8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365760" y="3460948"/>
            <a:ext cx="20000" cy="567500"/>
          </a:xfrm>
          <a:prstGeom prst="rect">
            <a:avLst/>
          </a:prstGeom>
          <a:solidFill>
            <a:srgbClr val="C8A8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02920" y="3490948"/>
            <a:ext cx="3874800" cy="240000"/>
          </a:xfrm>
          <a:prstGeom prst="rect">
            <a:avLst/>
          </a:prstGeom>
          <a:noFill/>
        </p:spPr>
        <p:txBody>
          <a:bodyPr wrap="square">
            <a:spAutoFit/>
          </a:bodyPr>
          <a:lstStyle/>
          <a:p>
            <a:pPr algn="l"/>
            <a:r>
              <a:rPr sz="850" b="1">
                <a:solidFill>
                  <a:srgbClr val="C8A840"/>
                </a:solidFill>
                <a:latin typeface="メイリオ"/>
              </a:rPr>
              <a:t>高設定時の爆発力</a:t>
            </a:r>
          </a:p>
        </p:txBody>
      </p:sp>
      <p:sp>
        <p:nvSpPr>
          <p:cNvPr id="30" name="TextBox 29"/>
          <p:cNvSpPr txBox="1"/>
          <p:nvPr/>
        </p:nvSpPr>
        <p:spPr>
          <a:xfrm>
            <a:off x="502920" y="3730948"/>
            <a:ext cx="3874800" cy="277500"/>
          </a:xfrm>
          <a:prstGeom prst="rect">
            <a:avLst/>
          </a:prstGeom>
          <a:noFill/>
        </p:spPr>
        <p:txBody>
          <a:bodyPr wrap="square">
            <a:spAutoFit/>
          </a:bodyPr>
          <a:lstStyle/>
          <a:p>
            <a:pPr algn="l"/>
            <a:r>
              <a:rPr sz="750" b="0">
                <a:solidFill>
                  <a:srgbClr val="E8E8F4"/>
                </a:solidFill>
                <a:latin typeface="メイリオ"/>
              </a:rPr>
              <a:t>9400枚一撃事例が示す爆発ポテンシャル。
スペック上の夢は本物。</a:t>
            </a:r>
          </a:p>
        </p:txBody>
      </p:sp>
      <p:sp>
        <p:nvSpPr>
          <p:cNvPr id="31" name="Rectangle 30"/>
          <p:cNvSpPr/>
          <p:nvPr/>
        </p:nvSpPr>
        <p:spPr>
          <a:xfrm>
            <a:off x="4617720" y="1298448"/>
            <a:ext cx="4251960" cy="2750000"/>
          </a:xfrm>
          <a:prstGeom prst="rect">
            <a:avLst/>
          </a:prstGeom>
          <a:solidFill>
            <a:srgbClr val="080824"/>
          </a:solidFill>
          <a:ln w="19050">
            <a:solidFill>
              <a:srgbClr val="CC111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4617720" y="1298448"/>
            <a:ext cx="45000" cy="2750000"/>
          </a:xfrm>
          <a:prstGeom prst="rect">
            <a:avLst/>
          </a:prstGeom>
          <a:solidFill>
            <a:srgbClr val="CC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818888" y="1348448"/>
            <a:ext cx="4151960" cy="270000"/>
          </a:xfrm>
          <a:prstGeom prst="rect">
            <a:avLst/>
          </a:prstGeom>
          <a:noFill/>
        </p:spPr>
        <p:txBody>
          <a:bodyPr wrap="square">
            <a:spAutoFit/>
          </a:bodyPr>
          <a:lstStyle/>
          <a:p>
            <a:pPr algn="l"/>
            <a:r>
              <a:rPr sz="1100" b="1">
                <a:solidFill>
                  <a:srgbClr val="FF3333"/>
                </a:solidFill>
                <a:latin typeface="游明朝"/>
              </a:rPr>
              <a:t>課題（到達性・演出の問題）</a:t>
            </a:r>
          </a:p>
        </p:txBody>
      </p:sp>
      <p:sp>
        <p:nvSpPr>
          <p:cNvPr id="34" name="Rectangle 33"/>
          <p:cNvSpPr/>
          <p:nvPr/>
        </p:nvSpPr>
        <p:spPr>
          <a:xfrm>
            <a:off x="4727448" y="1638448"/>
            <a:ext cx="4071960" cy="567500"/>
          </a:xfrm>
          <a:prstGeom prst="rect">
            <a:avLst/>
          </a:prstGeom>
          <a:solidFill>
            <a:srgbClr val="10102C"/>
          </a:solidFill>
          <a:ln w="12700">
            <a:solidFill>
              <a:srgbClr val="FF33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4727448" y="1638448"/>
            <a:ext cx="20000" cy="567500"/>
          </a:xfrm>
          <a:prstGeom prst="rect">
            <a:avLst/>
          </a:prstGeom>
          <a:solidFill>
            <a:srgbClr val="FF3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864608" y="1668448"/>
            <a:ext cx="4001960" cy="240000"/>
          </a:xfrm>
          <a:prstGeom prst="rect">
            <a:avLst/>
          </a:prstGeom>
          <a:noFill/>
        </p:spPr>
        <p:txBody>
          <a:bodyPr wrap="square">
            <a:spAutoFit/>
          </a:bodyPr>
          <a:lstStyle/>
          <a:p>
            <a:pPr algn="l"/>
            <a:r>
              <a:rPr sz="850" b="1">
                <a:solidFill>
                  <a:srgbClr val="FF3333"/>
                </a:solidFill>
                <a:latin typeface="メイリオ"/>
              </a:rPr>
              <a:t>虚構連モードへの到達が渋い</a:t>
            </a:r>
          </a:p>
        </p:txBody>
      </p:sp>
      <p:sp>
        <p:nvSpPr>
          <p:cNvPr id="37" name="TextBox 36"/>
          <p:cNvSpPr txBox="1"/>
          <p:nvPr/>
        </p:nvSpPr>
        <p:spPr>
          <a:xfrm>
            <a:off x="4864608" y="1908448"/>
            <a:ext cx="4001960" cy="277500"/>
          </a:xfrm>
          <a:prstGeom prst="rect">
            <a:avLst/>
          </a:prstGeom>
          <a:noFill/>
        </p:spPr>
        <p:txBody>
          <a:bodyPr wrap="square">
            <a:spAutoFit/>
          </a:bodyPr>
          <a:lstStyle/>
          <a:p>
            <a:pPr algn="l"/>
            <a:r>
              <a:rPr sz="750" b="0">
                <a:solidFill>
                  <a:srgbClr val="E8E8F4"/>
                </a:solidFill>
                <a:latin typeface="メイリオ"/>
              </a:rPr>
              <a:t>高設定以外ではなかなか辿り着けない
体験設計が低設定時の離脱を早める。</a:t>
            </a:r>
          </a:p>
        </p:txBody>
      </p:sp>
      <p:sp>
        <p:nvSpPr>
          <p:cNvPr id="38" name="Rectangle 37"/>
          <p:cNvSpPr/>
          <p:nvPr/>
        </p:nvSpPr>
        <p:spPr>
          <a:xfrm>
            <a:off x="4727448" y="2245948"/>
            <a:ext cx="4071960" cy="567500"/>
          </a:xfrm>
          <a:prstGeom prst="rect">
            <a:avLst/>
          </a:prstGeom>
          <a:solidFill>
            <a:srgbClr val="10102C"/>
          </a:solidFill>
          <a:ln w="12700">
            <a:solidFill>
              <a:srgbClr val="CC111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4727448" y="2245948"/>
            <a:ext cx="20000" cy="567500"/>
          </a:xfrm>
          <a:prstGeom prst="rect">
            <a:avLst/>
          </a:prstGeom>
          <a:solidFill>
            <a:srgbClr val="CC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4864608" y="2275948"/>
            <a:ext cx="4001960" cy="240000"/>
          </a:xfrm>
          <a:prstGeom prst="rect">
            <a:avLst/>
          </a:prstGeom>
          <a:noFill/>
        </p:spPr>
        <p:txBody>
          <a:bodyPr wrap="square">
            <a:spAutoFit/>
          </a:bodyPr>
          <a:lstStyle/>
          <a:p>
            <a:pPr algn="l"/>
            <a:r>
              <a:rPr sz="850" b="1">
                <a:solidFill>
                  <a:srgbClr val="CC1111"/>
                </a:solidFill>
                <a:latin typeface="メイリオ"/>
              </a:rPr>
              <a:t>CZ中の演出強度が弱い</a:t>
            </a:r>
          </a:p>
        </p:txBody>
      </p:sp>
      <p:sp>
        <p:nvSpPr>
          <p:cNvPr id="41" name="TextBox 40"/>
          <p:cNvSpPr txBox="1"/>
          <p:nvPr/>
        </p:nvSpPr>
        <p:spPr>
          <a:xfrm>
            <a:off x="4864608" y="2515948"/>
            <a:ext cx="4001960" cy="277500"/>
          </a:xfrm>
          <a:prstGeom prst="rect">
            <a:avLst/>
          </a:prstGeom>
          <a:noFill/>
        </p:spPr>
        <p:txBody>
          <a:bodyPr wrap="square">
            <a:spAutoFit/>
          </a:bodyPr>
          <a:lstStyle/>
          <a:p>
            <a:pPr algn="l"/>
            <a:r>
              <a:rPr sz="750" b="0">
                <a:solidFill>
                  <a:srgbClr val="E8E8F4"/>
                </a:solidFill>
                <a:latin typeface="メイリオ"/>
              </a:rPr>
              <a:t>「演出が弱い・引きが弱い」という
口コミが多数。緊張感の持続が課題。</a:t>
            </a:r>
          </a:p>
        </p:txBody>
      </p:sp>
      <p:sp>
        <p:nvSpPr>
          <p:cNvPr id="42" name="Rectangle 41"/>
          <p:cNvSpPr/>
          <p:nvPr/>
        </p:nvSpPr>
        <p:spPr>
          <a:xfrm>
            <a:off x="4727448" y="2853448"/>
            <a:ext cx="4071960" cy="567500"/>
          </a:xfrm>
          <a:prstGeom prst="rect">
            <a:avLst/>
          </a:prstGeom>
          <a:solidFill>
            <a:srgbClr val="10102C"/>
          </a:solidFill>
          <a:ln w="12700">
            <a:solidFill>
              <a:srgbClr val="FF33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4727448" y="2853448"/>
            <a:ext cx="20000" cy="567500"/>
          </a:xfrm>
          <a:prstGeom prst="rect">
            <a:avLst/>
          </a:prstGeom>
          <a:solidFill>
            <a:srgbClr val="FF3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4864608" y="2883448"/>
            <a:ext cx="4001960" cy="240000"/>
          </a:xfrm>
          <a:prstGeom prst="rect">
            <a:avLst/>
          </a:prstGeom>
          <a:noFill/>
        </p:spPr>
        <p:txBody>
          <a:bodyPr wrap="square">
            <a:spAutoFit/>
          </a:bodyPr>
          <a:lstStyle/>
          <a:p>
            <a:pPr algn="l"/>
            <a:r>
              <a:rPr sz="850" b="1">
                <a:solidFill>
                  <a:srgbClr val="FF3333"/>
                </a:solidFill>
                <a:latin typeface="メイリオ"/>
              </a:rPr>
              <a:t>強チェリー→CZ不発が多い</a:t>
            </a:r>
          </a:p>
        </p:txBody>
      </p:sp>
      <p:sp>
        <p:nvSpPr>
          <p:cNvPr id="45" name="TextBox 44"/>
          <p:cNvSpPr txBox="1"/>
          <p:nvPr/>
        </p:nvSpPr>
        <p:spPr>
          <a:xfrm>
            <a:off x="4864608" y="3123448"/>
            <a:ext cx="4001960" cy="277500"/>
          </a:xfrm>
          <a:prstGeom prst="rect">
            <a:avLst/>
          </a:prstGeom>
          <a:noFill/>
        </p:spPr>
        <p:txBody>
          <a:bodyPr wrap="square">
            <a:spAutoFit/>
          </a:bodyPr>
          <a:lstStyle/>
          <a:p>
            <a:pPr algn="l"/>
            <a:r>
              <a:rPr sz="750" b="0">
                <a:solidFill>
                  <a:srgbClr val="E8E8F4"/>
                </a:solidFill>
                <a:latin typeface="メイリオ"/>
              </a:rPr>
              <a:t>引いたのに入らない体験が
フラストレーションとなり低評価に直結。</a:t>
            </a:r>
          </a:p>
        </p:txBody>
      </p:sp>
      <p:sp>
        <p:nvSpPr>
          <p:cNvPr id="46" name="Rectangle 45"/>
          <p:cNvSpPr/>
          <p:nvPr/>
        </p:nvSpPr>
        <p:spPr>
          <a:xfrm>
            <a:off x="4727448" y="3460948"/>
            <a:ext cx="4071960" cy="567500"/>
          </a:xfrm>
          <a:prstGeom prst="rect">
            <a:avLst/>
          </a:prstGeom>
          <a:solidFill>
            <a:srgbClr val="10102C"/>
          </a:solidFill>
          <a:ln w="12700">
            <a:solidFill>
              <a:srgbClr val="8888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4727448" y="3460948"/>
            <a:ext cx="20000" cy="567500"/>
          </a:xfrm>
          <a:prstGeom prst="rect">
            <a:avLst/>
          </a:prstGeom>
          <a:solidFill>
            <a:srgbClr val="8888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4864608" y="3490948"/>
            <a:ext cx="4001960" cy="240000"/>
          </a:xfrm>
          <a:prstGeom prst="rect">
            <a:avLst/>
          </a:prstGeom>
          <a:noFill/>
        </p:spPr>
        <p:txBody>
          <a:bodyPr wrap="square">
            <a:spAutoFit/>
          </a:bodyPr>
          <a:lstStyle/>
          <a:p>
            <a:pPr algn="l"/>
            <a:r>
              <a:rPr sz="850" b="1">
                <a:solidFill>
                  <a:srgbClr val="8888AA"/>
                </a:solidFill>
                <a:latin typeface="メイリオ"/>
              </a:rPr>
              <a:t>低設定体験の改善が必要</a:t>
            </a:r>
          </a:p>
        </p:txBody>
      </p:sp>
      <p:sp>
        <p:nvSpPr>
          <p:cNvPr id="49" name="TextBox 48"/>
          <p:cNvSpPr txBox="1"/>
          <p:nvPr/>
        </p:nvSpPr>
        <p:spPr>
          <a:xfrm>
            <a:off x="4864608" y="3730948"/>
            <a:ext cx="4001960" cy="277500"/>
          </a:xfrm>
          <a:prstGeom prst="rect">
            <a:avLst/>
          </a:prstGeom>
          <a:noFill/>
        </p:spPr>
        <p:txBody>
          <a:bodyPr wrap="square">
            <a:spAutoFit/>
          </a:bodyPr>
          <a:lstStyle/>
          <a:p>
            <a:pPr algn="l"/>
            <a:r>
              <a:rPr sz="750" b="0">
                <a:solidFill>
                  <a:srgbClr val="E8E8F4"/>
                </a:solidFill>
                <a:latin typeface="メイリオ"/>
              </a:rPr>
              <a:t>DMMレビュー低評価の主因は低設定時。
低設定でも楽しめる設計の補完が求められる。</a:t>
            </a:r>
          </a:p>
        </p:txBody>
      </p:sp>
      <p:sp>
        <p:nvSpPr>
          <p:cNvPr id="50" name="Rectangle 49"/>
          <p:cNvSpPr/>
          <p:nvPr/>
        </p:nvSpPr>
        <p:spPr>
          <a:xfrm>
            <a:off x="0" y="4663440"/>
            <a:ext cx="9144000" cy="380000"/>
          </a:xfrm>
          <a:prstGeom prst="rect">
            <a:avLst/>
          </a:prstGeom>
          <a:solidFill>
            <a:srgbClr val="0604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0" y="4663440"/>
            <a:ext cx="20000" cy="380000"/>
          </a:xfrm>
          <a:prstGeom prst="rect">
            <a:avLst/>
          </a:prstGeom>
          <a:solidFill>
            <a:srgbClr val="6622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201168" y="4703440"/>
            <a:ext cx="5486400" cy="160000"/>
          </a:xfrm>
          <a:prstGeom prst="rect">
            <a:avLst/>
          </a:prstGeom>
          <a:noFill/>
        </p:spPr>
        <p:txBody>
          <a:bodyPr wrap="square">
            <a:spAutoFit/>
          </a:bodyPr>
          <a:lstStyle/>
          <a:p>
            <a:pPr algn="l"/>
            <a:r>
              <a:rPr sz="750" b="1">
                <a:solidFill>
                  <a:srgbClr val="9944FF"/>
                </a:solidFill>
                <a:latin typeface="メイリオ"/>
              </a:rPr>
              <a:t>設計コメント：独自性は高いが到達性の問題が評価を押し下げる。設定投入＋演出補強で大化けする可能性</a:t>
            </a:r>
          </a:p>
        </p:txBody>
      </p:sp>
      <p:sp>
        <p:nvSpPr>
          <p:cNvPr id="53" name="TextBox 52"/>
          <p:cNvSpPr txBox="1"/>
          <p:nvPr/>
        </p:nvSpPr>
        <p:spPr>
          <a:xfrm>
            <a:off x="201168" y="4863440"/>
            <a:ext cx="8412480" cy="160000"/>
          </a:xfrm>
          <a:prstGeom prst="rect">
            <a:avLst/>
          </a:prstGeom>
          <a:noFill/>
        </p:spPr>
        <p:txBody>
          <a:bodyPr wrap="square">
            <a:spAutoFit/>
          </a:bodyPr>
          <a:lstStyle/>
          <a:p>
            <a:pPr algn="l"/>
            <a:r>
              <a:rPr sz="700" b="0">
                <a:solidFill>
                  <a:srgbClr val="8888AA"/>
                </a:solidFill>
                <a:latin typeface="メイリオ"/>
              </a:rPr>
              <a:t>補足：低評価1.4点の多くは低設定体験。高設定稼働時のレビューは「最高の台」という評価が多数存在する</a:t>
            </a:r>
          </a:p>
        </p:txBody>
      </p:sp>
      <p:sp>
        <p:nvSpPr>
          <p:cNvPr id="54" name="TextBox 53"/>
          <p:cNvSpPr txBox="1"/>
          <p:nvPr/>
        </p:nvSpPr>
        <p:spPr>
          <a:xfrm>
            <a:off x="7498079" y="4919472"/>
            <a:ext cx="1554480" cy="180000"/>
          </a:xfrm>
          <a:prstGeom prst="rect">
            <a:avLst/>
          </a:prstGeom>
          <a:noFill/>
        </p:spPr>
        <p:txBody>
          <a:bodyPr wrap="square">
            <a:spAutoFit/>
          </a:bodyPr>
          <a:lstStyle/>
          <a:p>
            <a:pPr algn="r"/>
            <a:r>
              <a:rPr sz="700" b="0">
                <a:solidFill>
                  <a:srgbClr val="8888AA"/>
                </a:solidFill>
                <a:latin typeface="メイリオ"/>
              </a:rPr>
              <a:t>※ネット解析情報より</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9144000" cy="5143500"/>
          </a:xfrm>
          <a:prstGeom prst="rect">
            <a:avLst/>
          </a:prstGeom>
        </p:spPr>
      </p:pic>
      <p:sp>
        <p:nvSpPr>
          <p:cNvPr id="3" name="Rectangle 2"/>
          <p:cNvSpPr/>
          <p:nvPr/>
        </p:nvSpPr>
        <p:spPr>
          <a:xfrm>
            <a:off x="0" y="0"/>
            <a:ext cx="9144000" cy="530352"/>
          </a:xfrm>
          <a:prstGeom prst="rect">
            <a:avLst/>
          </a:prstGeom>
          <a:solidFill>
            <a:srgbClr val="0808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45000" cy="530352"/>
          </a:xfrm>
          <a:prstGeom prst="rect">
            <a:avLst/>
          </a:prstGeom>
          <a:solidFill>
            <a:srgbClr val="6622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37160" y="28000"/>
            <a:ext cx="7772400" cy="410000"/>
          </a:xfrm>
          <a:prstGeom prst="rect">
            <a:avLst/>
          </a:prstGeom>
          <a:noFill/>
        </p:spPr>
        <p:txBody>
          <a:bodyPr wrap="square">
            <a:spAutoFit/>
          </a:bodyPr>
          <a:lstStyle/>
          <a:p>
            <a:pPr algn="l"/>
            <a:r>
              <a:rPr sz="1400" b="1">
                <a:solidFill>
                  <a:srgbClr val="22AACC"/>
                </a:solidFill>
                <a:latin typeface="游明朝"/>
              </a:rPr>
              <a:t>まとめ ── L虚構推理 設計から学べること</a:t>
            </a:r>
          </a:p>
        </p:txBody>
      </p:sp>
      <p:sp>
        <p:nvSpPr>
          <p:cNvPr id="6" name="TextBox 5"/>
          <p:cNvSpPr txBox="1"/>
          <p:nvPr/>
        </p:nvSpPr>
        <p:spPr>
          <a:xfrm>
            <a:off x="8046720" y="45000"/>
            <a:ext cx="914400" cy="340000"/>
          </a:xfrm>
          <a:prstGeom prst="rect">
            <a:avLst/>
          </a:prstGeom>
          <a:noFill/>
        </p:spPr>
        <p:txBody>
          <a:bodyPr wrap="square">
            <a:spAutoFit/>
          </a:bodyPr>
          <a:lstStyle/>
          <a:p>
            <a:pPr algn="r"/>
            <a:r>
              <a:rPr sz="800" b="0">
                <a:solidFill>
                  <a:srgbClr val="8888AA"/>
                </a:solidFill>
                <a:latin typeface="メイリオ"/>
              </a:rPr>
              <a:t>9/9</a:t>
            </a:r>
          </a:p>
        </p:txBody>
      </p:sp>
      <p:sp>
        <p:nvSpPr>
          <p:cNvPr id="7" name="Rectangle 6"/>
          <p:cNvSpPr/>
          <p:nvPr/>
        </p:nvSpPr>
        <p:spPr>
          <a:xfrm>
            <a:off x="0" y="530352"/>
            <a:ext cx="9144000" cy="7000"/>
          </a:xfrm>
          <a:prstGeom prst="rect">
            <a:avLst/>
          </a:prstGeom>
          <a:solidFill>
            <a:srgbClr val="6622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56032" y="658368"/>
            <a:ext cx="4160520" cy="300000"/>
          </a:xfrm>
          <a:prstGeom prst="rect">
            <a:avLst/>
          </a:prstGeom>
          <a:solidFill>
            <a:srgbClr val="4411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16032" y="713368"/>
            <a:ext cx="4080520" cy="225000"/>
          </a:xfrm>
          <a:prstGeom prst="rect">
            <a:avLst/>
          </a:prstGeom>
          <a:noFill/>
        </p:spPr>
        <p:txBody>
          <a:bodyPr wrap="square">
            <a:spAutoFit/>
          </a:bodyPr>
          <a:lstStyle/>
          <a:p>
            <a:pPr algn="l"/>
            <a:r>
              <a:rPr sz="1000" b="1">
                <a:solidFill>
                  <a:srgbClr val="22AACC"/>
                </a:solidFill>
                <a:latin typeface="游明朝"/>
              </a:rPr>
              <a:t>設計から学べる3つのエッセンス</a:t>
            </a:r>
          </a:p>
        </p:txBody>
      </p:sp>
      <p:sp>
        <p:nvSpPr>
          <p:cNvPr id="10" name="Rectangle 9"/>
          <p:cNvSpPr/>
          <p:nvPr/>
        </p:nvSpPr>
        <p:spPr>
          <a:xfrm>
            <a:off x="256032" y="958368"/>
            <a:ext cx="4160520" cy="1200000"/>
          </a:xfrm>
          <a:prstGeom prst="rect">
            <a:avLst/>
          </a:prstGeom>
          <a:solidFill>
            <a:srgbClr val="080824"/>
          </a:solidFill>
          <a:ln w="19050">
            <a:solidFill>
              <a:srgbClr val="6622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56032" y="958368"/>
            <a:ext cx="45000" cy="1200000"/>
          </a:xfrm>
          <a:prstGeom prst="rect">
            <a:avLst/>
          </a:prstGeom>
          <a:solidFill>
            <a:srgbClr val="6622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31032" y="1008368"/>
            <a:ext cx="4065520" cy="260000"/>
          </a:xfrm>
          <a:prstGeom prst="rect">
            <a:avLst/>
          </a:prstGeom>
          <a:noFill/>
        </p:spPr>
        <p:txBody>
          <a:bodyPr wrap="square">
            <a:spAutoFit/>
          </a:bodyPr>
          <a:lstStyle/>
          <a:p>
            <a:pPr algn="l"/>
            <a:r>
              <a:rPr sz="900" b="1">
                <a:solidFill>
                  <a:srgbClr val="6622AA"/>
                </a:solidFill>
                <a:latin typeface="メイリオ"/>
              </a:rPr>
              <a:t>① 失敗キャリーオーバーという設計的発明</a:t>
            </a:r>
          </a:p>
        </p:txBody>
      </p:sp>
      <p:sp>
        <p:nvSpPr>
          <p:cNvPr id="13" name="TextBox 12"/>
          <p:cNvSpPr txBox="1"/>
          <p:nvPr/>
        </p:nvSpPr>
        <p:spPr>
          <a:xfrm>
            <a:off x="331032" y="1263368"/>
            <a:ext cx="4065520" cy="830000"/>
          </a:xfrm>
          <a:prstGeom prst="rect">
            <a:avLst/>
          </a:prstGeom>
          <a:noFill/>
        </p:spPr>
        <p:txBody>
          <a:bodyPr wrap="square">
            <a:spAutoFit/>
          </a:bodyPr>
          <a:lstStyle/>
          <a:p>
            <a:pPr algn="l"/>
            <a:r>
              <a:rPr sz="800" b="0">
                <a:solidFill>
                  <a:srgbClr val="E8E8F4"/>
                </a:solidFill>
                <a:latin typeface="メイリオ"/>
              </a:rPr>
              <a:t>失敗を「無」にせず「前進」に変える設計は
プレイヤーの継続動機として機能する。
「あと○エピソード」が長期稼働を支える。</a:t>
            </a:r>
          </a:p>
        </p:txBody>
      </p:sp>
      <p:sp>
        <p:nvSpPr>
          <p:cNvPr id="14" name="Rectangle 13"/>
          <p:cNvSpPr/>
          <p:nvPr/>
        </p:nvSpPr>
        <p:spPr>
          <a:xfrm>
            <a:off x="256032" y="2208368"/>
            <a:ext cx="4160520" cy="1200000"/>
          </a:xfrm>
          <a:prstGeom prst="rect">
            <a:avLst/>
          </a:prstGeom>
          <a:solidFill>
            <a:srgbClr val="080824"/>
          </a:solidFill>
          <a:ln w="19050">
            <a:solidFill>
              <a:srgbClr val="22AA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56032" y="2208368"/>
            <a:ext cx="45000" cy="1200000"/>
          </a:xfrm>
          <a:prstGeom prst="rect">
            <a:avLst/>
          </a:prstGeom>
          <a:solidFill>
            <a:srgbClr val="22AA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31032" y="2258368"/>
            <a:ext cx="4065520" cy="260000"/>
          </a:xfrm>
          <a:prstGeom prst="rect">
            <a:avLst/>
          </a:prstGeom>
          <a:noFill/>
        </p:spPr>
        <p:txBody>
          <a:bodyPr wrap="square">
            <a:spAutoFit/>
          </a:bodyPr>
          <a:lstStyle/>
          <a:p>
            <a:pPr algn="l"/>
            <a:r>
              <a:rPr sz="900" b="1">
                <a:solidFill>
                  <a:srgbClr val="22AACC"/>
                </a:solidFill>
                <a:latin typeface="メイリオ"/>
              </a:rPr>
              <a:t>② 外部告知デバイスARROWの体験価値</a:t>
            </a:r>
          </a:p>
        </p:txBody>
      </p:sp>
      <p:sp>
        <p:nvSpPr>
          <p:cNvPr id="17" name="TextBox 16"/>
          <p:cNvSpPr txBox="1"/>
          <p:nvPr/>
        </p:nvSpPr>
        <p:spPr>
          <a:xfrm>
            <a:off x="331032" y="2513368"/>
            <a:ext cx="4065520" cy="830000"/>
          </a:xfrm>
          <a:prstGeom prst="rect">
            <a:avLst/>
          </a:prstGeom>
          <a:noFill/>
        </p:spPr>
        <p:txBody>
          <a:bodyPr wrap="square">
            <a:spAutoFit/>
          </a:bodyPr>
          <a:lstStyle/>
          <a:p>
            <a:pPr algn="l"/>
            <a:r>
              <a:rPr sz="800" b="0">
                <a:solidFill>
                  <a:srgbClr val="E8E8F4"/>
                </a:solidFill>
                <a:latin typeface="メイリオ"/>
              </a:rPr>
              <a:t>JUDGEMENTゲームで「色=当選契機」を直接告知する革新。
白=一撃成功・赤点滅=強チェリー確定という明快設計。
「みんなで見守る」ホール内コミュニティ形成を実現。</a:t>
            </a:r>
          </a:p>
        </p:txBody>
      </p:sp>
      <p:sp>
        <p:nvSpPr>
          <p:cNvPr id="18" name="Rectangle 17"/>
          <p:cNvSpPr/>
          <p:nvPr/>
        </p:nvSpPr>
        <p:spPr>
          <a:xfrm>
            <a:off x="256032" y="3458368"/>
            <a:ext cx="4160520" cy="1200000"/>
          </a:xfrm>
          <a:prstGeom prst="rect">
            <a:avLst/>
          </a:prstGeom>
          <a:solidFill>
            <a:srgbClr val="080824"/>
          </a:solidFill>
          <a:ln w="19050">
            <a:solidFill>
              <a:srgbClr val="22CC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256032" y="3458368"/>
            <a:ext cx="45000" cy="1200000"/>
          </a:xfrm>
          <a:prstGeom prst="rect">
            <a:avLst/>
          </a:prstGeom>
          <a:solidFill>
            <a:srgbClr val="22CC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31032" y="3508368"/>
            <a:ext cx="4065520" cy="260000"/>
          </a:xfrm>
          <a:prstGeom prst="rect">
            <a:avLst/>
          </a:prstGeom>
          <a:noFill/>
        </p:spPr>
        <p:txBody>
          <a:bodyPr wrap="square">
            <a:spAutoFit/>
          </a:bodyPr>
          <a:lstStyle/>
          <a:p>
            <a:pPr algn="l"/>
            <a:r>
              <a:rPr sz="900" b="1">
                <a:solidFill>
                  <a:srgbClr val="22CC66"/>
                </a:solidFill>
                <a:latin typeface="メイリオ"/>
              </a:rPr>
              <a:t>③ 3種モードによる上位状態の可視化</a:t>
            </a:r>
          </a:p>
        </p:txBody>
      </p:sp>
      <p:sp>
        <p:nvSpPr>
          <p:cNvPr id="21" name="TextBox 20"/>
          <p:cNvSpPr txBox="1"/>
          <p:nvPr/>
        </p:nvSpPr>
        <p:spPr>
          <a:xfrm>
            <a:off x="331032" y="3763368"/>
            <a:ext cx="4065520" cy="830000"/>
          </a:xfrm>
          <a:prstGeom prst="rect">
            <a:avLst/>
          </a:prstGeom>
          <a:noFill/>
        </p:spPr>
        <p:txBody>
          <a:bodyPr wrap="square">
            <a:spAutoFit/>
          </a:bodyPr>
          <a:lstStyle/>
          <a:p>
            <a:pPr algn="l"/>
            <a:r>
              <a:rPr sz="800" b="0">
                <a:solidFill>
                  <a:srgbClr val="E8E8F4"/>
                </a:solidFill>
                <a:latin typeface="メイリオ"/>
              </a:rPr>
              <a:t>Short56% / Middle81% / Long95%という段階設計が
「今自分がどのループ率にいるか」を意識させる。
六花ステージ滞在が高設定判別の重要指標にもなる。</a:t>
            </a:r>
          </a:p>
        </p:txBody>
      </p:sp>
      <p:sp>
        <p:nvSpPr>
          <p:cNvPr id="22" name="Rectangle 21"/>
          <p:cNvSpPr/>
          <p:nvPr/>
        </p:nvSpPr>
        <p:spPr>
          <a:xfrm>
            <a:off x="4617720" y="658368"/>
            <a:ext cx="4251960" cy="280000"/>
          </a:xfrm>
          <a:prstGeom prst="rect">
            <a:avLst/>
          </a:prstGeom>
          <a:solidFill>
            <a:srgbClr val="101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667720" y="703368"/>
            <a:ext cx="4181960" cy="215000"/>
          </a:xfrm>
          <a:prstGeom prst="rect">
            <a:avLst/>
          </a:prstGeom>
          <a:noFill/>
        </p:spPr>
        <p:txBody>
          <a:bodyPr wrap="square">
            <a:spAutoFit/>
          </a:bodyPr>
          <a:lstStyle/>
          <a:p>
            <a:pPr algn="l"/>
            <a:r>
              <a:rPr sz="1000" b="1">
                <a:solidFill>
                  <a:srgbClr val="22AACC"/>
                </a:solidFill>
                <a:latin typeface="游明朝"/>
              </a:rPr>
              <a:t>設計原則（他機種への応用）</a:t>
            </a:r>
          </a:p>
        </p:txBody>
      </p:sp>
      <p:sp>
        <p:nvSpPr>
          <p:cNvPr id="24" name="Rectangle 23"/>
          <p:cNvSpPr/>
          <p:nvPr/>
        </p:nvSpPr>
        <p:spPr>
          <a:xfrm>
            <a:off x="4617720" y="938368"/>
            <a:ext cx="20000" cy="440000"/>
          </a:xfrm>
          <a:prstGeom prst="rect">
            <a:avLst/>
          </a:prstGeom>
          <a:solidFill>
            <a:srgbClr val="6622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667720" y="993368"/>
            <a:ext cx="4191960" cy="360000"/>
          </a:xfrm>
          <a:prstGeom prst="rect">
            <a:avLst/>
          </a:prstGeom>
          <a:noFill/>
        </p:spPr>
        <p:txBody>
          <a:bodyPr wrap="square">
            <a:spAutoFit/>
          </a:bodyPr>
          <a:lstStyle/>
          <a:p>
            <a:pPr algn="l"/>
            <a:r>
              <a:rPr sz="800" b="0">
                <a:solidFill>
                  <a:srgbClr val="E8E8F4"/>
                </a:solidFill>
                <a:latin typeface="メイリオ"/>
              </a:rPr>
              <a:t>失敗をストックする設計は「諦めない」心理を生む（EP1開始25%→EP5開始75%の設計）</a:t>
            </a:r>
          </a:p>
        </p:txBody>
      </p:sp>
      <p:sp>
        <p:nvSpPr>
          <p:cNvPr id="26" name="Rectangle 25"/>
          <p:cNvSpPr/>
          <p:nvPr/>
        </p:nvSpPr>
        <p:spPr>
          <a:xfrm>
            <a:off x="4617720" y="1418368"/>
            <a:ext cx="20000" cy="440000"/>
          </a:xfrm>
          <a:prstGeom prst="rect">
            <a:avLst/>
          </a:prstGeom>
          <a:solidFill>
            <a:srgbClr val="22AA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667720" y="1473368"/>
            <a:ext cx="4191960" cy="360000"/>
          </a:xfrm>
          <a:prstGeom prst="rect">
            <a:avLst/>
          </a:prstGeom>
          <a:noFill/>
        </p:spPr>
        <p:txBody>
          <a:bodyPr wrap="square">
            <a:spAutoFit/>
          </a:bodyPr>
          <a:lstStyle/>
          <a:p>
            <a:pPr algn="l"/>
            <a:r>
              <a:rPr sz="800" b="0">
                <a:solidFill>
                  <a:srgbClr val="E8E8F4"/>
                </a:solidFill>
                <a:latin typeface="メイリオ"/>
              </a:rPr>
              <a:t>ARROWは「色＝当選契機」対応で情報を直感的に伝える外部デバイスの革新</a:t>
            </a:r>
          </a:p>
        </p:txBody>
      </p:sp>
      <p:sp>
        <p:nvSpPr>
          <p:cNvPr id="28" name="Rectangle 27"/>
          <p:cNvSpPr/>
          <p:nvPr/>
        </p:nvSpPr>
        <p:spPr>
          <a:xfrm>
            <a:off x="4617720" y="1898368"/>
            <a:ext cx="20000" cy="440000"/>
          </a:xfrm>
          <a:prstGeom prst="rect">
            <a:avLst/>
          </a:prstGeom>
          <a:solidFill>
            <a:srgbClr val="994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667720" y="1953368"/>
            <a:ext cx="4191960" cy="360000"/>
          </a:xfrm>
          <a:prstGeom prst="rect">
            <a:avLst/>
          </a:prstGeom>
          <a:noFill/>
        </p:spPr>
        <p:txBody>
          <a:bodyPr wrap="square">
            <a:spAutoFit/>
          </a:bodyPr>
          <a:lstStyle/>
          <a:p>
            <a:pPr algn="l"/>
            <a:r>
              <a:rPr sz="800" b="0">
                <a:solidFill>
                  <a:srgbClr val="E8E8F4"/>
                </a:solidFill>
                <a:latin typeface="メイリオ"/>
              </a:rPr>
              <a:t>Short56%→Middle81%→Long95%の3段階ループが明確な目標階層を作る</a:t>
            </a:r>
          </a:p>
        </p:txBody>
      </p:sp>
      <p:sp>
        <p:nvSpPr>
          <p:cNvPr id="30" name="Rectangle 29"/>
          <p:cNvSpPr/>
          <p:nvPr/>
        </p:nvSpPr>
        <p:spPr>
          <a:xfrm>
            <a:off x="4617720" y="2378368"/>
            <a:ext cx="20000" cy="440000"/>
          </a:xfrm>
          <a:prstGeom prst="rect">
            <a:avLst/>
          </a:prstGeom>
          <a:solidFill>
            <a:srgbClr val="C8A8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667720" y="2433368"/>
            <a:ext cx="4191960" cy="360000"/>
          </a:xfrm>
          <a:prstGeom prst="rect">
            <a:avLst/>
          </a:prstGeom>
          <a:noFill/>
        </p:spPr>
        <p:txBody>
          <a:bodyPr wrap="square">
            <a:spAutoFit/>
          </a:bodyPr>
          <a:lstStyle/>
          <a:p>
            <a:pPr algn="l"/>
            <a:r>
              <a:rPr sz="800" b="0">
                <a:solidFill>
                  <a:srgbClr val="E8E8F4"/>
                </a:solidFill>
                <a:latin typeface="メイリオ"/>
              </a:rPr>
              <a:t>六花ステージ＝Long到達の可視化がプレイヤーの設定判別指標にもなる</a:t>
            </a:r>
          </a:p>
        </p:txBody>
      </p:sp>
      <p:sp>
        <p:nvSpPr>
          <p:cNvPr id="32" name="Rectangle 31"/>
          <p:cNvSpPr/>
          <p:nvPr/>
        </p:nvSpPr>
        <p:spPr>
          <a:xfrm>
            <a:off x="4617720" y="2858368"/>
            <a:ext cx="20000" cy="440000"/>
          </a:xfrm>
          <a:prstGeom prst="rect">
            <a:avLst/>
          </a:prstGeom>
          <a:solidFill>
            <a:srgbClr val="FF3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667720" y="2913368"/>
            <a:ext cx="4191960" cy="360000"/>
          </a:xfrm>
          <a:prstGeom prst="rect">
            <a:avLst/>
          </a:prstGeom>
          <a:noFill/>
        </p:spPr>
        <p:txBody>
          <a:bodyPr wrap="square">
            <a:spAutoFit/>
          </a:bodyPr>
          <a:lstStyle/>
          <a:p>
            <a:pPr algn="l"/>
            <a:r>
              <a:rPr sz="800" b="1">
                <a:solidFill>
                  <a:srgbClr val="FF3333"/>
                </a:solidFill>
                <a:latin typeface="メイリオ"/>
              </a:rPr>
              <a:t>到達可能性の改善こそ本機が化けるための最重要課題</a:t>
            </a:r>
          </a:p>
        </p:txBody>
      </p:sp>
      <p:sp>
        <p:nvSpPr>
          <p:cNvPr id="34" name="Rectangle 33"/>
          <p:cNvSpPr/>
          <p:nvPr/>
        </p:nvSpPr>
        <p:spPr>
          <a:xfrm>
            <a:off x="4617720" y="3358368"/>
            <a:ext cx="4251960" cy="1050000"/>
          </a:xfrm>
          <a:prstGeom prst="rect">
            <a:avLst/>
          </a:prstGeom>
          <a:solidFill>
            <a:srgbClr val="06041C"/>
          </a:solidFill>
          <a:ln w="19050">
            <a:solidFill>
              <a:srgbClr val="6622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4617720" y="3358368"/>
            <a:ext cx="45000" cy="1050000"/>
          </a:xfrm>
          <a:prstGeom prst="rect">
            <a:avLst/>
          </a:prstGeom>
          <a:solidFill>
            <a:srgbClr val="6622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692720" y="3408368"/>
            <a:ext cx="4156960" cy="270000"/>
          </a:xfrm>
          <a:prstGeom prst="rect">
            <a:avLst/>
          </a:prstGeom>
          <a:noFill/>
        </p:spPr>
        <p:txBody>
          <a:bodyPr wrap="square">
            <a:spAutoFit/>
          </a:bodyPr>
          <a:lstStyle/>
          <a:p>
            <a:pPr algn="l"/>
            <a:r>
              <a:rPr sz="1000" b="1">
                <a:solidFill>
                  <a:srgbClr val="9944FF"/>
                </a:solidFill>
                <a:latin typeface="游明朝"/>
              </a:rPr>
              <a:t>総括</a:t>
            </a:r>
          </a:p>
        </p:txBody>
      </p:sp>
      <p:sp>
        <p:nvSpPr>
          <p:cNvPr id="37" name="TextBox 36"/>
          <p:cNvSpPr txBox="1"/>
          <p:nvPr/>
        </p:nvSpPr>
        <p:spPr>
          <a:xfrm>
            <a:off x="4692720" y="3678368"/>
            <a:ext cx="4156960" cy="680000"/>
          </a:xfrm>
          <a:prstGeom prst="rect">
            <a:avLst/>
          </a:prstGeom>
          <a:noFill/>
        </p:spPr>
        <p:txBody>
          <a:bodyPr wrap="square">
            <a:spAutoFit/>
          </a:bodyPr>
          <a:lstStyle/>
          <a:p>
            <a:pPr algn="l"/>
            <a:r>
              <a:rPr sz="850" b="0">
                <a:solidFill>
                  <a:srgbClr val="E8E8F4"/>
                </a:solidFill>
                <a:latin typeface="メイリオ"/>
              </a:rPr>
              <a:t>独自の設計思想（キャリーオーバー＋ARROW）を持つ意欲作。
到達性の改善と演出強化が実現すれば
唯一無二の体験として業界に残る台になり得る。</a:t>
            </a:r>
          </a:p>
        </p:txBody>
      </p:sp>
      <p:sp>
        <p:nvSpPr>
          <p:cNvPr id="38" name="Rectangle 37"/>
          <p:cNvSpPr/>
          <p:nvPr/>
        </p:nvSpPr>
        <p:spPr>
          <a:xfrm>
            <a:off x="0" y="4663440"/>
            <a:ext cx="9144000" cy="380000"/>
          </a:xfrm>
          <a:prstGeom prst="rect">
            <a:avLst/>
          </a:prstGeom>
          <a:solidFill>
            <a:srgbClr val="0604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0" y="4663440"/>
            <a:ext cx="20000" cy="380000"/>
          </a:xfrm>
          <a:prstGeom prst="rect">
            <a:avLst/>
          </a:prstGeom>
          <a:solidFill>
            <a:srgbClr val="6622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201168" y="4703440"/>
            <a:ext cx="5486400" cy="160000"/>
          </a:xfrm>
          <a:prstGeom prst="rect">
            <a:avLst/>
          </a:prstGeom>
          <a:noFill/>
        </p:spPr>
        <p:txBody>
          <a:bodyPr wrap="square">
            <a:spAutoFit/>
          </a:bodyPr>
          <a:lstStyle/>
          <a:p>
            <a:pPr algn="l"/>
            <a:r>
              <a:rPr sz="750" b="1">
                <a:solidFill>
                  <a:srgbClr val="9944FF"/>
                </a:solidFill>
                <a:latin typeface="メイリオ"/>
              </a:rPr>
              <a:t>設計コメント：失敗を前進に変える発想と外部デバイス告知の組み合わせは後世のパチスロ設計に影響を与えうる革新</a:t>
            </a:r>
          </a:p>
        </p:txBody>
      </p:sp>
      <p:sp>
        <p:nvSpPr>
          <p:cNvPr id="41" name="TextBox 40"/>
          <p:cNvSpPr txBox="1"/>
          <p:nvPr/>
        </p:nvSpPr>
        <p:spPr>
          <a:xfrm>
            <a:off x="201168" y="4863440"/>
            <a:ext cx="8412480" cy="160000"/>
          </a:xfrm>
          <a:prstGeom prst="rect">
            <a:avLst/>
          </a:prstGeom>
          <a:noFill/>
        </p:spPr>
        <p:txBody>
          <a:bodyPr wrap="square">
            <a:spAutoFit/>
          </a:bodyPr>
          <a:lstStyle/>
          <a:p>
            <a:pPr algn="l"/>
            <a:r>
              <a:rPr sz="700" b="0">
                <a:solidFill>
                  <a:srgbClr val="8888AA"/>
                </a:solidFill>
                <a:latin typeface="メイリオ"/>
              </a:rPr>
              <a:t>補足：高設定での9400枚一撃実績が示す通り、スペックの爆発力は本物。設定投入ありきで真価を発揮する機種</a:t>
            </a:r>
          </a:p>
        </p:txBody>
      </p:sp>
      <p:sp>
        <p:nvSpPr>
          <p:cNvPr id="42" name="TextBox 41"/>
          <p:cNvSpPr txBox="1"/>
          <p:nvPr/>
        </p:nvSpPr>
        <p:spPr>
          <a:xfrm>
            <a:off x="7498079" y="4919472"/>
            <a:ext cx="1554480" cy="180000"/>
          </a:xfrm>
          <a:prstGeom prst="rect">
            <a:avLst/>
          </a:prstGeom>
          <a:noFill/>
        </p:spPr>
        <p:txBody>
          <a:bodyPr wrap="square">
            <a:spAutoFit/>
          </a:bodyPr>
          <a:lstStyle/>
          <a:p>
            <a:pPr algn="r"/>
            <a:r>
              <a:rPr sz="700" b="0">
                <a:solidFill>
                  <a:srgbClr val="8888AA"/>
                </a:solidFill>
                <a:latin typeface="メイリオ"/>
              </a:rPr>
              <a:t>※ネット解析情報より</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