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65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AACC"/>
                </a:solidFill>
                <a:latin typeface="游明朝"/>
              </a:rPr>
              <a:t>機種説明＋分析 統合ガイド  v1（解析情報版）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804672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CCDD"/>
                </a:solidFill>
                <a:latin typeface="游明朝"/>
              </a:rPr>
              <a:t>アズールレーン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331720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E4F0"/>
                </a:solidFill>
                <a:latin typeface="游明朝"/>
              </a:rPr>
              <a:t>L アズールレーン THE ANIMATION ── スマスロ（京楽）陣営×艦隊×上位AT設計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74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74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京楽産業（KYORAKU）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96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機種タイプ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96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スマスロ（Lシリーズ）AT機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19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AT純増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19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約2.5枚/G（通常AT） / 約5.1枚/G（上位AT）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41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設定1機械割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41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非公表（推定97%台）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64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設定6機械割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64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非公表（推定110%超）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86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AT初当り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386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疑似ボーナス経由（海戦BONUS消化後）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09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天井①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9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ボーナス間350G → ボーナス確定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431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天井②（スルー）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431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9スルー目（10回目のボーナスでAT確定）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54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リセット短縮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454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リセット時スルー天井6回（7回目でAT）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76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コイン持ち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476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CF0F8"/>
                </a:solidFill>
                <a:latin typeface="メイリオ"/>
              </a:rPr>
              <a:t>50枚あたり約25.8G（低持ち設計）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502920"/>
            <a:ext cx="3749039" cy="1188720"/>
          </a:xfrm>
          <a:prstGeom prst="rect">
            <a:avLst/>
          </a:prstGeom>
          <a:solidFill>
            <a:srgbClr val="060E22"/>
          </a:solidFill>
          <a:ln w="2540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66360" y="502920"/>
            <a:ext cx="60000" cy="118872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56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CCDD"/>
                </a:solidFill>
                <a:latin typeface="游明朝"/>
              </a:rPr>
              <a:t>① 陣営システムでATが強化される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88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CF0F8"/>
                </a:solidFill>
                <a:latin typeface="メイリオ"/>
              </a:rPr>
              <a:t>AT中に陣営が増えるほど性能がアップ。
4陣営集結で天城BATTLEへ突入。
「仲間を集める」体験と出玉が直結。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2042920"/>
            <a:ext cx="3749039" cy="1188720"/>
          </a:xfrm>
          <a:prstGeom prst="rect">
            <a:avLst/>
          </a:prstGeom>
          <a:solidFill>
            <a:srgbClr val="060E22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66360" y="2042920"/>
            <a:ext cx="60000" cy="11887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210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8A840"/>
                </a:solidFill>
                <a:latin typeface="游明朝"/>
              </a:rPr>
              <a:t>② 純増5.1枚/Gの上位AT「SS RUSH」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42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CF0F8"/>
                </a:solidFill>
                <a:latin typeface="メイリオ"/>
              </a:rPr>
              <a:t>通常ATの倍以上の純増速度で出玉爆増。
4陣営集結→天城BATTLE→上位AT昇格の
ドラマチックな昇格ルートが魅力。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60" y="3582920"/>
            <a:ext cx="3749039" cy="1188720"/>
          </a:xfrm>
          <a:prstGeom prst="rect">
            <a:avLst/>
          </a:prstGeom>
          <a:solidFill>
            <a:srgbClr val="060E22"/>
          </a:solidFill>
          <a:ln w="25400">
            <a:solidFill>
              <a:srgbClr val="F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66360" y="3582920"/>
            <a:ext cx="60000" cy="1188720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64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66AA"/>
                </a:solidFill>
                <a:latin typeface="游明朝"/>
              </a:rPr>
              <a:t>③ 明石商店とキャラIPの融合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396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CF0F8"/>
                </a:solidFill>
                <a:latin typeface="メイリオ"/>
              </a:rPr>
              <a:t>通常時・AT中に「明石商店」が登場し
リプレイで文字点灯→明石チャンス突入。
アズレンキャラとゲーム性の完全融合。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設計核心：「陣営システム×上位AT昇格×艦隊IPキャラ」── 仲間集めがそのまま出玉性能に繋がる独自設計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パチスロアワード2025ノミネート機。京楽奇跡の1台との評価あり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ゲームフロー全体図 ── 通常時→AT→上位ATの全ルート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85800"/>
            <a:ext cx="1463040" cy="1100000"/>
          </a:xfrm>
          <a:prstGeom prst="rect">
            <a:avLst/>
          </a:prstGeom>
          <a:solidFill>
            <a:srgbClr val="08122C"/>
          </a:solidFill>
          <a:ln w="22860">
            <a:solidFill>
              <a:srgbClr val="88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032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9AAA"/>
                </a:solidFill>
                <a:latin typeface="游明朝"/>
              </a:rPr>
              <a:t>通常遊技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032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規定G数/レア役
/明石チャンスで
ボーナス抽選</a:t>
            </a:r>
          </a:p>
        </p:txBody>
      </p:sp>
      <p:sp>
        <p:nvSpPr>
          <p:cNvPr id="11" name="Can 10"/>
          <p:cNvSpPr/>
          <p:nvPr/>
        </p:nvSpPr>
        <p:spPr>
          <a:xfrm>
            <a:off x="1729072" y="1145800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685800"/>
            <a:ext cx="1463040" cy="110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9520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AACC"/>
                </a:solidFill>
                <a:latin typeface="游明朝"/>
              </a:rPr>
              <a:t>海戦BONUS
(疑似ボーナス)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9520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ベルナビ10回
+10G継続
平均約100枚</a:t>
            </a:r>
          </a:p>
        </p:txBody>
      </p:sp>
      <p:sp>
        <p:nvSpPr>
          <p:cNvPr id="15" name="Can 14"/>
          <p:cNvSpPr/>
          <p:nvPr/>
        </p:nvSpPr>
        <p:spPr>
          <a:xfrm>
            <a:off x="3347560" y="1145800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3008" y="685800"/>
            <a:ext cx="1463040" cy="110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8008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55CC"/>
                </a:solidFill>
                <a:latin typeface="游明朝"/>
              </a:rPr>
              <a:t>BATTLE演出
（AT抽選）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008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勝利でAT確定
告知発生でも
RUSH突入</a:t>
            </a:r>
          </a:p>
        </p:txBody>
      </p:sp>
      <p:sp>
        <p:nvSpPr>
          <p:cNvPr id="19" name="Can 18"/>
          <p:cNvSpPr/>
          <p:nvPr/>
        </p:nvSpPr>
        <p:spPr>
          <a:xfrm>
            <a:off x="4966048" y="1145800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1496" y="685800"/>
            <a:ext cx="1463040" cy="110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6496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CCDD"/>
                </a:solidFill>
                <a:latin typeface="游明朝"/>
              </a:rPr>
              <a:t>アズールレーン
RUSH(AT)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6496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純増約2.5枚/G
ゲーム数上乗せ
メインAT</a:t>
            </a:r>
          </a:p>
        </p:txBody>
      </p:sp>
      <p:sp>
        <p:nvSpPr>
          <p:cNvPr id="23" name="Can 22"/>
          <p:cNvSpPr/>
          <p:nvPr/>
        </p:nvSpPr>
        <p:spPr>
          <a:xfrm>
            <a:off x="6584536" y="1145800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9984" y="685800"/>
            <a:ext cx="1463040" cy="110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4984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游明朝"/>
              </a:rPr>
              <a:t>陣営集結
→天城BATTLE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4984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4陣営で発動
AT後に上位AT
をかけた決戦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1805800"/>
            <a:ext cx="29260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CCDD"/>
                </a:solidFill>
                <a:latin typeface="メイリオ"/>
              </a:rPr>
              <a:t>天井①：ボーナス間350G → ボーナス確定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045800"/>
            <a:ext cx="2926080" cy="5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1805800"/>
            <a:ext cx="32004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A840"/>
                </a:solidFill>
                <a:latin typeface="メイリオ"/>
              </a:rPr>
              <a:t>天井②：9スルーで10回目にAT確定（リセット後は6スルー）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1920240"/>
            <a:ext cx="9144000" cy="50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1993392"/>
            <a:ext cx="1783080" cy="108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032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CDD"/>
                </a:solidFill>
                <a:latin typeface="游明朝"/>
              </a:rPr>
              <a:t>アズールレーン
RUSH(通常AT)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032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AAA"/>
                </a:solidFill>
                <a:latin typeface="メイリオ"/>
              </a:rPr>
              <a:t>純増約2.5枚/G
上乗せ型
1陣営スタート</a:t>
            </a:r>
          </a:p>
        </p:txBody>
      </p:sp>
      <p:sp>
        <p:nvSpPr>
          <p:cNvPr id="34" name="Can 33"/>
          <p:cNvSpPr/>
          <p:nvPr/>
        </p:nvSpPr>
        <p:spPr>
          <a:xfrm>
            <a:off x="2051112" y="2443392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40280" y="1993392"/>
            <a:ext cx="1783080" cy="108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0280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AACC"/>
                </a:solidFill>
                <a:latin typeface="游明朝"/>
              </a:rPr>
              <a:t>陣営が増える
（AT性能UP）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70280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AAA"/>
                </a:solidFill>
                <a:latin typeface="メイリオ"/>
              </a:rPr>
              <a:t>BAR揃い等で
陣営参戦
最大4陣営</a:t>
            </a:r>
          </a:p>
        </p:txBody>
      </p:sp>
      <p:sp>
        <p:nvSpPr>
          <p:cNvPr id="38" name="Can 37"/>
          <p:cNvSpPr/>
          <p:nvPr/>
        </p:nvSpPr>
        <p:spPr>
          <a:xfrm>
            <a:off x="4035360" y="2443392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24528" y="1993392"/>
            <a:ext cx="1783080" cy="108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4528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4陣営集結
→天城BATTLE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4528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AAA"/>
                </a:solidFill>
                <a:latin typeface="メイリオ"/>
              </a:rPr>
              <a:t>AT終了後発動
上位CZ
クリアで昇格</a:t>
            </a:r>
          </a:p>
        </p:txBody>
      </p:sp>
      <p:sp>
        <p:nvSpPr>
          <p:cNvPr id="42" name="Can 41"/>
          <p:cNvSpPr/>
          <p:nvPr/>
        </p:nvSpPr>
        <p:spPr>
          <a:xfrm>
            <a:off x="6019608" y="2443392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8776" y="1993392"/>
            <a:ext cx="1783080" cy="1080000"/>
          </a:xfrm>
          <a:prstGeom prst="rect">
            <a:avLst/>
          </a:prstGeom>
          <a:solidFill>
            <a:srgbClr val="061228"/>
          </a:solidFill>
          <a:ln w="2286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8776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C55"/>
                </a:solidFill>
                <a:latin typeface="游明朝"/>
              </a:rPr>
              <a:t>異次元性能SS
RUSH(上位AT)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8776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AAA"/>
                </a:solidFill>
                <a:latin typeface="メイリオ"/>
              </a:rPr>
              <a:t>純増約5.1枚/G
4陣営状態
期待約3500枚+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93024" y="1993392"/>
            <a:ext cx="1417320" cy="108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93024" y="1993392"/>
            <a:ext cx="30000" cy="1080000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3024" y="2063392"/>
            <a:ext cx="1188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6AA"/>
                </a:solidFill>
                <a:latin typeface="游明朝"/>
              </a:rPr>
              <a:t>共同戦線
RUSH
(特化)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3024" y="2483392"/>
            <a:ext cx="11887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CF0F8"/>
                </a:solidFill>
                <a:latin typeface="メイリオ"/>
              </a:rPr>
              <a:t>1陣営時
高上乗せ
特化ゾーン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3093392"/>
            <a:ext cx="41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AACC"/>
                </a:solidFill>
                <a:latin typeface="メイリオ"/>
              </a:rPr>
              <a:t>明石チャンス：通常時・AT中共通でリプレイ積算→ボーナス・上乗せ抽選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3333392"/>
            <a:ext cx="4114800" cy="5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上段=通常時〜AT突入フロー（疑似ボーナス→BATTLE勝利）、下段=AT内陣営集結→上位AT昇格ルート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天城BATTLEはAT終了後に4陣営集結で発生。上位AT（SS RUSH）は純増5.1枚/Gと大幅性能UP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通常時の遊び方 ── AT突入全ルート・天井管理・打ち方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CDD"/>
                </a:solidFill>
                <a:latin typeface="メイリオ"/>
              </a:rPr>
              <a:t>通常時〜AT突入ルート（全3系統）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60520" cy="106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5000" cy="1060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9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CDD"/>
                </a:solidFill>
                <a:latin typeface="メイリオ"/>
              </a:rPr>
              <a:t>ルート①  海戦BONUS→BATTLE勝利でAT突入（最頻）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8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ゲーム消化→高確・超高確経由→海戦BONUS当選。
ボーナス内BATTLE勝利でアズールレーンRUSH突入。
告知発生でもRUSH確定。標準的な最多発生ルート。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73368"/>
            <a:ext cx="4160520" cy="106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73368"/>
            <a:ext cx="45000" cy="10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12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ルート②  強チェリー・チャンス目→ダイレクト突入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9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強チェリー・チャンス目成立→ボーナスまたはAT直撃。
高確・超高確状態なら期待度大幅アップ。
通常時にレア役が出たら要注目。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98368"/>
            <a:ext cx="4160520" cy="106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98368"/>
            <a:ext cx="45000" cy="1060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24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AACC"/>
                </a:solidFill>
                <a:latin typeface="メイリオ"/>
              </a:rPr>
              <a:t>ルート③  天井①（ボーナス間350G）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518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ボーナス間350GでボーナスorAT確定。
浅めの天井設定でライトユーザーにも優しい。
設定変更後はリセット恩恵あり（状態が変わる）。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23368"/>
            <a:ext cx="4160520" cy="106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23368"/>
            <a:ext cx="45000" cy="10600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37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C55"/>
                </a:solidFill>
                <a:latin typeface="メイリオ"/>
              </a:rPr>
              <a:t>ルート④  スルー天井（9スルー→10回目AT確定）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64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ボーナス9スルー後、10回目のボーナスでAT確定。
リセット後は6スルーに短縮（7回目AT確定）。
長期ハマリ台の最終救済システム。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CDD"/>
                </a:solidFill>
                <a:latin typeface="メイリオ"/>
              </a:rPr>
              <a:t>明石商店と通常時チャンス役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48368"/>
            <a:ext cx="4297680" cy="90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48368"/>
            <a:ext cx="40000" cy="9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2000" y="99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明石商店システム（通常時・AT中共通）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2000" y="1268368"/>
            <a:ext cx="420768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リール左側に「明・石・商・店」が表示中、
リプレイを引くたびに1文字ずつ点灯を抽選。
全文字点灯→明石チャンスへ突入。
通常時はボーナス抽選、AT中は上乗せ抽選。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1848368"/>
            <a:ext cx="4297680" cy="61000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1848368"/>
            <a:ext cx="35000" cy="610000"/>
          </a:xfrm>
          <a:prstGeom prst="rect">
            <a:avLst/>
          </a:prstGeom>
          <a:solidFill>
            <a:srgbClr val="88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1898368"/>
            <a:ext cx="9144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9AAA"/>
                </a:solidFill>
                <a:latin typeface="メイリオ"/>
              </a:rPr>
              <a:t>リプレイ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1400" y="1903368"/>
            <a:ext cx="73152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CC55"/>
                </a:solidFill>
                <a:latin typeface="メイリオ"/>
              </a:rPr>
              <a:t>約1/8.6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7000" y="2128368"/>
            <a:ext cx="423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明石商店の文字点灯抽選役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458368"/>
            <a:ext cx="4297680" cy="610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0" y="2458368"/>
            <a:ext cx="35000" cy="610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7000" y="2508368"/>
            <a:ext cx="9144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00CCDD"/>
                </a:solidFill>
                <a:latin typeface="メイリオ"/>
              </a:rPr>
              <a:t>弱チェリー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400" y="2513368"/>
            <a:ext cx="73152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CC55"/>
                </a:solidFill>
                <a:latin typeface="メイリオ"/>
              </a:rPr>
              <a:t>約1/80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27000" y="2738368"/>
            <a:ext cx="423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ボーナス・AT当選の抽選対象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068368"/>
            <a:ext cx="4297680" cy="61000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068368"/>
            <a:ext cx="35000" cy="610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27000" y="3118368"/>
            <a:ext cx="9144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00AACC"/>
                </a:solidFill>
                <a:latin typeface="メイリオ"/>
              </a:rPr>
              <a:t>スイカ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41400" y="3123368"/>
            <a:ext cx="73152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CC55"/>
                </a:solidFill>
                <a:latin typeface="メイリオ"/>
              </a:rPr>
              <a:t>約1/128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7000" y="3348368"/>
            <a:ext cx="423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ボーナス当選・高確移行抽選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3678368"/>
            <a:ext cx="4297680" cy="610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678368"/>
            <a:ext cx="35000" cy="6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27000" y="3728368"/>
            <a:ext cx="9144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強チェリー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41400" y="3733368"/>
            <a:ext cx="73152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CC55"/>
                </a:solidFill>
                <a:latin typeface="メイリオ"/>
              </a:rPr>
              <a:t>約1/200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27000" y="3958368"/>
            <a:ext cx="423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ボーナス直撃・AT直撃の高期待役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4288368"/>
            <a:ext cx="4297680" cy="610000"/>
          </a:xfrm>
          <a:prstGeom prst="rect">
            <a:avLst/>
          </a:prstGeom>
          <a:solidFill>
            <a:srgbClr val="06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0" y="4288368"/>
            <a:ext cx="35000" cy="6100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27000" y="4338368"/>
            <a:ext cx="9144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CC55"/>
                </a:solidFill>
                <a:latin typeface="メイリオ"/>
              </a:rPr>
              <a:t>チャンス目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1400" y="4343368"/>
            <a:ext cx="73152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CC55"/>
                </a:solidFill>
                <a:latin typeface="メイリオ"/>
              </a:rPr>
              <a:t>約1/128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27000" y="4568368"/>
            <a:ext cx="423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AT当選抽選・高確移行の高期待役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4898368"/>
            <a:ext cx="4297680" cy="610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0" y="4898368"/>
            <a:ext cx="35000" cy="610000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7000" y="4948368"/>
            <a:ext cx="9144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66AA"/>
                </a:solidFill>
                <a:latin typeface="メイリオ"/>
              </a:rPr>
              <a:t>レア役合算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41400" y="4953368"/>
            <a:ext cx="73152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CC55"/>
                </a:solidFill>
                <a:latin typeface="メイリオ"/>
              </a:rPr>
              <a:t>約1/35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000" y="5178368"/>
            <a:ext cx="423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チェリー・スイカ・チャンス目合算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5528368"/>
            <a:ext cx="4297680" cy="490000"/>
          </a:xfrm>
          <a:prstGeom prst="rect">
            <a:avLst/>
          </a:prstGeom>
          <a:solidFill>
            <a:srgbClr val="08122C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32000" y="5578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CCDD"/>
                </a:solidFill>
                <a:latin typeface="メイリオ"/>
              </a:rPr>
              <a:t>打ち方：左リールにBARを狙う（チェリー・スイカをフォロー）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32000" y="5788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ベスト手順を守ることでレア役フォローと高確移行を逃さない。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通常時戦略：天井①(350G)は浅め、スルー天井(9スルー)は長期台のサイン。明石商店の文字点灯も要チェック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高確・超高確状態でのレア役は大チャンス。状態の変化を意識したゲーム消化が重要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CZ/前兆の仕組み ── 海戦BONUS・BATTLE・艦隊要素との連携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023360" cy="26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676656"/>
            <a:ext cx="39433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CDD"/>
                </a:solidFill>
                <a:latin typeface="メイリオ"/>
              </a:rPr>
              <a:t>海戦BONUSからAT突入までのフロー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69264"/>
            <a:ext cx="4023360" cy="560000"/>
          </a:xfrm>
          <a:prstGeom prst="rect">
            <a:avLst/>
          </a:prstGeom>
          <a:solidFill>
            <a:srgbClr val="08122C"/>
          </a:solidFill>
          <a:ln w="15240">
            <a:solidFill>
              <a:srgbClr val="88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032" y="1014264"/>
            <a:ext cx="39633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9AAA"/>
                </a:solidFill>
                <a:latin typeface="メイリオ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032" y="1209264"/>
            <a:ext cx="396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0F8"/>
                </a:solidFill>
                <a:latin typeface="游明朝"/>
              </a:rPr>
              <a:t>通常時 → 海戦BONUS当選</a:t>
            </a:r>
          </a:p>
        </p:txBody>
      </p:sp>
      <p:sp>
        <p:nvSpPr>
          <p:cNvPr id="13" name="Cube 12"/>
          <p:cNvSpPr/>
          <p:nvPr/>
        </p:nvSpPr>
        <p:spPr>
          <a:xfrm>
            <a:off x="2177712" y="1544264"/>
            <a:ext cx="180000" cy="180000"/>
          </a:xfrm>
          <a:prstGeom prst="cube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1744264"/>
            <a:ext cx="4023360" cy="760000"/>
          </a:xfrm>
          <a:prstGeom prst="rect">
            <a:avLst/>
          </a:prstGeom>
          <a:solidFill>
            <a:srgbClr val="061028"/>
          </a:solidFill>
          <a:ln w="2540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744264"/>
            <a:ext cx="35000" cy="760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032" y="1789264"/>
            <a:ext cx="39433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CCDD"/>
                </a:solidFill>
                <a:latin typeface="メイリオ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032" y="1984264"/>
            <a:ext cx="394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AACC"/>
                </a:solidFill>
                <a:latin typeface="游明朝"/>
              </a:rPr>
              <a:t>海戦BONUS消化（ベルナビ10回+10G）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032" y="2254264"/>
            <a:ext cx="39433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平均約100枚獲得。消化中にBAR揃いで陣営参戦の可能性。</a:t>
            </a:r>
          </a:p>
        </p:txBody>
      </p:sp>
      <p:sp>
        <p:nvSpPr>
          <p:cNvPr id="19" name="Cube 18"/>
          <p:cNvSpPr/>
          <p:nvPr/>
        </p:nvSpPr>
        <p:spPr>
          <a:xfrm>
            <a:off x="2177712" y="2519264"/>
            <a:ext cx="180000" cy="180000"/>
          </a:xfrm>
          <a:prstGeom prst="cube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719264"/>
            <a:ext cx="4023360" cy="760000"/>
          </a:xfrm>
          <a:prstGeom prst="rect">
            <a:avLst/>
          </a:prstGeom>
          <a:solidFill>
            <a:srgbClr val="08143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719264"/>
            <a:ext cx="35000" cy="7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032" y="2764264"/>
            <a:ext cx="39433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840"/>
                </a:solidFill>
                <a:latin typeface="メイリオ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032" y="2959264"/>
            <a:ext cx="394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CC55"/>
                </a:solidFill>
                <a:latin typeface="游明朝"/>
              </a:rPr>
              <a:t>BATTLE演出でAT抽選！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032" y="3229264"/>
            <a:ext cx="39433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AAA"/>
                </a:solidFill>
                <a:latin typeface="メイリオ"/>
              </a:rPr>
              <a:t>勝利 or 告知発生でアズールレーンRUSH突入確定。</a:t>
            </a:r>
          </a:p>
        </p:txBody>
      </p:sp>
      <p:sp>
        <p:nvSpPr>
          <p:cNvPr id="25" name="Cube 24"/>
          <p:cNvSpPr/>
          <p:nvPr/>
        </p:nvSpPr>
        <p:spPr>
          <a:xfrm>
            <a:off x="2177712" y="3494264"/>
            <a:ext cx="180000" cy="180000"/>
          </a:xfrm>
          <a:prstGeom prst="cube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694264"/>
            <a:ext cx="4023360" cy="560000"/>
          </a:xfrm>
          <a:prstGeom prst="rect">
            <a:avLst/>
          </a:prstGeom>
          <a:solidFill>
            <a:srgbClr val="04102C"/>
          </a:solidFill>
          <a:ln w="2540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694264"/>
            <a:ext cx="35000" cy="5600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6032" y="3739264"/>
            <a:ext cx="39433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CC55"/>
                </a:solidFill>
                <a:latin typeface="メイリオ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6032" y="3934264"/>
            <a:ext cx="394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アズールレーンRUSH突入！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658368"/>
            <a:ext cx="4434840" cy="26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0560" y="713368"/>
            <a:ext cx="43548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CDD"/>
                </a:solidFill>
                <a:latin typeface="メイリオ"/>
              </a:rPr>
              <a:t>艦隊・海戦要素とゲーム性の融合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918368"/>
            <a:ext cx="4434840" cy="141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0" y="918368"/>
            <a:ext cx="40000" cy="1415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0560" y="968368"/>
            <a:ext cx="43448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CDD"/>
                </a:solidFill>
                <a:latin typeface="メイリオ"/>
              </a:rPr>
              <a:t>高確・超高確（内部状態）と海戦設計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0560" y="1238368"/>
            <a:ext cx="4344840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通常時は「通常・高確・超高確」の3状態が存在。
高確・超高確ほど海戦BONUS当選率がアップ。
状態変化はレア役や規定G数消化で発生。
艦隊の哨戒→交戦強度上昇のイメージ。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403368"/>
            <a:ext cx="4434840" cy="141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0560" y="2403368"/>
            <a:ext cx="40000" cy="141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0560" y="2453368"/>
            <a:ext cx="43448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BAR揃い＝陣営参戦（海戦BONUS中）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0560" y="2723368"/>
            <a:ext cx="4344840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海戦BONUS消化中にBAR揃い発生→陣営が参戦。
1陣営から最大4陣営まで参戦数が増えると
AT中の上乗せ性能・特化ゾーン突入率が向上。
陣営増加は艦隊増員のIPストーリーと一致。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3888368"/>
            <a:ext cx="4434840" cy="141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60" y="3888368"/>
            <a:ext cx="40000" cy="1415000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50560" y="3938368"/>
            <a:ext cx="43448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6AA"/>
                </a:solidFill>
                <a:latin typeface="メイリオ"/>
              </a:rPr>
              <a:t>共同戦線RUSH（1陣営時の特化ゾーン）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0560" y="4208368"/>
            <a:ext cx="4344840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AT中に1陣営のみの状態で発動する特化ゾーン。
上乗せ性能が高く、ここで陣営を追加しながら
ゲーム数・性能を底上げするゲームプラン。
艦隊が少ない時こそ奮起する設計思想。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海戦BONUS→BATTLE演出のCZ構造：ボーナス消化そのものが「艦隊の交戦」を演出するIP連動設計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BAR揃いによる陣営参戦が出玉に直結する点がアズレン独自ゲーム性の核心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AT/ボーナス ── 出玉が伸びるメカニズム詳解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CDD"/>
                </a:solidFill>
                <a:latin typeface="メイリオ"/>
              </a:rPr>
              <a:t>アズールレーンRUSH（通常AT）の出玉構造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6052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5000" cy="1075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98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CDD"/>
                </a:solidFill>
                <a:latin typeface="メイリオ"/>
              </a:rPr>
              <a:t>AT基本仕様（純増約2.5枚/G）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ゲーム数上乗せ型AT。純増約2.5枚/G。
初期ゲーム数からスタートし、
上乗せで継続ゲーム数を積み上げる。
ゲーム数が0になると終了→天城BATTLE発展の可能性。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93368"/>
            <a:ext cx="416052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93368"/>
            <a:ext cx="45000" cy="1075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143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AACC"/>
                </a:solidFill>
                <a:latin typeface="メイリオ"/>
              </a:rPr>
              <a:t>上乗せ抽選のトリガー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413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通常AT中の上乗せは以下から発生：
① レア役（強チェリー・スイカ・チャンス目）
② 明石チャンス（リプレイ積算→突入）
③ 海戦BONUS消化中の上乗せ抽選
④ 各陣営の特殊演出（陣営依存）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238368"/>
            <a:ext cx="416052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238368"/>
            <a:ext cx="45000" cy="107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288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陣営数に応じたAT性能変化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558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陣営が増えるほどAT中の上乗せ期待値が向上。
1陣営：基本性能
2陣営：性能アップ（上乗せ期待値+）
3陣営：さらに上乗せ頻度・量が増加
4陣営：最高性能＋天城BATTLE発生権利獲得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83368"/>
            <a:ext cx="416052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83368"/>
            <a:ext cx="45000" cy="1075000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433368"/>
            <a:ext cx="406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6AA"/>
                </a:solidFill>
                <a:latin typeface="メイリオ"/>
              </a:rPr>
              <a:t>共同戦線RUSHで一気に底上げ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703368"/>
            <a:ext cx="40605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AT中1陣営状態で発動する特化ゾーン。
高確率で大量上乗せが発生し、
陣営追加のチャンスでもある。
1陣営→4陣営達成の重要な踏み台。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CDD"/>
                </a:solidFill>
                <a:latin typeface="メイリオ"/>
              </a:rPr>
              <a:t>ボーナス種類と出玉・AT性能への役割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48368"/>
            <a:ext cx="429768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48368"/>
            <a:ext cx="45000" cy="1075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7000" y="998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CDD"/>
                </a:solidFill>
                <a:latin typeface="メイリオ"/>
              </a:rPr>
              <a:t>海戦BONUS（疑似ボーナス・メイン）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7000" y="1268368"/>
            <a:ext cx="419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通常時の主要当選役。ベルナビ10回+10G継続。
平均約100枚獲得。BATTLE演出でAT抽選。
BAR揃い時に陣営参戦抽選。頻繁に当選するため
スルー回数管理が立ち回り上の重要指標。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093368"/>
            <a:ext cx="429768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093368"/>
            <a:ext cx="45000" cy="10750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7000" y="214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C55"/>
                </a:solidFill>
                <a:latin typeface="メイリオ"/>
              </a:rPr>
              <a:t>天城BATTLE（上位CZ・AT後発生）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7000" y="2413368"/>
            <a:ext cx="419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4陣営集結後のAT終了時に発生するCZ。
クリアすると上位AT「異次元性能SS RUSH」確定。
上位AT自体が4陣営状態で動作するため
通常ATと比べてAT性能が大幅に向上する。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238368"/>
            <a:ext cx="429768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238368"/>
            <a:ext cx="45000" cy="1075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7000" y="3288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AACC"/>
                </a:solidFill>
                <a:latin typeface="メイリオ"/>
              </a:rPr>
              <a:t>AT中の継続ボーナス（上乗せ源）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7000" y="3558368"/>
            <a:ext cx="419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AT中に当選するボーナスはゲーム数上乗せ源。
上乗せ量はボーナス種別・陣営数・内部状態で変動。
AT中はできるだけ多くのボーナスを引いて
ゲーム数を積み上げていくことが基本戦略。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383368"/>
            <a:ext cx="4297680" cy="1075000"/>
          </a:xfrm>
          <a:prstGeom prst="rect">
            <a:avLst/>
          </a:prstGeom>
          <a:solidFill>
            <a:srgbClr val="060E22"/>
          </a:solidFill>
          <a:ln w="19050">
            <a:solidFill>
              <a:srgbClr val="88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383368"/>
            <a:ext cx="45000" cy="1075000"/>
          </a:xfrm>
          <a:prstGeom prst="rect">
            <a:avLst/>
          </a:prstGeom>
          <a:solidFill>
            <a:srgbClr val="88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7000" y="443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9AAA"/>
                </a:solidFill>
                <a:latin typeface="メイリオ"/>
              </a:rPr>
              <a:t>エンディング・差枚リセット後の恩恵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7000" y="4703368"/>
            <a:ext cx="419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エンディング到達や差枚数条件で有利区間リセット。
リセット後は天城BATTLE（上位CZ）に突入。
上位ATへの再挑戦機会が保証される仕組み。
上位AT後も同様の恩恵で高ループ設計。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AT出玉の核心：陣営数×上乗せ量の比例関係。4陣営集結を早めることが最大の出玉戦略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共同戦線RUSHは1陣営状態の救済特化ゾーン。入れば逆転の大チャンス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上位ATへの道 ── 天城BATTLE→異次元性能SS RUSHの遊び方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"/>
            <a:ext cx="9144000" cy="26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90372"/>
            <a:ext cx="82296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CDD"/>
                </a:solidFill>
                <a:latin typeface="メイリオ"/>
              </a:rPr>
              <a:t>上位AT到達ルート（4陣営集結から異次元性能SS RUSHまでの昇格階層）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48448"/>
            <a:ext cx="1920240" cy="110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40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CDD"/>
                </a:solidFill>
                <a:latin typeface="游明朝"/>
              </a:rPr>
              <a:t>アズールレーン
RUSH（通常AT）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40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純増約2.5枚/G
1〜4陣営変動
メインAT</a:t>
            </a:r>
          </a:p>
        </p:txBody>
      </p:sp>
      <p:sp>
        <p:nvSpPr>
          <p:cNvPr id="13" name="Can 12"/>
          <p:cNvSpPr/>
          <p:nvPr/>
        </p:nvSpPr>
        <p:spPr>
          <a:xfrm>
            <a:off x="2252280" y="1208448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8024" y="748448"/>
            <a:ext cx="1920240" cy="110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3024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4陣営集結
→天城BATTLE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8024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AT終了後発動
上位AT決定戦
クリアで昇格</a:t>
            </a:r>
          </a:p>
        </p:txBody>
      </p:sp>
      <p:sp>
        <p:nvSpPr>
          <p:cNvPr id="17" name="Can 16"/>
          <p:cNvSpPr/>
          <p:nvPr/>
        </p:nvSpPr>
        <p:spPr>
          <a:xfrm>
            <a:off x="4410264" y="1208448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8" y="748448"/>
            <a:ext cx="1920240" cy="1100000"/>
          </a:xfrm>
          <a:prstGeom prst="rect">
            <a:avLst/>
          </a:prstGeom>
          <a:solidFill>
            <a:srgbClr val="061228"/>
          </a:solidFill>
          <a:ln w="2540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1008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C55"/>
                </a:solidFill>
                <a:latin typeface="游明朝"/>
              </a:rPr>
              <a:t>異次元性能SS
RUSH（上位AT）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6008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純増約5.1枚/G
4陣営MAX
期待約3500枚+</a:t>
            </a:r>
          </a:p>
        </p:txBody>
      </p:sp>
      <p:sp>
        <p:nvSpPr>
          <p:cNvPr id="21" name="Can 20"/>
          <p:cNvSpPr/>
          <p:nvPr/>
        </p:nvSpPr>
        <p:spPr>
          <a:xfrm>
            <a:off x="6568248" y="1208448"/>
            <a:ext cx="200000" cy="180000"/>
          </a:xfrm>
          <a:prstGeom prst="can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93992" y="748448"/>
            <a:ext cx="1920240" cy="1100000"/>
          </a:xfrm>
          <a:prstGeom prst="rect">
            <a:avLst/>
          </a:prstGeom>
          <a:solidFill>
            <a:srgbClr val="061228"/>
          </a:solidFill>
          <a:ln w="25400">
            <a:solidFill>
              <a:srgbClr val="F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8992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6AA"/>
                </a:solidFill>
                <a:latin typeface="游明朝"/>
              </a:rPr>
              <a:t>上位AT終了後
→再天城BATTLE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3992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AAA"/>
                </a:solidFill>
                <a:latin typeface="メイリオ"/>
              </a:rPr>
              <a:t>上位AT後も
CZ再突入
高ループ設計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883664"/>
            <a:ext cx="9144000" cy="50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1938528"/>
            <a:ext cx="4160520" cy="2620000"/>
          </a:xfrm>
          <a:prstGeom prst="rect">
            <a:avLst/>
          </a:prstGeom>
          <a:solidFill>
            <a:srgbClr val="060E22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1938528"/>
            <a:ext cx="45000" cy="26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32" y="1988528"/>
            <a:ext cx="4065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天城BATTLEの仕組みと遊び方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32" y="2278528"/>
            <a:ext cx="4065520" cy="2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【天城BATTLEとは】
AT「アズールレーンRUSH」で4陣営集結後、
AT終了時に発動する上位CZ（チャレンジゾーン）。
クリアすれば純増5.1枚/Gの上位ATへ昇格。
【発生タイミング】
① 通常ATで4陣営集結→AT終了後
② エンディング到達・差枚リセット後
③ 上位AT終了後（再CZ突入）
【CZ中の遊び方】
演出を最後まで確認。勝利告知の
タイミングと演出の豪華さに注目。
キャラ登場・BGM変化で期待度把握。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1938528"/>
            <a:ext cx="4251960" cy="2620000"/>
          </a:xfrm>
          <a:prstGeom prst="rect">
            <a:avLst/>
          </a:prstGeom>
          <a:solidFill>
            <a:srgbClr val="061228"/>
          </a:solidFill>
          <a:ln w="2540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1938528"/>
            <a:ext cx="45000" cy="26200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2720" y="1988528"/>
            <a:ext cx="4156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55"/>
                </a:solidFill>
                <a:latin typeface="游明朝"/>
              </a:rPr>
              <a:t>異次元性能SS RUSH（上位AT）の遊び方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2720" y="2278528"/>
            <a:ext cx="4156960" cy="2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【上位ATの基本仕様】
純増約5.1枚/G（通常ATの約2倍）。
常に4陣営MAXの状態で動作するため
上乗せ期待値も通常ATより大幅に高い。
期待獲得枚数：約3,500枚以上。
【ループ設計】
上位AT終了後も再び天城BATTLEに突入。
CZクリアで上位ATを繰り返せる設計。
高ループによる大量出玉が期待できる。
【打ち方・注意点】
上位AT中は演出・告知を見逃さないこと。
終了時の画面で設定示唆が表示される。
消化中は離席せず全力消化が基本。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上位ATの設計思想：4陣営MAX×純増5.1枚/G×ループCZで「爆発的出玉と夢の持続」を両立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天城BATTLE突入時点で大きな期待値。上位AT後も再CZでループを狙えるのが本機の最大の魅力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面白さの設計 ── 艦隊美少女IPとパチスロの完全融合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120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0000" cy="1200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032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CDD"/>
                </a:solidFill>
                <a:latin typeface="游明朝"/>
              </a:rPr>
              <a:t>① 陣営参戦がそのままAT強化になる設計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32" y="98836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キャラクター（陣営）が増えるほど出玉性能が上がる。
「仲間を集める」というIPの物語体験が
ゲームメカニクスと直結している点が革新的。
原作ファンの感情移入を最大限に活用した設計。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658368"/>
            <a:ext cx="4160520" cy="120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658368"/>
            <a:ext cx="40000" cy="12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448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② 明石商店というIP活用のUIデザイン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7448" y="98836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明石（整備キャラ）の商店がリプレイ積算の
可視化UIとして機能。IPキャラを単なる演出飾りでなく
ゲーム性の核心に組み込んでいる。
通常時・AT中の両場面で存在感を発揮。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949808"/>
            <a:ext cx="4160520" cy="120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1949808"/>
            <a:ext cx="40000" cy="1200000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032" y="199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66AA"/>
                </a:solidFill>
                <a:latin typeface="游明朝"/>
              </a:rPr>
              <a:t>③ 海戦という世界観をゲームフローに昇華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032" y="227980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海戦BONUS→BATTLE演出というCZ構造が
「艦隊が交戦する」というIPの世界観そのもの。
「勝利でAT突入」という演出設計が
IPストーリーとギャンブルの緊張感を融合させた。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7448" y="1949808"/>
            <a:ext cx="4160520" cy="120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27448" y="1949808"/>
            <a:ext cx="40000" cy="1200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7448" y="199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AACC"/>
                </a:solidFill>
                <a:latin typeface="游明朝"/>
              </a:rPr>
              <a:t>④ 純増2.5枚→5.1枚という体感差の演出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7448" y="227980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通常ATと上位ATの純増差が約2倍。
上位ATになった瞬間の出玉スピードの体感変化が
「本当に別次元のATに突入した」と感じさせる。
名前「異次元性能SS RUSH」が体感を強化。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241248"/>
            <a:ext cx="8631936" cy="110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241248"/>
            <a:ext cx="40000" cy="11000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032" y="3291248"/>
            <a:ext cx="854193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CC55"/>
                </a:solidFill>
                <a:latin typeface="游明朝"/>
              </a:rPr>
              <a:t>⑤ 天城BATTLEという上位AT挑戦の劇的設計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032" y="3571248"/>
            <a:ext cx="8541936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4陣営集結という達成感→AT終了→天城BATTLE挑戦
という流れが「積み上げ→解放」の感情設計。
天城（キャラ）との決戦というIP演出が
最大の興奮場面として機能する。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面白さの核心：「陣営参戦×AT性能直結×IP世界観×純増倍速体感×天城BATTLE劇的展開」の5要素連鎖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アズールレーンのIPを単なるビジュアル飾りでなくゲームメカニクスに昇華した点がパチスロアワード評価の核心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良い点と課題 ── 設計の強みと改善余地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0818"/>
                </a:solidFill>
                <a:latin typeface="メイリオ"/>
              </a:rPr>
              <a:t>良い点 ── 設計的強み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032" y="96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IPキャラがゲーム性に直結（陣営システム）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032" y="121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美少女キャラの参戦がAT性能に直結する設計。
「好きなキャラが来ると嬉しい＆有利」という
感情とゲーム性を同時に満たす二重構造。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58368"/>
            <a:ext cx="411480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5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032" y="210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浅い天井（350G）でライトユーザーに優しい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032" y="235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350Gという浅めの天井設定が
ライトユーザーでも安心して立ち回れる基盤。
スルー天井との二重セーフティ設計。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98368"/>
            <a:ext cx="411480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9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032" y="324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通常AT→上位ATの純増倍速体感（2.5→5.1）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032" y="349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上位AT突入時の出玉スピード変化が大きく
「別次元に突入した」という強烈な体感を提供。
上位AT到達後のゲーム体験の質が高い。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38368"/>
            <a:ext cx="411480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3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032" y="438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評価「京楽奇跡の1台」「個人的2025年ベスト台」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032" y="463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複数のプレイヤー評価で高評価を獲得。
ATの「やれる感」と演出の完成度が
スマスロの中でも特に評価されている。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0F8"/>
                </a:solidFill>
                <a:latin typeface="メイリオ"/>
              </a:rPr>
              <a:t>課題 ── 改善余地・注意点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18368"/>
            <a:ext cx="429768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DD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18368"/>
            <a:ext cx="35000" cy="1070000"/>
          </a:xfrm>
          <a:prstGeom prst="rect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000" y="96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D2222"/>
                </a:solidFill>
                <a:latin typeface="メイリオ"/>
              </a:rPr>
              <a:t>コイン持ち低め（25.8G/50枚）の通常時リスク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000" y="121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コイン持ちの悪さにより通常時の投資が
増えやすい。ボーナスにハマると消耗が大きく
ライトユーザーへの敷居になりうる。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058368"/>
            <a:ext cx="429768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058368"/>
            <a:ext cx="35000" cy="1070000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000" y="210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8822"/>
                </a:solidFill>
                <a:latin typeface="メイリオ"/>
              </a:rPr>
              <a:t>優遇・冷遇システムによる設定依存度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000" y="235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スマスロの設定優遇・冷遇で通常時もAT中も
設定に大きく左右される可能性がある。
「ゲーム性最高だが設定に弄られる」という評価も。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5000" cy="1070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2000" y="324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AACC"/>
                </a:solidFill>
                <a:latin typeface="メイリオ"/>
              </a:rPr>
              <a:t>4陣営集結までの道のりの長さ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2000" y="349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4陣営に到達するまでのAT消化時間が
比較的長くなる場合がある。
陣営が増えない引きが続くと単調感が出やすい。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338368"/>
            <a:ext cx="4297680" cy="1070000"/>
          </a:xfrm>
          <a:prstGeom prst="rect">
            <a:avLst/>
          </a:prstGeom>
          <a:solidFill>
            <a:srgbClr val="060E22"/>
          </a:solidFill>
          <a:ln w="15240">
            <a:solidFill>
              <a:srgbClr val="88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338368"/>
            <a:ext cx="35000" cy="1070000"/>
          </a:xfrm>
          <a:prstGeom prst="rect">
            <a:avLst/>
          </a:prstGeom>
          <a:solidFill>
            <a:srgbClr val="88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2000" y="438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89AAA"/>
                </a:solidFill>
                <a:latin typeface="メイリオ"/>
              </a:rPr>
              <a:t>上位AT無しの"通常打ち"の物足りなさ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2000" y="463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上位ATを経験しないと本機の真価を
感じにくい設計とも言える。
天城BATTLE失敗時の落胆が大きい点も課題。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強みと課題の両面把握：IP連動ゲーム性設計の成功事例として評価しつつ、コイン持ち・設定依存の課題も直視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「京楽奇跡の1台」との評価はIP×ゲーム性融合の完成度への賛辞。設計の参考価値は非常に高い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CDD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AAA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CDD"/>
                </a:solidFill>
                <a:latin typeface="メイリオ"/>
              </a:rPr>
              <a:t>アズールレーン ── 設計的強み総括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21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0000" cy="1210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032" y="96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CDD"/>
                </a:solidFill>
                <a:latin typeface="メイリオ"/>
              </a:rPr>
              <a:t>IPキャラ参戦＝AT強化という革新的設計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32" y="124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陣営（キャラ）が増えるとAT性能が上がる構造。
「仲間を集める」というIPの物語体験が
出玉という実利と直結した設計の革新性。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98368"/>
            <a:ext cx="4114800" cy="121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98368"/>
            <a:ext cx="40000" cy="12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032" y="224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2段階AT（2.5枚→5.1枚）の体感設計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032" y="252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通常ATから上位ATへの昇格で純増が2倍。
「異次元」という台名通りの出玉体験差が
高い達成感と継続プレイ動機を生む。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78368"/>
            <a:ext cx="4114800" cy="1210000"/>
          </a:xfrm>
          <a:prstGeom prst="rect">
            <a:avLst/>
          </a:prstGeom>
          <a:solidFill>
            <a:srgbClr val="060E22"/>
          </a:solidFill>
          <a:ln w="19050">
            <a:solidFill>
              <a:srgbClr val="F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78368"/>
            <a:ext cx="40000" cy="1210000"/>
          </a:xfrm>
          <a:prstGeom prst="rect">
            <a:avLst/>
          </a:prstGeom>
          <a:solidFill>
            <a:srgbClr val="F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032" y="352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6AA"/>
                </a:solidFill>
                <a:latin typeface="メイリオ"/>
              </a:rPr>
              <a:t>浅天井（350G）×スルー天井の二重セーフティ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32" y="380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2種の天井が異なるハマりパターンをカバー。
ライトユーザーからヘビーユーザーまで
各層に応じた安心感を提供する設計。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08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CDD"/>
                </a:solidFill>
                <a:latin typeface="游明朝"/>
              </a:rPr>
              <a:t>設計から学べる原則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18368"/>
            <a:ext cx="4297680" cy="710000"/>
          </a:xfrm>
          <a:prstGeom prst="rect">
            <a:avLst/>
          </a:prstGeom>
          <a:solidFill>
            <a:srgbClr val="060E22"/>
          </a:solidFill>
          <a:ln w="1270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18368"/>
            <a:ext cx="30000" cy="710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96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CCDD"/>
                </a:solidFill>
                <a:latin typeface="メイリオ"/>
              </a:rPr>
              <a:t>IPキャラをゲーム性の核に組み込め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000" y="120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キャラを演出飾りに留めず
出玉メカニクスに直結させることで
ファンと一般層の両方を取り込む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678368"/>
            <a:ext cx="4297680" cy="710000"/>
          </a:xfrm>
          <a:prstGeom prst="rect">
            <a:avLst/>
          </a:prstGeom>
          <a:solidFill>
            <a:srgbClr val="060E22"/>
          </a:solidFill>
          <a:ln w="127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678368"/>
            <a:ext cx="30000" cy="7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72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「仲間が増える=強くなる」という普遍的快感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7000" y="196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RPGの成長感をパチスロに移植。
陣営参戦というUIが感情と利益を
同時に満たす双方向設計の鉄則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38368"/>
            <a:ext cx="4297680" cy="710000"/>
          </a:xfrm>
          <a:prstGeom prst="rect">
            <a:avLst/>
          </a:prstGeom>
          <a:solidFill>
            <a:srgbClr val="060E22"/>
          </a:solidFill>
          <a:ln w="1270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438368"/>
            <a:ext cx="30000" cy="710000"/>
          </a:xfrm>
          <a:prstGeom prst="rect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248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AACC"/>
                </a:solidFill>
                <a:latin typeface="メイリオ"/>
              </a:rPr>
              <a:t>二段階出玉スピードで昇格体験を演出せよ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7000" y="272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通常モード→上位モードの
出玉速度差を設計に組み込むことで
「別世界に来た感」を強制生成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710000"/>
          </a:xfrm>
          <a:prstGeom prst="rect">
            <a:avLst/>
          </a:prstGeom>
          <a:solidFill>
            <a:srgbClr val="060E22"/>
          </a:solidFill>
          <a:ln w="1270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0000" cy="7100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7000" y="324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CC55"/>
                </a:solidFill>
                <a:latin typeface="メイリオ"/>
              </a:rPr>
              <a:t>天城BATTLEのような「積み上げ→解放」設計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7000" y="348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CF0F8"/>
                </a:solidFill>
                <a:latin typeface="メイリオ"/>
              </a:rPr>
              <a:t>4陣営達成という積み上げが
CZ解放という感情解放に直結。
努力報酬型の快感設計の見本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968368"/>
            <a:ext cx="4297680" cy="1060000"/>
          </a:xfrm>
          <a:prstGeom prst="rect">
            <a:avLst/>
          </a:prstGeom>
          <a:solidFill>
            <a:srgbClr val="040E26"/>
          </a:solidFill>
          <a:ln w="25400">
            <a:solidFill>
              <a:srgbClr val="00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3968368"/>
            <a:ext cx="40000" cy="1060000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7000" y="4018368"/>
            <a:ext cx="4212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CDD"/>
                </a:solidFill>
                <a:latin typeface="メイリオ"/>
              </a:rPr>
              <a:t>総括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7000" y="4278368"/>
            <a:ext cx="421268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CF0F8"/>
                </a:solidFill>
                <a:latin typeface="メイリオ"/>
              </a:rPr>
              <a:t>陣営参戦×AT性能直結×IP世界観融合×二段階純増×天城BATTLE。
これら5要素を統合した設計がパチスロアワード2025
ノミネートの根拠。艦隊IPとパチスロの
ゲーム性融合の模範事例として参照価値が高い。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19472"/>
            <a:ext cx="19202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89AAA"/>
                </a:solidFill>
                <a:latin typeface="メイリオ"/>
              </a:rPr>
              <a:t>※ネット解析情報より（ちょんぼりすた・一撃・altema・アミュタメ）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00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CCDD"/>
                </a:solidFill>
                <a:latin typeface="メイリオ"/>
              </a:rPr>
              <a:t>本機の設計思想：「IPキャラ×出玉直結×二段階AT×積み上げ解放」──アズレン設計4原則を次世代機に活用せよ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AAA"/>
                </a:solidFill>
                <a:latin typeface="メイリオ"/>
              </a:rPr>
              <a:t>パチスロアワード2025ノミネート台。京楽の設計転換点となった歴史的1台として記録すべき事例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