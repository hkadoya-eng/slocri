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937760" cy="5143500"/>
          </a:xfrm>
          <a:prstGeom prst="rect">
            <a:avLst/>
          </a:prstGeom>
          <a:solidFill>
            <a:srgbClr val="02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5000" cy="5143500"/>
          </a:xfrm>
          <a:prstGeom prst="rect">
            <a:avLst/>
          </a:prstGeom>
          <a:solidFill>
            <a:srgbClr val="CC2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0"/>
            <a:ext cx="8000" cy="5143500"/>
          </a:xfrm>
          <a:prstGeom prst="rect">
            <a:avLst/>
          </a:prstGeom>
          <a:solidFill>
            <a:srgbClr val="806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4572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A840"/>
                </a:solidFill>
                <a:latin typeface="游明朝"/>
              </a:rPr>
              <a:t>機種分析資料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932688"/>
            <a:ext cx="466344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D700"/>
                </a:solidFill>
                <a:latin typeface="游明朝"/>
              </a:rPr>
              <a:t>スマスロ
ミリオンゴッド
-神々の軌跡-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2834640"/>
            <a:ext cx="4572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C0A0"/>
                </a:solidFill>
                <a:latin typeface="游明朝"/>
              </a:rPr>
              <a:t>── 4号機GODの魂が7.0枚純増で甦った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3337560"/>
            <a:ext cx="448056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AA"/>
                </a:solidFill>
                <a:latin typeface="メイリオ"/>
              </a:rPr>
              <a:t>メーカー：ユニバーサルエンターテインメント　　導入：2026年4月20日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" y="3630168"/>
            <a:ext cx="448056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AA"/>
                </a:solidFill>
                <a:latin typeface="メイリオ"/>
              </a:rPr>
              <a:t>設定：1〜6段階　　AT純増：約7.0枚/G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3922776"/>
            <a:ext cx="448056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AA"/>
                </a:solidFill>
                <a:latin typeface="メイリオ"/>
              </a:rPr>
              <a:t>AT1セット：50G　　最大ループ率：80%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66360" y="640080"/>
            <a:ext cx="3749039" cy="1143000"/>
          </a:xfrm>
          <a:prstGeom prst="rect">
            <a:avLst/>
          </a:prstGeom>
          <a:solidFill>
            <a:srgbClr val="0A0E28"/>
          </a:solidFill>
          <a:ln w="2540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66360" y="640080"/>
            <a:ext cx="60000" cy="1143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695080"/>
            <a:ext cx="347472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8A840"/>
                </a:solidFill>
                <a:latin typeface="游明朝"/>
              </a:rPr>
              <a:t>GOD GAME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1010080"/>
            <a:ext cx="34747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50G×最大80%ループ
黄7でZ-GAME連鎖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66360" y="2057400"/>
            <a:ext cx="3749039" cy="1143000"/>
          </a:xfrm>
          <a:prstGeom prst="rect">
            <a:avLst/>
          </a:prstGeom>
          <a:solidFill>
            <a:srgbClr val="0A0E28"/>
          </a:solidFill>
          <a:ln w="25400">
            <a:solidFill>
              <a:srgbClr val="CC22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66360" y="2057400"/>
            <a:ext cx="60000" cy="1143000"/>
          </a:xfrm>
          <a:prstGeom prst="rect">
            <a:avLst/>
          </a:prstGeom>
          <a:solidFill>
            <a:srgbClr val="CC2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9240" y="2112400"/>
            <a:ext cx="347472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2211"/>
                </a:solidFill>
                <a:latin typeface="游明朝"/>
              </a:rPr>
              <a:t>SGG（赤7揃い）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427400"/>
            <a:ext cx="34747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75%以上ループ
10G〜100G増加区間+3G復活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66360" y="3474720"/>
            <a:ext cx="3749039" cy="1143000"/>
          </a:xfrm>
          <a:prstGeom prst="rect">
            <a:avLst/>
          </a:prstGeom>
          <a:solidFill>
            <a:srgbClr val="0A0E28"/>
          </a:solidFill>
          <a:ln w="25400">
            <a:solidFill>
              <a:srgbClr val="884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66360" y="3474720"/>
            <a:ext cx="60000" cy="1143000"/>
          </a:xfrm>
          <a:prstGeom prst="rect">
            <a:avLst/>
          </a:prstGeom>
          <a:solidFill>
            <a:srgbClr val="88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9240" y="3529720"/>
            <a:ext cx="347472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844CC"/>
                </a:solidFill>
                <a:latin typeface="游明朝"/>
              </a:rPr>
              <a:t>GOD揃い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3844720"/>
            <a:ext cx="34747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1/16384のプレミア
GGストック4個以上確定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A0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CC2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840"/>
                </a:solidFill>
                <a:latin typeface="游明朝"/>
              </a:rPr>
              <a:t>スペック ── 基本数値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2/7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CC2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713232"/>
            <a:ext cx="3000000" cy="360000"/>
          </a:xfrm>
          <a:prstGeom prst="rect">
            <a:avLst/>
          </a:prstGeom>
          <a:solidFill>
            <a:srgbClr val="70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320" y="758232"/>
            <a:ext cx="4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C8A840"/>
                </a:solidFill>
                <a:latin typeface="メイリオ"/>
              </a:rPr>
              <a:t>設定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320" y="758232"/>
            <a:ext cx="115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C8A840"/>
                </a:solidFill>
                <a:latin typeface="メイリオ"/>
              </a:rPr>
              <a:t>機械割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4320" y="758232"/>
            <a:ext cx="12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C8A840"/>
                </a:solidFill>
                <a:latin typeface="メイリオ"/>
              </a:rPr>
              <a:t>特記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073232"/>
            <a:ext cx="3000000" cy="370000"/>
          </a:xfrm>
          <a:prstGeom prst="rect">
            <a:avLst/>
          </a:prstGeom>
          <a:solidFill>
            <a:srgbClr val="0A0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320" y="1123232"/>
            <a:ext cx="4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E8E8F4"/>
                </a:solidFill>
                <a:latin typeface="メイリオ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320" y="1123232"/>
            <a:ext cx="115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4320" y="1123232"/>
            <a:ext cx="12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443232"/>
            <a:ext cx="3000000" cy="370000"/>
          </a:xfrm>
          <a:prstGeom prst="rect">
            <a:avLst/>
          </a:prstGeom>
          <a:solidFill>
            <a:srgbClr val="0E1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320" y="1493232"/>
            <a:ext cx="4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E8E8F4"/>
                </a:solidFill>
                <a:latin typeface="メイリオ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320" y="1493232"/>
            <a:ext cx="115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4320" y="1493232"/>
            <a:ext cx="12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813232"/>
            <a:ext cx="3000000" cy="370000"/>
          </a:xfrm>
          <a:prstGeom prst="rect">
            <a:avLst/>
          </a:prstGeom>
          <a:solidFill>
            <a:srgbClr val="0A0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320" y="1863232"/>
            <a:ext cx="4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E8E8F4"/>
                </a:solidFill>
                <a:latin typeface="メイリオ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320" y="1863232"/>
            <a:ext cx="115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24320" y="1863232"/>
            <a:ext cx="12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183232"/>
            <a:ext cx="3000000" cy="370000"/>
          </a:xfrm>
          <a:prstGeom prst="rect">
            <a:avLst/>
          </a:prstGeom>
          <a:solidFill>
            <a:srgbClr val="0E1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4320" y="2233232"/>
            <a:ext cx="4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E8E8F4"/>
                </a:solidFill>
                <a:latin typeface="メイリオ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320" y="2233232"/>
            <a:ext cx="115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24320" y="2233232"/>
            <a:ext cx="12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553232"/>
            <a:ext cx="3000000" cy="370000"/>
          </a:xfrm>
          <a:prstGeom prst="rect">
            <a:avLst/>
          </a:prstGeom>
          <a:solidFill>
            <a:srgbClr val="0A0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4320" y="2603232"/>
            <a:ext cx="4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E8E8F4"/>
                </a:solidFill>
                <a:latin typeface="メイリオ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320" y="2603232"/>
            <a:ext cx="115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4320" y="2603232"/>
            <a:ext cx="12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2923232"/>
            <a:ext cx="3000000" cy="370000"/>
          </a:xfrm>
          <a:prstGeom prst="rect">
            <a:avLst/>
          </a:prstGeom>
          <a:solidFill>
            <a:srgbClr val="0E1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320" y="2973232"/>
            <a:ext cx="4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C8A840"/>
                </a:solidFill>
                <a:latin typeface="メイリオ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320" y="2973232"/>
            <a:ext cx="115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FD700"/>
                </a:solidFill>
                <a:latin typeface="メイリオ"/>
              </a:rPr>
              <a:t>約111%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24320" y="2973232"/>
            <a:ext cx="12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>設定6のみ公表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0" y="713232"/>
            <a:ext cx="5212080" cy="485000"/>
          </a:xfrm>
          <a:prstGeom prst="rect">
            <a:avLst/>
          </a:prstGeom>
          <a:solidFill>
            <a:srgbClr val="0A0E28"/>
          </a:solidFill>
          <a:ln w="1524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0" y="713232"/>
            <a:ext cx="40000" cy="485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27600" y="753232"/>
            <a:ext cx="18288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8A840"/>
                </a:solidFill>
                <a:latin typeface="メイリオ"/>
              </a:rPr>
              <a:t>AT純増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27600" y="963232"/>
            <a:ext cx="475488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F4"/>
                </a:solidFill>
                <a:latin typeface="メイリオ"/>
              </a:rPr>
              <a:t>約7.0枚/G（現行トップクラス）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0" y="1243232"/>
            <a:ext cx="5212080" cy="485000"/>
          </a:xfrm>
          <a:prstGeom prst="rect">
            <a:avLst/>
          </a:prstGeom>
          <a:solidFill>
            <a:srgbClr val="0A0E28"/>
          </a:solidFill>
          <a:ln w="1524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57600" y="1243232"/>
            <a:ext cx="40000" cy="485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27600" y="1283232"/>
            <a:ext cx="18288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8A840"/>
                </a:solidFill>
                <a:latin typeface="メイリオ"/>
              </a:rPr>
              <a:t>ATセット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27600" y="1493232"/>
            <a:ext cx="475488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F4"/>
                </a:solidFill>
                <a:latin typeface="メイリオ"/>
              </a:rPr>
              <a:t>1セット50G・最大80%ループ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0" y="1773232"/>
            <a:ext cx="5212080" cy="485000"/>
          </a:xfrm>
          <a:prstGeom prst="rect">
            <a:avLst/>
          </a:prstGeom>
          <a:solidFill>
            <a:srgbClr val="0A0E28"/>
          </a:solidFill>
          <a:ln w="15240">
            <a:solidFill>
              <a:srgbClr val="CC22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657600" y="1773232"/>
            <a:ext cx="40000" cy="485000"/>
          </a:xfrm>
          <a:prstGeom prst="rect">
            <a:avLst/>
          </a:prstGeom>
          <a:solidFill>
            <a:srgbClr val="CC2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27600" y="1813232"/>
            <a:ext cx="18288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C2211"/>
                </a:solidFill>
                <a:latin typeface="メイリオ"/>
              </a:rPr>
              <a:t>SGG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27600" y="2023232"/>
            <a:ext cx="475488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F4"/>
                </a:solidFill>
                <a:latin typeface="メイリオ"/>
              </a:rPr>
              <a:t>赤7揃いで突入・75%以上ループ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0" y="2303232"/>
            <a:ext cx="5212080" cy="485000"/>
          </a:xfrm>
          <a:prstGeom prst="rect">
            <a:avLst/>
          </a:prstGeom>
          <a:solidFill>
            <a:srgbClr val="0A0E28"/>
          </a:solidFill>
          <a:ln w="1524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57600" y="2303232"/>
            <a:ext cx="40000" cy="4850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27600" y="2343232"/>
            <a:ext cx="18288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CC00"/>
                </a:solidFill>
                <a:latin typeface="メイリオ"/>
              </a:rPr>
              <a:t>Z-GAME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27600" y="2553232"/>
            <a:ext cx="475488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F4"/>
                </a:solidFill>
                <a:latin typeface="メイリオ"/>
              </a:rPr>
              <a:t>黄7揃いで突入・G数上乗せチェーン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0" y="2833232"/>
            <a:ext cx="5212080" cy="485000"/>
          </a:xfrm>
          <a:prstGeom prst="rect">
            <a:avLst/>
          </a:prstGeom>
          <a:solidFill>
            <a:srgbClr val="0A0E28"/>
          </a:solidFill>
          <a:ln w="15240">
            <a:solidFill>
              <a:srgbClr val="884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657600" y="2833232"/>
            <a:ext cx="40000" cy="485000"/>
          </a:xfrm>
          <a:prstGeom prst="rect">
            <a:avLst/>
          </a:prstGeom>
          <a:solidFill>
            <a:srgbClr val="88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27600" y="2873232"/>
            <a:ext cx="18288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844CC"/>
                </a:solidFill>
                <a:latin typeface="メイリオ"/>
              </a:rPr>
              <a:t>GOD揃い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27600" y="3083232"/>
            <a:ext cx="475488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F4"/>
                </a:solidFill>
                <a:latin typeface="メイリオ"/>
              </a:rPr>
              <a:t>1/16384・GGストック4個以上確定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0" y="3363232"/>
            <a:ext cx="5212080" cy="485000"/>
          </a:xfrm>
          <a:prstGeom prst="rect">
            <a:avLst/>
          </a:prstGeom>
          <a:solidFill>
            <a:srgbClr val="0A0E28"/>
          </a:solidFill>
          <a:ln w="15240">
            <a:solidFill>
              <a:srgbClr val="E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657600" y="3363232"/>
            <a:ext cx="40000" cy="485000"/>
          </a:xfrm>
          <a:prstGeom prst="rect">
            <a:avLst/>
          </a:prstGeom>
          <a:solidFill>
            <a:srgbClr val="E8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27600" y="3403232"/>
            <a:ext cx="18288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E8E8F4"/>
                </a:solidFill>
                <a:latin typeface="メイリオ"/>
              </a:rPr>
              <a:t>期待枚数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27600" y="3613232"/>
            <a:ext cx="475488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F4"/>
                </a:solidFill>
                <a:latin typeface="メイリオ"/>
              </a:rPr>
              <a:t>GOD揃い時3000枚以上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A0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CC2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840"/>
                </a:solidFill>
                <a:latin typeface="游明朝"/>
              </a:rPr>
              <a:t>ゲームフロー ── モード → GOD GAME → SGG → Z-GAME → GOD揃い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3/7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CC2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658368"/>
            <a:ext cx="8595360" cy="280000"/>
          </a:xfrm>
          <a:prstGeom prst="rect">
            <a:avLst/>
          </a:prstGeom>
          <a:solidFill>
            <a:srgbClr val="121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76656"/>
            <a:ext cx="27432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8A840"/>
                </a:solidFill>
                <a:latin typeface="メイリオ"/>
              </a:rPr>
              <a:t>通常時 ── 3つのモード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4320" y="950976"/>
            <a:ext cx="2815120" cy="700000"/>
          </a:xfrm>
          <a:prstGeom prst="rect">
            <a:avLst/>
          </a:prstGeom>
          <a:solidFill>
            <a:srgbClr val="0A0E28"/>
          </a:solidFill>
          <a:ln w="1524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4320" y="978408"/>
            <a:ext cx="277512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E8E8F4"/>
                </a:solidFill>
                <a:latin typeface="メイリオ"/>
              </a:rPr>
              <a:t>通常モード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320" y="1234440"/>
            <a:ext cx="27751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GG当選が重い
最も長い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69440" y="950976"/>
            <a:ext cx="2815120" cy="700000"/>
          </a:xfrm>
          <a:prstGeom prst="rect">
            <a:avLst/>
          </a:prstGeom>
          <a:solidFill>
            <a:srgbClr val="0A0E28"/>
          </a:solidFill>
          <a:ln w="15240">
            <a:solidFill>
              <a:srgbClr val="FF4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99440" y="978408"/>
            <a:ext cx="277512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F4422"/>
                </a:solidFill>
                <a:latin typeface="メイリオ"/>
              </a:rPr>
              <a:t>チャンスモード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99440" y="1234440"/>
            <a:ext cx="27751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GG当選率UP
チャンス役で短縮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4560" y="950976"/>
            <a:ext cx="2815120" cy="700000"/>
          </a:xfrm>
          <a:prstGeom prst="rect">
            <a:avLst/>
          </a:prstGeom>
          <a:solidFill>
            <a:srgbClr val="0A0E28"/>
          </a:solidFill>
          <a:ln w="1524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64560" y="978408"/>
            <a:ext cx="277512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C8A840"/>
                </a:solidFill>
                <a:latin typeface="メイリオ"/>
              </a:rPr>
              <a:t>天国モード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64560" y="1234440"/>
            <a:ext cx="27751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GG当選ほぼ確定
最速でAT突入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" y="2880360"/>
            <a:ext cx="1645920" cy="1280160"/>
          </a:xfrm>
          <a:prstGeom prst="rect">
            <a:avLst/>
          </a:prstGeom>
          <a:solidFill>
            <a:srgbClr val="121634"/>
          </a:solidFill>
          <a:ln w="2286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6112" y="2960360"/>
            <a:ext cx="15659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8A840"/>
                </a:solidFill>
                <a:latin typeface="游明朝"/>
              </a:rPr>
              <a:t>GOD GAME
(GG)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112" y="3330360"/>
            <a:ext cx="15859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50G/最大80%ループ
黄7→Z-GAME</a:t>
            </a:r>
          </a:p>
        </p:txBody>
      </p:sp>
      <p:sp>
        <p:nvSpPr>
          <p:cNvPr id="22" name="Can 21"/>
          <p:cNvSpPr/>
          <p:nvPr/>
        </p:nvSpPr>
        <p:spPr>
          <a:xfrm>
            <a:off x="2552032" y="3430440"/>
            <a:ext cx="200000" cy="180000"/>
          </a:xfrm>
          <a:prstGeom prst="can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98064" y="2880360"/>
            <a:ext cx="1645920" cy="1280160"/>
          </a:xfrm>
          <a:prstGeom prst="rect">
            <a:avLst/>
          </a:prstGeom>
          <a:solidFill>
            <a:srgbClr val="121634"/>
          </a:solidFill>
          <a:ln w="22860">
            <a:solidFill>
              <a:srgbClr val="CC22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8064" y="2960360"/>
            <a:ext cx="15659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C2211"/>
                </a:solidFill>
                <a:latin typeface="游明朝"/>
              </a:rPr>
              <a:t>SGG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28064" y="3330360"/>
            <a:ext cx="15859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赤7揃いで突入
75%以上ループ
増加区間10〜100G</a:t>
            </a:r>
          </a:p>
        </p:txBody>
      </p:sp>
      <p:sp>
        <p:nvSpPr>
          <p:cNvPr id="26" name="Can 25"/>
          <p:cNvSpPr/>
          <p:nvPr/>
        </p:nvSpPr>
        <p:spPr>
          <a:xfrm>
            <a:off x="4453984" y="3430440"/>
            <a:ext cx="200000" cy="180000"/>
          </a:xfrm>
          <a:prstGeom prst="can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00016" y="2880360"/>
            <a:ext cx="1645920" cy="1280160"/>
          </a:xfrm>
          <a:prstGeom prst="rect">
            <a:avLst/>
          </a:prstGeom>
          <a:solidFill>
            <a:srgbClr val="141002"/>
          </a:solidFill>
          <a:ln w="2286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40016" y="2960360"/>
            <a:ext cx="15659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CC00"/>
                </a:solidFill>
                <a:latin typeface="游明朝"/>
              </a:rPr>
              <a:t>Z-GAME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30016" y="3330360"/>
            <a:ext cx="15859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黄7揃いで突入
G数上乗せチェーン
複数連鎖で爆発</a:t>
            </a:r>
          </a:p>
        </p:txBody>
      </p:sp>
      <p:sp>
        <p:nvSpPr>
          <p:cNvPr id="30" name="Can 29"/>
          <p:cNvSpPr/>
          <p:nvPr/>
        </p:nvSpPr>
        <p:spPr>
          <a:xfrm>
            <a:off x="6355936" y="3430440"/>
            <a:ext cx="200000" cy="180000"/>
          </a:xfrm>
          <a:prstGeom prst="can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601968" y="2880360"/>
            <a:ext cx="1645920" cy="1280160"/>
          </a:xfrm>
          <a:prstGeom prst="rect">
            <a:avLst/>
          </a:prstGeom>
          <a:solidFill>
            <a:srgbClr val="0A0418"/>
          </a:solidFill>
          <a:ln w="22860">
            <a:solidFill>
              <a:srgbClr val="884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41968" y="2960360"/>
            <a:ext cx="15659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8844CC"/>
                </a:solidFill>
                <a:latin typeface="游明朝"/>
              </a:rPr>
              <a:t>GOD揃い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31968" y="3330360"/>
            <a:ext cx="15859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1/16384
GGストック4個以上確定
期待3000枚以上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A0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CC2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840"/>
                </a:solidFill>
                <a:latin typeface="游明朝"/>
              </a:rPr>
              <a:t>AT構成 ── GOD GAME × SGG × Z-GAME × GOD揃いの4層設計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4/7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CC2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114800" cy="2100000"/>
          </a:xfrm>
          <a:prstGeom prst="rect">
            <a:avLst/>
          </a:prstGeom>
          <a:solidFill>
            <a:srgbClr val="0A0E28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658368"/>
            <a:ext cx="45000" cy="210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32" y="703368"/>
            <a:ext cx="401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840"/>
                </a:solidFill>
                <a:latin typeface="游明朝"/>
              </a:rPr>
              <a:t>GG（GOD GAME）の仕組み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32" y="958368"/>
            <a:ext cx="4014800" cy="17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1セット50G、純増約7.0枚/G
消化中の役でGGストック獲得
最大80%ループで連続GGを目指す
黄7揃いでZ-GAME突入（上乗せモード）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838368"/>
            <a:ext cx="4114800" cy="2100000"/>
          </a:xfrm>
          <a:prstGeom prst="rect">
            <a:avLst/>
          </a:prstGeom>
          <a:solidFill>
            <a:srgbClr val="0A0418"/>
          </a:solidFill>
          <a:ln w="19050">
            <a:solidFill>
              <a:srgbClr val="884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2838368"/>
            <a:ext cx="45000" cy="2100000"/>
          </a:xfrm>
          <a:prstGeom prst="rect">
            <a:avLst/>
          </a:prstGeom>
          <a:solidFill>
            <a:srgbClr val="88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32" y="2883368"/>
            <a:ext cx="401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844CC"/>
                </a:solidFill>
                <a:latin typeface="游明朝"/>
              </a:rPr>
              <a:t>GOD揃いの衝撃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32" y="3138368"/>
            <a:ext cx="4014800" cy="17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確率1/16384の最高プレミア演出
GGストック4個以上確定（継続確定）
さらにループストックを高確率で獲得
期待枚数3000枚以上の大爆発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17720" y="658368"/>
            <a:ext cx="4114800" cy="2100000"/>
          </a:xfrm>
          <a:prstGeom prst="rect">
            <a:avLst/>
          </a:prstGeom>
          <a:solidFill>
            <a:srgbClr val="0A0E28"/>
          </a:solidFill>
          <a:ln w="19050">
            <a:solidFill>
              <a:srgbClr val="CC22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17720" y="658368"/>
            <a:ext cx="45000" cy="2100000"/>
          </a:xfrm>
          <a:prstGeom prst="rect">
            <a:avLst/>
          </a:prstGeom>
          <a:solidFill>
            <a:srgbClr val="CC2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92720" y="703368"/>
            <a:ext cx="401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2211"/>
                </a:solidFill>
                <a:latin typeface="游明朝"/>
              </a:rPr>
              <a:t>SGG（スーパーGOD GAME）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2720" y="958368"/>
            <a:ext cx="4014800" cy="17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赤7揃いで突入するセット管理型AT
75%以上の高ループ率で継続
出玉増加区間（10G〜100G）+ 3G復活ゾーンの2部構成
復活ゾーンでさらなるストック獲得の可能性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2838368"/>
            <a:ext cx="4114800" cy="2100000"/>
          </a:xfrm>
          <a:prstGeom prst="rect">
            <a:avLst/>
          </a:prstGeom>
          <a:solidFill>
            <a:srgbClr val="141002"/>
          </a:solidFill>
          <a:ln w="1905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17720" y="2838368"/>
            <a:ext cx="45000" cy="21000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92720" y="2883368"/>
            <a:ext cx="401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CC00"/>
                </a:solidFill>
                <a:latin typeface="游明朝"/>
              </a:rPr>
              <a:t>Z-GAME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2720" y="3138368"/>
            <a:ext cx="4014800" cy="17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黄7揃いでGG消化中に割り込む上乗せモード
消化中にさらなる黄7揃いでチェーン連鎖
「黄7が止まらない」体験が最大の興奮
GG消化をより「速く・大きく」するための増幅装置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A0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CC2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840"/>
                </a:solidFill>
                <a:latin typeface="游明朝"/>
              </a:rPr>
              <a:t>ゲーム体験の核心 ── 積み上げる快感と瞬間の衝撃が共存する設計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5/7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CC2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658368"/>
            <a:ext cx="1463040" cy="1380000"/>
          </a:xfrm>
          <a:prstGeom prst="rect">
            <a:avLst/>
          </a:prstGeom>
          <a:solidFill>
            <a:srgbClr val="121634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2880" y="718368"/>
            <a:ext cx="140304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C8A840"/>
                </a:solidFill>
                <a:latin typeface="游明朝"/>
              </a:rPr>
              <a:t>AT突入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7880" y="1118368"/>
            <a:ext cx="140804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8E8F4"/>
                </a:solidFill>
                <a:latin typeface="メイリオ"/>
              </a:rPr>
              <a:t>通常→GG入場
モードで期待度が変わる</a:t>
            </a:r>
          </a:p>
        </p:txBody>
      </p:sp>
      <p:sp>
        <p:nvSpPr>
          <p:cNvPr id="11" name="Can 10"/>
          <p:cNvSpPr/>
          <p:nvPr/>
        </p:nvSpPr>
        <p:spPr>
          <a:xfrm>
            <a:off x="1725920" y="1258368"/>
            <a:ext cx="200000" cy="180000"/>
          </a:xfrm>
          <a:prstGeom prst="can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75104" y="658368"/>
            <a:ext cx="1463040" cy="1380000"/>
          </a:xfrm>
          <a:prstGeom prst="rect">
            <a:avLst/>
          </a:prstGeom>
          <a:solidFill>
            <a:srgbClr val="121634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5104" y="718368"/>
            <a:ext cx="140304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C8A840"/>
                </a:solidFill>
                <a:latin typeface="游明朝"/>
              </a:rPr>
              <a:t>GG消化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0104" y="1118368"/>
            <a:ext cx="140804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8E8F4"/>
                </a:solidFill>
                <a:latin typeface="メイリオ"/>
              </a:rPr>
              <a:t>黄7を待ちながら
Z-GAME連鎖を狙う</a:t>
            </a:r>
          </a:p>
        </p:txBody>
      </p:sp>
      <p:sp>
        <p:nvSpPr>
          <p:cNvPr id="15" name="Can 14"/>
          <p:cNvSpPr/>
          <p:nvPr/>
        </p:nvSpPr>
        <p:spPr>
          <a:xfrm>
            <a:off x="3518144" y="1258368"/>
            <a:ext cx="200000" cy="180000"/>
          </a:xfrm>
          <a:prstGeom prst="can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67328" y="658368"/>
            <a:ext cx="1463040" cy="1380000"/>
          </a:xfrm>
          <a:prstGeom prst="rect">
            <a:avLst/>
          </a:prstGeom>
          <a:solidFill>
            <a:srgbClr val="200604"/>
          </a:solidFill>
          <a:ln w="19050">
            <a:solidFill>
              <a:srgbClr val="CC22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07328" y="718368"/>
            <a:ext cx="140304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CC2211"/>
                </a:solidFill>
                <a:latin typeface="游明朝"/>
              </a:rPr>
              <a:t>赤7揃い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2328" y="1118368"/>
            <a:ext cx="140804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8E8F4"/>
                </a:solidFill>
                <a:latin typeface="メイリオ"/>
              </a:rPr>
              <a:t>SGG突入の衝撃
増加区間の爆発が始まる</a:t>
            </a:r>
          </a:p>
        </p:txBody>
      </p:sp>
      <p:sp>
        <p:nvSpPr>
          <p:cNvPr id="19" name="Can 18"/>
          <p:cNvSpPr/>
          <p:nvPr/>
        </p:nvSpPr>
        <p:spPr>
          <a:xfrm>
            <a:off x="5310368" y="1258368"/>
            <a:ext cx="200000" cy="180000"/>
          </a:xfrm>
          <a:prstGeom prst="can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59552" y="658368"/>
            <a:ext cx="1463040" cy="1380000"/>
          </a:xfrm>
          <a:prstGeom prst="rect">
            <a:avLst/>
          </a:prstGeom>
          <a:solidFill>
            <a:srgbClr val="141002"/>
          </a:solidFill>
          <a:ln w="1905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99552" y="718368"/>
            <a:ext cx="140304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CC00"/>
                </a:solidFill>
                <a:latin typeface="游明朝"/>
              </a:rPr>
              <a:t>黄7揃い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94552" y="1118368"/>
            <a:ext cx="140804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8E8F4"/>
                </a:solidFill>
                <a:latin typeface="メイリオ"/>
              </a:rPr>
              <a:t>Z-GAME発動
連鎖するほど上乗せ爆発</a:t>
            </a:r>
          </a:p>
        </p:txBody>
      </p:sp>
      <p:sp>
        <p:nvSpPr>
          <p:cNvPr id="23" name="Can 22"/>
          <p:cNvSpPr/>
          <p:nvPr/>
        </p:nvSpPr>
        <p:spPr>
          <a:xfrm>
            <a:off x="7102592" y="1258368"/>
            <a:ext cx="200000" cy="180000"/>
          </a:xfrm>
          <a:prstGeom prst="can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51776" y="658368"/>
            <a:ext cx="1463040" cy="1380000"/>
          </a:xfrm>
          <a:prstGeom prst="rect">
            <a:avLst/>
          </a:prstGeom>
          <a:solidFill>
            <a:srgbClr val="0A0418"/>
          </a:solidFill>
          <a:ln w="19050">
            <a:solidFill>
              <a:srgbClr val="884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91776" y="718368"/>
            <a:ext cx="140304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8844CC"/>
                </a:solidFill>
                <a:latin typeface="游明朝"/>
              </a:rPr>
              <a:t>GOD揃い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86776" y="1118368"/>
            <a:ext cx="140804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8E8F4"/>
                </a:solidFill>
                <a:latin typeface="メイリオ"/>
              </a:rPr>
              <a:t>1/16384の奇跡
世界が変わる瞬間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2158368"/>
            <a:ext cx="4114800" cy="2650000"/>
          </a:xfrm>
          <a:prstGeom prst="rect">
            <a:avLst/>
          </a:prstGeom>
          <a:solidFill>
            <a:srgbClr val="0A0E28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2158368"/>
            <a:ext cx="45000" cy="265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1032" y="2203368"/>
            <a:ext cx="401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A840"/>
                </a:solidFill>
                <a:latin typeface="游明朝"/>
              </a:rPr>
              <a:t>自力感の設計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1032" y="2458368"/>
            <a:ext cx="4014800" cy="2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7.0枚/Gという現行最速クラスの純増が
「GGが続く快感」を最大化する。
GGストックの積み上げ→消化→再積み上げ
というループ構造が来店継続を促す。
Z-GAMEの黄7連鎖は「当たり続けるほど加速する」
正のフィードバックループを生む設計。
SGGの3G復活ゾーンが「諦めなくてよかった」
体験を一定頻度で提供する。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2158368"/>
            <a:ext cx="4297680" cy="2650000"/>
          </a:xfrm>
          <a:prstGeom prst="rect">
            <a:avLst/>
          </a:prstGeom>
          <a:solidFill>
            <a:srgbClr val="0A0418"/>
          </a:solidFill>
          <a:ln w="19050">
            <a:solidFill>
              <a:srgbClr val="884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0" y="2158368"/>
            <a:ext cx="45000" cy="2650000"/>
          </a:xfrm>
          <a:prstGeom prst="rect">
            <a:avLst/>
          </a:prstGeom>
          <a:solidFill>
            <a:srgbClr val="88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47000" y="2203368"/>
            <a:ext cx="4197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844CC"/>
                </a:solidFill>
                <a:latin typeface="游明朝"/>
              </a:rPr>
              <a:t>GOD揃いという設計的頂点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7000" y="2458368"/>
            <a:ext cx="4197680" cy="2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1/16384という絶対的レアリティが
GOD揃いを語り草にする。
打った人間にとって「あの日GOD揃いが出た」は
一生の話題になる体験。
この確率設計は:
① レアさが語り継がれる（UGC生産）
② 期待値ゼロでも「ありえる」という希望
③ 出た動画がバズる（SNS拡散）
という3重の価値を持つ。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A0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CC2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840"/>
                </a:solidFill>
                <a:latin typeface="游明朝"/>
              </a:rPr>
              <a:t>設定判別 ── 実戦で使えるポイント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6/7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CC2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2633472" cy="36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6032" y="703368"/>
            <a:ext cx="2587752" cy="27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040618"/>
                </a:solidFill>
                <a:latin typeface="メイリオ"/>
              </a:rPr>
              <a:t>GG初当たり率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018368"/>
            <a:ext cx="2633472" cy="1210000"/>
          </a:xfrm>
          <a:prstGeom prst="rect">
            <a:avLst/>
          </a:prstGeom>
          <a:solidFill>
            <a:srgbClr val="0A0E28"/>
          </a:solidFill>
          <a:ln w="63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032" y="1073368"/>
            <a:ext cx="256032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8A840"/>
                </a:solidFill>
                <a:latin typeface="メイリオ"/>
              </a:rPr>
              <a:t>高設定ほどGG初当たりが早い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032" y="1323368"/>
            <a:ext cx="256032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高設定ほどGG初当たりが早い
通常時のゲーム数を記録して判断
複数回測定で精度UP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" y="2288368"/>
            <a:ext cx="2633472" cy="1210000"/>
          </a:xfrm>
          <a:prstGeom prst="rect">
            <a:avLst/>
          </a:prstGeom>
          <a:solidFill>
            <a:srgbClr val="0E122C"/>
          </a:solidFill>
          <a:ln w="63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032" y="2343368"/>
            <a:ext cx="256032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8A840"/>
                </a:solidFill>
                <a:latin typeface="メイリオ"/>
              </a:rPr>
              <a:t>通常時G数を記録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032" y="2593368"/>
            <a:ext cx="256032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複数セッションにわたって
GG当選G数を記録する
平均値で高設定かを判断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3558368"/>
            <a:ext cx="2633472" cy="1210000"/>
          </a:xfrm>
          <a:prstGeom prst="rect">
            <a:avLst/>
          </a:prstGeom>
          <a:solidFill>
            <a:srgbClr val="0A0E28"/>
          </a:solidFill>
          <a:ln w="63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6032" y="3613368"/>
            <a:ext cx="256032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8A840"/>
                </a:solidFill>
                <a:latin typeface="メイリオ"/>
              </a:rPr>
              <a:t>モード示唆を見逃さない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032" y="3863368"/>
            <a:ext cx="256032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チャンス役後のモード移行や
天国滞在頻度は設定差あり
短縮ゲーム数にも注目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82112" y="658368"/>
            <a:ext cx="2633472" cy="360000"/>
          </a:xfrm>
          <a:prstGeom prst="rect">
            <a:avLst/>
          </a:prstGeom>
          <a:solidFill>
            <a:srgbClr val="CC2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12112" y="703368"/>
            <a:ext cx="2587752" cy="27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040618"/>
                </a:solidFill>
                <a:latin typeface="メイリオ"/>
              </a:rPr>
              <a:t>SGG発生率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82112" y="1018368"/>
            <a:ext cx="2633472" cy="1210000"/>
          </a:xfrm>
          <a:prstGeom prst="rect">
            <a:avLst/>
          </a:prstGeom>
          <a:solidFill>
            <a:srgbClr val="0A0E28"/>
          </a:solidFill>
          <a:ln w="6350">
            <a:solidFill>
              <a:srgbClr val="CC22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32112" y="1073368"/>
            <a:ext cx="256032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C2211"/>
                </a:solidFill>
                <a:latin typeface="メイリオ"/>
              </a:rPr>
              <a:t>設定差あり・高設定ほどSGG突入率が高い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32112" y="1323368"/>
            <a:ext cx="256032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赤7揃い頻度を記録
GG消化中の挙動に注目
設定差あり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82112" y="2288368"/>
            <a:ext cx="2633472" cy="1210000"/>
          </a:xfrm>
          <a:prstGeom prst="rect">
            <a:avLst/>
          </a:prstGeom>
          <a:solidFill>
            <a:srgbClr val="0E122C"/>
          </a:solidFill>
          <a:ln w="6350">
            <a:solidFill>
              <a:srgbClr val="CC22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32112" y="2343368"/>
            <a:ext cx="256032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C2211"/>
                </a:solidFill>
                <a:latin typeface="メイリオ"/>
              </a:rPr>
              <a:t>赤7揃い頻度を記録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32112" y="2593368"/>
            <a:ext cx="256032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GG中の赤7出現頻度を
複数GGにわたって記録する
高設定ほど頻度が高い傾向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82112" y="3558368"/>
            <a:ext cx="2633472" cy="1210000"/>
          </a:xfrm>
          <a:prstGeom prst="rect">
            <a:avLst/>
          </a:prstGeom>
          <a:solidFill>
            <a:srgbClr val="0A0E28"/>
          </a:solidFill>
          <a:ln w="6350">
            <a:solidFill>
              <a:srgbClr val="CC22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32112" y="3613368"/>
            <a:ext cx="256032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C2211"/>
                </a:solidFill>
                <a:latin typeface="メイリオ"/>
              </a:rPr>
              <a:t>増加区間の長さに注目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32112" y="3863368"/>
            <a:ext cx="256032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SGG突入後の増加区間（10〜100G）の
長さにも設定差が出る可能性
実戦データ蓄積で傾向把握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08192" y="658368"/>
            <a:ext cx="2633472" cy="3600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38192" y="703368"/>
            <a:ext cx="2587752" cy="27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040618"/>
                </a:solidFill>
                <a:latin typeface="メイリオ"/>
              </a:rPr>
              <a:t>Z-GAME発生率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018368"/>
            <a:ext cx="2633472" cy="1210000"/>
          </a:xfrm>
          <a:prstGeom prst="rect">
            <a:avLst/>
          </a:prstGeom>
          <a:solidFill>
            <a:srgbClr val="0A0E28"/>
          </a:solidFill>
          <a:ln w="635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58192" y="1073368"/>
            <a:ext cx="256032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CC00"/>
                </a:solidFill>
                <a:latin typeface="メイリオ"/>
              </a:rPr>
              <a:t>黄7揃い頻度に設定差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58192" y="1323368"/>
            <a:ext cx="256032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黄7揃い頻度に設定差
高設定ほどZ-GAME連鎖が発生しやすい
実戦データ蓄積で傾向把握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08192" y="2288368"/>
            <a:ext cx="2633472" cy="1210000"/>
          </a:xfrm>
          <a:prstGeom prst="rect">
            <a:avLst/>
          </a:prstGeom>
          <a:solidFill>
            <a:srgbClr val="0E122C"/>
          </a:solidFill>
          <a:ln w="635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58192" y="2343368"/>
            <a:ext cx="256032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CC00"/>
                </a:solidFill>
                <a:latin typeface="メイリオ"/>
              </a:rPr>
              <a:t>連鎖回数を記録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58192" y="2593368"/>
            <a:ext cx="256032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Z-GAME発動後の連鎖回数を記録
高設定ほど長い連鎖が
発生しやすい可能性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3558368"/>
            <a:ext cx="2633472" cy="1210000"/>
          </a:xfrm>
          <a:prstGeom prst="rect">
            <a:avLst/>
          </a:prstGeom>
          <a:solidFill>
            <a:srgbClr val="0A0E28"/>
          </a:solidFill>
          <a:ln w="635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58192" y="3613368"/>
            <a:ext cx="256032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CC00"/>
                </a:solidFill>
                <a:latin typeface="メイリオ"/>
              </a:rPr>
              <a:t>GG中の黄7出現G数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58192" y="3863368"/>
            <a:ext cx="256032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GG1セット中に黄7が出るまでの
G数も指標になりえる
積み重ねで判断精度が上がる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A0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CC2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840"/>
                </a:solidFill>
                <a:latin typeface="游明朝"/>
              </a:rPr>
              <a:t>まとめ ── 設計から学べること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7/7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CC2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114800" cy="300000"/>
          </a:xfrm>
          <a:prstGeom prst="rect">
            <a:avLst/>
          </a:prstGeom>
          <a:solidFill>
            <a:srgbClr val="80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6032" y="708368"/>
            <a:ext cx="40348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A840"/>
                </a:solidFill>
                <a:latin typeface="游明朝"/>
              </a:rPr>
              <a:t>長期稼働を支えた3要素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958368"/>
            <a:ext cx="4114800" cy="1200000"/>
          </a:xfrm>
          <a:prstGeom prst="rect">
            <a:avLst/>
          </a:prstGeom>
          <a:solidFill>
            <a:srgbClr val="0A0E28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958368"/>
            <a:ext cx="45000" cy="120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32" y="1008368"/>
            <a:ext cx="4019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840"/>
                </a:solidFill>
                <a:latin typeface="メイリオ"/>
              </a:rPr>
              <a:t>① 純増7.0枚/GのAT純増設計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32" y="1263368"/>
            <a:ext cx="40198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現行機トップクラスの純増速度が
「速く大きく勝つ」体験を実現。
4号機GODの「爆発力」をスマスロで再現。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2228368"/>
            <a:ext cx="4114800" cy="1200000"/>
          </a:xfrm>
          <a:prstGeom prst="rect">
            <a:avLst/>
          </a:prstGeom>
          <a:solidFill>
            <a:srgbClr val="0A0E28"/>
          </a:solidFill>
          <a:ln w="19050">
            <a:solidFill>
              <a:srgbClr val="CC22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2228368"/>
            <a:ext cx="45000" cy="1200000"/>
          </a:xfrm>
          <a:prstGeom prst="rect">
            <a:avLst/>
          </a:prstGeom>
          <a:solidFill>
            <a:srgbClr val="CC2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32" y="2278368"/>
            <a:ext cx="4019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2211"/>
                </a:solidFill>
                <a:latin typeface="メイリオ"/>
              </a:rPr>
              <a:t>② SGG×Z-GAME×GOD揃いの多層設計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32" y="2533368"/>
            <a:ext cx="40198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GG→SGG→Z-GAMEという昇格構造が
常に「次がある」希望を生む。
GOD揃い1/16384が神話的体験を定期的に生産。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3498368"/>
            <a:ext cx="4114800" cy="1200000"/>
          </a:xfrm>
          <a:prstGeom prst="rect">
            <a:avLst/>
          </a:prstGeom>
          <a:solidFill>
            <a:srgbClr val="0A0E28"/>
          </a:solidFill>
          <a:ln w="19050">
            <a:solidFill>
              <a:srgbClr val="884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" y="3498368"/>
            <a:ext cx="45000" cy="1200000"/>
          </a:xfrm>
          <a:prstGeom prst="rect">
            <a:avLst/>
          </a:prstGeom>
          <a:solidFill>
            <a:srgbClr val="88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032" y="3548368"/>
            <a:ext cx="4019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844CC"/>
                </a:solidFill>
                <a:latin typeface="メイリオ"/>
              </a:rPr>
              <a:t>③ IP力 × 世代記憶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32" y="3803368"/>
            <a:ext cx="40198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4号機ミリオンゴッドを知る世代が
スマスロ版でGOD揃いを再び体験する。
記憶との接続がリピート来店を促す。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658368"/>
            <a:ext cx="4297680" cy="280000"/>
          </a:xfrm>
          <a:prstGeom prst="rect">
            <a:avLst/>
          </a:prstGeom>
          <a:solidFill>
            <a:srgbClr val="121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2000" y="703368"/>
            <a:ext cx="422768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A840"/>
                </a:solidFill>
                <a:latin typeface="游明朝"/>
              </a:rPr>
              <a:t>設計原則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938368"/>
            <a:ext cx="20000" cy="49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22000" y="1013368"/>
            <a:ext cx="4237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純増7.0枚は「速さ」を差別化の武器にする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1478368"/>
            <a:ext cx="20000" cy="490000"/>
          </a:xfrm>
          <a:prstGeom prst="rect">
            <a:avLst/>
          </a:prstGeom>
          <a:solidFill>
            <a:srgbClr val="CC2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22000" y="1553368"/>
            <a:ext cx="4237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多層昇格（GG→SGG→Z-GAME）が目標を途切れさせない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2018368"/>
            <a:ext cx="20000" cy="490000"/>
          </a:xfrm>
          <a:prstGeom prst="rect">
            <a:avLst/>
          </a:prstGeom>
          <a:solidFill>
            <a:srgbClr val="88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22000" y="2093368"/>
            <a:ext cx="4237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1/16384のGOD揃いが語り継がれる体験を生む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2558368"/>
            <a:ext cx="20000" cy="4900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22000" y="2633368"/>
            <a:ext cx="4237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黄7連鎖というポジティブフィードバックループ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3108368"/>
            <a:ext cx="4297680" cy="800000"/>
          </a:xfrm>
          <a:prstGeom prst="rect">
            <a:avLst/>
          </a:prstGeom>
          <a:solidFill>
            <a:srgbClr val="100802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27000" y="3158368"/>
            <a:ext cx="4222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840"/>
                </a:solidFill>
                <a:latin typeface="メイリオ"/>
              </a:rPr>
              <a:t>総括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27000" y="3418368"/>
            <a:ext cx="422268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IP×純増7枚×多層昇格設計の完成形。
63件の投稿データが示す稼働の強さが台の完成度を証明している。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