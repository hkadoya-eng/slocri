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4937760" cy="5143500"/>
          </a:xfrm>
          <a:prstGeom prst="rect">
            <a:avLst/>
          </a:prstGeom>
          <a:solidFill>
            <a:srgbClr val="0805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5000" cy="51435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0"/>
            <a:ext cx="8000" cy="51435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274320"/>
            <a:ext cx="4572000" cy="300000"/>
          </a:xfrm>
          <a:prstGeom prst="rect">
            <a:avLst/>
          </a:prstGeom>
          <a:noFill/>
        </p:spPr>
        <p:txBody>
          <a:bodyPr wrap="square">
            <a:spAutoFit/>
          </a:bodyPr>
          <a:lstStyle/>
          <a:p>
            <a:pPr algn="l"/>
            <a:r>
              <a:rPr sz="900" b="0">
                <a:solidFill>
                  <a:srgbClr val="FF8822"/>
                </a:solidFill>
                <a:latin typeface="游明朝"/>
              </a:rPr>
              <a:t>機種説明＋分析 統合ガイド  v1（パチスロアワード2025ノミネート）</a:t>
            </a:r>
          </a:p>
        </p:txBody>
      </p:sp>
      <p:sp>
        <p:nvSpPr>
          <p:cNvPr id="7" name="TextBox 6"/>
          <p:cNvSpPr txBox="1"/>
          <p:nvPr/>
        </p:nvSpPr>
        <p:spPr>
          <a:xfrm>
            <a:off x="201168" y="713232"/>
            <a:ext cx="4663440" cy="900000"/>
          </a:xfrm>
          <a:prstGeom prst="rect">
            <a:avLst/>
          </a:prstGeom>
          <a:noFill/>
        </p:spPr>
        <p:txBody>
          <a:bodyPr wrap="square">
            <a:spAutoFit/>
          </a:bodyPr>
          <a:lstStyle/>
          <a:p>
            <a:pPr algn="l"/>
            <a:r>
              <a:rPr sz="3000" b="1">
                <a:solidFill>
                  <a:srgbClr val="FF6600"/>
                </a:solidFill>
                <a:latin typeface="游明朝"/>
              </a:rPr>
              <a:t>東京リベンジャーズ</a:t>
            </a:r>
          </a:p>
        </p:txBody>
      </p:sp>
      <p:sp>
        <p:nvSpPr>
          <p:cNvPr id="8" name="TextBox 7"/>
          <p:cNvSpPr txBox="1"/>
          <p:nvPr/>
        </p:nvSpPr>
        <p:spPr>
          <a:xfrm>
            <a:off x="201168" y="2286000"/>
            <a:ext cx="4572000" cy="280000"/>
          </a:xfrm>
          <a:prstGeom prst="rect">
            <a:avLst/>
          </a:prstGeom>
          <a:noFill/>
        </p:spPr>
        <p:txBody>
          <a:bodyPr wrap="square">
            <a:spAutoFit/>
          </a:bodyPr>
          <a:lstStyle/>
          <a:p>
            <a:pPr algn="l"/>
            <a:r>
              <a:rPr sz="900" b="0">
                <a:solidFill>
                  <a:srgbClr val="F0D8A0"/>
                </a:solidFill>
                <a:latin typeface="游明朝"/>
              </a:rPr>
              <a:t>スマスロ（Lスロット）── タイムリープ×不良バトル×差枚数上乗せ型AT</a:t>
            </a:r>
          </a:p>
        </p:txBody>
      </p:sp>
      <p:sp>
        <p:nvSpPr>
          <p:cNvPr id="9" name="TextBox 8"/>
          <p:cNvSpPr txBox="1"/>
          <p:nvPr/>
        </p:nvSpPr>
        <p:spPr>
          <a:xfrm>
            <a:off x="201168" y="2743200"/>
            <a:ext cx="1600200" cy="205000"/>
          </a:xfrm>
          <a:prstGeom prst="rect">
            <a:avLst/>
          </a:prstGeom>
          <a:noFill/>
        </p:spPr>
        <p:txBody>
          <a:bodyPr wrap="square">
            <a:spAutoFit/>
          </a:bodyPr>
          <a:lstStyle/>
          <a:p>
            <a:pPr algn="l"/>
            <a:r>
              <a:rPr sz="750" b="0">
                <a:solidFill>
                  <a:srgbClr val="998870"/>
                </a:solidFill>
                <a:latin typeface="メイリオ"/>
              </a:rPr>
              <a:t>メーカー</a:t>
            </a:r>
          </a:p>
        </p:txBody>
      </p:sp>
      <p:sp>
        <p:nvSpPr>
          <p:cNvPr id="10" name="TextBox 9"/>
          <p:cNvSpPr txBox="1"/>
          <p:nvPr/>
        </p:nvSpPr>
        <p:spPr>
          <a:xfrm>
            <a:off x="1801368" y="2743200"/>
            <a:ext cx="2971800" cy="205000"/>
          </a:xfrm>
          <a:prstGeom prst="rect">
            <a:avLst/>
          </a:prstGeom>
          <a:noFill/>
        </p:spPr>
        <p:txBody>
          <a:bodyPr wrap="square">
            <a:spAutoFit/>
          </a:bodyPr>
          <a:lstStyle/>
          <a:p>
            <a:pPr algn="l"/>
            <a:r>
              <a:rPr sz="750" b="1">
                <a:solidFill>
                  <a:srgbClr val="F2EEE0"/>
                </a:solidFill>
                <a:latin typeface="メイリオ"/>
              </a:rPr>
              <a:t>サミー（SAMMY）  2025年9月8日導入</a:t>
            </a:r>
          </a:p>
        </p:txBody>
      </p:sp>
      <p:sp>
        <p:nvSpPr>
          <p:cNvPr id="11" name="TextBox 10"/>
          <p:cNvSpPr txBox="1"/>
          <p:nvPr/>
        </p:nvSpPr>
        <p:spPr>
          <a:xfrm>
            <a:off x="201168" y="2963200"/>
            <a:ext cx="1600200" cy="205000"/>
          </a:xfrm>
          <a:prstGeom prst="rect">
            <a:avLst/>
          </a:prstGeom>
          <a:noFill/>
        </p:spPr>
        <p:txBody>
          <a:bodyPr wrap="square">
            <a:spAutoFit/>
          </a:bodyPr>
          <a:lstStyle/>
          <a:p>
            <a:pPr algn="l"/>
            <a:r>
              <a:rPr sz="750" b="0">
                <a:solidFill>
                  <a:srgbClr val="998870"/>
                </a:solidFill>
                <a:latin typeface="メイリオ"/>
              </a:rPr>
              <a:t>設定</a:t>
            </a:r>
          </a:p>
        </p:txBody>
      </p:sp>
      <p:sp>
        <p:nvSpPr>
          <p:cNvPr id="12" name="TextBox 11"/>
          <p:cNvSpPr txBox="1"/>
          <p:nvPr/>
        </p:nvSpPr>
        <p:spPr>
          <a:xfrm>
            <a:off x="1801368" y="2963200"/>
            <a:ext cx="2971800" cy="205000"/>
          </a:xfrm>
          <a:prstGeom prst="rect">
            <a:avLst/>
          </a:prstGeom>
          <a:noFill/>
        </p:spPr>
        <p:txBody>
          <a:bodyPr wrap="square">
            <a:spAutoFit/>
          </a:bodyPr>
          <a:lstStyle/>
          <a:p>
            <a:pPr algn="l"/>
            <a:r>
              <a:rPr sz="750" b="1">
                <a:solidFill>
                  <a:srgbClr val="F2EEE0"/>
                </a:solidFill>
                <a:latin typeface="メイリオ"/>
              </a:rPr>
              <a:t>1〜6段階</a:t>
            </a:r>
          </a:p>
        </p:txBody>
      </p:sp>
      <p:sp>
        <p:nvSpPr>
          <p:cNvPr id="13" name="TextBox 12"/>
          <p:cNvSpPr txBox="1"/>
          <p:nvPr/>
        </p:nvSpPr>
        <p:spPr>
          <a:xfrm>
            <a:off x="201168" y="3183200"/>
            <a:ext cx="1600200" cy="205000"/>
          </a:xfrm>
          <a:prstGeom prst="rect">
            <a:avLst/>
          </a:prstGeom>
          <a:noFill/>
        </p:spPr>
        <p:txBody>
          <a:bodyPr wrap="square">
            <a:spAutoFit/>
          </a:bodyPr>
          <a:lstStyle/>
          <a:p>
            <a:pPr algn="l"/>
            <a:r>
              <a:rPr sz="750" b="0">
                <a:solidFill>
                  <a:srgbClr val="998870"/>
                </a:solidFill>
                <a:latin typeface="メイリオ"/>
              </a:rPr>
              <a:t>AT純増（通常）</a:t>
            </a:r>
          </a:p>
        </p:txBody>
      </p:sp>
      <p:sp>
        <p:nvSpPr>
          <p:cNvPr id="14" name="TextBox 13"/>
          <p:cNvSpPr txBox="1"/>
          <p:nvPr/>
        </p:nvSpPr>
        <p:spPr>
          <a:xfrm>
            <a:off x="1801368" y="3183200"/>
            <a:ext cx="2971800" cy="205000"/>
          </a:xfrm>
          <a:prstGeom prst="rect">
            <a:avLst/>
          </a:prstGeom>
          <a:noFill/>
        </p:spPr>
        <p:txBody>
          <a:bodyPr wrap="square">
            <a:spAutoFit/>
          </a:bodyPr>
          <a:lstStyle/>
          <a:p>
            <a:pPr algn="l"/>
            <a:r>
              <a:rPr sz="750" b="1">
                <a:solidFill>
                  <a:srgbClr val="F2EEE0"/>
                </a:solidFill>
                <a:latin typeface="メイリオ"/>
              </a:rPr>
              <a:t>約3.2枚/G（東卍RUSH）</a:t>
            </a:r>
          </a:p>
        </p:txBody>
      </p:sp>
      <p:sp>
        <p:nvSpPr>
          <p:cNvPr id="15" name="TextBox 14"/>
          <p:cNvSpPr txBox="1"/>
          <p:nvPr/>
        </p:nvSpPr>
        <p:spPr>
          <a:xfrm>
            <a:off x="201168" y="3403200"/>
            <a:ext cx="1600200" cy="205000"/>
          </a:xfrm>
          <a:prstGeom prst="rect">
            <a:avLst/>
          </a:prstGeom>
          <a:noFill/>
        </p:spPr>
        <p:txBody>
          <a:bodyPr wrap="square">
            <a:spAutoFit/>
          </a:bodyPr>
          <a:lstStyle/>
          <a:p>
            <a:pPr algn="l"/>
            <a:r>
              <a:rPr sz="750" b="0">
                <a:solidFill>
                  <a:srgbClr val="998870"/>
                </a:solidFill>
                <a:latin typeface="メイリオ"/>
              </a:rPr>
              <a:t>AT純増（上位）</a:t>
            </a:r>
          </a:p>
        </p:txBody>
      </p:sp>
      <p:sp>
        <p:nvSpPr>
          <p:cNvPr id="16" name="TextBox 15"/>
          <p:cNvSpPr txBox="1"/>
          <p:nvPr/>
        </p:nvSpPr>
        <p:spPr>
          <a:xfrm>
            <a:off x="1801368" y="3403200"/>
            <a:ext cx="2971800" cy="205000"/>
          </a:xfrm>
          <a:prstGeom prst="rect">
            <a:avLst/>
          </a:prstGeom>
          <a:noFill/>
        </p:spPr>
        <p:txBody>
          <a:bodyPr wrap="square">
            <a:spAutoFit/>
          </a:bodyPr>
          <a:lstStyle/>
          <a:p>
            <a:pPr algn="l"/>
            <a:r>
              <a:rPr sz="750" b="1">
                <a:solidFill>
                  <a:srgbClr val="F2EEE0"/>
                </a:solidFill>
                <a:latin typeface="メイリオ"/>
              </a:rPr>
              <a:t>約8.0枚/G（東卍RUSH BURST）</a:t>
            </a:r>
          </a:p>
        </p:txBody>
      </p:sp>
      <p:sp>
        <p:nvSpPr>
          <p:cNvPr id="17" name="TextBox 16"/>
          <p:cNvSpPr txBox="1"/>
          <p:nvPr/>
        </p:nvSpPr>
        <p:spPr>
          <a:xfrm>
            <a:off x="201168" y="3623200"/>
            <a:ext cx="1600200" cy="205000"/>
          </a:xfrm>
          <a:prstGeom prst="rect">
            <a:avLst/>
          </a:prstGeom>
          <a:noFill/>
        </p:spPr>
        <p:txBody>
          <a:bodyPr wrap="square">
            <a:spAutoFit/>
          </a:bodyPr>
          <a:lstStyle/>
          <a:p>
            <a:pPr algn="l"/>
            <a:r>
              <a:rPr sz="750" b="0">
                <a:solidFill>
                  <a:srgbClr val="998870"/>
                </a:solidFill>
                <a:latin typeface="メイリオ"/>
              </a:rPr>
              <a:t>設定1機械割</a:t>
            </a:r>
          </a:p>
        </p:txBody>
      </p:sp>
      <p:sp>
        <p:nvSpPr>
          <p:cNvPr id="18" name="TextBox 17"/>
          <p:cNvSpPr txBox="1"/>
          <p:nvPr/>
        </p:nvSpPr>
        <p:spPr>
          <a:xfrm>
            <a:off x="1801368" y="3623200"/>
            <a:ext cx="2971800" cy="205000"/>
          </a:xfrm>
          <a:prstGeom prst="rect">
            <a:avLst/>
          </a:prstGeom>
          <a:noFill/>
        </p:spPr>
        <p:txBody>
          <a:bodyPr wrap="square">
            <a:spAutoFit/>
          </a:bodyPr>
          <a:lstStyle/>
          <a:p>
            <a:pPr algn="l"/>
            <a:r>
              <a:rPr sz="750" b="1">
                <a:solidFill>
                  <a:srgbClr val="F2EEE0"/>
                </a:solidFill>
                <a:latin typeface="メイリオ"/>
              </a:rPr>
              <a:t>97〜98%前後（投資200Gで105%超）</a:t>
            </a:r>
          </a:p>
        </p:txBody>
      </p:sp>
      <p:sp>
        <p:nvSpPr>
          <p:cNvPr id="19" name="TextBox 18"/>
          <p:cNvSpPr txBox="1"/>
          <p:nvPr/>
        </p:nvSpPr>
        <p:spPr>
          <a:xfrm>
            <a:off x="201168" y="3843200"/>
            <a:ext cx="1600200" cy="205000"/>
          </a:xfrm>
          <a:prstGeom prst="rect">
            <a:avLst/>
          </a:prstGeom>
          <a:noFill/>
        </p:spPr>
        <p:txBody>
          <a:bodyPr wrap="square">
            <a:spAutoFit/>
          </a:bodyPr>
          <a:lstStyle/>
          <a:p>
            <a:pPr algn="l"/>
            <a:r>
              <a:rPr sz="750" b="0">
                <a:solidFill>
                  <a:srgbClr val="998870"/>
                </a:solidFill>
                <a:latin typeface="メイリオ"/>
              </a:rPr>
              <a:t>設定6機械割</a:t>
            </a:r>
          </a:p>
        </p:txBody>
      </p:sp>
      <p:sp>
        <p:nvSpPr>
          <p:cNvPr id="20" name="TextBox 19"/>
          <p:cNvSpPr txBox="1"/>
          <p:nvPr/>
        </p:nvSpPr>
        <p:spPr>
          <a:xfrm>
            <a:off x="1801368" y="3843200"/>
            <a:ext cx="2971800" cy="205000"/>
          </a:xfrm>
          <a:prstGeom prst="rect">
            <a:avLst/>
          </a:prstGeom>
          <a:noFill/>
        </p:spPr>
        <p:txBody>
          <a:bodyPr wrap="square">
            <a:spAutoFit/>
          </a:bodyPr>
          <a:lstStyle/>
          <a:p>
            <a:pPr algn="l"/>
            <a:r>
              <a:rPr sz="750" b="1">
                <a:solidFill>
                  <a:srgbClr val="F2EEE0"/>
                </a:solidFill>
                <a:latin typeface="メイリオ"/>
              </a:rPr>
              <a:t>110%前後</a:t>
            </a:r>
          </a:p>
        </p:txBody>
      </p:sp>
      <p:sp>
        <p:nvSpPr>
          <p:cNvPr id="21" name="TextBox 20"/>
          <p:cNvSpPr txBox="1"/>
          <p:nvPr/>
        </p:nvSpPr>
        <p:spPr>
          <a:xfrm>
            <a:off x="201168" y="4063200"/>
            <a:ext cx="1600200" cy="205000"/>
          </a:xfrm>
          <a:prstGeom prst="rect">
            <a:avLst/>
          </a:prstGeom>
          <a:noFill/>
        </p:spPr>
        <p:txBody>
          <a:bodyPr wrap="square">
            <a:spAutoFit/>
          </a:bodyPr>
          <a:lstStyle/>
          <a:p>
            <a:pPr algn="l"/>
            <a:r>
              <a:rPr sz="750" b="0">
                <a:solidFill>
                  <a:srgbClr val="998870"/>
                </a:solidFill>
                <a:latin typeface="メイリオ"/>
              </a:rPr>
              <a:t>天井①</a:t>
            </a:r>
          </a:p>
        </p:txBody>
      </p:sp>
      <p:sp>
        <p:nvSpPr>
          <p:cNvPr id="22" name="TextBox 21"/>
          <p:cNvSpPr txBox="1"/>
          <p:nvPr/>
        </p:nvSpPr>
        <p:spPr>
          <a:xfrm>
            <a:off x="1801368" y="4063200"/>
            <a:ext cx="2971800" cy="205000"/>
          </a:xfrm>
          <a:prstGeom prst="rect">
            <a:avLst/>
          </a:prstGeom>
          <a:noFill/>
        </p:spPr>
        <p:txBody>
          <a:bodyPr wrap="square">
            <a:spAutoFit/>
          </a:bodyPr>
          <a:lstStyle/>
          <a:p>
            <a:pPr algn="l"/>
            <a:r>
              <a:rPr sz="750" b="1">
                <a:solidFill>
                  <a:srgbClr val="F2EEE0"/>
                </a:solidFill>
                <a:latin typeface="メイリオ"/>
              </a:rPr>
              <a:t>周期6周期目（最大約500pt×6=3000pt相当）</a:t>
            </a:r>
          </a:p>
        </p:txBody>
      </p:sp>
      <p:sp>
        <p:nvSpPr>
          <p:cNvPr id="23" name="TextBox 22"/>
          <p:cNvSpPr txBox="1"/>
          <p:nvPr/>
        </p:nvSpPr>
        <p:spPr>
          <a:xfrm>
            <a:off x="201168" y="4283200"/>
            <a:ext cx="1600200" cy="205000"/>
          </a:xfrm>
          <a:prstGeom prst="rect">
            <a:avLst/>
          </a:prstGeom>
          <a:noFill/>
        </p:spPr>
        <p:txBody>
          <a:bodyPr wrap="square">
            <a:spAutoFit/>
          </a:bodyPr>
          <a:lstStyle/>
          <a:p>
            <a:pPr algn="l"/>
            <a:r>
              <a:rPr sz="750" b="0">
                <a:solidFill>
                  <a:srgbClr val="998870"/>
                </a:solidFill>
                <a:latin typeface="メイリオ"/>
              </a:rPr>
              <a:t>天井②</a:t>
            </a:r>
          </a:p>
        </p:txBody>
      </p:sp>
      <p:sp>
        <p:nvSpPr>
          <p:cNvPr id="24" name="TextBox 23"/>
          <p:cNvSpPr txBox="1"/>
          <p:nvPr/>
        </p:nvSpPr>
        <p:spPr>
          <a:xfrm>
            <a:off x="1801368" y="4283200"/>
            <a:ext cx="2971800" cy="205000"/>
          </a:xfrm>
          <a:prstGeom prst="rect">
            <a:avLst/>
          </a:prstGeom>
          <a:noFill/>
        </p:spPr>
        <p:txBody>
          <a:bodyPr wrap="square">
            <a:spAutoFit/>
          </a:bodyPr>
          <a:lstStyle/>
          <a:p>
            <a:pPr algn="l"/>
            <a:r>
              <a:rPr sz="750" b="1">
                <a:solidFill>
                  <a:srgbClr val="F2EEE0"/>
                </a:solidFill>
                <a:latin typeface="メイリオ"/>
              </a:rPr>
              <a:t>AT間ゲーム数天井（AT当選確定）</a:t>
            </a:r>
          </a:p>
        </p:txBody>
      </p:sp>
      <p:sp>
        <p:nvSpPr>
          <p:cNvPr id="25" name="TextBox 24"/>
          <p:cNvSpPr txBox="1"/>
          <p:nvPr/>
        </p:nvSpPr>
        <p:spPr>
          <a:xfrm>
            <a:off x="201168" y="4503200"/>
            <a:ext cx="1600200" cy="205000"/>
          </a:xfrm>
          <a:prstGeom prst="rect">
            <a:avLst/>
          </a:prstGeom>
          <a:noFill/>
        </p:spPr>
        <p:txBody>
          <a:bodyPr wrap="square">
            <a:spAutoFit/>
          </a:bodyPr>
          <a:lstStyle/>
          <a:p>
            <a:pPr algn="l"/>
            <a:r>
              <a:rPr sz="750" b="0">
                <a:solidFill>
                  <a:srgbClr val="998870"/>
                </a:solidFill>
                <a:latin typeface="メイリオ"/>
              </a:rPr>
              <a:t>初当り時AT期待度</a:t>
            </a:r>
          </a:p>
        </p:txBody>
      </p:sp>
      <p:sp>
        <p:nvSpPr>
          <p:cNvPr id="26" name="TextBox 25"/>
          <p:cNvSpPr txBox="1"/>
          <p:nvPr/>
        </p:nvSpPr>
        <p:spPr>
          <a:xfrm>
            <a:off x="1801368" y="4503200"/>
            <a:ext cx="2971800" cy="205000"/>
          </a:xfrm>
          <a:prstGeom prst="rect">
            <a:avLst/>
          </a:prstGeom>
          <a:noFill/>
        </p:spPr>
        <p:txBody>
          <a:bodyPr wrap="square">
            <a:spAutoFit/>
          </a:bodyPr>
          <a:lstStyle/>
          <a:p>
            <a:pPr algn="l"/>
            <a:r>
              <a:rPr sz="750" b="1">
                <a:solidFill>
                  <a:srgbClr val="F2EEE0"/>
                </a:solidFill>
                <a:latin typeface="メイリオ"/>
              </a:rPr>
              <a:t>約60%（東卍チャンス経由含む）</a:t>
            </a:r>
          </a:p>
        </p:txBody>
      </p:sp>
      <p:sp>
        <p:nvSpPr>
          <p:cNvPr id="27" name="TextBox 26"/>
          <p:cNvSpPr txBox="1"/>
          <p:nvPr/>
        </p:nvSpPr>
        <p:spPr>
          <a:xfrm>
            <a:off x="201168" y="4723200"/>
            <a:ext cx="1600200" cy="205000"/>
          </a:xfrm>
          <a:prstGeom prst="rect">
            <a:avLst/>
          </a:prstGeom>
          <a:noFill/>
        </p:spPr>
        <p:txBody>
          <a:bodyPr wrap="square">
            <a:spAutoFit/>
          </a:bodyPr>
          <a:lstStyle/>
          <a:p>
            <a:pPr algn="l"/>
            <a:r>
              <a:rPr sz="750" b="0">
                <a:solidFill>
                  <a:srgbClr val="998870"/>
                </a:solidFill>
                <a:latin typeface="メイリオ"/>
              </a:rPr>
              <a:t>CZ種類</a:t>
            </a:r>
          </a:p>
        </p:txBody>
      </p:sp>
      <p:sp>
        <p:nvSpPr>
          <p:cNvPr id="28" name="TextBox 27"/>
          <p:cNvSpPr txBox="1"/>
          <p:nvPr/>
        </p:nvSpPr>
        <p:spPr>
          <a:xfrm>
            <a:off x="1801368" y="4723200"/>
            <a:ext cx="2971800" cy="205000"/>
          </a:xfrm>
          <a:prstGeom prst="rect">
            <a:avLst/>
          </a:prstGeom>
          <a:noFill/>
        </p:spPr>
        <p:txBody>
          <a:bodyPr wrap="square">
            <a:spAutoFit/>
          </a:bodyPr>
          <a:lstStyle/>
          <a:p>
            <a:pPr algn="l"/>
            <a:r>
              <a:rPr sz="750" b="1">
                <a:solidFill>
                  <a:srgbClr val="F2EEE0"/>
                </a:solidFill>
                <a:latin typeface="メイリオ"/>
              </a:rPr>
              <a:t>ミッドナイトモード（成功約50%）稀咲陰謀（成功約75%）</a:t>
            </a:r>
          </a:p>
        </p:txBody>
      </p:sp>
      <p:sp>
        <p:nvSpPr>
          <p:cNvPr id="29" name="Rectangle 28"/>
          <p:cNvSpPr/>
          <p:nvPr/>
        </p:nvSpPr>
        <p:spPr>
          <a:xfrm>
            <a:off x="5166360" y="438912"/>
            <a:ext cx="3749039" cy="1170432"/>
          </a:xfrm>
          <a:prstGeom prst="rect">
            <a:avLst/>
          </a:prstGeom>
          <a:solidFill>
            <a:srgbClr val="120E04"/>
          </a:solidFill>
          <a:ln w="2540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66360" y="438912"/>
            <a:ext cx="60000" cy="117043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9240" y="498912"/>
            <a:ext cx="3474720" cy="310000"/>
          </a:xfrm>
          <a:prstGeom prst="rect">
            <a:avLst/>
          </a:prstGeom>
          <a:noFill/>
        </p:spPr>
        <p:txBody>
          <a:bodyPr wrap="square">
            <a:spAutoFit/>
          </a:bodyPr>
          <a:lstStyle/>
          <a:p>
            <a:pPr algn="l"/>
            <a:r>
              <a:rPr sz="1100" b="1">
                <a:solidFill>
                  <a:srgbClr val="FF6600"/>
                </a:solidFill>
                <a:latin typeface="游明朝"/>
              </a:rPr>
              <a:t>① タイムリープ演出×不良バトル</a:t>
            </a:r>
          </a:p>
        </p:txBody>
      </p:sp>
      <p:sp>
        <p:nvSpPr>
          <p:cNvPr id="32" name="TextBox 31"/>
          <p:cNvSpPr txBox="1"/>
          <p:nvPr/>
        </p:nvSpPr>
        <p:spPr>
          <a:xfrm>
            <a:off x="5349240" y="813912"/>
            <a:ext cx="3474720" cy="470000"/>
          </a:xfrm>
          <a:prstGeom prst="rect">
            <a:avLst/>
          </a:prstGeom>
          <a:noFill/>
        </p:spPr>
        <p:txBody>
          <a:bodyPr wrap="square">
            <a:spAutoFit/>
          </a:bodyPr>
          <a:lstStyle/>
          <a:p>
            <a:pPr algn="l"/>
            <a:r>
              <a:rPr sz="800" b="0">
                <a:solidFill>
                  <a:srgbClr val="F2EEE0"/>
                </a:solidFill>
                <a:latin typeface="メイリオ"/>
              </a:rPr>
              <a:t>原作のタイムリープ要素を「前兆→CZ→バトル」に落とし込み。
東卍（東京卍會）の不良バトル世界観が
通常時から演出を彩る熱血設計。</a:t>
            </a:r>
          </a:p>
        </p:txBody>
      </p:sp>
      <p:sp>
        <p:nvSpPr>
          <p:cNvPr id="33" name="Rectangle 32"/>
          <p:cNvSpPr/>
          <p:nvPr/>
        </p:nvSpPr>
        <p:spPr>
          <a:xfrm>
            <a:off x="5166360" y="1968912"/>
            <a:ext cx="3749039" cy="1170432"/>
          </a:xfrm>
          <a:prstGeom prst="rect">
            <a:avLst/>
          </a:prstGeom>
          <a:solidFill>
            <a:srgbClr val="120E04"/>
          </a:solidFill>
          <a:ln w="2540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166360" y="1968912"/>
            <a:ext cx="60000" cy="1170432"/>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49240" y="2028912"/>
            <a:ext cx="3474720" cy="310000"/>
          </a:xfrm>
          <a:prstGeom prst="rect">
            <a:avLst/>
          </a:prstGeom>
          <a:noFill/>
        </p:spPr>
        <p:txBody>
          <a:bodyPr wrap="square">
            <a:spAutoFit/>
          </a:bodyPr>
          <a:lstStyle/>
          <a:p>
            <a:pPr algn="l"/>
            <a:r>
              <a:rPr sz="1100" b="1">
                <a:solidFill>
                  <a:srgbClr val="2266CC"/>
                </a:solidFill>
                <a:latin typeface="游明朝"/>
              </a:rPr>
              <a:t>② 周期+CZ+天井の多層突入設計</a:t>
            </a:r>
          </a:p>
        </p:txBody>
      </p:sp>
      <p:sp>
        <p:nvSpPr>
          <p:cNvPr id="36" name="TextBox 35"/>
          <p:cNvSpPr txBox="1"/>
          <p:nvPr/>
        </p:nvSpPr>
        <p:spPr>
          <a:xfrm>
            <a:off x="5349240" y="2343912"/>
            <a:ext cx="3474720" cy="470000"/>
          </a:xfrm>
          <a:prstGeom prst="rect">
            <a:avLst/>
          </a:prstGeom>
          <a:noFill/>
        </p:spPr>
        <p:txBody>
          <a:bodyPr wrap="square">
            <a:spAutoFit/>
          </a:bodyPr>
          <a:lstStyle/>
          <a:p>
            <a:pPr algn="l"/>
            <a:r>
              <a:rPr sz="800" b="0">
                <a:solidFill>
                  <a:srgbClr val="F2EEE0"/>
                </a:solidFill>
                <a:latin typeface="メイリオ"/>
              </a:rPr>
              <a:t>毎Gポイント獲得→規定pt到達で前兆→CZ経由or直接AT。
2種CZ（約50%・約75%）と天井で
初当りルートが多彩。</a:t>
            </a:r>
          </a:p>
        </p:txBody>
      </p:sp>
      <p:sp>
        <p:nvSpPr>
          <p:cNvPr id="37" name="Rectangle 36"/>
          <p:cNvSpPr/>
          <p:nvPr/>
        </p:nvSpPr>
        <p:spPr>
          <a:xfrm>
            <a:off x="5166360" y="3498912"/>
            <a:ext cx="3749039" cy="1170432"/>
          </a:xfrm>
          <a:prstGeom prst="rect">
            <a:avLst/>
          </a:prstGeom>
          <a:solidFill>
            <a:srgbClr val="120E04"/>
          </a:solidFill>
          <a:ln w="2540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166360" y="3498912"/>
            <a:ext cx="60000" cy="1170432"/>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49240" y="3558912"/>
            <a:ext cx="3474720" cy="310000"/>
          </a:xfrm>
          <a:prstGeom prst="rect">
            <a:avLst/>
          </a:prstGeom>
          <a:noFill/>
        </p:spPr>
        <p:txBody>
          <a:bodyPr wrap="square">
            <a:spAutoFit/>
          </a:bodyPr>
          <a:lstStyle/>
          <a:p>
            <a:pPr algn="l"/>
            <a:r>
              <a:rPr sz="1100" b="1">
                <a:solidFill>
                  <a:srgbClr val="CCAA30"/>
                </a:solidFill>
                <a:latin typeface="游明朝"/>
              </a:rPr>
              <a:t>③ 上位AT「東卍RUSH BURST」で大爆発</a:t>
            </a:r>
          </a:p>
        </p:txBody>
      </p:sp>
      <p:sp>
        <p:nvSpPr>
          <p:cNvPr id="40" name="TextBox 39"/>
          <p:cNvSpPr txBox="1"/>
          <p:nvPr/>
        </p:nvSpPr>
        <p:spPr>
          <a:xfrm>
            <a:off x="5349240" y="3873912"/>
            <a:ext cx="3474720" cy="470000"/>
          </a:xfrm>
          <a:prstGeom prst="rect">
            <a:avLst/>
          </a:prstGeom>
          <a:noFill/>
        </p:spPr>
        <p:txBody>
          <a:bodyPr wrap="square">
            <a:spAutoFit/>
          </a:bodyPr>
          <a:lstStyle/>
          <a:p>
            <a:pPr algn="l"/>
            <a:r>
              <a:rPr sz="800" b="0">
                <a:solidFill>
                  <a:srgbClr val="F2EEE0"/>
                </a:solidFill>
                <a:latin typeface="メイリオ"/>
              </a:rPr>
              <a:t>純増8.0枚/Gの上位AT。継続率約80%。
特化ゾーン「黒い衝動」では期待3,000枚超。
リベンジチャンス成功で到達できる。</a:t>
            </a:r>
          </a:p>
        </p:txBody>
      </p:sp>
      <p:sp>
        <p:nvSpPr>
          <p:cNvPr id="41" name="TextBox 40"/>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42" name="Rectangle 41"/>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設計核心：「周期システム×2段CZ×差枚数上乗せ型AT×上位AT爆発」── タイムリープ原作世界観をゲーム性に融合</a:t>
            </a:r>
          </a:p>
        </p:txBody>
      </p:sp>
      <p:sp>
        <p:nvSpPr>
          <p:cNvPr id="45" name="TextBox 44"/>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純増3.2→8.0枚/Gの段階的上位ATが本機最大の出玉爆発力</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ゲームフロー全体図 ── 通常時→AT→上位ATの全ルート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2/9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94944"/>
            <a:ext cx="1435608" cy="1060000"/>
          </a:xfrm>
          <a:prstGeom prst="rect">
            <a:avLst/>
          </a:prstGeom>
          <a:solidFill>
            <a:srgbClr val="1A1406"/>
          </a:solidFill>
          <a:ln w="22860">
            <a:solidFill>
              <a:srgbClr val="9988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6032" y="759944"/>
            <a:ext cx="1380608" cy="360000"/>
          </a:xfrm>
          <a:prstGeom prst="rect">
            <a:avLst/>
          </a:prstGeom>
          <a:noFill/>
        </p:spPr>
        <p:txBody>
          <a:bodyPr wrap="square">
            <a:spAutoFit/>
          </a:bodyPr>
          <a:lstStyle/>
          <a:p>
            <a:pPr algn="ctr"/>
            <a:r>
              <a:rPr sz="900" b="1">
                <a:solidFill>
                  <a:srgbClr val="998870"/>
                </a:solidFill>
                <a:latin typeface="游明朝"/>
              </a:rPr>
              <a:t>通常遊技</a:t>
            </a:r>
          </a:p>
        </p:txBody>
      </p:sp>
      <p:sp>
        <p:nvSpPr>
          <p:cNvPr id="10" name="TextBox 9"/>
          <p:cNvSpPr txBox="1"/>
          <p:nvPr/>
        </p:nvSpPr>
        <p:spPr>
          <a:xfrm>
            <a:off x="276032" y="1164944"/>
            <a:ext cx="1397608" cy="520000"/>
          </a:xfrm>
          <a:prstGeom prst="rect">
            <a:avLst/>
          </a:prstGeom>
          <a:noFill/>
        </p:spPr>
        <p:txBody>
          <a:bodyPr wrap="square">
            <a:spAutoFit/>
          </a:bodyPr>
          <a:lstStyle/>
          <a:p>
            <a:pPr algn="ctr"/>
            <a:r>
              <a:rPr sz="750" b="0">
                <a:solidFill>
                  <a:srgbClr val="998870"/>
                </a:solidFill>
                <a:latin typeface="メイリオ"/>
              </a:rPr>
              <a:t>毎Gポイント獲得
規定pt到達で
前兆・CZへ</a:t>
            </a:r>
          </a:p>
        </p:txBody>
      </p:sp>
      <p:sp>
        <p:nvSpPr>
          <p:cNvPr id="11" name="Can 10"/>
          <p:cNvSpPr/>
          <p:nvPr/>
        </p:nvSpPr>
        <p:spPr>
          <a:xfrm>
            <a:off x="1701640" y="1134944"/>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088" y="694944"/>
            <a:ext cx="1435608" cy="1060000"/>
          </a:xfrm>
          <a:prstGeom prst="rect">
            <a:avLst/>
          </a:prstGeom>
          <a:solidFill>
            <a:srgbClr val="120E04"/>
          </a:solidFill>
          <a:ln w="22860">
            <a:solidFill>
              <a:srgbClr val="44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7088" y="759944"/>
            <a:ext cx="1380608" cy="360000"/>
          </a:xfrm>
          <a:prstGeom prst="rect">
            <a:avLst/>
          </a:prstGeom>
          <a:noFill/>
        </p:spPr>
        <p:txBody>
          <a:bodyPr wrap="square">
            <a:spAutoFit/>
          </a:bodyPr>
          <a:lstStyle/>
          <a:p>
            <a:pPr algn="ctr"/>
            <a:r>
              <a:rPr sz="900" b="1">
                <a:solidFill>
                  <a:srgbClr val="4499FF"/>
                </a:solidFill>
                <a:latin typeface="游明朝"/>
              </a:rPr>
              <a:t>東卍アクセル
(特化5G+α)</a:t>
            </a:r>
          </a:p>
        </p:txBody>
      </p:sp>
      <p:sp>
        <p:nvSpPr>
          <p:cNvPr id="14" name="TextBox 13"/>
          <p:cNvSpPr txBox="1"/>
          <p:nvPr/>
        </p:nvSpPr>
        <p:spPr>
          <a:xfrm>
            <a:off x="1867088" y="1164944"/>
            <a:ext cx="1397608" cy="520000"/>
          </a:xfrm>
          <a:prstGeom prst="rect">
            <a:avLst/>
          </a:prstGeom>
          <a:noFill/>
        </p:spPr>
        <p:txBody>
          <a:bodyPr wrap="square">
            <a:spAutoFit/>
          </a:bodyPr>
          <a:lstStyle/>
          <a:p>
            <a:pPr algn="ctr"/>
            <a:r>
              <a:rPr sz="750" b="0">
                <a:solidFill>
                  <a:srgbClr val="998870"/>
                </a:solidFill>
                <a:latin typeface="メイリオ"/>
              </a:rPr>
              <a:t>ポイント獲得
特化ゾーン
STタイプ</a:t>
            </a:r>
          </a:p>
        </p:txBody>
      </p:sp>
      <p:sp>
        <p:nvSpPr>
          <p:cNvPr id="15" name="Can 14"/>
          <p:cNvSpPr/>
          <p:nvPr/>
        </p:nvSpPr>
        <p:spPr>
          <a:xfrm>
            <a:off x="3292696" y="1134944"/>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38144" y="694944"/>
            <a:ext cx="1435608" cy="1060000"/>
          </a:xfrm>
          <a:prstGeom prst="rect">
            <a:avLst/>
          </a:prstGeom>
          <a:solidFill>
            <a:srgbClr val="120E04"/>
          </a:solidFill>
          <a:ln w="22860">
            <a:solidFill>
              <a:srgbClr val="FF8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8144" y="759944"/>
            <a:ext cx="1380608" cy="360000"/>
          </a:xfrm>
          <a:prstGeom prst="rect">
            <a:avLst/>
          </a:prstGeom>
          <a:noFill/>
        </p:spPr>
        <p:txBody>
          <a:bodyPr wrap="square">
            <a:spAutoFit/>
          </a:bodyPr>
          <a:lstStyle/>
          <a:p>
            <a:pPr algn="ctr"/>
            <a:r>
              <a:rPr sz="900" b="1">
                <a:solidFill>
                  <a:srgbClr val="FF8822"/>
                </a:solidFill>
                <a:latin typeface="游明朝"/>
              </a:rPr>
              <a:t>CZ
ミッドナイト
モード</a:t>
            </a:r>
          </a:p>
        </p:txBody>
      </p:sp>
      <p:sp>
        <p:nvSpPr>
          <p:cNvPr id="18" name="TextBox 17"/>
          <p:cNvSpPr txBox="1"/>
          <p:nvPr/>
        </p:nvSpPr>
        <p:spPr>
          <a:xfrm>
            <a:off x="3458144" y="1164944"/>
            <a:ext cx="1397608" cy="520000"/>
          </a:xfrm>
          <a:prstGeom prst="rect">
            <a:avLst/>
          </a:prstGeom>
          <a:noFill/>
        </p:spPr>
        <p:txBody>
          <a:bodyPr wrap="square">
            <a:spAutoFit/>
          </a:bodyPr>
          <a:lstStyle/>
          <a:p>
            <a:pPr algn="ctr"/>
            <a:r>
              <a:rPr sz="750" b="0">
                <a:solidFill>
                  <a:srgbClr val="998870"/>
                </a:solidFill>
                <a:latin typeface="メイリオ"/>
              </a:rPr>
              <a:t>成功約50%
フリーズで
成功濃厚</a:t>
            </a:r>
          </a:p>
        </p:txBody>
      </p:sp>
      <p:sp>
        <p:nvSpPr>
          <p:cNvPr id="19" name="Can 18"/>
          <p:cNvSpPr/>
          <p:nvPr/>
        </p:nvSpPr>
        <p:spPr>
          <a:xfrm>
            <a:off x="4883752" y="1134944"/>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0" y="694944"/>
            <a:ext cx="1435608" cy="1060000"/>
          </a:xfrm>
          <a:prstGeom prst="rect">
            <a:avLst/>
          </a:prstGeom>
          <a:solidFill>
            <a:srgbClr val="120E04"/>
          </a:solidFill>
          <a:ln w="2286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59200" y="759944"/>
            <a:ext cx="1380608" cy="360000"/>
          </a:xfrm>
          <a:prstGeom prst="rect">
            <a:avLst/>
          </a:prstGeom>
          <a:noFill/>
        </p:spPr>
        <p:txBody>
          <a:bodyPr wrap="square">
            <a:spAutoFit/>
          </a:bodyPr>
          <a:lstStyle/>
          <a:p>
            <a:pPr algn="ctr"/>
            <a:r>
              <a:rPr sz="900" b="1">
                <a:solidFill>
                  <a:srgbClr val="FF6600"/>
                </a:solidFill>
                <a:latin typeface="游明朝"/>
              </a:rPr>
              <a:t>CZ
稀咲陰謀</a:t>
            </a:r>
          </a:p>
        </p:txBody>
      </p:sp>
      <p:sp>
        <p:nvSpPr>
          <p:cNvPr id="22" name="TextBox 21"/>
          <p:cNvSpPr txBox="1"/>
          <p:nvPr/>
        </p:nvSpPr>
        <p:spPr>
          <a:xfrm>
            <a:off x="5049200" y="1164944"/>
            <a:ext cx="1397608" cy="520000"/>
          </a:xfrm>
          <a:prstGeom prst="rect">
            <a:avLst/>
          </a:prstGeom>
          <a:noFill/>
        </p:spPr>
        <p:txBody>
          <a:bodyPr wrap="square">
            <a:spAutoFit/>
          </a:bodyPr>
          <a:lstStyle/>
          <a:p>
            <a:pPr algn="ctr"/>
            <a:r>
              <a:rPr sz="750" b="0">
                <a:solidFill>
                  <a:srgbClr val="998870"/>
                </a:solidFill>
                <a:latin typeface="メイリオ"/>
              </a:rPr>
              <a:t>成功約75%
上位CZ
突入で激アツ</a:t>
            </a:r>
          </a:p>
        </p:txBody>
      </p:sp>
      <p:sp>
        <p:nvSpPr>
          <p:cNvPr id="23" name="Can 22"/>
          <p:cNvSpPr/>
          <p:nvPr/>
        </p:nvSpPr>
        <p:spPr>
          <a:xfrm>
            <a:off x="6474808" y="1134944"/>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20256" y="694944"/>
            <a:ext cx="1435608" cy="1060000"/>
          </a:xfrm>
          <a:prstGeom prst="rect">
            <a:avLst/>
          </a:prstGeom>
          <a:solidFill>
            <a:srgbClr val="120E04"/>
          </a:solidFill>
          <a:ln w="2286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0256" y="759944"/>
            <a:ext cx="1380608" cy="360000"/>
          </a:xfrm>
          <a:prstGeom prst="rect">
            <a:avLst/>
          </a:prstGeom>
          <a:noFill/>
        </p:spPr>
        <p:txBody>
          <a:bodyPr wrap="square">
            <a:spAutoFit/>
          </a:bodyPr>
          <a:lstStyle/>
          <a:p>
            <a:pPr algn="ctr"/>
            <a:r>
              <a:rPr sz="900" b="1">
                <a:solidFill>
                  <a:srgbClr val="CCAA30"/>
                </a:solidFill>
                <a:latin typeface="游明朝"/>
              </a:rPr>
              <a:t>東卍RUSH
(AT/純増3.2枚)</a:t>
            </a:r>
          </a:p>
        </p:txBody>
      </p:sp>
      <p:sp>
        <p:nvSpPr>
          <p:cNvPr id="26" name="TextBox 25"/>
          <p:cNvSpPr txBox="1"/>
          <p:nvPr/>
        </p:nvSpPr>
        <p:spPr>
          <a:xfrm>
            <a:off x="6640256" y="1164944"/>
            <a:ext cx="1397608" cy="520000"/>
          </a:xfrm>
          <a:prstGeom prst="rect">
            <a:avLst/>
          </a:prstGeom>
          <a:noFill/>
        </p:spPr>
        <p:txBody>
          <a:bodyPr wrap="square">
            <a:spAutoFit/>
          </a:bodyPr>
          <a:lstStyle/>
          <a:p>
            <a:pPr algn="ctr"/>
            <a:r>
              <a:rPr sz="750" b="0">
                <a:solidFill>
                  <a:srgbClr val="998870"/>
                </a:solidFill>
                <a:latin typeface="メイリオ"/>
              </a:rPr>
              <a:t>差枚数
管理型
メインAT</a:t>
            </a:r>
          </a:p>
        </p:txBody>
      </p:sp>
      <p:sp>
        <p:nvSpPr>
          <p:cNvPr id="27" name="TextBox 26"/>
          <p:cNvSpPr txBox="1"/>
          <p:nvPr/>
        </p:nvSpPr>
        <p:spPr>
          <a:xfrm>
            <a:off x="256032" y="1774944"/>
            <a:ext cx="3200400" cy="260000"/>
          </a:xfrm>
          <a:prstGeom prst="rect">
            <a:avLst/>
          </a:prstGeom>
          <a:noFill/>
        </p:spPr>
        <p:txBody>
          <a:bodyPr wrap="square">
            <a:spAutoFit/>
          </a:bodyPr>
          <a:lstStyle/>
          <a:p>
            <a:pPr algn="l"/>
            <a:r>
              <a:rPr sz="750" b="0">
                <a:solidFill>
                  <a:srgbClr val="22CCDD"/>
                </a:solidFill>
                <a:latin typeface="メイリオ"/>
              </a:rPr>
              <a:t>天井①：6周期目で AT当選確定（最大保険）</a:t>
            </a:r>
          </a:p>
        </p:txBody>
      </p:sp>
      <p:sp>
        <p:nvSpPr>
          <p:cNvPr id="28" name="Rectangle 27"/>
          <p:cNvSpPr/>
          <p:nvPr/>
        </p:nvSpPr>
        <p:spPr>
          <a:xfrm>
            <a:off x="256032" y="2014944"/>
            <a:ext cx="3474720" cy="5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13632" y="1774944"/>
            <a:ext cx="3474720" cy="260000"/>
          </a:xfrm>
          <a:prstGeom prst="rect">
            <a:avLst/>
          </a:prstGeom>
          <a:noFill/>
        </p:spPr>
        <p:txBody>
          <a:bodyPr wrap="square">
            <a:spAutoFit/>
          </a:bodyPr>
          <a:lstStyle/>
          <a:p>
            <a:pPr algn="l"/>
            <a:r>
              <a:rPr sz="750" b="0">
                <a:solidFill>
                  <a:srgbClr val="4499FF"/>
                </a:solidFill>
                <a:latin typeface="メイリオ"/>
              </a:rPr>
              <a:t>天井②：AT間ゲーム数天井でAT確定（長期保険）</a:t>
            </a:r>
          </a:p>
        </p:txBody>
      </p:sp>
      <p:sp>
        <p:nvSpPr>
          <p:cNvPr id="30" name="Rectangle 29"/>
          <p:cNvSpPr/>
          <p:nvPr/>
        </p:nvSpPr>
        <p:spPr>
          <a:xfrm>
            <a:off x="0" y="1920240"/>
            <a:ext cx="9144000" cy="5000"/>
          </a:xfrm>
          <a:prstGeom prst="rect">
            <a:avLst/>
          </a:prstGeom>
          <a:solidFill>
            <a:srgbClr val="44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6032" y="1984248"/>
            <a:ext cx="1810512" cy="1080000"/>
          </a:xfrm>
          <a:prstGeom prst="rect">
            <a:avLst/>
          </a:prstGeom>
          <a:solidFill>
            <a:srgbClr val="120E04"/>
          </a:solidFill>
          <a:ln w="1905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1032" y="2049248"/>
            <a:ext cx="1750512" cy="380000"/>
          </a:xfrm>
          <a:prstGeom prst="rect">
            <a:avLst/>
          </a:prstGeom>
          <a:noFill/>
        </p:spPr>
        <p:txBody>
          <a:bodyPr wrap="square">
            <a:spAutoFit/>
          </a:bodyPr>
          <a:lstStyle/>
          <a:p>
            <a:pPr algn="ctr"/>
            <a:r>
              <a:rPr sz="1000" b="1">
                <a:solidFill>
                  <a:srgbClr val="CCAA30"/>
                </a:solidFill>
                <a:latin typeface="游明朝"/>
              </a:rPr>
              <a:t>東卍RUSH
（基本AT）</a:t>
            </a:r>
          </a:p>
        </p:txBody>
      </p:sp>
      <p:sp>
        <p:nvSpPr>
          <p:cNvPr id="33" name="TextBox 32"/>
          <p:cNvSpPr txBox="1"/>
          <p:nvPr/>
        </p:nvSpPr>
        <p:spPr>
          <a:xfrm>
            <a:off x="281032" y="2474248"/>
            <a:ext cx="1765512" cy="480000"/>
          </a:xfrm>
          <a:prstGeom prst="rect">
            <a:avLst/>
          </a:prstGeom>
          <a:noFill/>
        </p:spPr>
        <p:txBody>
          <a:bodyPr wrap="square">
            <a:spAutoFit/>
          </a:bodyPr>
          <a:lstStyle/>
          <a:p>
            <a:pPr algn="ctr"/>
            <a:r>
              <a:rPr sz="800" b="0">
                <a:solidFill>
                  <a:srgbClr val="998870"/>
                </a:solidFill>
                <a:latin typeface="メイリオ"/>
              </a:rPr>
              <a:t>BREAK CHANCE
で初期枚数決定
純増3.2枚/G</a:t>
            </a:r>
          </a:p>
        </p:txBody>
      </p:sp>
      <p:sp>
        <p:nvSpPr>
          <p:cNvPr id="34" name="Can 33"/>
          <p:cNvSpPr/>
          <p:nvPr/>
        </p:nvSpPr>
        <p:spPr>
          <a:xfrm>
            <a:off x="2078544" y="2434248"/>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267712" y="1984248"/>
            <a:ext cx="1810512" cy="1080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02712" y="2049248"/>
            <a:ext cx="1750512" cy="380000"/>
          </a:xfrm>
          <a:prstGeom prst="rect">
            <a:avLst/>
          </a:prstGeom>
          <a:noFill/>
        </p:spPr>
        <p:txBody>
          <a:bodyPr wrap="square">
            <a:spAutoFit/>
          </a:bodyPr>
          <a:lstStyle/>
          <a:p>
            <a:pPr algn="ctr"/>
            <a:r>
              <a:rPr sz="1000" b="1">
                <a:solidFill>
                  <a:srgbClr val="FF6600"/>
                </a:solidFill>
                <a:latin typeface="游明朝"/>
              </a:rPr>
              <a:t>一触即発
（AT内バトル）</a:t>
            </a:r>
          </a:p>
        </p:txBody>
      </p:sp>
      <p:sp>
        <p:nvSpPr>
          <p:cNvPr id="37" name="TextBox 36"/>
          <p:cNvSpPr txBox="1"/>
          <p:nvPr/>
        </p:nvSpPr>
        <p:spPr>
          <a:xfrm>
            <a:off x="2292712" y="2474248"/>
            <a:ext cx="1765512" cy="480000"/>
          </a:xfrm>
          <a:prstGeom prst="rect">
            <a:avLst/>
          </a:prstGeom>
          <a:noFill/>
        </p:spPr>
        <p:txBody>
          <a:bodyPr wrap="square">
            <a:spAutoFit/>
          </a:bodyPr>
          <a:lstStyle/>
          <a:p>
            <a:pPr algn="ctr"/>
            <a:r>
              <a:rPr sz="800" b="0">
                <a:solidFill>
                  <a:srgbClr val="998870"/>
                </a:solidFill>
                <a:latin typeface="メイリオ"/>
              </a:rPr>
              <a:t>レア役で上乗せ
LEAP昇格で
3桁上乗せも</a:t>
            </a:r>
          </a:p>
        </p:txBody>
      </p:sp>
      <p:sp>
        <p:nvSpPr>
          <p:cNvPr id="38" name="Can 37"/>
          <p:cNvSpPr/>
          <p:nvPr/>
        </p:nvSpPr>
        <p:spPr>
          <a:xfrm>
            <a:off x="4090224" y="2434248"/>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79392" y="1984248"/>
            <a:ext cx="1810512" cy="1080000"/>
          </a:xfrm>
          <a:prstGeom prst="rect">
            <a:avLst/>
          </a:prstGeom>
          <a:solidFill>
            <a:srgbClr val="120E0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14392" y="2049248"/>
            <a:ext cx="1750512" cy="380000"/>
          </a:xfrm>
          <a:prstGeom prst="rect">
            <a:avLst/>
          </a:prstGeom>
          <a:noFill/>
        </p:spPr>
        <p:txBody>
          <a:bodyPr wrap="square">
            <a:spAutoFit/>
          </a:bodyPr>
          <a:lstStyle/>
          <a:p>
            <a:pPr algn="ctr"/>
            <a:r>
              <a:rPr sz="1000" b="1">
                <a:solidFill>
                  <a:srgbClr val="2266CC"/>
                </a:solidFill>
                <a:latin typeface="游明朝"/>
              </a:rPr>
              <a:t>黒い衝動
（特化5G+α）</a:t>
            </a:r>
          </a:p>
        </p:txBody>
      </p:sp>
      <p:sp>
        <p:nvSpPr>
          <p:cNvPr id="41" name="TextBox 40"/>
          <p:cNvSpPr txBox="1"/>
          <p:nvPr/>
        </p:nvSpPr>
        <p:spPr>
          <a:xfrm>
            <a:off x="4304392" y="2474248"/>
            <a:ext cx="1765512" cy="480000"/>
          </a:xfrm>
          <a:prstGeom prst="rect">
            <a:avLst/>
          </a:prstGeom>
          <a:noFill/>
        </p:spPr>
        <p:txBody>
          <a:bodyPr wrap="square">
            <a:spAutoFit/>
          </a:bodyPr>
          <a:lstStyle/>
          <a:p>
            <a:pPr algn="ctr"/>
            <a:r>
              <a:rPr sz="800" b="0">
                <a:solidFill>
                  <a:srgbClr val="998870"/>
                </a:solidFill>
                <a:latin typeface="メイリオ"/>
              </a:rPr>
              <a:t>100枚以上
の上乗せ保証
STリセット</a:t>
            </a:r>
          </a:p>
        </p:txBody>
      </p:sp>
      <p:sp>
        <p:nvSpPr>
          <p:cNvPr id="42" name="Can 41"/>
          <p:cNvSpPr/>
          <p:nvPr/>
        </p:nvSpPr>
        <p:spPr>
          <a:xfrm>
            <a:off x="6101904" y="2434248"/>
            <a:ext cx="200000" cy="180000"/>
          </a:xfrm>
          <a:prstGeom prst="ca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91072" y="1984248"/>
            <a:ext cx="1810512" cy="1080000"/>
          </a:xfrm>
          <a:prstGeom prst="rect">
            <a:avLst/>
          </a:prstGeom>
          <a:solidFill>
            <a:srgbClr val="160C02"/>
          </a:solidFill>
          <a:ln w="22860">
            <a:solidFill>
              <a:srgbClr val="FFD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26072" y="2049248"/>
            <a:ext cx="1750512" cy="380000"/>
          </a:xfrm>
          <a:prstGeom prst="rect">
            <a:avLst/>
          </a:prstGeom>
          <a:noFill/>
        </p:spPr>
        <p:txBody>
          <a:bodyPr wrap="square">
            <a:spAutoFit/>
          </a:bodyPr>
          <a:lstStyle/>
          <a:p>
            <a:pPr algn="ctr"/>
            <a:r>
              <a:rPr sz="1000" b="1">
                <a:solidFill>
                  <a:srgbClr val="FFDD55"/>
                </a:solidFill>
                <a:latin typeface="游明朝"/>
              </a:rPr>
              <a:t>東卍RUSH
BURST
（上位AT）</a:t>
            </a:r>
          </a:p>
        </p:txBody>
      </p:sp>
      <p:sp>
        <p:nvSpPr>
          <p:cNvPr id="45" name="TextBox 44"/>
          <p:cNvSpPr txBox="1"/>
          <p:nvPr/>
        </p:nvSpPr>
        <p:spPr>
          <a:xfrm>
            <a:off x="6316072" y="2474248"/>
            <a:ext cx="1765512" cy="480000"/>
          </a:xfrm>
          <a:prstGeom prst="rect">
            <a:avLst/>
          </a:prstGeom>
          <a:noFill/>
        </p:spPr>
        <p:txBody>
          <a:bodyPr wrap="square">
            <a:spAutoFit/>
          </a:bodyPr>
          <a:lstStyle/>
          <a:p>
            <a:pPr algn="ctr"/>
            <a:r>
              <a:rPr sz="800" b="0">
                <a:solidFill>
                  <a:srgbClr val="998870"/>
                </a:solidFill>
                <a:latin typeface="メイリオ"/>
              </a:rPr>
              <a:t>純増8.0枚/G
継続率約80%
上乗せ50枚以上</a:t>
            </a:r>
          </a:p>
        </p:txBody>
      </p:sp>
      <p:sp>
        <p:nvSpPr>
          <p:cNvPr id="46" name="Rectangle 45"/>
          <p:cNvSpPr/>
          <p:nvPr/>
        </p:nvSpPr>
        <p:spPr>
          <a:xfrm>
            <a:off x="8302752" y="1984248"/>
            <a:ext cx="1325880" cy="1080000"/>
          </a:xfrm>
          <a:prstGeom prst="rect">
            <a:avLst/>
          </a:prstGeom>
          <a:solidFill>
            <a:srgbClr val="120E04"/>
          </a:solidFill>
          <a:ln w="19050">
            <a:solidFill>
              <a:srgbClr val="FF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02752" y="1984248"/>
            <a:ext cx="28000" cy="1080000"/>
          </a:xfrm>
          <a:prstGeom prst="rect">
            <a:avLst/>
          </a:prstGeom>
          <a:solidFill>
            <a:srgbClr val="FF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50752" y="2054248"/>
            <a:ext cx="1097280" cy="310000"/>
          </a:xfrm>
          <a:prstGeom prst="rect">
            <a:avLst/>
          </a:prstGeom>
          <a:noFill/>
        </p:spPr>
        <p:txBody>
          <a:bodyPr wrap="square">
            <a:spAutoFit/>
          </a:bodyPr>
          <a:lstStyle/>
          <a:p>
            <a:pPr algn="ctr"/>
            <a:r>
              <a:rPr sz="900" b="1">
                <a:solidFill>
                  <a:srgbClr val="FF4488"/>
                </a:solidFill>
                <a:latin typeface="游明朝"/>
              </a:rPr>
              <a:t>リベンジ
チャンス
(CZ)</a:t>
            </a:r>
          </a:p>
        </p:txBody>
      </p:sp>
      <p:sp>
        <p:nvSpPr>
          <p:cNvPr id="49" name="TextBox 48"/>
          <p:cNvSpPr txBox="1"/>
          <p:nvPr/>
        </p:nvSpPr>
        <p:spPr>
          <a:xfrm>
            <a:off x="8350752" y="2474248"/>
            <a:ext cx="1097280" cy="460000"/>
          </a:xfrm>
          <a:prstGeom prst="rect">
            <a:avLst/>
          </a:prstGeom>
          <a:noFill/>
        </p:spPr>
        <p:txBody>
          <a:bodyPr wrap="square">
            <a:spAutoFit/>
          </a:bodyPr>
          <a:lstStyle/>
          <a:p>
            <a:pPr algn="ctr"/>
            <a:r>
              <a:rPr sz="750" b="0">
                <a:solidFill>
                  <a:srgbClr val="F2EEE0"/>
                </a:solidFill>
                <a:latin typeface="メイリオ"/>
              </a:rPr>
              <a:t>BURST突入
期待度
高い</a:t>
            </a:r>
          </a:p>
        </p:txBody>
      </p:sp>
      <p:sp>
        <p:nvSpPr>
          <p:cNvPr id="50" name="TextBox 49"/>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51" name="Rectangle 50"/>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上段=通常〜東卍RUSH突入ルート（周期+2段CZ+天井）、下段=AT内上乗せ→上位BURST昇格ルート</a:t>
            </a:r>
          </a:p>
        </p:txBody>
      </p:sp>
      <p:sp>
        <p:nvSpPr>
          <p:cNvPr id="54" name="TextBox 53"/>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周期到達で必ずCZ/前兆が発生する設計のため「1周期=1チャンス」の安心感がある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通常時の遊び方 ── 周期システム・全AT突入ルート・天井</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3/9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285000"/>
          </a:xfrm>
          <a:prstGeom prst="rect">
            <a:avLst/>
          </a:prstGeom>
          <a:solidFill>
            <a:srgbClr val="55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20000"/>
          </a:xfrm>
          <a:prstGeom prst="rect">
            <a:avLst/>
          </a:prstGeom>
          <a:noFill/>
        </p:spPr>
        <p:txBody>
          <a:bodyPr wrap="square">
            <a:spAutoFit/>
          </a:bodyPr>
          <a:lstStyle/>
          <a:p>
            <a:pPr algn="l"/>
            <a:r>
              <a:rPr sz="1000" b="1">
                <a:solidFill>
                  <a:srgbClr val="FF6600"/>
                </a:solidFill>
                <a:latin typeface="メイリオ"/>
              </a:rPr>
              <a:t>通常時〜東卍RUSH突入ルート（全4系統）</a:t>
            </a:r>
          </a:p>
        </p:txBody>
      </p:sp>
      <p:sp>
        <p:nvSpPr>
          <p:cNvPr id="10" name="Rectangle 9"/>
          <p:cNvSpPr/>
          <p:nvPr/>
        </p:nvSpPr>
        <p:spPr>
          <a:xfrm>
            <a:off x="256032" y="943368"/>
            <a:ext cx="4160520" cy="1055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43368"/>
            <a:ext cx="45000" cy="1055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993368"/>
            <a:ext cx="4060520" cy="265000"/>
          </a:xfrm>
          <a:prstGeom prst="rect">
            <a:avLst/>
          </a:prstGeom>
          <a:noFill/>
        </p:spPr>
        <p:txBody>
          <a:bodyPr wrap="square">
            <a:spAutoFit/>
          </a:bodyPr>
          <a:lstStyle/>
          <a:p>
            <a:pPr algn="l"/>
            <a:r>
              <a:rPr sz="900" b="1">
                <a:solidFill>
                  <a:srgbClr val="FF6600"/>
                </a:solidFill>
                <a:latin typeface="メイリオ"/>
              </a:rPr>
              <a:t>ルート①  周期到達→前兆→直接AT（最短）</a:t>
            </a:r>
          </a:p>
        </p:txBody>
      </p:sp>
      <p:sp>
        <p:nvSpPr>
          <p:cNvPr id="13" name="TextBox 12"/>
          <p:cNvSpPr txBox="1"/>
          <p:nvPr/>
        </p:nvSpPr>
        <p:spPr>
          <a:xfrm>
            <a:off x="331032" y="1258368"/>
            <a:ext cx="4060520" cy="665000"/>
          </a:xfrm>
          <a:prstGeom prst="rect">
            <a:avLst/>
          </a:prstGeom>
          <a:noFill/>
        </p:spPr>
        <p:txBody>
          <a:bodyPr wrap="square">
            <a:spAutoFit/>
          </a:bodyPr>
          <a:lstStyle/>
          <a:p>
            <a:pPr algn="l"/>
            <a:r>
              <a:rPr sz="750" b="0">
                <a:solidFill>
                  <a:srgbClr val="F2EEE0"/>
                </a:solidFill>
                <a:latin typeface="メイリオ"/>
              </a:rPr>
              <a:t>毎Gポイントが加算（最低1pt）され、規定ptに
達すると「決戦前夜」前兆に移行→AT抽選。
1周期最大500pt、6周期目が天井①。</a:t>
            </a:r>
          </a:p>
        </p:txBody>
      </p:sp>
      <p:sp>
        <p:nvSpPr>
          <p:cNvPr id="14" name="Rectangle 13"/>
          <p:cNvSpPr/>
          <p:nvPr/>
        </p:nvSpPr>
        <p:spPr>
          <a:xfrm>
            <a:off x="256032" y="2061368"/>
            <a:ext cx="4160520" cy="1055000"/>
          </a:xfrm>
          <a:prstGeom prst="rect">
            <a:avLst/>
          </a:prstGeom>
          <a:solidFill>
            <a:srgbClr val="120E04"/>
          </a:solidFill>
          <a:ln w="19050">
            <a:solidFill>
              <a:srgbClr val="44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061368"/>
            <a:ext cx="45000" cy="1055000"/>
          </a:xfrm>
          <a:prstGeom prst="rect">
            <a:avLst/>
          </a:prstGeom>
          <a:solidFill>
            <a:srgbClr val="44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111368"/>
            <a:ext cx="4060520" cy="265000"/>
          </a:xfrm>
          <a:prstGeom prst="rect">
            <a:avLst/>
          </a:prstGeom>
          <a:noFill/>
        </p:spPr>
        <p:txBody>
          <a:bodyPr wrap="square">
            <a:spAutoFit/>
          </a:bodyPr>
          <a:lstStyle/>
          <a:p>
            <a:pPr algn="l"/>
            <a:r>
              <a:rPr sz="900" b="1">
                <a:solidFill>
                  <a:srgbClr val="4499FF"/>
                </a:solidFill>
                <a:latin typeface="メイリオ"/>
              </a:rPr>
              <a:t>ルート②  東卍アクセル→ポイント加速→AT</a:t>
            </a:r>
          </a:p>
        </p:txBody>
      </p:sp>
      <p:sp>
        <p:nvSpPr>
          <p:cNvPr id="17" name="TextBox 16"/>
          <p:cNvSpPr txBox="1"/>
          <p:nvPr/>
        </p:nvSpPr>
        <p:spPr>
          <a:xfrm>
            <a:off x="331032" y="2376368"/>
            <a:ext cx="4060520" cy="665000"/>
          </a:xfrm>
          <a:prstGeom prst="rect">
            <a:avLst/>
          </a:prstGeom>
          <a:noFill/>
        </p:spPr>
        <p:txBody>
          <a:bodyPr wrap="square">
            <a:spAutoFit/>
          </a:bodyPr>
          <a:lstStyle/>
          <a:p>
            <a:pPr algn="l"/>
            <a:r>
              <a:rPr sz="750" b="0">
                <a:solidFill>
                  <a:srgbClr val="F2EEE0"/>
                </a:solidFill>
                <a:latin typeface="メイリオ"/>
              </a:rPr>
              <a:t>レア役などで東卍アクセル（ST5G+α）が発生。
ポイントを集中的に獲得し周期到達を早める。
リプレイ・レア役成立で5G再セット（継続）。</a:t>
            </a:r>
          </a:p>
        </p:txBody>
      </p:sp>
      <p:sp>
        <p:nvSpPr>
          <p:cNvPr id="18" name="Rectangle 17"/>
          <p:cNvSpPr/>
          <p:nvPr/>
        </p:nvSpPr>
        <p:spPr>
          <a:xfrm>
            <a:off x="256032" y="3179368"/>
            <a:ext cx="4160520" cy="1055000"/>
          </a:xfrm>
          <a:prstGeom prst="rect">
            <a:avLst/>
          </a:prstGeom>
          <a:solidFill>
            <a:srgbClr val="120E04"/>
          </a:solidFill>
          <a:ln w="19050">
            <a:solidFill>
              <a:srgbClr val="FF8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179368"/>
            <a:ext cx="45000" cy="1055000"/>
          </a:xfrm>
          <a:prstGeom prst="rect">
            <a:avLst/>
          </a:prstGeom>
          <a:solidFill>
            <a:srgbClr val="FF8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229368"/>
            <a:ext cx="4060520" cy="265000"/>
          </a:xfrm>
          <a:prstGeom prst="rect">
            <a:avLst/>
          </a:prstGeom>
          <a:noFill/>
        </p:spPr>
        <p:txBody>
          <a:bodyPr wrap="square">
            <a:spAutoFit/>
          </a:bodyPr>
          <a:lstStyle/>
          <a:p>
            <a:pPr algn="l"/>
            <a:r>
              <a:rPr sz="900" b="1">
                <a:solidFill>
                  <a:srgbClr val="FF8822"/>
                </a:solidFill>
                <a:latin typeface="メイリオ"/>
              </a:rPr>
              <a:t>ルート③  CZ（ミッドナイトモード/稀咲陰謀）→AT</a:t>
            </a:r>
          </a:p>
        </p:txBody>
      </p:sp>
      <p:sp>
        <p:nvSpPr>
          <p:cNvPr id="21" name="TextBox 20"/>
          <p:cNvSpPr txBox="1"/>
          <p:nvPr/>
        </p:nvSpPr>
        <p:spPr>
          <a:xfrm>
            <a:off x="331032" y="3494368"/>
            <a:ext cx="4060520" cy="665000"/>
          </a:xfrm>
          <a:prstGeom prst="rect">
            <a:avLst/>
          </a:prstGeom>
          <a:noFill/>
        </p:spPr>
        <p:txBody>
          <a:bodyPr wrap="square">
            <a:spAutoFit/>
          </a:bodyPr>
          <a:lstStyle/>
          <a:p>
            <a:pPr algn="l"/>
            <a:r>
              <a:rPr sz="750" b="0">
                <a:solidFill>
                  <a:srgbClr val="F2EEE0"/>
                </a:solidFill>
                <a:latin typeface="メイリオ"/>
              </a:rPr>
              <a:t>規定pt到達 or レア役でCZへ直接突入。
ミッドナイトモード：成功約50%（フリーズで濃厚）
稀咲陰謀（上位CZ）：成功約75%でAT濃厚。</a:t>
            </a:r>
          </a:p>
        </p:txBody>
      </p:sp>
      <p:sp>
        <p:nvSpPr>
          <p:cNvPr id="22" name="Rectangle 21"/>
          <p:cNvSpPr/>
          <p:nvPr/>
        </p:nvSpPr>
        <p:spPr>
          <a:xfrm>
            <a:off x="256032" y="4297368"/>
            <a:ext cx="4160520" cy="1055000"/>
          </a:xfrm>
          <a:prstGeom prst="rect">
            <a:avLst/>
          </a:prstGeom>
          <a:solidFill>
            <a:srgbClr val="120E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 y="4297368"/>
            <a:ext cx="45000" cy="1055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032" y="4347368"/>
            <a:ext cx="4060520" cy="265000"/>
          </a:xfrm>
          <a:prstGeom prst="rect">
            <a:avLst/>
          </a:prstGeom>
          <a:noFill/>
        </p:spPr>
        <p:txBody>
          <a:bodyPr wrap="square">
            <a:spAutoFit/>
          </a:bodyPr>
          <a:lstStyle/>
          <a:p>
            <a:pPr algn="l"/>
            <a:r>
              <a:rPr sz="900" b="1">
                <a:solidFill>
                  <a:srgbClr val="22CCDD"/>
                </a:solidFill>
                <a:latin typeface="メイリオ"/>
              </a:rPr>
              <a:t>ルート④  天井（2種）→AT確定</a:t>
            </a:r>
          </a:p>
        </p:txBody>
      </p:sp>
      <p:sp>
        <p:nvSpPr>
          <p:cNvPr id="25" name="TextBox 24"/>
          <p:cNvSpPr txBox="1"/>
          <p:nvPr/>
        </p:nvSpPr>
        <p:spPr>
          <a:xfrm>
            <a:off x="331032" y="4612368"/>
            <a:ext cx="4060520" cy="665000"/>
          </a:xfrm>
          <a:prstGeom prst="rect">
            <a:avLst/>
          </a:prstGeom>
          <a:noFill/>
        </p:spPr>
        <p:txBody>
          <a:bodyPr wrap="square">
            <a:spAutoFit/>
          </a:bodyPr>
          <a:lstStyle/>
          <a:p>
            <a:pPr algn="l"/>
            <a:r>
              <a:rPr sz="750" b="0">
                <a:solidFill>
                  <a:srgbClr val="F2EEE0"/>
                </a:solidFill>
                <a:latin typeface="メイリオ"/>
              </a:rPr>
              <a:t>天井①（6周期目）→AT当選確定で発動。
天井②（AT間ゲーム数）→AT当選確定。
設定変更（リセット）後は最大900Gに短縮。</a:t>
            </a:r>
          </a:p>
        </p:txBody>
      </p:sp>
      <p:sp>
        <p:nvSpPr>
          <p:cNvPr id="26" name="Rectangle 25"/>
          <p:cNvSpPr/>
          <p:nvPr/>
        </p:nvSpPr>
        <p:spPr>
          <a:xfrm>
            <a:off x="4572000" y="658368"/>
            <a:ext cx="4297680" cy="285000"/>
          </a:xfrm>
          <a:prstGeom prst="rect">
            <a:avLst/>
          </a:prstGeom>
          <a:solidFill>
            <a:srgbClr val="55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000" y="713368"/>
            <a:ext cx="4217680" cy="220000"/>
          </a:xfrm>
          <a:prstGeom prst="rect">
            <a:avLst/>
          </a:prstGeom>
          <a:noFill/>
        </p:spPr>
        <p:txBody>
          <a:bodyPr wrap="square">
            <a:spAutoFit/>
          </a:bodyPr>
          <a:lstStyle/>
          <a:p>
            <a:pPr algn="l"/>
            <a:r>
              <a:rPr sz="1000" b="1">
                <a:solidFill>
                  <a:srgbClr val="FF6600"/>
                </a:solidFill>
                <a:latin typeface="メイリオ"/>
              </a:rPr>
              <a:t>チャンス役の種類と役割</a:t>
            </a:r>
          </a:p>
        </p:txBody>
      </p:sp>
      <p:sp>
        <p:nvSpPr>
          <p:cNvPr id="28" name="Rectangle 27"/>
          <p:cNvSpPr/>
          <p:nvPr/>
        </p:nvSpPr>
        <p:spPr>
          <a:xfrm>
            <a:off x="4572000" y="943368"/>
            <a:ext cx="4297680" cy="680000"/>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943368"/>
            <a:ext cx="35000" cy="680000"/>
          </a:xfrm>
          <a:prstGeom prst="rect">
            <a:avLst/>
          </a:prstGeom>
          <a:solidFill>
            <a:srgbClr val="998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7000" y="993368"/>
            <a:ext cx="960120" cy="260000"/>
          </a:xfrm>
          <a:prstGeom prst="rect">
            <a:avLst/>
          </a:prstGeom>
          <a:noFill/>
        </p:spPr>
        <p:txBody>
          <a:bodyPr wrap="none">
            <a:spAutoFit/>
          </a:bodyPr>
          <a:lstStyle/>
          <a:p>
            <a:pPr algn="l"/>
            <a:r>
              <a:rPr sz="850" b="1">
                <a:solidFill>
                  <a:srgbClr val="998870"/>
                </a:solidFill>
                <a:latin typeface="メイリオ"/>
              </a:rPr>
              <a:t>リプレイ</a:t>
            </a:r>
          </a:p>
        </p:txBody>
      </p:sp>
      <p:sp>
        <p:nvSpPr>
          <p:cNvPr id="31" name="TextBox 30"/>
          <p:cNvSpPr txBox="1"/>
          <p:nvPr/>
        </p:nvSpPr>
        <p:spPr>
          <a:xfrm>
            <a:off x="5587120" y="998368"/>
            <a:ext cx="777240" cy="235000"/>
          </a:xfrm>
          <a:prstGeom prst="rect">
            <a:avLst/>
          </a:prstGeom>
          <a:noFill/>
        </p:spPr>
        <p:txBody>
          <a:bodyPr wrap="none">
            <a:spAutoFit/>
          </a:bodyPr>
          <a:lstStyle/>
          <a:p>
            <a:pPr algn="l"/>
            <a:r>
              <a:rPr sz="800" b="1">
                <a:solidFill>
                  <a:srgbClr val="FFDD55"/>
                </a:solidFill>
                <a:latin typeface="メイリオ"/>
              </a:rPr>
              <a:t>約1/7〜8</a:t>
            </a:r>
          </a:p>
        </p:txBody>
      </p:sp>
      <p:sp>
        <p:nvSpPr>
          <p:cNvPr id="32" name="TextBox 31"/>
          <p:cNvSpPr txBox="1"/>
          <p:nvPr/>
        </p:nvSpPr>
        <p:spPr>
          <a:xfrm>
            <a:off x="4627000" y="1248368"/>
            <a:ext cx="4237680" cy="320000"/>
          </a:xfrm>
          <a:prstGeom prst="rect">
            <a:avLst/>
          </a:prstGeom>
          <a:noFill/>
        </p:spPr>
        <p:txBody>
          <a:bodyPr wrap="square">
            <a:spAutoFit/>
          </a:bodyPr>
          <a:lstStyle/>
          <a:p>
            <a:pPr algn="l"/>
            <a:r>
              <a:rPr sz="750" b="0">
                <a:solidFill>
                  <a:srgbClr val="F2EEE0"/>
                </a:solidFill>
                <a:latin typeface="メイリオ"/>
              </a:rPr>
              <a:t>東卍アクセル中は継続抽選の起点</a:t>
            </a:r>
          </a:p>
        </p:txBody>
      </p:sp>
      <p:sp>
        <p:nvSpPr>
          <p:cNvPr id="33" name="Rectangle 32"/>
          <p:cNvSpPr/>
          <p:nvPr/>
        </p:nvSpPr>
        <p:spPr>
          <a:xfrm>
            <a:off x="4572000" y="1623368"/>
            <a:ext cx="4297680" cy="680000"/>
          </a:xfrm>
          <a:prstGeom prst="rect">
            <a:avLst/>
          </a:prstGeom>
          <a:solidFill>
            <a:srgbClr val="16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0" y="1623368"/>
            <a:ext cx="35000" cy="680000"/>
          </a:xfrm>
          <a:prstGeom prst="rect">
            <a:avLst/>
          </a:prstGeom>
          <a:solidFill>
            <a:srgbClr val="FF8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27000" y="1673368"/>
            <a:ext cx="960120" cy="260000"/>
          </a:xfrm>
          <a:prstGeom prst="rect">
            <a:avLst/>
          </a:prstGeom>
          <a:noFill/>
        </p:spPr>
        <p:txBody>
          <a:bodyPr wrap="none">
            <a:spAutoFit/>
          </a:bodyPr>
          <a:lstStyle/>
          <a:p>
            <a:pPr algn="l"/>
            <a:r>
              <a:rPr sz="850" b="1">
                <a:solidFill>
                  <a:srgbClr val="FF8822"/>
                </a:solidFill>
                <a:latin typeface="メイリオ"/>
              </a:rPr>
              <a:t>弱チェリー</a:t>
            </a:r>
          </a:p>
        </p:txBody>
      </p:sp>
      <p:sp>
        <p:nvSpPr>
          <p:cNvPr id="36" name="TextBox 35"/>
          <p:cNvSpPr txBox="1"/>
          <p:nvPr/>
        </p:nvSpPr>
        <p:spPr>
          <a:xfrm>
            <a:off x="5587120" y="1678368"/>
            <a:ext cx="777240" cy="235000"/>
          </a:xfrm>
          <a:prstGeom prst="rect">
            <a:avLst/>
          </a:prstGeom>
          <a:noFill/>
        </p:spPr>
        <p:txBody>
          <a:bodyPr wrap="none">
            <a:spAutoFit/>
          </a:bodyPr>
          <a:lstStyle/>
          <a:p>
            <a:pPr algn="l"/>
            <a:r>
              <a:rPr sz="800" b="1">
                <a:solidFill>
                  <a:srgbClr val="FFDD55"/>
                </a:solidFill>
                <a:latin typeface="メイリオ"/>
              </a:rPr>
              <a:t>約1/50</a:t>
            </a:r>
          </a:p>
        </p:txBody>
      </p:sp>
      <p:sp>
        <p:nvSpPr>
          <p:cNvPr id="37" name="TextBox 36"/>
          <p:cNvSpPr txBox="1"/>
          <p:nvPr/>
        </p:nvSpPr>
        <p:spPr>
          <a:xfrm>
            <a:off x="4627000" y="1928368"/>
            <a:ext cx="4237680" cy="320000"/>
          </a:xfrm>
          <a:prstGeom prst="rect">
            <a:avLst/>
          </a:prstGeom>
          <a:noFill/>
        </p:spPr>
        <p:txBody>
          <a:bodyPr wrap="square">
            <a:spAutoFit/>
          </a:bodyPr>
          <a:lstStyle/>
          <a:p>
            <a:pPr algn="l"/>
            <a:r>
              <a:rPr sz="750" b="0">
                <a:solidFill>
                  <a:srgbClr val="F2EEE0"/>
                </a:solidFill>
                <a:latin typeface="メイリオ"/>
              </a:rPr>
              <a:t>CZ・ポイント加速の抽選対象</a:t>
            </a:r>
          </a:p>
        </p:txBody>
      </p:sp>
      <p:sp>
        <p:nvSpPr>
          <p:cNvPr id="38" name="Rectangle 37"/>
          <p:cNvSpPr/>
          <p:nvPr/>
        </p:nvSpPr>
        <p:spPr>
          <a:xfrm>
            <a:off x="4572000" y="2303368"/>
            <a:ext cx="4297680" cy="680000"/>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0" y="2303368"/>
            <a:ext cx="35000" cy="68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27000" y="2353368"/>
            <a:ext cx="960120" cy="260000"/>
          </a:xfrm>
          <a:prstGeom prst="rect">
            <a:avLst/>
          </a:prstGeom>
          <a:noFill/>
        </p:spPr>
        <p:txBody>
          <a:bodyPr wrap="none">
            <a:spAutoFit/>
          </a:bodyPr>
          <a:lstStyle/>
          <a:p>
            <a:pPr algn="l"/>
            <a:r>
              <a:rPr sz="850" b="1">
                <a:solidFill>
                  <a:srgbClr val="FF6600"/>
                </a:solidFill>
                <a:latin typeface="メイリオ"/>
              </a:rPr>
              <a:t>スイカ</a:t>
            </a:r>
          </a:p>
        </p:txBody>
      </p:sp>
      <p:sp>
        <p:nvSpPr>
          <p:cNvPr id="41" name="TextBox 40"/>
          <p:cNvSpPr txBox="1"/>
          <p:nvPr/>
        </p:nvSpPr>
        <p:spPr>
          <a:xfrm>
            <a:off x="5587120" y="2358368"/>
            <a:ext cx="777240" cy="235000"/>
          </a:xfrm>
          <a:prstGeom prst="rect">
            <a:avLst/>
          </a:prstGeom>
          <a:noFill/>
        </p:spPr>
        <p:txBody>
          <a:bodyPr wrap="none">
            <a:spAutoFit/>
          </a:bodyPr>
          <a:lstStyle/>
          <a:p>
            <a:pPr algn="l"/>
            <a:r>
              <a:rPr sz="800" b="1">
                <a:solidFill>
                  <a:srgbClr val="FFDD55"/>
                </a:solidFill>
                <a:latin typeface="メイリオ"/>
              </a:rPr>
              <a:t>約1/80〜90</a:t>
            </a:r>
          </a:p>
        </p:txBody>
      </p:sp>
      <p:sp>
        <p:nvSpPr>
          <p:cNvPr id="42" name="TextBox 41"/>
          <p:cNvSpPr txBox="1"/>
          <p:nvPr/>
        </p:nvSpPr>
        <p:spPr>
          <a:xfrm>
            <a:off x="4627000" y="2608368"/>
            <a:ext cx="4237680" cy="320000"/>
          </a:xfrm>
          <a:prstGeom prst="rect">
            <a:avLst/>
          </a:prstGeom>
          <a:noFill/>
        </p:spPr>
        <p:txBody>
          <a:bodyPr wrap="square">
            <a:spAutoFit/>
          </a:bodyPr>
          <a:lstStyle/>
          <a:p>
            <a:pPr algn="l"/>
            <a:r>
              <a:rPr sz="750" b="0">
                <a:solidFill>
                  <a:srgbClr val="F2EEE0"/>
                </a:solidFill>
                <a:latin typeface="メイリオ"/>
              </a:rPr>
              <a:t>周期短縮・CZ直接突入の抽選対象</a:t>
            </a:r>
          </a:p>
        </p:txBody>
      </p:sp>
      <p:sp>
        <p:nvSpPr>
          <p:cNvPr id="43" name="Rectangle 42"/>
          <p:cNvSpPr/>
          <p:nvPr/>
        </p:nvSpPr>
        <p:spPr>
          <a:xfrm>
            <a:off x="4572000" y="2983368"/>
            <a:ext cx="4297680" cy="680000"/>
          </a:xfrm>
          <a:prstGeom prst="rect">
            <a:avLst/>
          </a:prstGeom>
          <a:solidFill>
            <a:srgbClr val="16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0" y="2983368"/>
            <a:ext cx="35000" cy="680000"/>
          </a:xfrm>
          <a:prstGeom prst="rect">
            <a:avLst/>
          </a:prstGeom>
          <a:solidFill>
            <a:srgbClr val="44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27000" y="3033368"/>
            <a:ext cx="960120" cy="260000"/>
          </a:xfrm>
          <a:prstGeom prst="rect">
            <a:avLst/>
          </a:prstGeom>
          <a:noFill/>
        </p:spPr>
        <p:txBody>
          <a:bodyPr wrap="none">
            <a:spAutoFit/>
          </a:bodyPr>
          <a:lstStyle/>
          <a:p>
            <a:pPr algn="l"/>
            <a:r>
              <a:rPr sz="850" b="1">
                <a:solidFill>
                  <a:srgbClr val="4499FF"/>
                </a:solidFill>
                <a:latin typeface="メイリオ"/>
              </a:rPr>
              <a:t>チャンス目</a:t>
            </a:r>
          </a:p>
        </p:txBody>
      </p:sp>
      <p:sp>
        <p:nvSpPr>
          <p:cNvPr id="46" name="TextBox 45"/>
          <p:cNvSpPr txBox="1"/>
          <p:nvPr/>
        </p:nvSpPr>
        <p:spPr>
          <a:xfrm>
            <a:off x="5587120" y="3038368"/>
            <a:ext cx="777240" cy="235000"/>
          </a:xfrm>
          <a:prstGeom prst="rect">
            <a:avLst/>
          </a:prstGeom>
          <a:noFill/>
        </p:spPr>
        <p:txBody>
          <a:bodyPr wrap="none">
            <a:spAutoFit/>
          </a:bodyPr>
          <a:lstStyle/>
          <a:p>
            <a:pPr algn="l"/>
            <a:r>
              <a:rPr sz="800" b="1">
                <a:solidFill>
                  <a:srgbClr val="FFDD55"/>
                </a:solidFill>
                <a:latin typeface="メイリオ"/>
              </a:rPr>
              <a:t>約1/100</a:t>
            </a:r>
          </a:p>
        </p:txBody>
      </p:sp>
      <p:sp>
        <p:nvSpPr>
          <p:cNvPr id="47" name="TextBox 46"/>
          <p:cNvSpPr txBox="1"/>
          <p:nvPr/>
        </p:nvSpPr>
        <p:spPr>
          <a:xfrm>
            <a:off x="4627000" y="3288368"/>
            <a:ext cx="4237680" cy="320000"/>
          </a:xfrm>
          <a:prstGeom prst="rect">
            <a:avLst/>
          </a:prstGeom>
          <a:noFill/>
        </p:spPr>
        <p:txBody>
          <a:bodyPr wrap="square">
            <a:spAutoFit/>
          </a:bodyPr>
          <a:lstStyle/>
          <a:p>
            <a:pPr algn="l"/>
            <a:r>
              <a:rPr sz="750" b="0">
                <a:solidFill>
                  <a:srgbClr val="F2EEE0"/>
                </a:solidFill>
                <a:latin typeface="メイリオ"/>
              </a:rPr>
              <a:t>CZ直接突入・AT直当り抽選対象</a:t>
            </a:r>
          </a:p>
        </p:txBody>
      </p:sp>
      <p:sp>
        <p:nvSpPr>
          <p:cNvPr id="48" name="Rectangle 47"/>
          <p:cNvSpPr/>
          <p:nvPr/>
        </p:nvSpPr>
        <p:spPr>
          <a:xfrm>
            <a:off x="4572000" y="3663368"/>
            <a:ext cx="4297680" cy="680000"/>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0" y="3663368"/>
            <a:ext cx="35000" cy="680000"/>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27000" y="3713368"/>
            <a:ext cx="960120" cy="260000"/>
          </a:xfrm>
          <a:prstGeom prst="rect">
            <a:avLst/>
          </a:prstGeom>
          <a:noFill/>
        </p:spPr>
        <p:txBody>
          <a:bodyPr wrap="none">
            <a:spAutoFit/>
          </a:bodyPr>
          <a:lstStyle/>
          <a:p>
            <a:pPr algn="l"/>
            <a:r>
              <a:rPr sz="850" b="1">
                <a:solidFill>
                  <a:srgbClr val="CCAA30"/>
                </a:solidFill>
                <a:latin typeface="メイリオ"/>
              </a:rPr>
              <a:t>卍目（強役）</a:t>
            </a:r>
          </a:p>
        </p:txBody>
      </p:sp>
      <p:sp>
        <p:nvSpPr>
          <p:cNvPr id="51" name="TextBox 50"/>
          <p:cNvSpPr txBox="1"/>
          <p:nvPr/>
        </p:nvSpPr>
        <p:spPr>
          <a:xfrm>
            <a:off x="5587120" y="3718368"/>
            <a:ext cx="777240" cy="235000"/>
          </a:xfrm>
          <a:prstGeom prst="rect">
            <a:avLst/>
          </a:prstGeom>
          <a:noFill/>
        </p:spPr>
        <p:txBody>
          <a:bodyPr wrap="none">
            <a:spAutoFit/>
          </a:bodyPr>
          <a:lstStyle/>
          <a:p>
            <a:pPr algn="l"/>
            <a:r>
              <a:rPr sz="800" b="1">
                <a:solidFill>
                  <a:srgbClr val="FFDD55"/>
                </a:solidFill>
                <a:latin typeface="メイリオ"/>
              </a:rPr>
              <a:t>約1/500+</a:t>
            </a:r>
          </a:p>
        </p:txBody>
      </p:sp>
      <p:sp>
        <p:nvSpPr>
          <p:cNvPr id="52" name="TextBox 51"/>
          <p:cNvSpPr txBox="1"/>
          <p:nvPr/>
        </p:nvSpPr>
        <p:spPr>
          <a:xfrm>
            <a:off x="4627000" y="3968368"/>
            <a:ext cx="4237680" cy="320000"/>
          </a:xfrm>
          <a:prstGeom prst="rect">
            <a:avLst/>
          </a:prstGeom>
          <a:noFill/>
        </p:spPr>
        <p:txBody>
          <a:bodyPr wrap="square">
            <a:spAutoFit/>
          </a:bodyPr>
          <a:lstStyle/>
          <a:p>
            <a:pPr algn="l"/>
            <a:r>
              <a:rPr sz="750" b="0">
                <a:solidFill>
                  <a:srgbClr val="F2EEE0"/>
                </a:solidFill>
                <a:latin typeface="メイリオ"/>
              </a:rPr>
              <a:t>AT当選or上位CZ直行の激アツ役</a:t>
            </a:r>
          </a:p>
        </p:txBody>
      </p:sp>
      <p:sp>
        <p:nvSpPr>
          <p:cNvPr id="53" name="Rectangle 52"/>
          <p:cNvSpPr/>
          <p:nvPr/>
        </p:nvSpPr>
        <p:spPr>
          <a:xfrm>
            <a:off x="4572000" y="4343368"/>
            <a:ext cx="4297680" cy="680000"/>
          </a:xfrm>
          <a:prstGeom prst="rect">
            <a:avLst/>
          </a:prstGeom>
          <a:solidFill>
            <a:srgbClr val="16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0" y="4343368"/>
            <a:ext cx="35000" cy="68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27000" y="4393368"/>
            <a:ext cx="960120" cy="260000"/>
          </a:xfrm>
          <a:prstGeom prst="rect">
            <a:avLst/>
          </a:prstGeom>
          <a:noFill/>
        </p:spPr>
        <p:txBody>
          <a:bodyPr wrap="none">
            <a:spAutoFit/>
          </a:bodyPr>
          <a:lstStyle/>
          <a:p>
            <a:pPr algn="l"/>
            <a:r>
              <a:rPr sz="850" b="1">
                <a:solidFill>
                  <a:srgbClr val="22CCDD"/>
                </a:solidFill>
                <a:latin typeface="メイリオ"/>
              </a:rPr>
              <a:t>レア役合算</a:t>
            </a:r>
          </a:p>
        </p:txBody>
      </p:sp>
      <p:sp>
        <p:nvSpPr>
          <p:cNvPr id="56" name="TextBox 55"/>
          <p:cNvSpPr txBox="1"/>
          <p:nvPr/>
        </p:nvSpPr>
        <p:spPr>
          <a:xfrm>
            <a:off x="5587120" y="4398368"/>
            <a:ext cx="777240" cy="235000"/>
          </a:xfrm>
          <a:prstGeom prst="rect">
            <a:avLst/>
          </a:prstGeom>
          <a:noFill/>
        </p:spPr>
        <p:txBody>
          <a:bodyPr wrap="none">
            <a:spAutoFit/>
          </a:bodyPr>
          <a:lstStyle/>
          <a:p>
            <a:pPr algn="l"/>
            <a:r>
              <a:rPr sz="800" b="1">
                <a:solidFill>
                  <a:srgbClr val="FFDD55"/>
                </a:solidFill>
                <a:latin typeface="メイリオ"/>
              </a:rPr>
              <a:t>約1/30前後</a:t>
            </a:r>
          </a:p>
        </p:txBody>
      </p:sp>
      <p:sp>
        <p:nvSpPr>
          <p:cNvPr id="57" name="TextBox 56"/>
          <p:cNvSpPr txBox="1"/>
          <p:nvPr/>
        </p:nvSpPr>
        <p:spPr>
          <a:xfrm>
            <a:off x="4627000" y="4648368"/>
            <a:ext cx="4237680" cy="320000"/>
          </a:xfrm>
          <a:prstGeom prst="rect">
            <a:avLst/>
          </a:prstGeom>
          <a:noFill/>
        </p:spPr>
        <p:txBody>
          <a:bodyPr wrap="square">
            <a:spAutoFit/>
          </a:bodyPr>
          <a:lstStyle/>
          <a:p>
            <a:pPr algn="l"/>
            <a:r>
              <a:rPr sz="750" b="0">
                <a:solidFill>
                  <a:srgbClr val="F2EEE0"/>
                </a:solidFill>
                <a:latin typeface="メイリオ"/>
              </a:rPr>
              <a:t>全体的なAT期待役のまとめ</a:t>
            </a:r>
          </a:p>
        </p:txBody>
      </p:sp>
      <p:sp>
        <p:nvSpPr>
          <p:cNvPr id="58" name="Rectangle 57"/>
          <p:cNvSpPr/>
          <p:nvPr/>
        </p:nvSpPr>
        <p:spPr>
          <a:xfrm>
            <a:off x="4572000" y="5038368"/>
            <a:ext cx="4297680" cy="540000"/>
          </a:xfrm>
          <a:prstGeom prst="rect">
            <a:avLst/>
          </a:prstGeom>
          <a:solidFill>
            <a:srgbClr val="1A1406"/>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32000" y="5088368"/>
            <a:ext cx="4217680" cy="195000"/>
          </a:xfrm>
          <a:prstGeom prst="rect">
            <a:avLst/>
          </a:prstGeom>
          <a:noFill/>
        </p:spPr>
        <p:txBody>
          <a:bodyPr wrap="square">
            <a:spAutoFit/>
          </a:bodyPr>
          <a:lstStyle/>
          <a:p>
            <a:pPr algn="l"/>
            <a:r>
              <a:rPr sz="850" b="1">
                <a:solidFill>
                  <a:srgbClr val="FF6600"/>
                </a:solidFill>
                <a:latin typeface="メイリオ"/>
              </a:rPr>
              <a:t>基本打ち方：通常時は順押しで消化</a:t>
            </a:r>
          </a:p>
        </p:txBody>
      </p:sp>
      <p:sp>
        <p:nvSpPr>
          <p:cNvPr id="60" name="TextBox 59"/>
          <p:cNvSpPr txBox="1"/>
          <p:nvPr/>
        </p:nvSpPr>
        <p:spPr>
          <a:xfrm>
            <a:off x="4632000" y="5293368"/>
            <a:ext cx="4217680" cy="260000"/>
          </a:xfrm>
          <a:prstGeom prst="rect">
            <a:avLst/>
          </a:prstGeom>
          <a:noFill/>
        </p:spPr>
        <p:txBody>
          <a:bodyPr wrap="square">
            <a:spAutoFit/>
          </a:bodyPr>
          <a:lstStyle/>
          <a:p>
            <a:pPr algn="l"/>
            <a:r>
              <a:rPr sz="750" b="0">
                <a:solidFill>
                  <a:srgbClr val="998870"/>
                </a:solidFill>
                <a:latin typeface="メイリオ"/>
              </a:rPr>
              <a:t>AT中は押し順ナビに従う。卍目成立時は特に注意。</a:t>
            </a:r>
          </a:p>
        </p:txBody>
      </p:sp>
      <p:sp>
        <p:nvSpPr>
          <p:cNvPr id="61" name="TextBox 60"/>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62" name="Rectangle 61"/>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通常時の基本戦略：天井①（6周期）到達を軸に管理し、稀咲陰謀（成功75%）突入時は大チャンスと認識する</a:t>
            </a:r>
          </a:p>
        </p:txBody>
      </p:sp>
      <p:sp>
        <p:nvSpPr>
          <p:cNvPr id="65" name="TextBox 64"/>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東卍アクセルはポイント加速の重要エンジン。発生時は必ず継続を狙う5Gプレイを意識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CZ/前兆の仕組み ── 不良バトル演出×タイムリープ要素の絡み</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4/9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280000"/>
          </a:xfrm>
          <a:prstGeom prst="rect">
            <a:avLst/>
          </a:prstGeom>
          <a:solidFill>
            <a:srgbClr val="502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15000"/>
          </a:xfrm>
          <a:prstGeom prst="rect">
            <a:avLst/>
          </a:prstGeom>
          <a:noFill/>
        </p:spPr>
        <p:txBody>
          <a:bodyPr wrap="square">
            <a:spAutoFit/>
          </a:bodyPr>
          <a:lstStyle/>
          <a:p>
            <a:pPr algn="l"/>
            <a:r>
              <a:rPr sz="1000" b="1">
                <a:solidFill>
                  <a:srgbClr val="FF6600"/>
                </a:solidFill>
                <a:latin typeface="メイリオ"/>
              </a:rPr>
              <a:t>CZ（チャンスゾーン）の2種類と仕組み</a:t>
            </a:r>
          </a:p>
        </p:txBody>
      </p:sp>
      <p:sp>
        <p:nvSpPr>
          <p:cNvPr id="10" name="Rectangle 9"/>
          <p:cNvSpPr/>
          <p:nvPr/>
        </p:nvSpPr>
        <p:spPr>
          <a:xfrm>
            <a:off x="256032" y="938368"/>
            <a:ext cx="4160520" cy="1390000"/>
          </a:xfrm>
          <a:prstGeom prst="rect">
            <a:avLst/>
          </a:prstGeom>
          <a:solidFill>
            <a:srgbClr val="120E04"/>
          </a:solidFill>
          <a:ln w="19050">
            <a:solidFill>
              <a:srgbClr val="FF8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38368"/>
            <a:ext cx="45000" cy="1390000"/>
          </a:xfrm>
          <a:prstGeom prst="rect">
            <a:avLst/>
          </a:prstGeom>
          <a:solidFill>
            <a:srgbClr val="FF8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988368"/>
            <a:ext cx="4060520" cy="270000"/>
          </a:xfrm>
          <a:prstGeom prst="rect">
            <a:avLst/>
          </a:prstGeom>
          <a:noFill/>
        </p:spPr>
        <p:txBody>
          <a:bodyPr wrap="square">
            <a:spAutoFit/>
          </a:bodyPr>
          <a:lstStyle/>
          <a:p>
            <a:pPr algn="l"/>
            <a:r>
              <a:rPr sz="950" b="1">
                <a:solidFill>
                  <a:srgbClr val="FF8822"/>
                </a:solidFill>
                <a:latin typeface="游明朝"/>
              </a:rPr>
              <a:t>ミッドナイトモード（通常CZ）</a:t>
            </a:r>
          </a:p>
        </p:txBody>
      </p:sp>
      <p:sp>
        <p:nvSpPr>
          <p:cNvPr id="13" name="TextBox 12"/>
          <p:cNvSpPr txBox="1"/>
          <p:nvPr/>
        </p:nvSpPr>
        <p:spPr>
          <a:xfrm>
            <a:off x="331032" y="1268368"/>
            <a:ext cx="4060520" cy="950000"/>
          </a:xfrm>
          <a:prstGeom prst="rect">
            <a:avLst/>
          </a:prstGeom>
          <a:noFill/>
        </p:spPr>
        <p:txBody>
          <a:bodyPr wrap="square">
            <a:spAutoFit/>
          </a:bodyPr>
          <a:lstStyle/>
          <a:p>
            <a:pPr algn="l"/>
            <a:r>
              <a:rPr sz="800" b="0">
                <a:solidFill>
                  <a:srgbClr val="F2EEE0"/>
                </a:solidFill>
                <a:latin typeface="メイリオ"/>
              </a:rPr>
              <a:t>成功期待度：約50%
フリーズ発生で成功濃厚。
消化中は不良バトル演出が展開。
負けると通常時に戻るが再チャレンジあり。
成功→東卍RUSH（AT）当選ほぼ確定。</a:t>
            </a:r>
          </a:p>
        </p:txBody>
      </p:sp>
      <p:sp>
        <p:nvSpPr>
          <p:cNvPr id="14" name="Rectangle 13"/>
          <p:cNvSpPr/>
          <p:nvPr/>
        </p:nvSpPr>
        <p:spPr>
          <a:xfrm>
            <a:off x="256032" y="2398368"/>
            <a:ext cx="4160520" cy="1390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398368"/>
            <a:ext cx="45000" cy="139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448368"/>
            <a:ext cx="4060520" cy="270000"/>
          </a:xfrm>
          <a:prstGeom prst="rect">
            <a:avLst/>
          </a:prstGeom>
          <a:noFill/>
        </p:spPr>
        <p:txBody>
          <a:bodyPr wrap="square">
            <a:spAutoFit/>
          </a:bodyPr>
          <a:lstStyle/>
          <a:p>
            <a:pPr algn="l"/>
            <a:r>
              <a:rPr sz="950" b="1">
                <a:solidFill>
                  <a:srgbClr val="FF6600"/>
                </a:solidFill>
                <a:latin typeface="游明朝"/>
              </a:rPr>
              <a:t>稀咲陰謀（上位CZ）</a:t>
            </a:r>
          </a:p>
        </p:txBody>
      </p:sp>
      <p:sp>
        <p:nvSpPr>
          <p:cNvPr id="17" name="TextBox 16"/>
          <p:cNvSpPr txBox="1"/>
          <p:nvPr/>
        </p:nvSpPr>
        <p:spPr>
          <a:xfrm>
            <a:off x="331032" y="2728368"/>
            <a:ext cx="4060520" cy="950000"/>
          </a:xfrm>
          <a:prstGeom prst="rect">
            <a:avLst/>
          </a:prstGeom>
          <a:noFill/>
        </p:spPr>
        <p:txBody>
          <a:bodyPr wrap="square">
            <a:spAutoFit/>
          </a:bodyPr>
          <a:lstStyle/>
          <a:p>
            <a:pPr algn="l"/>
            <a:r>
              <a:rPr sz="800" b="0">
                <a:solidFill>
                  <a:srgbClr val="F2EEE0"/>
                </a:solidFill>
                <a:latin typeface="メイリオ"/>
              </a:rPr>
              <a:t>成功期待度：約75%
敵サイドの黒幕・稀咲鈴次が登場する
上位チャンスゾーン。
突入だけで大チャンス状態。
成功で東卍RUSH確定級の扱い。</a:t>
            </a:r>
          </a:p>
        </p:txBody>
      </p:sp>
      <p:sp>
        <p:nvSpPr>
          <p:cNvPr id="18" name="Rectangle 17"/>
          <p:cNvSpPr/>
          <p:nvPr/>
        </p:nvSpPr>
        <p:spPr>
          <a:xfrm>
            <a:off x="256032" y="3858368"/>
            <a:ext cx="4160520" cy="1390000"/>
          </a:xfrm>
          <a:prstGeom prst="rect">
            <a:avLst/>
          </a:prstGeom>
          <a:solidFill>
            <a:srgbClr val="120E0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858368"/>
            <a:ext cx="45000" cy="1390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908368"/>
            <a:ext cx="4060520" cy="270000"/>
          </a:xfrm>
          <a:prstGeom prst="rect">
            <a:avLst/>
          </a:prstGeom>
          <a:noFill/>
        </p:spPr>
        <p:txBody>
          <a:bodyPr wrap="square">
            <a:spAutoFit/>
          </a:bodyPr>
          <a:lstStyle/>
          <a:p>
            <a:pPr algn="l"/>
            <a:r>
              <a:rPr sz="950" b="1">
                <a:solidFill>
                  <a:srgbClr val="2266CC"/>
                </a:solidFill>
                <a:latin typeface="游明朝"/>
              </a:rPr>
              <a:t>前兆「決戦前夜」</a:t>
            </a:r>
          </a:p>
        </p:txBody>
      </p:sp>
      <p:sp>
        <p:nvSpPr>
          <p:cNvPr id="21" name="TextBox 20"/>
          <p:cNvSpPr txBox="1"/>
          <p:nvPr/>
        </p:nvSpPr>
        <p:spPr>
          <a:xfrm>
            <a:off x="331032" y="4188368"/>
            <a:ext cx="4060520" cy="950000"/>
          </a:xfrm>
          <a:prstGeom prst="rect">
            <a:avLst/>
          </a:prstGeom>
          <a:noFill/>
        </p:spPr>
        <p:txBody>
          <a:bodyPr wrap="square">
            <a:spAutoFit/>
          </a:bodyPr>
          <a:lstStyle/>
          <a:p>
            <a:pPr algn="l"/>
            <a:r>
              <a:rPr sz="800" b="0">
                <a:solidFill>
                  <a:srgbClr val="F2EEE0"/>
                </a:solidFill>
                <a:latin typeface="メイリオ"/>
              </a:rPr>
              <a:t>周期到達後に発生する前兆ステージ。
東京卍會の結成・決戦エピソードが展開。
原作の"決戦前夜"シーンを再現した演出で
ATへの期待感を煽る。
前兆中のレア役でAT期待度UP。</a:t>
            </a:r>
          </a:p>
        </p:txBody>
      </p:sp>
      <p:sp>
        <p:nvSpPr>
          <p:cNvPr id="22" name="Rectangle 21"/>
          <p:cNvSpPr/>
          <p:nvPr/>
        </p:nvSpPr>
        <p:spPr>
          <a:xfrm>
            <a:off x="4572000" y="658368"/>
            <a:ext cx="4297680" cy="280000"/>
          </a:xfrm>
          <a:prstGeom prst="rect">
            <a:avLst/>
          </a:prstGeom>
          <a:solidFill>
            <a:srgbClr val="102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2000" y="713368"/>
            <a:ext cx="4217680" cy="215000"/>
          </a:xfrm>
          <a:prstGeom prst="rect">
            <a:avLst/>
          </a:prstGeom>
          <a:noFill/>
        </p:spPr>
        <p:txBody>
          <a:bodyPr wrap="square">
            <a:spAutoFit/>
          </a:bodyPr>
          <a:lstStyle/>
          <a:p>
            <a:pPr algn="l"/>
            <a:r>
              <a:rPr sz="1000" b="1">
                <a:solidFill>
                  <a:srgbClr val="4499FF"/>
                </a:solidFill>
                <a:latin typeface="メイリオ"/>
              </a:rPr>
              <a:t>タイムリープ演出設計：原作要素とパチスロの融合</a:t>
            </a:r>
          </a:p>
        </p:txBody>
      </p:sp>
      <p:sp>
        <p:nvSpPr>
          <p:cNvPr id="24" name="Rectangle 23"/>
          <p:cNvSpPr/>
          <p:nvPr/>
        </p:nvSpPr>
        <p:spPr>
          <a:xfrm>
            <a:off x="4572000" y="938368"/>
            <a:ext cx="4297680" cy="1375000"/>
          </a:xfrm>
          <a:prstGeom prst="rect">
            <a:avLst/>
          </a:prstGeom>
          <a:solidFill>
            <a:srgbClr val="120E0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938368"/>
            <a:ext cx="40000" cy="1375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2000" y="988368"/>
            <a:ext cx="4207680" cy="270000"/>
          </a:xfrm>
          <a:prstGeom prst="rect">
            <a:avLst/>
          </a:prstGeom>
          <a:noFill/>
        </p:spPr>
        <p:txBody>
          <a:bodyPr wrap="square">
            <a:spAutoFit/>
          </a:bodyPr>
          <a:lstStyle/>
          <a:p>
            <a:pPr algn="l"/>
            <a:r>
              <a:rPr sz="900" b="1">
                <a:solidFill>
                  <a:srgbClr val="2266CC"/>
                </a:solidFill>
                <a:latin typeface="メイリオ"/>
              </a:rPr>
              <a:t>タイムリープ演出の役割</a:t>
            </a:r>
          </a:p>
        </p:txBody>
      </p:sp>
      <p:sp>
        <p:nvSpPr>
          <p:cNvPr id="27" name="TextBox 26"/>
          <p:cNvSpPr txBox="1"/>
          <p:nvPr/>
        </p:nvSpPr>
        <p:spPr>
          <a:xfrm>
            <a:off x="4642000" y="1268368"/>
            <a:ext cx="4207680" cy="920000"/>
          </a:xfrm>
          <a:prstGeom prst="rect">
            <a:avLst/>
          </a:prstGeom>
          <a:noFill/>
        </p:spPr>
        <p:txBody>
          <a:bodyPr wrap="square">
            <a:spAutoFit/>
          </a:bodyPr>
          <a:lstStyle/>
          <a:p>
            <a:pPr algn="l"/>
            <a:r>
              <a:rPr sz="800" b="0">
                <a:solidFill>
                  <a:srgbClr val="F2EEE0"/>
                </a:solidFill>
                <a:latin typeface="メイリオ"/>
              </a:rPr>
              <a:t>原作主人公・花垣武道が過去に戻って
"最悪の未来"を変えようとする物語を
「AT再挑戦」「CZ再突入」という
パチスロ演出に落とし込み。
負けても"もう一度過去に戻る"演出が入り
リトライ演出の納得感を高める。</a:t>
            </a:r>
          </a:p>
        </p:txBody>
      </p:sp>
      <p:sp>
        <p:nvSpPr>
          <p:cNvPr id="28" name="Rectangle 27"/>
          <p:cNvSpPr/>
          <p:nvPr/>
        </p:nvSpPr>
        <p:spPr>
          <a:xfrm>
            <a:off x="4572000" y="2383368"/>
            <a:ext cx="4297680" cy="1375000"/>
          </a:xfrm>
          <a:prstGeom prst="rect">
            <a:avLst/>
          </a:prstGeom>
          <a:solidFill>
            <a:srgbClr val="120E04"/>
          </a:solidFill>
          <a:ln w="19050">
            <a:solidFill>
              <a:srgbClr val="44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2383368"/>
            <a:ext cx="40000" cy="1375000"/>
          </a:xfrm>
          <a:prstGeom prst="rect">
            <a:avLst/>
          </a:prstGeom>
          <a:solidFill>
            <a:srgbClr val="44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2000" y="2433368"/>
            <a:ext cx="4207680" cy="270000"/>
          </a:xfrm>
          <a:prstGeom prst="rect">
            <a:avLst/>
          </a:prstGeom>
          <a:noFill/>
        </p:spPr>
        <p:txBody>
          <a:bodyPr wrap="square">
            <a:spAutoFit/>
          </a:bodyPr>
          <a:lstStyle/>
          <a:p>
            <a:pPr algn="l"/>
            <a:r>
              <a:rPr sz="900" b="1">
                <a:solidFill>
                  <a:srgbClr val="4499FF"/>
                </a:solidFill>
                <a:latin typeface="メイリオ"/>
              </a:rPr>
              <a:t>不良バトル演出（東卍 vs 芭流覇羅など）</a:t>
            </a:r>
          </a:p>
        </p:txBody>
      </p:sp>
      <p:sp>
        <p:nvSpPr>
          <p:cNvPr id="31" name="TextBox 30"/>
          <p:cNvSpPr txBox="1"/>
          <p:nvPr/>
        </p:nvSpPr>
        <p:spPr>
          <a:xfrm>
            <a:off x="4642000" y="2713368"/>
            <a:ext cx="4207680" cy="920000"/>
          </a:xfrm>
          <a:prstGeom prst="rect">
            <a:avLst/>
          </a:prstGeom>
          <a:noFill/>
        </p:spPr>
        <p:txBody>
          <a:bodyPr wrap="square">
            <a:spAutoFit/>
          </a:bodyPr>
          <a:lstStyle/>
          <a:p>
            <a:pPr algn="l"/>
            <a:r>
              <a:rPr sz="800" b="0">
                <a:solidFill>
                  <a:srgbClr val="F2EEE0"/>
                </a:solidFill>
                <a:latin typeface="メイリオ"/>
              </a:rPr>
              <a:t>東京卍會（東卍）と敵対勢力とのバトルが
CZ・AT中の成否演出に使用される。
バトルに勝つ=CZ成功/AT継続の直感演出。
原作ファンは登場キャラへの感情移入で
盛り上がりが倍増する設計。</a:t>
            </a:r>
          </a:p>
        </p:txBody>
      </p:sp>
      <p:sp>
        <p:nvSpPr>
          <p:cNvPr id="32" name="Rectangle 31"/>
          <p:cNvSpPr/>
          <p:nvPr/>
        </p:nvSpPr>
        <p:spPr>
          <a:xfrm>
            <a:off x="4572000" y="3828368"/>
            <a:ext cx="4297680" cy="1375000"/>
          </a:xfrm>
          <a:prstGeom prst="rect">
            <a:avLst/>
          </a:prstGeom>
          <a:solidFill>
            <a:srgbClr val="120E04"/>
          </a:solidFill>
          <a:ln w="1905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3828368"/>
            <a:ext cx="40000" cy="1375000"/>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2000" y="3878368"/>
            <a:ext cx="4207680" cy="270000"/>
          </a:xfrm>
          <a:prstGeom prst="rect">
            <a:avLst/>
          </a:prstGeom>
          <a:noFill/>
        </p:spPr>
        <p:txBody>
          <a:bodyPr wrap="square">
            <a:spAutoFit/>
          </a:bodyPr>
          <a:lstStyle/>
          <a:p>
            <a:pPr algn="l"/>
            <a:r>
              <a:rPr sz="900" b="1">
                <a:solidFill>
                  <a:srgbClr val="CCAA30"/>
                </a:solidFill>
                <a:latin typeface="メイリオ"/>
              </a:rPr>
              <a:t>演出と数値の対応（信頼度設計）</a:t>
            </a:r>
          </a:p>
        </p:txBody>
      </p:sp>
      <p:sp>
        <p:nvSpPr>
          <p:cNvPr id="35" name="TextBox 34"/>
          <p:cNvSpPr txBox="1"/>
          <p:nvPr/>
        </p:nvSpPr>
        <p:spPr>
          <a:xfrm>
            <a:off x="4642000" y="4158368"/>
            <a:ext cx="4207680" cy="920000"/>
          </a:xfrm>
          <a:prstGeom prst="rect">
            <a:avLst/>
          </a:prstGeom>
          <a:noFill/>
        </p:spPr>
        <p:txBody>
          <a:bodyPr wrap="square">
            <a:spAutoFit/>
          </a:bodyPr>
          <a:lstStyle/>
          <a:p>
            <a:pPr algn="l"/>
            <a:r>
              <a:rPr sz="800" b="0">
                <a:solidFill>
                  <a:srgbClr val="F2EEE0"/>
                </a:solidFill>
                <a:latin typeface="メイリオ"/>
              </a:rPr>
              <a:t>バトル演出の激しさ・参戦キャラで
CZ成功期待度が変化。
マイキー（佐野万次郎）登場→最高峰期待度。
演出のキャラ格順＝数値期待度順に揃えた
直感的UX設計が本機の強み。</a:t>
            </a:r>
          </a:p>
        </p:txBody>
      </p:sp>
      <p:sp>
        <p:nvSpPr>
          <p:cNvPr id="36" name="TextBox 35"/>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37" name="Rectangle 36"/>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CZ設計の核心：2段階CZ（50%・75%）で「チャンス→大チャンス」の段階的期待感を演出。稀咲出現が最大の盛り上がり</a:t>
            </a:r>
          </a:p>
        </p:txBody>
      </p:sp>
      <p:sp>
        <p:nvSpPr>
          <p:cNvPr id="40" name="TextBox 39"/>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タイムリープ演出を「再挑戦の納得感」に転用した点が原作愛・ゲーム性両立の好例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AT「東卍RUSH」中の仕組み ── 出玉が伸びるメカニズム</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5/9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280000"/>
          </a:xfrm>
          <a:prstGeom prst="rect">
            <a:avLst/>
          </a:prstGeom>
          <a:solidFill>
            <a:srgbClr val="502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15000"/>
          </a:xfrm>
          <a:prstGeom prst="rect">
            <a:avLst/>
          </a:prstGeom>
          <a:noFill/>
        </p:spPr>
        <p:txBody>
          <a:bodyPr wrap="square">
            <a:spAutoFit/>
          </a:bodyPr>
          <a:lstStyle/>
          <a:p>
            <a:pPr algn="l"/>
            <a:r>
              <a:rPr sz="1000" b="1">
                <a:solidFill>
                  <a:srgbClr val="FF6600"/>
                </a:solidFill>
                <a:latin typeface="メイリオ"/>
              </a:rPr>
              <a:t>東卍RUSH（AT）中の上乗せフロー</a:t>
            </a:r>
          </a:p>
        </p:txBody>
      </p:sp>
      <p:sp>
        <p:nvSpPr>
          <p:cNvPr id="10" name="Rectangle 9"/>
          <p:cNvSpPr/>
          <p:nvPr/>
        </p:nvSpPr>
        <p:spPr>
          <a:xfrm>
            <a:off x="256032" y="938368"/>
            <a:ext cx="4160520" cy="1080000"/>
          </a:xfrm>
          <a:prstGeom prst="rect">
            <a:avLst/>
          </a:prstGeom>
          <a:solidFill>
            <a:srgbClr val="120E04"/>
          </a:solidFill>
          <a:ln w="1905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38368"/>
            <a:ext cx="45000" cy="1080000"/>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986368"/>
            <a:ext cx="4060520" cy="265000"/>
          </a:xfrm>
          <a:prstGeom prst="rect">
            <a:avLst/>
          </a:prstGeom>
          <a:noFill/>
        </p:spPr>
        <p:txBody>
          <a:bodyPr wrap="square">
            <a:spAutoFit/>
          </a:bodyPr>
          <a:lstStyle/>
          <a:p>
            <a:pPr algn="l"/>
            <a:r>
              <a:rPr sz="900" b="1">
                <a:solidFill>
                  <a:srgbClr val="CCAA30"/>
                </a:solidFill>
                <a:latin typeface="メイリオ"/>
              </a:rPr>
              <a:t>BREAK CHANCE（初期枚数決定）</a:t>
            </a:r>
          </a:p>
        </p:txBody>
      </p:sp>
      <p:sp>
        <p:nvSpPr>
          <p:cNvPr id="13" name="TextBox 12"/>
          <p:cNvSpPr txBox="1"/>
          <p:nvPr/>
        </p:nvSpPr>
        <p:spPr>
          <a:xfrm>
            <a:off x="331032" y="1253368"/>
            <a:ext cx="4060520" cy="680000"/>
          </a:xfrm>
          <a:prstGeom prst="rect">
            <a:avLst/>
          </a:prstGeom>
          <a:noFill/>
        </p:spPr>
        <p:txBody>
          <a:bodyPr wrap="square">
            <a:spAutoFit/>
          </a:bodyPr>
          <a:lstStyle/>
          <a:p>
            <a:pPr algn="l"/>
            <a:r>
              <a:rPr sz="750" b="0">
                <a:solidFill>
                  <a:srgbClr val="F2EEE0"/>
                </a:solidFill>
                <a:latin typeface="メイリオ"/>
              </a:rPr>
              <a:t>AT初当り時に「BREAK CHANCE」で
初期差枚数（上乗せスタート枚数）を決定。
初期枚数次第で序盤の資産が変わる。
多いほど以降の展開が余裕になる。</a:t>
            </a:r>
          </a:p>
        </p:txBody>
      </p:sp>
      <p:sp>
        <p:nvSpPr>
          <p:cNvPr id="14" name="Rectangle 13"/>
          <p:cNvSpPr/>
          <p:nvPr/>
        </p:nvSpPr>
        <p:spPr>
          <a:xfrm>
            <a:off x="256032" y="2083368"/>
            <a:ext cx="4160520" cy="1080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083368"/>
            <a:ext cx="45000" cy="108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131368"/>
            <a:ext cx="4060520" cy="265000"/>
          </a:xfrm>
          <a:prstGeom prst="rect">
            <a:avLst/>
          </a:prstGeom>
          <a:noFill/>
        </p:spPr>
        <p:txBody>
          <a:bodyPr wrap="square">
            <a:spAutoFit/>
          </a:bodyPr>
          <a:lstStyle/>
          <a:p>
            <a:pPr algn="l"/>
            <a:r>
              <a:rPr sz="900" b="1">
                <a:solidFill>
                  <a:srgbClr val="FF6600"/>
                </a:solidFill>
                <a:latin typeface="メイリオ"/>
              </a:rPr>
              <a:t>東卍ATTACK（規定ポイント到達で発生）</a:t>
            </a:r>
          </a:p>
        </p:txBody>
      </p:sp>
      <p:sp>
        <p:nvSpPr>
          <p:cNvPr id="17" name="TextBox 16"/>
          <p:cNvSpPr txBox="1"/>
          <p:nvPr/>
        </p:nvSpPr>
        <p:spPr>
          <a:xfrm>
            <a:off x="331032" y="2398368"/>
            <a:ext cx="4060520" cy="680000"/>
          </a:xfrm>
          <a:prstGeom prst="rect">
            <a:avLst/>
          </a:prstGeom>
          <a:noFill/>
        </p:spPr>
        <p:txBody>
          <a:bodyPr wrap="square">
            <a:spAutoFit/>
          </a:bodyPr>
          <a:lstStyle/>
          <a:p>
            <a:pPr algn="l"/>
            <a:r>
              <a:rPr sz="750" b="0">
                <a:solidFill>
                  <a:srgbClr val="F2EEE0"/>
                </a:solidFill>
                <a:latin typeface="メイリオ"/>
              </a:rPr>
              <a:t>AT消化中に規定ポイント到達で東卍ATTACK。
バトルに勝利→差枚数上乗せ or 特化ゾーン獲得。
レア役成立でポイント加速。
負けても消えず次の戦いへ継続。</a:t>
            </a:r>
          </a:p>
        </p:txBody>
      </p:sp>
      <p:sp>
        <p:nvSpPr>
          <p:cNvPr id="18" name="Rectangle 17"/>
          <p:cNvSpPr/>
          <p:nvPr/>
        </p:nvSpPr>
        <p:spPr>
          <a:xfrm>
            <a:off x="256032" y="3228368"/>
            <a:ext cx="4160520" cy="1080000"/>
          </a:xfrm>
          <a:prstGeom prst="rect">
            <a:avLst/>
          </a:prstGeom>
          <a:solidFill>
            <a:srgbClr val="120E0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228368"/>
            <a:ext cx="45000" cy="1080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276368"/>
            <a:ext cx="4060520" cy="265000"/>
          </a:xfrm>
          <a:prstGeom prst="rect">
            <a:avLst/>
          </a:prstGeom>
          <a:noFill/>
        </p:spPr>
        <p:txBody>
          <a:bodyPr wrap="square">
            <a:spAutoFit/>
          </a:bodyPr>
          <a:lstStyle/>
          <a:p>
            <a:pPr algn="l"/>
            <a:r>
              <a:rPr sz="900" b="1">
                <a:solidFill>
                  <a:srgbClr val="2266CC"/>
                </a:solidFill>
                <a:latin typeface="メイリオ"/>
              </a:rPr>
              <a:t>LEAP上乗せ（レア役連続で昇格）</a:t>
            </a:r>
          </a:p>
        </p:txBody>
      </p:sp>
      <p:sp>
        <p:nvSpPr>
          <p:cNvPr id="21" name="TextBox 20"/>
          <p:cNvSpPr txBox="1"/>
          <p:nvPr/>
        </p:nvSpPr>
        <p:spPr>
          <a:xfrm>
            <a:off x="331032" y="3543368"/>
            <a:ext cx="4060520" cy="680000"/>
          </a:xfrm>
          <a:prstGeom prst="rect">
            <a:avLst/>
          </a:prstGeom>
          <a:noFill/>
        </p:spPr>
        <p:txBody>
          <a:bodyPr wrap="square">
            <a:spAutoFit/>
          </a:bodyPr>
          <a:lstStyle/>
          <a:p>
            <a:pPr algn="l"/>
            <a:r>
              <a:rPr sz="750" b="0">
                <a:solidFill>
                  <a:srgbClr val="F2EEE0"/>
                </a:solidFill>
                <a:latin typeface="メイリオ"/>
              </a:rPr>
              <a:t>次Gに再度レア役成立でLEAP上乗せに昇格。
通常上乗せより大幅アップ（3桁上乗せも）。
「日和ってループ」発生の可能性もあり
連続引き時は最大の期待タイミング。</a:t>
            </a:r>
          </a:p>
        </p:txBody>
      </p:sp>
      <p:sp>
        <p:nvSpPr>
          <p:cNvPr id="22" name="Rectangle 21"/>
          <p:cNvSpPr/>
          <p:nvPr/>
        </p:nvSpPr>
        <p:spPr>
          <a:xfrm>
            <a:off x="256032" y="4373368"/>
            <a:ext cx="4160520" cy="1080000"/>
          </a:xfrm>
          <a:prstGeom prst="rect">
            <a:avLst/>
          </a:prstGeom>
          <a:solidFill>
            <a:srgbClr val="120E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 y="4373368"/>
            <a:ext cx="45000" cy="108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032" y="4421368"/>
            <a:ext cx="4060520" cy="265000"/>
          </a:xfrm>
          <a:prstGeom prst="rect">
            <a:avLst/>
          </a:prstGeom>
          <a:noFill/>
        </p:spPr>
        <p:txBody>
          <a:bodyPr wrap="square">
            <a:spAutoFit/>
          </a:bodyPr>
          <a:lstStyle/>
          <a:p>
            <a:pPr algn="l"/>
            <a:r>
              <a:rPr sz="900" b="1">
                <a:solidFill>
                  <a:srgbClr val="22CCDD"/>
                </a:solidFill>
                <a:latin typeface="メイリオ"/>
              </a:rPr>
              <a:t>黒い衝動（特化ゾーン：100枚以上保証）</a:t>
            </a:r>
          </a:p>
        </p:txBody>
      </p:sp>
      <p:sp>
        <p:nvSpPr>
          <p:cNvPr id="25" name="TextBox 24"/>
          <p:cNvSpPr txBox="1"/>
          <p:nvPr/>
        </p:nvSpPr>
        <p:spPr>
          <a:xfrm>
            <a:off x="331032" y="4688368"/>
            <a:ext cx="4060520" cy="680000"/>
          </a:xfrm>
          <a:prstGeom prst="rect">
            <a:avLst/>
          </a:prstGeom>
          <a:noFill/>
        </p:spPr>
        <p:txBody>
          <a:bodyPr wrap="square">
            <a:spAutoFit/>
          </a:bodyPr>
          <a:lstStyle/>
          <a:p>
            <a:pPr algn="l"/>
            <a:r>
              <a:rPr sz="750" b="0">
                <a:solidFill>
                  <a:srgbClr val="F2EEE0"/>
                </a:solidFill>
                <a:latin typeface="メイリオ"/>
              </a:rPr>
              <a:t>5G+α継続のST型特化ゾーン。
1上乗せあたり100枚以上確定。
上乗せ当選時はSTのG数がリセット。
通常AT中の最大瞬発力ゾーン。</a:t>
            </a:r>
          </a:p>
        </p:txBody>
      </p:sp>
      <p:sp>
        <p:nvSpPr>
          <p:cNvPr id="26" name="Rectangle 25"/>
          <p:cNvSpPr/>
          <p:nvPr/>
        </p:nvSpPr>
        <p:spPr>
          <a:xfrm>
            <a:off x="4572000" y="658368"/>
            <a:ext cx="4297680" cy="280000"/>
          </a:xfrm>
          <a:prstGeom prst="rect">
            <a:avLst/>
          </a:prstGeom>
          <a:solidFill>
            <a:srgbClr val="502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000" y="713368"/>
            <a:ext cx="4217680" cy="215000"/>
          </a:xfrm>
          <a:prstGeom prst="rect">
            <a:avLst/>
          </a:prstGeom>
          <a:noFill/>
        </p:spPr>
        <p:txBody>
          <a:bodyPr wrap="square">
            <a:spAutoFit/>
          </a:bodyPr>
          <a:lstStyle/>
          <a:p>
            <a:pPr algn="l"/>
            <a:r>
              <a:rPr sz="1000" b="1">
                <a:solidFill>
                  <a:srgbClr val="FF6600"/>
                </a:solidFill>
                <a:latin typeface="メイリオ"/>
              </a:rPr>
              <a:t>上乗せ種類・期待枚数・発生条件の早見表</a:t>
            </a:r>
          </a:p>
        </p:txBody>
      </p:sp>
      <p:sp>
        <p:nvSpPr>
          <p:cNvPr id="28" name="Rectangle 27"/>
          <p:cNvSpPr/>
          <p:nvPr/>
        </p:nvSpPr>
        <p:spPr>
          <a:xfrm>
            <a:off x="4572000" y="938368"/>
            <a:ext cx="4297680" cy="710000"/>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938368"/>
            <a:ext cx="32000" cy="710000"/>
          </a:xfrm>
          <a:prstGeom prst="rect">
            <a:avLst/>
          </a:prstGeom>
          <a:solidFill>
            <a:srgbClr val="998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4000" y="990368"/>
            <a:ext cx="1051560" cy="260000"/>
          </a:xfrm>
          <a:prstGeom prst="rect">
            <a:avLst/>
          </a:prstGeom>
          <a:noFill/>
        </p:spPr>
        <p:txBody>
          <a:bodyPr wrap="none">
            <a:spAutoFit/>
          </a:bodyPr>
          <a:lstStyle/>
          <a:p>
            <a:pPr algn="l"/>
            <a:r>
              <a:rPr sz="850" b="1">
                <a:solidFill>
                  <a:srgbClr val="998870"/>
                </a:solidFill>
                <a:latin typeface="メイリオ"/>
              </a:rPr>
              <a:t>通常上乗せ</a:t>
            </a:r>
          </a:p>
        </p:txBody>
      </p:sp>
      <p:sp>
        <p:nvSpPr>
          <p:cNvPr id="31" name="TextBox 30"/>
          <p:cNvSpPr txBox="1"/>
          <p:nvPr/>
        </p:nvSpPr>
        <p:spPr>
          <a:xfrm>
            <a:off x="5675560" y="990368"/>
            <a:ext cx="1005840" cy="260000"/>
          </a:xfrm>
          <a:prstGeom prst="rect">
            <a:avLst/>
          </a:prstGeom>
          <a:noFill/>
        </p:spPr>
        <p:txBody>
          <a:bodyPr wrap="none">
            <a:spAutoFit/>
          </a:bodyPr>
          <a:lstStyle/>
          <a:p>
            <a:pPr algn="l"/>
            <a:r>
              <a:rPr sz="800" b="1">
                <a:solidFill>
                  <a:srgbClr val="FFDD55"/>
                </a:solidFill>
                <a:latin typeface="メイリオ"/>
              </a:rPr>
              <a:t>10〜99枚</a:t>
            </a:r>
          </a:p>
        </p:txBody>
      </p:sp>
      <p:sp>
        <p:nvSpPr>
          <p:cNvPr id="32" name="TextBox 31"/>
          <p:cNvSpPr txBox="1"/>
          <p:nvPr/>
        </p:nvSpPr>
        <p:spPr>
          <a:xfrm>
            <a:off x="4624000" y="1258368"/>
            <a:ext cx="4232680" cy="330000"/>
          </a:xfrm>
          <a:prstGeom prst="rect">
            <a:avLst/>
          </a:prstGeom>
          <a:noFill/>
        </p:spPr>
        <p:txBody>
          <a:bodyPr wrap="square">
            <a:spAutoFit/>
          </a:bodyPr>
          <a:lstStyle/>
          <a:p>
            <a:pPr algn="l"/>
            <a:r>
              <a:rPr sz="750" b="0">
                <a:solidFill>
                  <a:srgbClr val="F2EEE0"/>
                </a:solidFill>
                <a:latin typeface="メイリオ"/>
              </a:rPr>
              <a:t>東卍ATTACK勝利時</a:t>
            </a:r>
          </a:p>
        </p:txBody>
      </p:sp>
      <p:sp>
        <p:nvSpPr>
          <p:cNvPr id="33" name="Rectangle 32"/>
          <p:cNvSpPr/>
          <p:nvPr/>
        </p:nvSpPr>
        <p:spPr>
          <a:xfrm>
            <a:off x="4572000" y="1648368"/>
            <a:ext cx="4297680" cy="710000"/>
          </a:xfrm>
          <a:prstGeom prst="rect">
            <a:avLst/>
          </a:prstGeom>
          <a:solidFill>
            <a:srgbClr val="16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0" y="1648368"/>
            <a:ext cx="32000" cy="710000"/>
          </a:xfrm>
          <a:prstGeom prst="rect">
            <a:avLst/>
          </a:prstGeom>
          <a:solidFill>
            <a:srgbClr val="44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24000" y="1700368"/>
            <a:ext cx="1051560" cy="260000"/>
          </a:xfrm>
          <a:prstGeom prst="rect">
            <a:avLst/>
          </a:prstGeom>
          <a:noFill/>
        </p:spPr>
        <p:txBody>
          <a:bodyPr wrap="none">
            <a:spAutoFit/>
          </a:bodyPr>
          <a:lstStyle/>
          <a:p>
            <a:pPr algn="l"/>
            <a:r>
              <a:rPr sz="850" b="1">
                <a:solidFill>
                  <a:srgbClr val="4499FF"/>
                </a:solidFill>
                <a:latin typeface="メイリオ"/>
              </a:rPr>
              <a:t>LEAP上乗せ</a:t>
            </a:r>
          </a:p>
        </p:txBody>
      </p:sp>
      <p:sp>
        <p:nvSpPr>
          <p:cNvPr id="36" name="TextBox 35"/>
          <p:cNvSpPr txBox="1"/>
          <p:nvPr/>
        </p:nvSpPr>
        <p:spPr>
          <a:xfrm>
            <a:off x="5675560" y="1700368"/>
            <a:ext cx="1005840" cy="260000"/>
          </a:xfrm>
          <a:prstGeom prst="rect">
            <a:avLst/>
          </a:prstGeom>
          <a:noFill/>
        </p:spPr>
        <p:txBody>
          <a:bodyPr wrap="none">
            <a:spAutoFit/>
          </a:bodyPr>
          <a:lstStyle/>
          <a:p>
            <a:pPr algn="l"/>
            <a:r>
              <a:rPr sz="800" b="1">
                <a:solidFill>
                  <a:srgbClr val="FFDD55"/>
                </a:solidFill>
                <a:latin typeface="メイリオ"/>
              </a:rPr>
              <a:t>100枚以上</a:t>
            </a:r>
          </a:p>
        </p:txBody>
      </p:sp>
      <p:sp>
        <p:nvSpPr>
          <p:cNvPr id="37" name="TextBox 36"/>
          <p:cNvSpPr txBox="1"/>
          <p:nvPr/>
        </p:nvSpPr>
        <p:spPr>
          <a:xfrm>
            <a:off x="4624000" y="1968368"/>
            <a:ext cx="4232680" cy="330000"/>
          </a:xfrm>
          <a:prstGeom prst="rect">
            <a:avLst/>
          </a:prstGeom>
          <a:noFill/>
        </p:spPr>
        <p:txBody>
          <a:bodyPr wrap="square">
            <a:spAutoFit/>
          </a:bodyPr>
          <a:lstStyle/>
          <a:p>
            <a:pPr algn="l"/>
            <a:r>
              <a:rPr sz="750" b="0">
                <a:solidFill>
                  <a:srgbClr val="F2EEE0"/>
                </a:solidFill>
                <a:latin typeface="メイリオ"/>
              </a:rPr>
              <a:t>レア役連続成立で昇格</a:t>
            </a:r>
          </a:p>
        </p:txBody>
      </p:sp>
      <p:sp>
        <p:nvSpPr>
          <p:cNvPr id="38" name="Rectangle 37"/>
          <p:cNvSpPr/>
          <p:nvPr/>
        </p:nvSpPr>
        <p:spPr>
          <a:xfrm>
            <a:off x="4572000" y="2358368"/>
            <a:ext cx="4297680" cy="710000"/>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0" y="2358368"/>
            <a:ext cx="32000" cy="71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24000" y="2410368"/>
            <a:ext cx="1051560" cy="260000"/>
          </a:xfrm>
          <a:prstGeom prst="rect">
            <a:avLst/>
          </a:prstGeom>
          <a:noFill/>
        </p:spPr>
        <p:txBody>
          <a:bodyPr wrap="none">
            <a:spAutoFit/>
          </a:bodyPr>
          <a:lstStyle/>
          <a:p>
            <a:pPr algn="l"/>
            <a:r>
              <a:rPr sz="850" b="1">
                <a:solidFill>
                  <a:srgbClr val="FF6600"/>
                </a:solidFill>
                <a:latin typeface="メイリオ"/>
              </a:rPr>
              <a:t>黒い衝動</a:t>
            </a:r>
          </a:p>
        </p:txBody>
      </p:sp>
      <p:sp>
        <p:nvSpPr>
          <p:cNvPr id="41" name="TextBox 40"/>
          <p:cNvSpPr txBox="1"/>
          <p:nvPr/>
        </p:nvSpPr>
        <p:spPr>
          <a:xfrm>
            <a:off x="5675560" y="2410368"/>
            <a:ext cx="1005840" cy="260000"/>
          </a:xfrm>
          <a:prstGeom prst="rect">
            <a:avLst/>
          </a:prstGeom>
          <a:noFill/>
        </p:spPr>
        <p:txBody>
          <a:bodyPr wrap="none">
            <a:spAutoFit/>
          </a:bodyPr>
          <a:lstStyle/>
          <a:p>
            <a:pPr algn="l"/>
            <a:r>
              <a:rPr sz="800" b="1">
                <a:solidFill>
                  <a:srgbClr val="FFDD55"/>
                </a:solidFill>
                <a:latin typeface="メイリオ"/>
              </a:rPr>
              <a:t>100枚以上保証</a:t>
            </a:r>
          </a:p>
        </p:txBody>
      </p:sp>
      <p:sp>
        <p:nvSpPr>
          <p:cNvPr id="42" name="TextBox 41"/>
          <p:cNvSpPr txBox="1"/>
          <p:nvPr/>
        </p:nvSpPr>
        <p:spPr>
          <a:xfrm>
            <a:off x="4624000" y="2678368"/>
            <a:ext cx="4232680" cy="330000"/>
          </a:xfrm>
          <a:prstGeom prst="rect">
            <a:avLst/>
          </a:prstGeom>
          <a:noFill/>
        </p:spPr>
        <p:txBody>
          <a:bodyPr wrap="square">
            <a:spAutoFit/>
          </a:bodyPr>
          <a:lstStyle/>
          <a:p>
            <a:pPr algn="l"/>
            <a:r>
              <a:rPr sz="750" b="0">
                <a:solidFill>
                  <a:srgbClr val="F2EEE0"/>
                </a:solidFill>
                <a:latin typeface="メイリオ"/>
              </a:rPr>
              <a:t>特化ゾーン突入時</a:t>
            </a:r>
          </a:p>
        </p:txBody>
      </p:sp>
      <p:sp>
        <p:nvSpPr>
          <p:cNvPr id="43" name="Rectangle 42"/>
          <p:cNvSpPr/>
          <p:nvPr/>
        </p:nvSpPr>
        <p:spPr>
          <a:xfrm>
            <a:off x="4572000" y="3068368"/>
            <a:ext cx="4297680" cy="710000"/>
          </a:xfrm>
          <a:prstGeom prst="rect">
            <a:avLst/>
          </a:prstGeom>
          <a:solidFill>
            <a:srgbClr val="16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0" y="3068368"/>
            <a:ext cx="32000" cy="710000"/>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24000" y="3120368"/>
            <a:ext cx="1051560" cy="260000"/>
          </a:xfrm>
          <a:prstGeom prst="rect">
            <a:avLst/>
          </a:prstGeom>
          <a:noFill/>
        </p:spPr>
        <p:txBody>
          <a:bodyPr wrap="none">
            <a:spAutoFit/>
          </a:bodyPr>
          <a:lstStyle/>
          <a:p>
            <a:pPr algn="l"/>
            <a:r>
              <a:rPr sz="850" b="1">
                <a:solidFill>
                  <a:srgbClr val="CCAA30"/>
                </a:solidFill>
                <a:latin typeface="メイリオ"/>
              </a:rPr>
              <a:t>HEAT UP!!</a:t>
            </a:r>
          </a:p>
        </p:txBody>
      </p:sp>
      <p:sp>
        <p:nvSpPr>
          <p:cNvPr id="46" name="TextBox 45"/>
          <p:cNvSpPr txBox="1"/>
          <p:nvPr/>
        </p:nvSpPr>
        <p:spPr>
          <a:xfrm>
            <a:off x="5675560" y="3120368"/>
            <a:ext cx="1005840" cy="260000"/>
          </a:xfrm>
          <a:prstGeom prst="rect">
            <a:avLst/>
          </a:prstGeom>
          <a:noFill/>
        </p:spPr>
        <p:txBody>
          <a:bodyPr wrap="none">
            <a:spAutoFit/>
          </a:bodyPr>
          <a:lstStyle/>
          <a:p>
            <a:pPr algn="l"/>
            <a:r>
              <a:rPr sz="800" b="1">
                <a:solidFill>
                  <a:srgbClr val="FFDD55"/>
                </a:solidFill>
                <a:latin typeface="メイリオ"/>
              </a:rPr>
              <a:t>100枚以上濃厚</a:t>
            </a:r>
          </a:p>
        </p:txBody>
      </p:sp>
      <p:sp>
        <p:nvSpPr>
          <p:cNvPr id="47" name="TextBox 46"/>
          <p:cNvSpPr txBox="1"/>
          <p:nvPr/>
        </p:nvSpPr>
        <p:spPr>
          <a:xfrm>
            <a:off x="4624000" y="3388368"/>
            <a:ext cx="4232680" cy="330000"/>
          </a:xfrm>
          <a:prstGeom prst="rect">
            <a:avLst/>
          </a:prstGeom>
          <a:noFill/>
        </p:spPr>
        <p:txBody>
          <a:bodyPr wrap="square">
            <a:spAutoFit/>
          </a:bodyPr>
          <a:lstStyle/>
          <a:p>
            <a:pPr algn="l"/>
            <a:r>
              <a:rPr sz="750" b="0">
                <a:solidFill>
                  <a:srgbClr val="F2EEE0"/>
                </a:solidFill>
                <a:latin typeface="メイリオ"/>
              </a:rPr>
              <a:t>BURST中一触即発勝利</a:t>
            </a:r>
          </a:p>
        </p:txBody>
      </p:sp>
      <p:sp>
        <p:nvSpPr>
          <p:cNvPr id="48" name="Rectangle 47"/>
          <p:cNvSpPr/>
          <p:nvPr/>
        </p:nvSpPr>
        <p:spPr>
          <a:xfrm>
            <a:off x="4572000" y="3778368"/>
            <a:ext cx="4297680" cy="710000"/>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0" y="3778368"/>
            <a:ext cx="32000" cy="710000"/>
          </a:xfrm>
          <a:prstGeom prst="rect">
            <a:avLst/>
          </a:prstGeom>
          <a:solidFill>
            <a:srgbClr val="FFD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24000" y="3830368"/>
            <a:ext cx="1051560" cy="260000"/>
          </a:xfrm>
          <a:prstGeom prst="rect">
            <a:avLst/>
          </a:prstGeom>
          <a:noFill/>
        </p:spPr>
        <p:txBody>
          <a:bodyPr wrap="none">
            <a:spAutoFit/>
          </a:bodyPr>
          <a:lstStyle/>
          <a:p>
            <a:pPr algn="l"/>
            <a:r>
              <a:rPr sz="850" b="1">
                <a:solidFill>
                  <a:srgbClr val="FFDD55"/>
                </a:solidFill>
                <a:latin typeface="メイリオ"/>
              </a:rPr>
              <a:t>BURST通常上乗せ</a:t>
            </a:r>
          </a:p>
        </p:txBody>
      </p:sp>
      <p:sp>
        <p:nvSpPr>
          <p:cNvPr id="51" name="TextBox 50"/>
          <p:cNvSpPr txBox="1"/>
          <p:nvPr/>
        </p:nvSpPr>
        <p:spPr>
          <a:xfrm>
            <a:off x="5675560" y="3830368"/>
            <a:ext cx="1005840" cy="260000"/>
          </a:xfrm>
          <a:prstGeom prst="rect">
            <a:avLst/>
          </a:prstGeom>
          <a:noFill/>
        </p:spPr>
        <p:txBody>
          <a:bodyPr wrap="none">
            <a:spAutoFit/>
          </a:bodyPr>
          <a:lstStyle/>
          <a:p>
            <a:pPr algn="l"/>
            <a:r>
              <a:rPr sz="800" b="1">
                <a:solidFill>
                  <a:srgbClr val="FFDD55"/>
                </a:solidFill>
                <a:latin typeface="メイリオ"/>
              </a:rPr>
              <a:t>50枚以上確定</a:t>
            </a:r>
          </a:p>
        </p:txBody>
      </p:sp>
      <p:sp>
        <p:nvSpPr>
          <p:cNvPr id="52" name="TextBox 51"/>
          <p:cNvSpPr txBox="1"/>
          <p:nvPr/>
        </p:nvSpPr>
        <p:spPr>
          <a:xfrm>
            <a:off x="4624000" y="4098368"/>
            <a:ext cx="4232680" cy="330000"/>
          </a:xfrm>
          <a:prstGeom prst="rect">
            <a:avLst/>
          </a:prstGeom>
          <a:noFill/>
        </p:spPr>
        <p:txBody>
          <a:bodyPr wrap="square">
            <a:spAutoFit/>
          </a:bodyPr>
          <a:lstStyle/>
          <a:p>
            <a:pPr algn="l"/>
            <a:r>
              <a:rPr sz="750" b="0">
                <a:solidFill>
                  <a:srgbClr val="F2EEE0"/>
                </a:solidFill>
                <a:latin typeface="メイリオ"/>
              </a:rPr>
              <a:t>BURST中レア役成立</a:t>
            </a:r>
          </a:p>
        </p:txBody>
      </p:sp>
      <p:sp>
        <p:nvSpPr>
          <p:cNvPr id="53" name="Rectangle 52"/>
          <p:cNvSpPr/>
          <p:nvPr/>
        </p:nvSpPr>
        <p:spPr>
          <a:xfrm>
            <a:off x="4572000" y="4488368"/>
            <a:ext cx="4297680" cy="710000"/>
          </a:xfrm>
          <a:prstGeom prst="rect">
            <a:avLst/>
          </a:prstGeom>
          <a:solidFill>
            <a:srgbClr val="16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0" y="4488368"/>
            <a:ext cx="32000" cy="710000"/>
          </a:xfrm>
          <a:prstGeom prst="rect">
            <a:avLst/>
          </a:prstGeom>
          <a:solidFill>
            <a:srgbClr val="FF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24000" y="4540368"/>
            <a:ext cx="1051560" cy="260000"/>
          </a:xfrm>
          <a:prstGeom prst="rect">
            <a:avLst/>
          </a:prstGeom>
          <a:noFill/>
        </p:spPr>
        <p:txBody>
          <a:bodyPr wrap="none">
            <a:spAutoFit/>
          </a:bodyPr>
          <a:lstStyle/>
          <a:p>
            <a:pPr algn="l"/>
            <a:r>
              <a:rPr sz="850" b="1">
                <a:solidFill>
                  <a:srgbClr val="FF4488"/>
                </a:solidFill>
                <a:latin typeface="メイリオ"/>
              </a:rPr>
              <a:t>BURST LEAP</a:t>
            </a:r>
          </a:p>
        </p:txBody>
      </p:sp>
      <p:sp>
        <p:nvSpPr>
          <p:cNvPr id="56" name="TextBox 55"/>
          <p:cNvSpPr txBox="1"/>
          <p:nvPr/>
        </p:nvSpPr>
        <p:spPr>
          <a:xfrm>
            <a:off x="5675560" y="4540368"/>
            <a:ext cx="1005840" cy="260000"/>
          </a:xfrm>
          <a:prstGeom prst="rect">
            <a:avLst/>
          </a:prstGeom>
          <a:noFill/>
        </p:spPr>
        <p:txBody>
          <a:bodyPr wrap="none">
            <a:spAutoFit/>
          </a:bodyPr>
          <a:lstStyle/>
          <a:p>
            <a:pPr algn="l"/>
            <a:r>
              <a:rPr sz="800" b="1">
                <a:solidFill>
                  <a:srgbClr val="FFDD55"/>
                </a:solidFill>
                <a:latin typeface="メイリオ"/>
              </a:rPr>
              <a:t>300枚以上濃厚</a:t>
            </a:r>
          </a:p>
        </p:txBody>
      </p:sp>
      <p:sp>
        <p:nvSpPr>
          <p:cNvPr id="57" name="TextBox 56"/>
          <p:cNvSpPr txBox="1"/>
          <p:nvPr/>
        </p:nvSpPr>
        <p:spPr>
          <a:xfrm>
            <a:off x="4624000" y="4808368"/>
            <a:ext cx="4232680" cy="330000"/>
          </a:xfrm>
          <a:prstGeom prst="rect">
            <a:avLst/>
          </a:prstGeom>
          <a:noFill/>
        </p:spPr>
        <p:txBody>
          <a:bodyPr wrap="square">
            <a:spAutoFit/>
          </a:bodyPr>
          <a:lstStyle/>
          <a:p>
            <a:pPr algn="l"/>
            <a:r>
              <a:rPr sz="750" b="0">
                <a:solidFill>
                  <a:srgbClr val="F2EEE0"/>
                </a:solidFill>
                <a:latin typeface="メイリオ"/>
              </a:rPr>
              <a:t>BURST中LEAP昇格時</a:t>
            </a:r>
          </a:p>
        </p:txBody>
      </p:sp>
      <p:sp>
        <p:nvSpPr>
          <p:cNvPr id="58" name="Rectangle 57"/>
          <p:cNvSpPr/>
          <p:nvPr/>
        </p:nvSpPr>
        <p:spPr>
          <a:xfrm>
            <a:off x="4572000" y="5213368"/>
            <a:ext cx="4297680" cy="475000"/>
          </a:xfrm>
          <a:prstGeom prst="rect">
            <a:avLst/>
          </a:prstGeom>
          <a:solidFill>
            <a:srgbClr val="1A1406"/>
          </a:solidFill>
          <a:ln w="1905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32000" y="5258368"/>
            <a:ext cx="4217680" cy="195000"/>
          </a:xfrm>
          <a:prstGeom prst="rect">
            <a:avLst/>
          </a:prstGeom>
          <a:noFill/>
        </p:spPr>
        <p:txBody>
          <a:bodyPr wrap="square">
            <a:spAutoFit/>
          </a:bodyPr>
          <a:lstStyle/>
          <a:p>
            <a:pPr algn="l"/>
            <a:r>
              <a:rPr sz="850" b="1">
                <a:solidFill>
                  <a:srgbClr val="CCAA30"/>
                </a:solidFill>
                <a:latin typeface="メイリオ"/>
              </a:rPr>
              <a:t>出玉を伸ばすポイント</a:t>
            </a:r>
          </a:p>
        </p:txBody>
      </p:sp>
      <p:sp>
        <p:nvSpPr>
          <p:cNvPr id="60" name="TextBox 59"/>
          <p:cNvSpPr txBox="1"/>
          <p:nvPr/>
        </p:nvSpPr>
        <p:spPr>
          <a:xfrm>
            <a:off x="4632000" y="5458368"/>
            <a:ext cx="4217680" cy="205000"/>
          </a:xfrm>
          <a:prstGeom prst="rect">
            <a:avLst/>
          </a:prstGeom>
          <a:noFill/>
        </p:spPr>
        <p:txBody>
          <a:bodyPr wrap="square">
            <a:spAutoFit/>
          </a:bodyPr>
          <a:lstStyle/>
          <a:p>
            <a:pPr algn="l"/>
            <a:r>
              <a:rPr sz="750" b="0">
                <a:solidFill>
                  <a:srgbClr val="998870"/>
                </a:solidFill>
                <a:latin typeface="メイリオ"/>
              </a:rPr>
              <a:t>LEAP昇格連打 + 黒い衝動複数突入 がセット利益を決定する。</a:t>
            </a:r>
          </a:p>
        </p:txBody>
      </p:sp>
      <p:sp>
        <p:nvSpPr>
          <p:cNvPr id="61" name="TextBox 60"/>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62" name="Rectangle 61"/>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AT中の出玉設計：「東卍ATTACK→上乗せ→特化ゾーン→LEAP」のサイクル積み重ねが基本の利益構造</a:t>
            </a:r>
          </a:p>
        </p:txBody>
      </p:sp>
      <p:sp>
        <p:nvSpPr>
          <p:cNvPr id="65" name="TextBox 64"/>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BURST中はすべての上乗せが強化版に。BURST突入後はコイン単価が劇的に変化する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上位AT「東卍RUSH BURST」── 到達ルート・性能・継続設計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6/9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
            <a:ext cx="9144000" cy="265000"/>
          </a:xfrm>
          <a:prstGeom prst="rect">
            <a:avLst/>
          </a:prstGeom>
          <a:solidFill>
            <a:srgbClr val="44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90372"/>
            <a:ext cx="8229600" cy="215000"/>
          </a:xfrm>
          <a:prstGeom prst="rect">
            <a:avLst/>
          </a:prstGeom>
          <a:noFill/>
        </p:spPr>
        <p:txBody>
          <a:bodyPr wrap="square">
            <a:spAutoFit/>
          </a:bodyPr>
          <a:lstStyle/>
          <a:p>
            <a:pPr algn="l"/>
            <a:r>
              <a:rPr sz="900" b="1">
                <a:solidFill>
                  <a:srgbClr val="FF6600"/>
                </a:solidFill>
                <a:latin typeface="メイリオ"/>
              </a:rPr>
              <a:t>東卍RUSH BURST 到達ルート（通常AT→上位への昇格経路）</a:t>
            </a:r>
          </a:p>
        </p:txBody>
      </p:sp>
      <p:sp>
        <p:nvSpPr>
          <p:cNvPr id="10" name="Rectangle 9"/>
          <p:cNvSpPr/>
          <p:nvPr/>
        </p:nvSpPr>
        <p:spPr>
          <a:xfrm>
            <a:off x="502920" y="757592"/>
            <a:ext cx="2468880" cy="1100000"/>
          </a:xfrm>
          <a:prstGeom prst="rect">
            <a:avLst/>
          </a:prstGeom>
          <a:solidFill>
            <a:srgbClr val="120E04"/>
          </a:solidFill>
          <a:ln w="1905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2920" y="827592"/>
            <a:ext cx="2408880" cy="380000"/>
          </a:xfrm>
          <a:prstGeom prst="rect">
            <a:avLst/>
          </a:prstGeom>
          <a:noFill/>
        </p:spPr>
        <p:txBody>
          <a:bodyPr wrap="square">
            <a:spAutoFit/>
          </a:bodyPr>
          <a:lstStyle/>
          <a:p>
            <a:pPr algn="ctr"/>
            <a:r>
              <a:rPr sz="1100" b="1">
                <a:solidFill>
                  <a:srgbClr val="CCAA30"/>
                </a:solidFill>
                <a:latin typeface="游明朝"/>
              </a:rPr>
              <a:t>東卍RUSH
（基本AT）</a:t>
            </a:r>
          </a:p>
        </p:txBody>
      </p:sp>
      <p:sp>
        <p:nvSpPr>
          <p:cNvPr id="12" name="TextBox 11"/>
          <p:cNvSpPr txBox="1"/>
          <p:nvPr/>
        </p:nvSpPr>
        <p:spPr>
          <a:xfrm>
            <a:off x="537920" y="1257592"/>
            <a:ext cx="2413880" cy="490000"/>
          </a:xfrm>
          <a:prstGeom prst="rect">
            <a:avLst/>
          </a:prstGeom>
          <a:noFill/>
        </p:spPr>
        <p:txBody>
          <a:bodyPr wrap="square">
            <a:spAutoFit/>
          </a:bodyPr>
          <a:lstStyle/>
          <a:p>
            <a:pPr algn="ctr"/>
            <a:r>
              <a:rPr sz="800" b="0">
                <a:solidFill>
                  <a:srgbClr val="998870"/>
                </a:solidFill>
                <a:latin typeface="メイリオ"/>
              </a:rPr>
              <a:t>差枚数管理型
純増3.2枚/G
スタート地点</a:t>
            </a:r>
          </a:p>
        </p:txBody>
      </p:sp>
      <p:sp>
        <p:nvSpPr>
          <p:cNvPr id="13" name="Can 12"/>
          <p:cNvSpPr/>
          <p:nvPr/>
        </p:nvSpPr>
        <p:spPr>
          <a:xfrm>
            <a:off x="2985800" y="1217592"/>
            <a:ext cx="200000" cy="180000"/>
          </a:xfrm>
          <a:prstGeom prst="can">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757592"/>
            <a:ext cx="2468880" cy="1100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95848" y="827592"/>
            <a:ext cx="2408880" cy="380000"/>
          </a:xfrm>
          <a:prstGeom prst="rect">
            <a:avLst/>
          </a:prstGeom>
          <a:noFill/>
        </p:spPr>
        <p:txBody>
          <a:bodyPr wrap="square">
            <a:spAutoFit/>
          </a:bodyPr>
          <a:lstStyle/>
          <a:p>
            <a:pPr algn="ctr"/>
            <a:r>
              <a:rPr sz="1100" b="1">
                <a:solidFill>
                  <a:srgbClr val="FF6600"/>
                </a:solidFill>
                <a:latin typeface="游明朝"/>
              </a:rPr>
              <a:t>リベンジ
チャンス
(CZ)</a:t>
            </a:r>
          </a:p>
        </p:txBody>
      </p:sp>
      <p:sp>
        <p:nvSpPr>
          <p:cNvPr id="16" name="TextBox 15"/>
          <p:cNvSpPr txBox="1"/>
          <p:nvPr/>
        </p:nvSpPr>
        <p:spPr>
          <a:xfrm>
            <a:off x="3390848" y="1257592"/>
            <a:ext cx="2413880" cy="490000"/>
          </a:xfrm>
          <a:prstGeom prst="rect">
            <a:avLst/>
          </a:prstGeom>
          <a:noFill/>
        </p:spPr>
        <p:txBody>
          <a:bodyPr wrap="square">
            <a:spAutoFit/>
          </a:bodyPr>
          <a:lstStyle/>
          <a:p>
            <a:pPr algn="ctr"/>
            <a:r>
              <a:rPr sz="800" b="0">
                <a:solidFill>
                  <a:srgbClr val="998870"/>
                </a:solidFill>
                <a:latin typeface="メイリオ"/>
              </a:rPr>
              <a:t>AT内発生
上位突入
の登竜門</a:t>
            </a:r>
          </a:p>
        </p:txBody>
      </p:sp>
      <p:sp>
        <p:nvSpPr>
          <p:cNvPr id="17" name="Can 16"/>
          <p:cNvSpPr/>
          <p:nvPr/>
        </p:nvSpPr>
        <p:spPr>
          <a:xfrm>
            <a:off x="5838728" y="1217592"/>
            <a:ext cx="200000" cy="180000"/>
          </a:xfrm>
          <a:prstGeom prst="can">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757592"/>
            <a:ext cx="2468880" cy="1100000"/>
          </a:xfrm>
          <a:prstGeom prst="rect">
            <a:avLst/>
          </a:prstGeom>
          <a:solidFill>
            <a:srgbClr val="180E01"/>
          </a:solidFill>
          <a:ln w="25400">
            <a:solidFill>
              <a:srgbClr val="FFD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8776" y="827592"/>
            <a:ext cx="2408880" cy="380000"/>
          </a:xfrm>
          <a:prstGeom prst="rect">
            <a:avLst/>
          </a:prstGeom>
          <a:noFill/>
        </p:spPr>
        <p:txBody>
          <a:bodyPr wrap="square">
            <a:spAutoFit/>
          </a:bodyPr>
          <a:lstStyle/>
          <a:p>
            <a:pPr algn="ctr"/>
            <a:r>
              <a:rPr sz="1100" b="1">
                <a:solidFill>
                  <a:srgbClr val="FFDD55"/>
                </a:solidFill>
                <a:latin typeface="游明朝"/>
              </a:rPr>
              <a:t>東卍RUSH
BURST
（上位AT）</a:t>
            </a:r>
          </a:p>
        </p:txBody>
      </p:sp>
      <p:sp>
        <p:nvSpPr>
          <p:cNvPr id="20" name="TextBox 19"/>
          <p:cNvSpPr txBox="1"/>
          <p:nvPr/>
        </p:nvSpPr>
        <p:spPr>
          <a:xfrm>
            <a:off x="6243776" y="1257592"/>
            <a:ext cx="2413880" cy="490000"/>
          </a:xfrm>
          <a:prstGeom prst="rect">
            <a:avLst/>
          </a:prstGeom>
          <a:noFill/>
        </p:spPr>
        <p:txBody>
          <a:bodyPr wrap="square">
            <a:spAutoFit/>
          </a:bodyPr>
          <a:lstStyle/>
          <a:p>
            <a:pPr algn="ctr"/>
            <a:r>
              <a:rPr sz="800" b="0">
                <a:solidFill>
                  <a:srgbClr val="998870"/>
                </a:solidFill>
                <a:latin typeface="メイリオ"/>
              </a:rPr>
              <a:t>純増8.0枚/G
継続率約80%
上乗せ全強化</a:t>
            </a:r>
          </a:p>
        </p:txBody>
      </p:sp>
      <p:sp>
        <p:nvSpPr>
          <p:cNvPr id="21" name="Rectangle 20"/>
          <p:cNvSpPr/>
          <p:nvPr/>
        </p:nvSpPr>
        <p:spPr>
          <a:xfrm>
            <a:off x="0" y="1901952"/>
            <a:ext cx="9144000" cy="5000"/>
          </a:xfrm>
          <a:prstGeom prst="rect">
            <a:avLst/>
          </a:prstGeom>
          <a:solidFill>
            <a:srgbClr val="44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6032" y="1956816"/>
            <a:ext cx="4160520" cy="2620000"/>
          </a:xfrm>
          <a:prstGeom prst="rect">
            <a:avLst/>
          </a:prstGeom>
          <a:solidFill>
            <a:srgbClr val="120E04"/>
          </a:solidFill>
          <a:ln w="25400">
            <a:solidFill>
              <a:srgbClr val="FFD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 y="1956816"/>
            <a:ext cx="45000" cy="2620000"/>
          </a:xfrm>
          <a:prstGeom prst="rect">
            <a:avLst/>
          </a:prstGeom>
          <a:solidFill>
            <a:srgbClr val="FFD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032" y="2006816"/>
            <a:ext cx="4065520" cy="270000"/>
          </a:xfrm>
          <a:prstGeom prst="rect">
            <a:avLst/>
          </a:prstGeom>
          <a:noFill/>
        </p:spPr>
        <p:txBody>
          <a:bodyPr wrap="square">
            <a:spAutoFit/>
          </a:bodyPr>
          <a:lstStyle/>
          <a:p>
            <a:pPr algn="l"/>
            <a:r>
              <a:rPr sz="1100" b="1">
                <a:solidFill>
                  <a:srgbClr val="FFDD55"/>
                </a:solidFill>
                <a:latin typeface="游明朝"/>
              </a:rPr>
              <a:t>東卍RUSH BURST 中の性能・遊び方</a:t>
            </a:r>
          </a:p>
        </p:txBody>
      </p:sp>
      <p:sp>
        <p:nvSpPr>
          <p:cNvPr id="25" name="TextBox 24"/>
          <p:cNvSpPr txBox="1"/>
          <p:nvPr/>
        </p:nvSpPr>
        <p:spPr>
          <a:xfrm>
            <a:off x="331032" y="2296816"/>
            <a:ext cx="4065520" cy="2220000"/>
          </a:xfrm>
          <a:prstGeom prst="rect">
            <a:avLst/>
          </a:prstGeom>
          <a:noFill/>
        </p:spPr>
        <p:txBody>
          <a:bodyPr wrap="square">
            <a:spAutoFit/>
          </a:bodyPr>
          <a:lstStyle/>
          <a:p>
            <a:pPr algn="l"/>
            <a:r>
              <a:rPr sz="800" b="0">
                <a:solidFill>
                  <a:srgbClr val="F2EEE0"/>
                </a:solidFill>
                <a:latin typeface="メイリオ"/>
              </a:rPr>
              <a:t>【基本性能】
純増：約8.0枚/G（通常ATの2.5倍）
継続率：約80%（天上天下唯我独尊で継続判定）
【上乗せ強化内容（BURST中）】
・上乗せ発生時→50枚以上確定
・LEAP時→300枚以上濃厚（通常の3倍）
・HEAT UP!!時→100枚以上濃厚
・一触即発勝利→HEAT UP!!確定
【継続判定：天上天下唯我独尊】
BURST消化後に継続抽選ステージへ移行。
BURST継続期待度：約80%。
継続するたびに出玉が蓄積する複利設計。</a:t>
            </a:r>
          </a:p>
        </p:txBody>
      </p:sp>
      <p:sp>
        <p:nvSpPr>
          <p:cNvPr id="26" name="Rectangle 25"/>
          <p:cNvSpPr/>
          <p:nvPr/>
        </p:nvSpPr>
        <p:spPr>
          <a:xfrm>
            <a:off x="4617720" y="1956816"/>
            <a:ext cx="4251960" cy="2620000"/>
          </a:xfrm>
          <a:prstGeom prst="rect">
            <a:avLst/>
          </a:prstGeom>
          <a:solidFill>
            <a:srgbClr val="100801"/>
          </a:solidFill>
          <a:ln w="2540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956816"/>
            <a:ext cx="45000" cy="262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2720" y="2006816"/>
            <a:ext cx="4156960" cy="270000"/>
          </a:xfrm>
          <a:prstGeom prst="rect">
            <a:avLst/>
          </a:prstGeom>
          <a:noFill/>
        </p:spPr>
        <p:txBody>
          <a:bodyPr wrap="square">
            <a:spAutoFit/>
          </a:bodyPr>
          <a:lstStyle/>
          <a:p>
            <a:pPr algn="l"/>
            <a:r>
              <a:rPr sz="1100" b="1">
                <a:solidFill>
                  <a:srgbClr val="FF6600"/>
                </a:solidFill>
                <a:latin typeface="游明朝"/>
              </a:rPr>
              <a:t>BURST到達のための考え方と遊び方</a:t>
            </a:r>
          </a:p>
        </p:txBody>
      </p:sp>
      <p:sp>
        <p:nvSpPr>
          <p:cNvPr id="29" name="TextBox 28"/>
          <p:cNvSpPr txBox="1"/>
          <p:nvPr/>
        </p:nvSpPr>
        <p:spPr>
          <a:xfrm>
            <a:off x="4692720" y="2296816"/>
            <a:ext cx="4156960" cy="2220000"/>
          </a:xfrm>
          <a:prstGeom prst="rect">
            <a:avLst/>
          </a:prstGeom>
          <a:noFill/>
        </p:spPr>
        <p:txBody>
          <a:bodyPr wrap="square">
            <a:spAutoFit/>
          </a:bodyPr>
          <a:lstStyle/>
          <a:p>
            <a:pPr algn="l"/>
            <a:r>
              <a:rPr sz="800" b="0">
                <a:solidFill>
                  <a:srgbClr val="F2EEE0"/>
                </a:solidFill>
                <a:latin typeface="メイリオ"/>
              </a:rPr>
              <a:t>【リベンジチャンスとは】
通常AT（東卍RUSH）消化中に発生する
BURST昇格のためのCZ。成功でBURST確定。
【リベンジチャンスへの道】
AT中の一触即発勝利・レア役・LEAP上乗せ
などを重ねることで内部的に昇格抽選が進む。
【フリーズによる直接BURST】
初当り時やAT中にフリーズが発生した場合は
BURST直行または高期待度への昇格となる。
【BURST中の立ち回り】
継続率80%を活かして長く打ち続けることが
大量獲得の鍵。通常AT時より単価が高いため
BURST中は残差枚数を意識した打ち止め判断を。</a:t>
            </a:r>
          </a:p>
        </p:txBody>
      </p:sp>
      <p:sp>
        <p:nvSpPr>
          <p:cNvPr id="30" name="TextBox 29"/>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31" name="Rectangle 30"/>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BURST設計の核心：純増8.0枚×継続率80%×上乗せ全強化という3点セットが本機最大の爆発力を生む</a:t>
            </a:r>
          </a:p>
        </p:txBody>
      </p:sp>
      <p:sp>
        <p:nvSpPr>
          <p:cNvPr id="34" name="TextBox 33"/>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天上天下唯我独尊の継続判定演出が原作のマイキーvsキャラ対決と連動。演出の熱さが継続への期待感を倍増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面白さの設計 ── タイムリープ×不良バトルとパチスロの融合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7/9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1190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0000" cy="119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032" y="708368"/>
            <a:ext cx="4070520" cy="255000"/>
          </a:xfrm>
          <a:prstGeom prst="rect">
            <a:avLst/>
          </a:prstGeom>
          <a:noFill/>
        </p:spPr>
        <p:txBody>
          <a:bodyPr wrap="square">
            <a:spAutoFit/>
          </a:bodyPr>
          <a:lstStyle/>
          <a:p>
            <a:pPr algn="l"/>
            <a:r>
              <a:rPr sz="950" b="1">
                <a:solidFill>
                  <a:srgbClr val="FF6600"/>
                </a:solidFill>
                <a:latin typeface="游明朝"/>
              </a:rPr>
              <a:t>① 周期システムによる「毎周期のメリハリ」</a:t>
            </a:r>
          </a:p>
        </p:txBody>
      </p:sp>
      <p:sp>
        <p:nvSpPr>
          <p:cNvPr id="11" name="TextBox 10"/>
          <p:cNvSpPr txBox="1"/>
          <p:nvPr/>
        </p:nvSpPr>
        <p:spPr>
          <a:xfrm>
            <a:off x="326032" y="978368"/>
            <a:ext cx="4070520" cy="805000"/>
          </a:xfrm>
          <a:prstGeom prst="rect">
            <a:avLst/>
          </a:prstGeom>
          <a:noFill/>
        </p:spPr>
        <p:txBody>
          <a:bodyPr wrap="square">
            <a:spAutoFit/>
          </a:bodyPr>
          <a:lstStyle/>
          <a:p>
            <a:pPr algn="l"/>
            <a:r>
              <a:rPr sz="800" b="0">
                <a:solidFill>
                  <a:srgbClr val="F2EEE0"/>
                </a:solidFill>
                <a:latin typeface="メイリオ"/>
              </a:rPr>
              <a:t>毎Gポイントが積み上がり、規定ptで必ず何かが起きる。
「あと少しで周期到達」という小目標が生まれ
打ち続けるモチベーションが常に維持される。</a:t>
            </a:r>
          </a:p>
        </p:txBody>
      </p:sp>
      <p:sp>
        <p:nvSpPr>
          <p:cNvPr id="12" name="Rectangle 11"/>
          <p:cNvSpPr/>
          <p:nvPr/>
        </p:nvSpPr>
        <p:spPr>
          <a:xfrm>
            <a:off x="4727448" y="658368"/>
            <a:ext cx="4160520" cy="1190000"/>
          </a:xfrm>
          <a:prstGeom prst="rect">
            <a:avLst/>
          </a:prstGeom>
          <a:solidFill>
            <a:srgbClr val="120E04"/>
          </a:solidFill>
          <a:ln w="1905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27448" y="658368"/>
            <a:ext cx="40000" cy="1190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97448" y="708368"/>
            <a:ext cx="4070520" cy="255000"/>
          </a:xfrm>
          <a:prstGeom prst="rect">
            <a:avLst/>
          </a:prstGeom>
          <a:noFill/>
        </p:spPr>
        <p:txBody>
          <a:bodyPr wrap="square">
            <a:spAutoFit/>
          </a:bodyPr>
          <a:lstStyle/>
          <a:p>
            <a:pPr algn="l"/>
            <a:r>
              <a:rPr sz="950" b="1">
                <a:solidFill>
                  <a:srgbClr val="2266CC"/>
                </a:solidFill>
                <a:latin typeface="游明朝"/>
              </a:rPr>
              <a:t>② タイムリープ演出＝リトライの納得感</a:t>
            </a:r>
          </a:p>
        </p:txBody>
      </p:sp>
      <p:sp>
        <p:nvSpPr>
          <p:cNvPr id="15" name="TextBox 14"/>
          <p:cNvSpPr txBox="1"/>
          <p:nvPr/>
        </p:nvSpPr>
        <p:spPr>
          <a:xfrm>
            <a:off x="4797448" y="978368"/>
            <a:ext cx="4070520" cy="805000"/>
          </a:xfrm>
          <a:prstGeom prst="rect">
            <a:avLst/>
          </a:prstGeom>
          <a:noFill/>
        </p:spPr>
        <p:txBody>
          <a:bodyPr wrap="square">
            <a:spAutoFit/>
          </a:bodyPr>
          <a:lstStyle/>
          <a:p>
            <a:pPr algn="l"/>
            <a:r>
              <a:rPr sz="800" b="0">
                <a:solidFill>
                  <a:srgbClr val="F2EEE0"/>
                </a:solidFill>
                <a:latin typeface="メイリオ"/>
              </a:rPr>
              <a:t>原作の"何度も過去に戻る"物語構造をCZ失敗時の
再挑戦演出に落とし込んだ秀逸な転用設計。
負けが悔しくなく「また戻って再挑戦！」と感じさせる。</a:t>
            </a:r>
          </a:p>
        </p:txBody>
      </p:sp>
      <p:sp>
        <p:nvSpPr>
          <p:cNvPr id="16" name="Rectangle 15"/>
          <p:cNvSpPr/>
          <p:nvPr/>
        </p:nvSpPr>
        <p:spPr>
          <a:xfrm>
            <a:off x="256032" y="1935236"/>
            <a:ext cx="4160520" cy="1190000"/>
          </a:xfrm>
          <a:prstGeom prst="rect">
            <a:avLst/>
          </a:prstGeom>
          <a:solidFill>
            <a:srgbClr val="120E04"/>
          </a:solidFill>
          <a:ln w="19050">
            <a:solidFill>
              <a:srgbClr val="FF8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935236"/>
            <a:ext cx="40000" cy="1190000"/>
          </a:xfrm>
          <a:prstGeom prst="rect">
            <a:avLst/>
          </a:prstGeom>
          <a:solidFill>
            <a:srgbClr val="FF8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6032" y="1985236"/>
            <a:ext cx="4070520" cy="255000"/>
          </a:xfrm>
          <a:prstGeom prst="rect">
            <a:avLst/>
          </a:prstGeom>
          <a:noFill/>
        </p:spPr>
        <p:txBody>
          <a:bodyPr wrap="square">
            <a:spAutoFit/>
          </a:bodyPr>
          <a:lstStyle/>
          <a:p>
            <a:pPr algn="l"/>
            <a:r>
              <a:rPr sz="950" b="1">
                <a:solidFill>
                  <a:srgbClr val="FF8822"/>
                </a:solidFill>
                <a:latin typeface="游明朝"/>
              </a:rPr>
              <a:t>③ キャラの格＝期待度の直感UX</a:t>
            </a:r>
          </a:p>
        </p:txBody>
      </p:sp>
      <p:sp>
        <p:nvSpPr>
          <p:cNvPr id="19" name="TextBox 18"/>
          <p:cNvSpPr txBox="1"/>
          <p:nvPr/>
        </p:nvSpPr>
        <p:spPr>
          <a:xfrm>
            <a:off x="326032" y="2255236"/>
            <a:ext cx="4070520" cy="805000"/>
          </a:xfrm>
          <a:prstGeom prst="rect">
            <a:avLst/>
          </a:prstGeom>
          <a:noFill/>
        </p:spPr>
        <p:txBody>
          <a:bodyPr wrap="square">
            <a:spAutoFit/>
          </a:bodyPr>
          <a:lstStyle/>
          <a:p>
            <a:pPr algn="l"/>
            <a:r>
              <a:rPr sz="800" b="0">
                <a:solidFill>
                  <a:srgbClr val="F2EEE0"/>
                </a:solidFill>
                <a:latin typeface="メイリオ"/>
              </a:rPr>
              <a:t>マイキー登場&gt;稀咲登場&gt;他キャラという原作ヒエラルキーが
そのままCZ期待度に対応。
原作ファン・初心者両方が演出を見ただけで期待度を把握できる。</a:t>
            </a:r>
          </a:p>
        </p:txBody>
      </p:sp>
      <p:sp>
        <p:nvSpPr>
          <p:cNvPr id="20" name="Rectangle 19"/>
          <p:cNvSpPr/>
          <p:nvPr/>
        </p:nvSpPr>
        <p:spPr>
          <a:xfrm>
            <a:off x="4727448" y="1935236"/>
            <a:ext cx="4160520" cy="1190000"/>
          </a:xfrm>
          <a:prstGeom prst="rect">
            <a:avLst/>
          </a:prstGeom>
          <a:solidFill>
            <a:srgbClr val="120E04"/>
          </a:solidFill>
          <a:ln w="1905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27448" y="1935236"/>
            <a:ext cx="40000" cy="1190000"/>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97448" y="1985236"/>
            <a:ext cx="4070520" cy="255000"/>
          </a:xfrm>
          <a:prstGeom prst="rect">
            <a:avLst/>
          </a:prstGeom>
          <a:noFill/>
        </p:spPr>
        <p:txBody>
          <a:bodyPr wrap="square">
            <a:spAutoFit/>
          </a:bodyPr>
          <a:lstStyle/>
          <a:p>
            <a:pPr algn="l"/>
            <a:r>
              <a:rPr sz="950" b="1">
                <a:solidFill>
                  <a:srgbClr val="CCAA30"/>
                </a:solidFill>
                <a:latin typeface="游明朝"/>
              </a:rPr>
              <a:t>④ 2段AT（通常→BURST）による目標の多層化</a:t>
            </a:r>
          </a:p>
        </p:txBody>
      </p:sp>
      <p:sp>
        <p:nvSpPr>
          <p:cNvPr id="23" name="TextBox 22"/>
          <p:cNvSpPr txBox="1"/>
          <p:nvPr/>
        </p:nvSpPr>
        <p:spPr>
          <a:xfrm>
            <a:off x="4797448" y="2255236"/>
            <a:ext cx="4070520" cy="805000"/>
          </a:xfrm>
          <a:prstGeom prst="rect">
            <a:avLst/>
          </a:prstGeom>
          <a:noFill/>
        </p:spPr>
        <p:txBody>
          <a:bodyPr wrap="square">
            <a:spAutoFit/>
          </a:bodyPr>
          <a:lstStyle/>
          <a:p>
            <a:pPr algn="l"/>
            <a:r>
              <a:rPr sz="800" b="0">
                <a:solidFill>
                  <a:srgbClr val="F2EEE0"/>
                </a:solidFill>
                <a:latin typeface="メイリオ"/>
              </a:rPr>
              <a:t>通常ATでは「黒い衝動」を目指し、
BURSTではさらに高い天井を狙う。
常に「上のモード」が見えており
プレイヤーの離席を自然に抑制する多層目標設計。</a:t>
            </a:r>
          </a:p>
        </p:txBody>
      </p:sp>
      <p:sp>
        <p:nvSpPr>
          <p:cNvPr id="24" name="Rectangle 23"/>
          <p:cNvSpPr/>
          <p:nvPr/>
        </p:nvSpPr>
        <p:spPr>
          <a:xfrm>
            <a:off x="256032" y="3212104"/>
            <a:ext cx="8631936" cy="1080000"/>
          </a:xfrm>
          <a:prstGeom prst="rect">
            <a:avLst/>
          </a:prstGeom>
          <a:solidFill>
            <a:srgbClr val="120E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6032" y="3212104"/>
            <a:ext cx="40000" cy="108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032" y="3262104"/>
            <a:ext cx="8541936" cy="255000"/>
          </a:xfrm>
          <a:prstGeom prst="rect">
            <a:avLst/>
          </a:prstGeom>
          <a:noFill/>
        </p:spPr>
        <p:txBody>
          <a:bodyPr wrap="square">
            <a:spAutoFit/>
          </a:bodyPr>
          <a:lstStyle/>
          <a:p>
            <a:pPr algn="l"/>
            <a:r>
              <a:rPr sz="950" b="1">
                <a:solidFill>
                  <a:srgbClr val="22CCDD"/>
                </a:solidFill>
                <a:latin typeface="游明朝"/>
              </a:rPr>
              <a:t>⑤ 差枚数管理型ATによる「残り時間の見える化」</a:t>
            </a:r>
          </a:p>
        </p:txBody>
      </p:sp>
      <p:sp>
        <p:nvSpPr>
          <p:cNvPr id="27" name="TextBox 26"/>
          <p:cNvSpPr txBox="1"/>
          <p:nvPr/>
        </p:nvSpPr>
        <p:spPr>
          <a:xfrm>
            <a:off x="326032" y="3532104"/>
            <a:ext cx="8541936" cy="695000"/>
          </a:xfrm>
          <a:prstGeom prst="rect">
            <a:avLst/>
          </a:prstGeom>
          <a:noFill/>
        </p:spPr>
        <p:txBody>
          <a:bodyPr wrap="square">
            <a:spAutoFit/>
          </a:bodyPr>
          <a:lstStyle/>
          <a:p>
            <a:pPr algn="l"/>
            <a:r>
              <a:rPr sz="800" b="0">
                <a:solidFill>
                  <a:srgbClr val="F2EEE0"/>
                </a:solidFill>
                <a:latin typeface="メイリオ"/>
              </a:rPr>
              <a:t>差枚数管理型なので「あと何枚で終わる」が
常にわかる。上乗せするたびに終了が遠のく設計が
上乗せ演出の達成感を増幅させる仕組み。</a:t>
            </a:r>
          </a:p>
        </p:txBody>
      </p:sp>
      <p:sp>
        <p:nvSpPr>
          <p:cNvPr id="28" name="TextBox 27"/>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29" name="Rectangle 28"/>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面白さの核心：「周期メリハリ・リトライ納得感・キャラ期待度直感・2段目標・差枚数見える化」の5要素が相互に機能</a:t>
            </a:r>
          </a:p>
        </p:txBody>
      </p:sp>
      <p:sp>
        <p:nvSpPr>
          <p:cNvPr id="32" name="TextBox 31"/>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タイムリープという原作の核心テーマをパチスロの再チャレンジ設計に転用した点が本機最大の設計的発明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良い点と課題 ── 設計の強みと改善余地</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8/9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14800" cy="260000"/>
          </a:xfrm>
          <a:prstGeom prst="rect">
            <a:avLst/>
          </a:prstGeom>
          <a:solidFill>
            <a:srgbClr val="33B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34800" cy="200000"/>
          </a:xfrm>
          <a:prstGeom prst="rect">
            <a:avLst/>
          </a:prstGeom>
          <a:noFill/>
        </p:spPr>
        <p:txBody>
          <a:bodyPr wrap="square">
            <a:spAutoFit/>
          </a:bodyPr>
          <a:lstStyle/>
          <a:p>
            <a:pPr algn="l"/>
            <a:r>
              <a:rPr sz="1000" b="1">
                <a:solidFill>
                  <a:srgbClr val="080602"/>
                </a:solidFill>
                <a:latin typeface="メイリオ"/>
              </a:rPr>
              <a:t>良い点 ── 設計的強み</a:t>
            </a:r>
          </a:p>
        </p:txBody>
      </p:sp>
      <p:sp>
        <p:nvSpPr>
          <p:cNvPr id="10" name="Rectangle 9"/>
          <p:cNvSpPr/>
          <p:nvPr/>
        </p:nvSpPr>
        <p:spPr>
          <a:xfrm>
            <a:off x="256032" y="918368"/>
            <a:ext cx="4114800" cy="1065000"/>
          </a:xfrm>
          <a:prstGeom prst="rect">
            <a:avLst/>
          </a:prstGeom>
          <a:solidFill>
            <a:srgbClr val="120E04"/>
          </a:solidFill>
          <a:ln w="15240">
            <a:solidFill>
              <a:srgbClr val="33B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18368"/>
            <a:ext cx="35000" cy="1065000"/>
          </a:xfrm>
          <a:prstGeom prst="rect">
            <a:avLst/>
          </a:prstGeom>
          <a:solidFill>
            <a:srgbClr val="33B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6032" y="966368"/>
            <a:ext cx="4034800" cy="248000"/>
          </a:xfrm>
          <a:prstGeom prst="rect">
            <a:avLst/>
          </a:prstGeom>
          <a:noFill/>
        </p:spPr>
        <p:txBody>
          <a:bodyPr wrap="square">
            <a:spAutoFit/>
          </a:bodyPr>
          <a:lstStyle/>
          <a:p>
            <a:pPr algn="l"/>
            <a:r>
              <a:rPr sz="850" b="1">
                <a:solidFill>
                  <a:srgbClr val="33BB66"/>
                </a:solidFill>
                <a:latin typeface="メイリオ"/>
              </a:rPr>
              <a:t>周期システムで毎周期にメリハリ</a:t>
            </a:r>
          </a:p>
        </p:txBody>
      </p:sp>
      <p:sp>
        <p:nvSpPr>
          <p:cNvPr id="13" name="TextBox 12"/>
          <p:cNvSpPr txBox="1"/>
          <p:nvPr/>
        </p:nvSpPr>
        <p:spPr>
          <a:xfrm>
            <a:off x="316032" y="1216368"/>
            <a:ext cx="4034800" cy="660000"/>
          </a:xfrm>
          <a:prstGeom prst="rect">
            <a:avLst/>
          </a:prstGeom>
          <a:noFill/>
        </p:spPr>
        <p:txBody>
          <a:bodyPr wrap="square">
            <a:spAutoFit/>
          </a:bodyPr>
          <a:lstStyle/>
          <a:p>
            <a:pPr algn="l"/>
            <a:r>
              <a:rPr sz="750" b="0">
                <a:solidFill>
                  <a:srgbClr val="F2EEE0"/>
                </a:solidFill>
                <a:latin typeface="メイリオ"/>
              </a:rPr>
              <a:t>最大6周期の構造で「いつかは当たる」安心感と
「今周期こそ」の緊張感が同居。
単純なゲーム数天井より体感的に飽きにくい。</a:t>
            </a:r>
          </a:p>
        </p:txBody>
      </p:sp>
      <p:sp>
        <p:nvSpPr>
          <p:cNvPr id="14" name="Rectangle 13"/>
          <p:cNvSpPr/>
          <p:nvPr/>
        </p:nvSpPr>
        <p:spPr>
          <a:xfrm>
            <a:off x="256032" y="2050368"/>
            <a:ext cx="4114800" cy="1065000"/>
          </a:xfrm>
          <a:prstGeom prst="rect">
            <a:avLst/>
          </a:prstGeom>
          <a:solidFill>
            <a:srgbClr val="120E04"/>
          </a:solidFill>
          <a:ln w="15240">
            <a:solidFill>
              <a:srgbClr val="33B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050368"/>
            <a:ext cx="35000" cy="1065000"/>
          </a:xfrm>
          <a:prstGeom prst="rect">
            <a:avLst/>
          </a:prstGeom>
          <a:solidFill>
            <a:srgbClr val="33B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6032" y="2098368"/>
            <a:ext cx="4034800" cy="248000"/>
          </a:xfrm>
          <a:prstGeom prst="rect">
            <a:avLst/>
          </a:prstGeom>
          <a:noFill/>
        </p:spPr>
        <p:txBody>
          <a:bodyPr wrap="square">
            <a:spAutoFit/>
          </a:bodyPr>
          <a:lstStyle/>
          <a:p>
            <a:pPr algn="l"/>
            <a:r>
              <a:rPr sz="850" b="1">
                <a:solidFill>
                  <a:srgbClr val="33BB66"/>
                </a:solidFill>
                <a:latin typeface="メイリオ"/>
              </a:rPr>
              <a:t>2段AT（3.2枚→8.0枚）の爆発力差</a:t>
            </a:r>
          </a:p>
        </p:txBody>
      </p:sp>
      <p:sp>
        <p:nvSpPr>
          <p:cNvPr id="17" name="TextBox 16"/>
          <p:cNvSpPr txBox="1"/>
          <p:nvPr/>
        </p:nvSpPr>
        <p:spPr>
          <a:xfrm>
            <a:off x="316032" y="2348368"/>
            <a:ext cx="4034800" cy="660000"/>
          </a:xfrm>
          <a:prstGeom prst="rect">
            <a:avLst/>
          </a:prstGeom>
          <a:noFill/>
        </p:spPr>
        <p:txBody>
          <a:bodyPr wrap="square">
            <a:spAutoFit/>
          </a:bodyPr>
          <a:lstStyle/>
          <a:p>
            <a:pPr algn="l"/>
            <a:r>
              <a:rPr sz="750" b="0">
                <a:solidFill>
                  <a:srgbClr val="F2EEE0"/>
                </a:solidFill>
                <a:latin typeface="メイリオ"/>
              </a:rPr>
              <a:t>BURSTの純増8.0枚はスマスロでも高水準。
継続率80%と重なり、BURST継続時の
コイン増加速度は圧倒的な体感出玉を生む。</a:t>
            </a:r>
          </a:p>
        </p:txBody>
      </p:sp>
      <p:sp>
        <p:nvSpPr>
          <p:cNvPr id="18" name="Rectangle 17"/>
          <p:cNvSpPr/>
          <p:nvPr/>
        </p:nvSpPr>
        <p:spPr>
          <a:xfrm>
            <a:off x="256032" y="3182368"/>
            <a:ext cx="4114800" cy="1065000"/>
          </a:xfrm>
          <a:prstGeom prst="rect">
            <a:avLst/>
          </a:prstGeom>
          <a:solidFill>
            <a:srgbClr val="120E04"/>
          </a:solidFill>
          <a:ln w="15240">
            <a:solidFill>
              <a:srgbClr val="33B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182368"/>
            <a:ext cx="35000" cy="1065000"/>
          </a:xfrm>
          <a:prstGeom prst="rect">
            <a:avLst/>
          </a:prstGeom>
          <a:solidFill>
            <a:srgbClr val="33B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6032" y="3230368"/>
            <a:ext cx="4034800" cy="248000"/>
          </a:xfrm>
          <a:prstGeom prst="rect">
            <a:avLst/>
          </a:prstGeom>
          <a:noFill/>
        </p:spPr>
        <p:txBody>
          <a:bodyPr wrap="square">
            <a:spAutoFit/>
          </a:bodyPr>
          <a:lstStyle/>
          <a:p>
            <a:pPr algn="l"/>
            <a:r>
              <a:rPr sz="850" b="1">
                <a:solidFill>
                  <a:srgbClr val="33BB66"/>
                </a:solidFill>
                <a:latin typeface="メイリオ"/>
              </a:rPr>
              <a:t>原作世界観を活かした演出設計</a:t>
            </a:r>
          </a:p>
        </p:txBody>
      </p:sp>
      <p:sp>
        <p:nvSpPr>
          <p:cNvPr id="21" name="TextBox 20"/>
          <p:cNvSpPr txBox="1"/>
          <p:nvPr/>
        </p:nvSpPr>
        <p:spPr>
          <a:xfrm>
            <a:off x="316032" y="3480368"/>
            <a:ext cx="4034800" cy="660000"/>
          </a:xfrm>
          <a:prstGeom prst="rect">
            <a:avLst/>
          </a:prstGeom>
          <a:noFill/>
        </p:spPr>
        <p:txBody>
          <a:bodyPr wrap="square">
            <a:spAutoFit/>
          </a:bodyPr>
          <a:lstStyle/>
          <a:p>
            <a:pPr algn="l"/>
            <a:r>
              <a:rPr sz="750" b="0">
                <a:solidFill>
                  <a:srgbClr val="F2EEE0"/>
                </a:solidFill>
                <a:latin typeface="メイリオ"/>
              </a:rPr>
              <a:t>タイムリープ・不良バトル・キャラ期待度の
3層構造で原作ファンと新規層を両方取り込む。
サミー史上最大の演出ボリュームを搭載。</a:t>
            </a:r>
          </a:p>
        </p:txBody>
      </p:sp>
      <p:sp>
        <p:nvSpPr>
          <p:cNvPr id="22" name="Rectangle 21"/>
          <p:cNvSpPr/>
          <p:nvPr/>
        </p:nvSpPr>
        <p:spPr>
          <a:xfrm>
            <a:off x="256032" y="4314368"/>
            <a:ext cx="4114800" cy="1065000"/>
          </a:xfrm>
          <a:prstGeom prst="rect">
            <a:avLst/>
          </a:prstGeom>
          <a:solidFill>
            <a:srgbClr val="120E04"/>
          </a:solidFill>
          <a:ln w="15240">
            <a:solidFill>
              <a:srgbClr val="33B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 y="4314368"/>
            <a:ext cx="35000" cy="1065000"/>
          </a:xfrm>
          <a:prstGeom prst="rect">
            <a:avLst/>
          </a:prstGeom>
          <a:solidFill>
            <a:srgbClr val="33B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6032" y="4362368"/>
            <a:ext cx="4034800" cy="248000"/>
          </a:xfrm>
          <a:prstGeom prst="rect">
            <a:avLst/>
          </a:prstGeom>
          <a:noFill/>
        </p:spPr>
        <p:txBody>
          <a:bodyPr wrap="square">
            <a:spAutoFit/>
          </a:bodyPr>
          <a:lstStyle/>
          <a:p>
            <a:pPr algn="l"/>
            <a:r>
              <a:rPr sz="850" b="1">
                <a:solidFill>
                  <a:srgbClr val="33BB66"/>
                </a:solidFill>
                <a:latin typeface="メイリオ"/>
              </a:rPr>
              <a:t>差枚数管理型の透明性・UX</a:t>
            </a:r>
          </a:p>
        </p:txBody>
      </p:sp>
      <p:sp>
        <p:nvSpPr>
          <p:cNvPr id="25" name="TextBox 24"/>
          <p:cNvSpPr txBox="1"/>
          <p:nvPr/>
        </p:nvSpPr>
        <p:spPr>
          <a:xfrm>
            <a:off x="316032" y="4612368"/>
            <a:ext cx="4034800" cy="660000"/>
          </a:xfrm>
          <a:prstGeom prst="rect">
            <a:avLst/>
          </a:prstGeom>
          <a:noFill/>
        </p:spPr>
        <p:txBody>
          <a:bodyPr wrap="square">
            <a:spAutoFit/>
          </a:bodyPr>
          <a:lstStyle/>
          <a:p>
            <a:pPr algn="l"/>
            <a:r>
              <a:rPr sz="750" b="0">
                <a:solidFill>
                  <a:srgbClr val="F2EEE0"/>
                </a:solidFill>
                <a:latin typeface="メイリオ"/>
              </a:rPr>
              <a:t>「あと○枚」という残数可視化が
上乗せ演出の達成感を直接的に高め
「もう少しで終わる→上乗せしたい！」の循環を生む。</a:t>
            </a:r>
          </a:p>
        </p:txBody>
      </p:sp>
      <p:sp>
        <p:nvSpPr>
          <p:cNvPr id="26" name="Rectangle 25"/>
          <p:cNvSpPr/>
          <p:nvPr/>
        </p:nvSpPr>
        <p:spPr>
          <a:xfrm>
            <a:off x="4572000" y="658368"/>
            <a:ext cx="4297680" cy="260000"/>
          </a:xfrm>
          <a:prstGeom prst="rect">
            <a:avLst/>
          </a:prstGeom>
          <a:solidFill>
            <a:srgbClr val="DD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000" y="713368"/>
            <a:ext cx="4217680" cy="200000"/>
          </a:xfrm>
          <a:prstGeom prst="rect">
            <a:avLst/>
          </a:prstGeom>
          <a:noFill/>
        </p:spPr>
        <p:txBody>
          <a:bodyPr wrap="square">
            <a:spAutoFit/>
          </a:bodyPr>
          <a:lstStyle/>
          <a:p>
            <a:pPr algn="l"/>
            <a:r>
              <a:rPr sz="1000" b="1">
                <a:solidFill>
                  <a:srgbClr val="F2EEE0"/>
                </a:solidFill>
                <a:latin typeface="メイリオ"/>
              </a:rPr>
              <a:t>課題 ── 改善余地・注意点</a:t>
            </a:r>
          </a:p>
        </p:txBody>
      </p:sp>
      <p:sp>
        <p:nvSpPr>
          <p:cNvPr id="28" name="Rectangle 27"/>
          <p:cNvSpPr/>
          <p:nvPr/>
        </p:nvSpPr>
        <p:spPr>
          <a:xfrm>
            <a:off x="4572000" y="918368"/>
            <a:ext cx="4297680" cy="1065000"/>
          </a:xfrm>
          <a:prstGeom prst="rect">
            <a:avLst/>
          </a:prstGeom>
          <a:solidFill>
            <a:srgbClr val="120E04"/>
          </a:solidFill>
          <a:ln w="15240">
            <a:solidFill>
              <a:srgbClr val="DD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918368"/>
            <a:ext cx="35000" cy="1065000"/>
          </a:xfrm>
          <a:prstGeom prst="rect">
            <a:avLst/>
          </a:prstGeom>
          <a:solidFill>
            <a:srgbClr val="DD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32000" y="966368"/>
            <a:ext cx="4217680" cy="248000"/>
          </a:xfrm>
          <a:prstGeom prst="rect">
            <a:avLst/>
          </a:prstGeom>
          <a:noFill/>
        </p:spPr>
        <p:txBody>
          <a:bodyPr wrap="square">
            <a:spAutoFit/>
          </a:bodyPr>
          <a:lstStyle/>
          <a:p>
            <a:pPr algn="l"/>
            <a:r>
              <a:rPr sz="850" b="1">
                <a:solidFill>
                  <a:srgbClr val="DD2222"/>
                </a:solidFill>
                <a:latin typeface="メイリオ"/>
              </a:rPr>
              <a:t>通常ATの出玉スピードが物足りない</a:t>
            </a:r>
          </a:p>
        </p:txBody>
      </p:sp>
      <p:sp>
        <p:nvSpPr>
          <p:cNvPr id="31" name="TextBox 30"/>
          <p:cNvSpPr txBox="1"/>
          <p:nvPr/>
        </p:nvSpPr>
        <p:spPr>
          <a:xfrm>
            <a:off x="4632000" y="1216368"/>
            <a:ext cx="4217680" cy="660000"/>
          </a:xfrm>
          <a:prstGeom prst="rect">
            <a:avLst/>
          </a:prstGeom>
          <a:noFill/>
        </p:spPr>
        <p:txBody>
          <a:bodyPr wrap="square">
            <a:spAutoFit/>
          </a:bodyPr>
          <a:lstStyle/>
          <a:p>
            <a:pPr algn="l"/>
            <a:r>
              <a:rPr sz="750" b="0">
                <a:solidFill>
                  <a:srgbClr val="F2EEE0"/>
                </a:solidFill>
                <a:latin typeface="メイリオ"/>
              </a:rPr>
              <a:t>純増3.2枚/Gは近年のスマスロとして
「遅い」と感じるユーザーも多い。
BURST前の通常AT消化が単調になりやすい。</a:t>
            </a:r>
          </a:p>
        </p:txBody>
      </p:sp>
      <p:sp>
        <p:nvSpPr>
          <p:cNvPr id="32" name="Rectangle 31"/>
          <p:cNvSpPr/>
          <p:nvPr/>
        </p:nvSpPr>
        <p:spPr>
          <a:xfrm>
            <a:off x="4572000" y="2050368"/>
            <a:ext cx="4297680" cy="1065000"/>
          </a:xfrm>
          <a:prstGeom prst="rect">
            <a:avLst/>
          </a:prstGeom>
          <a:solidFill>
            <a:srgbClr val="120E04"/>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2050368"/>
            <a:ext cx="35000" cy="1065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32000" y="2098368"/>
            <a:ext cx="4217680" cy="248000"/>
          </a:xfrm>
          <a:prstGeom prst="rect">
            <a:avLst/>
          </a:prstGeom>
          <a:noFill/>
        </p:spPr>
        <p:txBody>
          <a:bodyPr wrap="square">
            <a:spAutoFit/>
          </a:bodyPr>
          <a:lstStyle/>
          <a:p>
            <a:pPr algn="l"/>
            <a:r>
              <a:rPr sz="850" b="1">
                <a:solidFill>
                  <a:srgbClr val="FF6600"/>
                </a:solidFill>
                <a:latin typeface="メイリオ"/>
              </a:rPr>
              <a:t>評価が低め（DMMぱちタウン1.84/5点）</a:t>
            </a:r>
          </a:p>
        </p:txBody>
      </p:sp>
      <p:sp>
        <p:nvSpPr>
          <p:cNvPr id="35" name="TextBox 34"/>
          <p:cNvSpPr txBox="1"/>
          <p:nvPr/>
        </p:nvSpPr>
        <p:spPr>
          <a:xfrm>
            <a:off x="4632000" y="2348368"/>
            <a:ext cx="4217680" cy="660000"/>
          </a:xfrm>
          <a:prstGeom prst="rect">
            <a:avLst/>
          </a:prstGeom>
          <a:noFill/>
        </p:spPr>
        <p:txBody>
          <a:bodyPr wrap="square">
            <a:spAutoFit/>
          </a:bodyPr>
          <a:lstStyle/>
          <a:p>
            <a:pPr algn="l"/>
            <a:r>
              <a:rPr sz="750" b="0">
                <a:solidFill>
                  <a:srgbClr val="F2EEE0"/>
                </a:solidFill>
                <a:latin typeface="メイリオ"/>
              </a:rPr>
              <a:t>ユーザー評価は低評価が多い傾向。
「やってること自体はシンプル」との声も。
BURSTまでの道のりの長さが不満要因か。</a:t>
            </a:r>
          </a:p>
        </p:txBody>
      </p:sp>
      <p:sp>
        <p:nvSpPr>
          <p:cNvPr id="36" name="Rectangle 35"/>
          <p:cNvSpPr/>
          <p:nvPr/>
        </p:nvSpPr>
        <p:spPr>
          <a:xfrm>
            <a:off x="4572000" y="3182368"/>
            <a:ext cx="4297680" cy="1065000"/>
          </a:xfrm>
          <a:prstGeom prst="rect">
            <a:avLst/>
          </a:prstGeom>
          <a:solidFill>
            <a:srgbClr val="120E04"/>
          </a:solidFill>
          <a:ln w="15240">
            <a:solidFill>
              <a:srgbClr val="22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0" y="3182368"/>
            <a:ext cx="35000" cy="1065000"/>
          </a:xfrm>
          <a:prstGeom prst="rect">
            <a:avLst/>
          </a:prstGeom>
          <a:solidFill>
            <a:srgbClr val="22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32000" y="3230368"/>
            <a:ext cx="4217680" cy="248000"/>
          </a:xfrm>
          <a:prstGeom prst="rect">
            <a:avLst/>
          </a:prstGeom>
          <a:noFill/>
        </p:spPr>
        <p:txBody>
          <a:bodyPr wrap="square">
            <a:spAutoFit/>
          </a:bodyPr>
          <a:lstStyle/>
          <a:p>
            <a:pPr algn="l"/>
            <a:r>
              <a:rPr sz="850" b="1">
                <a:solidFill>
                  <a:srgbClr val="2266CC"/>
                </a:solidFill>
                <a:latin typeface="メイリオ"/>
              </a:rPr>
              <a:t>BURST到達ルートがやや不透明</a:t>
            </a:r>
          </a:p>
        </p:txBody>
      </p:sp>
      <p:sp>
        <p:nvSpPr>
          <p:cNvPr id="39" name="TextBox 38"/>
          <p:cNvSpPr txBox="1"/>
          <p:nvPr/>
        </p:nvSpPr>
        <p:spPr>
          <a:xfrm>
            <a:off x="4632000" y="3480368"/>
            <a:ext cx="4217680" cy="660000"/>
          </a:xfrm>
          <a:prstGeom prst="rect">
            <a:avLst/>
          </a:prstGeom>
          <a:noFill/>
        </p:spPr>
        <p:txBody>
          <a:bodyPr wrap="square">
            <a:spAutoFit/>
          </a:bodyPr>
          <a:lstStyle/>
          <a:p>
            <a:pPr algn="l"/>
            <a:r>
              <a:rPr sz="750" b="0">
                <a:solidFill>
                  <a:srgbClr val="F2EEE0"/>
                </a:solidFill>
                <a:latin typeface="メイリオ"/>
              </a:rPr>
              <a:t>リベンジチャンスの発生条件が
解析情報が少なく内部が不透明。
「BURST何回でも引けない」不満につながる場面も。</a:t>
            </a:r>
          </a:p>
        </p:txBody>
      </p:sp>
      <p:sp>
        <p:nvSpPr>
          <p:cNvPr id="40" name="Rectangle 39"/>
          <p:cNvSpPr/>
          <p:nvPr/>
        </p:nvSpPr>
        <p:spPr>
          <a:xfrm>
            <a:off x="4572000" y="4314368"/>
            <a:ext cx="4297680" cy="1065000"/>
          </a:xfrm>
          <a:prstGeom prst="rect">
            <a:avLst/>
          </a:prstGeom>
          <a:solidFill>
            <a:srgbClr val="120E04"/>
          </a:solidFill>
          <a:ln w="15240">
            <a:solidFill>
              <a:srgbClr val="9988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4314368"/>
            <a:ext cx="35000" cy="1065000"/>
          </a:xfrm>
          <a:prstGeom prst="rect">
            <a:avLst/>
          </a:prstGeom>
          <a:solidFill>
            <a:srgbClr val="998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32000" y="4362368"/>
            <a:ext cx="4217680" cy="248000"/>
          </a:xfrm>
          <a:prstGeom prst="rect">
            <a:avLst/>
          </a:prstGeom>
          <a:noFill/>
        </p:spPr>
        <p:txBody>
          <a:bodyPr wrap="square">
            <a:spAutoFit/>
          </a:bodyPr>
          <a:lstStyle/>
          <a:p>
            <a:pPr algn="l"/>
            <a:r>
              <a:rPr sz="850" b="1">
                <a:solidFill>
                  <a:srgbClr val="998870"/>
                </a:solidFill>
                <a:latin typeface="メイリオ"/>
              </a:rPr>
              <a:t>設定差・設定判別の難易度</a:t>
            </a:r>
          </a:p>
        </p:txBody>
      </p:sp>
      <p:sp>
        <p:nvSpPr>
          <p:cNvPr id="43" name="TextBox 42"/>
          <p:cNvSpPr txBox="1"/>
          <p:nvPr/>
        </p:nvSpPr>
        <p:spPr>
          <a:xfrm>
            <a:off x="4632000" y="4612368"/>
            <a:ext cx="4217680" cy="660000"/>
          </a:xfrm>
          <a:prstGeom prst="rect">
            <a:avLst/>
          </a:prstGeom>
          <a:noFill/>
        </p:spPr>
        <p:txBody>
          <a:bodyPr wrap="square">
            <a:spAutoFit/>
          </a:bodyPr>
          <a:lstStyle/>
          <a:p>
            <a:pPr algn="l"/>
            <a:r>
              <a:rPr sz="750" b="0">
                <a:solidFill>
                  <a:srgbClr val="F2EEE0"/>
                </a:solidFill>
                <a:latin typeface="メイリオ"/>
              </a:rPr>
              <a:t>設定差が明確な箇所が限られ
高設定確信まで時間がかかる。
低設定時の機械割が99%未満になる場合も。</a:t>
            </a:r>
          </a:p>
        </p:txBody>
      </p:sp>
      <p:sp>
        <p:nvSpPr>
          <p:cNvPr id="44" name="TextBox 43"/>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45" name="Rectangle 44"/>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課題の本質：通常ATの体感薄さとBURST到達不透明感が改善されれば評価は大きく変わる可能性がある</a:t>
            </a:r>
          </a:p>
        </p:txBody>
      </p:sp>
      <p:sp>
        <p:nvSpPr>
          <p:cNvPr id="48" name="TextBox 47"/>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ユーザー評価1.84点という低評価は「やり取り中の退屈さ」が大きな要因。それだけBURST時の感動は大きい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20E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6600"/>
                </a:solidFill>
                <a:latin typeface="游明朝"/>
              </a:rPr>
              <a:t>まとめ ── 設計から学べること</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70"/>
                </a:solidFill>
                <a:latin typeface="メイリオ"/>
              </a:rPr>
              <a:t>9/9</a:t>
            </a:r>
          </a:p>
        </p:txBody>
      </p:sp>
      <p:sp>
        <p:nvSpPr>
          <p:cNvPr id="7" name="Rectangle 6"/>
          <p:cNvSpPr/>
          <p:nvPr/>
        </p:nvSpPr>
        <p:spPr>
          <a:xfrm>
            <a:off x="0" y="530352"/>
            <a:ext cx="9144000" cy="7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14800" cy="260000"/>
          </a:xfrm>
          <a:prstGeom prst="rect">
            <a:avLst/>
          </a:prstGeom>
          <a:solidFill>
            <a:srgbClr val="552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34800" cy="200000"/>
          </a:xfrm>
          <a:prstGeom prst="rect">
            <a:avLst/>
          </a:prstGeom>
          <a:noFill/>
        </p:spPr>
        <p:txBody>
          <a:bodyPr wrap="square">
            <a:spAutoFit/>
          </a:bodyPr>
          <a:lstStyle/>
          <a:p>
            <a:pPr algn="l"/>
            <a:r>
              <a:rPr sz="1000" b="1">
                <a:solidFill>
                  <a:srgbClr val="FF6600"/>
                </a:solidFill>
                <a:latin typeface="メイリオ"/>
              </a:rPr>
              <a:t>スマスロ東京リベンジャーズ ── 設計的強み総括</a:t>
            </a:r>
          </a:p>
        </p:txBody>
      </p:sp>
      <p:sp>
        <p:nvSpPr>
          <p:cNvPr id="10" name="Rectangle 9"/>
          <p:cNvSpPr/>
          <p:nvPr/>
        </p:nvSpPr>
        <p:spPr>
          <a:xfrm>
            <a:off x="256032" y="918368"/>
            <a:ext cx="4114800" cy="1205000"/>
          </a:xfrm>
          <a:prstGeom prst="rect">
            <a:avLst/>
          </a:prstGeom>
          <a:solidFill>
            <a:srgbClr val="120E04"/>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18368"/>
            <a:ext cx="40000" cy="1205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032" y="968368"/>
            <a:ext cx="4024800" cy="255000"/>
          </a:xfrm>
          <a:prstGeom prst="rect">
            <a:avLst/>
          </a:prstGeom>
          <a:noFill/>
        </p:spPr>
        <p:txBody>
          <a:bodyPr wrap="square">
            <a:spAutoFit/>
          </a:bodyPr>
          <a:lstStyle/>
          <a:p>
            <a:pPr algn="l"/>
            <a:r>
              <a:rPr sz="900" b="1">
                <a:solidFill>
                  <a:srgbClr val="FF6600"/>
                </a:solidFill>
                <a:latin typeface="メイリオ"/>
              </a:rPr>
              <a:t>タイムリープ転用という設計的発明</a:t>
            </a:r>
          </a:p>
        </p:txBody>
      </p:sp>
      <p:sp>
        <p:nvSpPr>
          <p:cNvPr id="13" name="TextBox 12"/>
          <p:cNvSpPr txBox="1"/>
          <p:nvPr/>
        </p:nvSpPr>
        <p:spPr>
          <a:xfrm>
            <a:off x="326032" y="1238368"/>
            <a:ext cx="4024800" cy="775000"/>
          </a:xfrm>
          <a:prstGeom prst="rect">
            <a:avLst/>
          </a:prstGeom>
          <a:noFill/>
        </p:spPr>
        <p:txBody>
          <a:bodyPr wrap="square">
            <a:spAutoFit/>
          </a:bodyPr>
          <a:lstStyle/>
          <a:p>
            <a:pPr algn="l"/>
            <a:r>
              <a:rPr sz="800" b="0">
                <a:solidFill>
                  <a:srgbClr val="F2EEE0"/>
                </a:solidFill>
                <a:latin typeface="メイリオ"/>
              </a:rPr>
              <a:t>原作の核心テーマ「何度でも過去に戻りやり直す」を
CZ失敗後の再挑戦演出に完全転用。
負け体験を物語体験に変換した点が唯一無二。</a:t>
            </a:r>
          </a:p>
        </p:txBody>
      </p:sp>
      <p:sp>
        <p:nvSpPr>
          <p:cNvPr id="14" name="Rectangle 13"/>
          <p:cNvSpPr/>
          <p:nvPr/>
        </p:nvSpPr>
        <p:spPr>
          <a:xfrm>
            <a:off x="256032" y="2193368"/>
            <a:ext cx="4114800" cy="1205000"/>
          </a:xfrm>
          <a:prstGeom prst="rect">
            <a:avLst/>
          </a:prstGeom>
          <a:solidFill>
            <a:srgbClr val="120E04"/>
          </a:solidFill>
          <a:ln w="19050">
            <a:solidFill>
              <a:srgbClr val="FFD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193368"/>
            <a:ext cx="40000" cy="1205000"/>
          </a:xfrm>
          <a:prstGeom prst="rect">
            <a:avLst/>
          </a:prstGeom>
          <a:solidFill>
            <a:srgbClr val="FFD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032" y="2243368"/>
            <a:ext cx="4024800" cy="255000"/>
          </a:xfrm>
          <a:prstGeom prst="rect">
            <a:avLst/>
          </a:prstGeom>
          <a:noFill/>
        </p:spPr>
        <p:txBody>
          <a:bodyPr wrap="square">
            <a:spAutoFit/>
          </a:bodyPr>
          <a:lstStyle/>
          <a:p>
            <a:pPr algn="l"/>
            <a:r>
              <a:rPr sz="900" b="1">
                <a:solidFill>
                  <a:srgbClr val="FFDD55"/>
                </a:solidFill>
                <a:latin typeface="メイリオ"/>
              </a:rPr>
              <a:t>2段AT構造で「通常とBURSTの格差」を演出</a:t>
            </a:r>
          </a:p>
        </p:txBody>
      </p:sp>
      <p:sp>
        <p:nvSpPr>
          <p:cNvPr id="17" name="TextBox 16"/>
          <p:cNvSpPr txBox="1"/>
          <p:nvPr/>
        </p:nvSpPr>
        <p:spPr>
          <a:xfrm>
            <a:off x="326032" y="2513368"/>
            <a:ext cx="4024800" cy="775000"/>
          </a:xfrm>
          <a:prstGeom prst="rect">
            <a:avLst/>
          </a:prstGeom>
          <a:noFill/>
        </p:spPr>
        <p:txBody>
          <a:bodyPr wrap="square">
            <a:spAutoFit/>
          </a:bodyPr>
          <a:lstStyle/>
          <a:p>
            <a:pPr algn="l"/>
            <a:r>
              <a:rPr sz="800" b="0">
                <a:solidFill>
                  <a:srgbClr val="F2EEE0"/>
                </a:solidFill>
                <a:latin typeface="メイリオ"/>
              </a:rPr>
              <a:t>純増3.2枚→8.0枚の大きな段差が
"BURSTに入ったときの特別感"を最大化。
継続率80%と組み合わせで爆発力のギャップが感情を揺さぶる。</a:t>
            </a:r>
          </a:p>
        </p:txBody>
      </p:sp>
      <p:sp>
        <p:nvSpPr>
          <p:cNvPr id="18" name="Rectangle 17"/>
          <p:cNvSpPr/>
          <p:nvPr/>
        </p:nvSpPr>
        <p:spPr>
          <a:xfrm>
            <a:off x="256032" y="3468368"/>
            <a:ext cx="4114800" cy="1205000"/>
          </a:xfrm>
          <a:prstGeom prst="rect">
            <a:avLst/>
          </a:prstGeom>
          <a:solidFill>
            <a:srgbClr val="120E04"/>
          </a:solidFill>
          <a:ln w="19050">
            <a:solidFill>
              <a:srgbClr val="44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468368"/>
            <a:ext cx="40000" cy="1205000"/>
          </a:xfrm>
          <a:prstGeom prst="rect">
            <a:avLst/>
          </a:prstGeom>
          <a:solidFill>
            <a:srgbClr val="44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6032" y="3518368"/>
            <a:ext cx="4024800" cy="255000"/>
          </a:xfrm>
          <a:prstGeom prst="rect">
            <a:avLst/>
          </a:prstGeom>
          <a:noFill/>
        </p:spPr>
        <p:txBody>
          <a:bodyPr wrap="square">
            <a:spAutoFit/>
          </a:bodyPr>
          <a:lstStyle/>
          <a:p>
            <a:pPr algn="l"/>
            <a:r>
              <a:rPr sz="900" b="1">
                <a:solidFill>
                  <a:srgbClr val="4499FF"/>
                </a:solidFill>
                <a:latin typeface="メイリオ"/>
              </a:rPr>
              <a:t>パチスロアワード2025ノミネートの評価軸</a:t>
            </a:r>
          </a:p>
        </p:txBody>
      </p:sp>
      <p:sp>
        <p:nvSpPr>
          <p:cNvPr id="21" name="TextBox 20"/>
          <p:cNvSpPr txBox="1"/>
          <p:nvPr/>
        </p:nvSpPr>
        <p:spPr>
          <a:xfrm>
            <a:off x="326032" y="3788368"/>
            <a:ext cx="4024800" cy="775000"/>
          </a:xfrm>
          <a:prstGeom prst="rect">
            <a:avLst/>
          </a:prstGeom>
          <a:noFill/>
        </p:spPr>
        <p:txBody>
          <a:bodyPr wrap="square">
            <a:spAutoFit/>
          </a:bodyPr>
          <a:lstStyle/>
          <a:p>
            <a:pPr algn="l"/>
            <a:r>
              <a:rPr sz="800" b="0">
                <a:solidFill>
                  <a:srgbClr val="F2EEE0"/>
                </a:solidFill>
                <a:latin typeface="メイリオ"/>
              </a:rPr>
              <a:t>演出ボリューム・世界観再現性・サミー新技術
という3軸でノミネートに値すると判断された。
ユーザー評価と業界評価の乖離が興味深いポイント。</a:t>
            </a:r>
          </a:p>
        </p:txBody>
      </p:sp>
      <p:sp>
        <p:nvSpPr>
          <p:cNvPr id="22" name="Rectangle 21"/>
          <p:cNvSpPr/>
          <p:nvPr/>
        </p:nvSpPr>
        <p:spPr>
          <a:xfrm>
            <a:off x="4572000" y="658368"/>
            <a:ext cx="4297680" cy="260000"/>
          </a:xfrm>
          <a:prstGeom prst="rect">
            <a:avLst/>
          </a:prstGeom>
          <a:solidFill>
            <a:srgbClr val="1A14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2000" y="713368"/>
            <a:ext cx="4217680" cy="200000"/>
          </a:xfrm>
          <a:prstGeom prst="rect">
            <a:avLst/>
          </a:prstGeom>
          <a:noFill/>
        </p:spPr>
        <p:txBody>
          <a:bodyPr wrap="square">
            <a:spAutoFit/>
          </a:bodyPr>
          <a:lstStyle/>
          <a:p>
            <a:pPr algn="l"/>
            <a:r>
              <a:rPr sz="1000" b="1">
                <a:solidFill>
                  <a:srgbClr val="FF6600"/>
                </a:solidFill>
                <a:latin typeface="游明朝"/>
              </a:rPr>
              <a:t>設計から学べる原則</a:t>
            </a:r>
          </a:p>
        </p:txBody>
      </p:sp>
      <p:sp>
        <p:nvSpPr>
          <p:cNvPr id="24" name="Rectangle 23"/>
          <p:cNvSpPr/>
          <p:nvPr/>
        </p:nvSpPr>
        <p:spPr>
          <a:xfrm>
            <a:off x="4572000" y="918368"/>
            <a:ext cx="4297680" cy="705000"/>
          </a:xfrm>
          <a:prstGeom prst="rect">
            <a:avLst/>
          </a:prstGeom>
          <a:solidFill>
            <a:srgbClr val="120E04"/>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918368"/>
            <a:ext cx="30000" cy="705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7000" y="966368"/>
            <a:ext cx="4222680" cy="228000"/>
          </a:xfrm>
          <a:prstGeom prst="rect">
            <a:avLst/>
          </a:prstGeom>
          <a:noFill/>
        </p:spPr>
        <p:txBody>
          <a:bodyPr wrap="square">
            <a:spAutoFit/>
          </a:bodyPr>
          <a:lstStyle/>
          <a:p>
            <a:pPr algn="l"/>
            <a:r>
              <a:rPr sz="850" b="1">
                <a:solidFill>
                  <a:srgbClr val="FF6600"/>
                </a:solidFill>
                <a:latin typeface="メイリオ"/>
              </a:rPr>
              <a:t>原作テーマをゲーム設計に転用せよ</a:t>
            </a:r>
          </a:p>
        </p:txBody>
      </p:sp>
      <p:sp>
        <p:nvSpPr>
          <p:cNvPr id="27" name="TextBox 26"/>
          <p:cNvSpPr txBox="1"/>
          <p:nvPr/>
        </p:nvSpPr>
        <p:spPr>
          <a:xfrm>
            <a:off x="4627000" y="1198368"/>
            <a:ext cx="4222680" cy="350000"/>
          </a:xfrm>
          <a:prstGeom prst="rect">
            <a:avLst/>
          </a:prstGeom>
          <a:noFill/>
        </p:spPr>
        <p:txBody>
          <a:bodyPr wrap="square">
            <a:spAutoFit/>
          </a:bodyPr>
          <a:lstStyle/>
          <a:p>
            <a:pPr algn="l"/>
            <a:r>
              <a:rPr sz="750" b="0">
                <a:solidFill>
                  <a:srgbClr val="F2EEE0"/>
                </a:solidFill>
                <a:latin typeface="メイリオ"/>
              </a:rPr>
              <a:t>タイムリープ=再挑戦設計という発明を参考に
物語の核心要素を遊技体験に変換する視点を持つ</a:t>
            </a:r>
          </a:p>
        </p:txBody>
      </p:sp>
      <p:sp>
        <p:nvSpPr>
          <p:cNvPr id="28" name="Rectangle 27"/>
          <p:cNvSpPr/>
          <p:nvPr/>
        </p:nvSpPr>
        <p:spPr>
          <a:xfrm>
            <a:off x="4572000" y="1673368"/>
            <a:ext cx="4297680" cy="705000"/>
          </a:xfrm>
          <a:prstGeom prst="rect">
            <a:avLst/>
          </a:prstGeom>
          <a:solidFill>
            <a:srgbClr val="120E04"/>
          </a:solidFill>
          <a:ln w="12700">
            <a:solidFill>
              <a:srgbClr val="44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1673368"/>
            <a:ext cx="30000" cy="705000"/>
          </a:xfrm>
          <a:prstGeom prst="rect">
            <a:avLst/>
          </a:prstGeom>
          <a:solidFill>
            <a:srgbClr val="44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7000" y="1721368"/>
            <a:ext cx="4222680" cy="228000"/>
          </a:xfrm>
          <a:prstGeom prst="rect">
            <a:avLst/>
          </a:prstGeom>
          <a:noFill/>
        </p:spPr>
        <p:txBody>
          <a:bodyPr wrap="square">
            <a:spAutoFit/>
          </a:bodyPr>
          <a:lstStyle/>
          <a:p>
            <a:pPr algn="l"/>
            <a:r>
              <a:rPr sz="850" b="1">
                <a:solidFill>
                  <a:srgbClr val="4499FF"/>
                </a:solidFill>
                <a:latin typeface="メイリオ"/>
              </a:rPr>
              <a:t>期待度はキャラの格で直感的に伝えよ</a:t>
            </a:r>
          </a:p>
        </p:txBody>
      </p:sp>
      <p:sp>
        <p:nvSpPr>
          <p:cNvPr id="31" name="TextBox 30"/>
          <p:cNvSpPr txBox="1"/>
          <p:nvPr/>
        </p:nvSpPr>
        <p:spPr>
          <a:xfrm>
            <a:off x="4627000" y="1953368"/>
            <a:ext cx="4222680" cy="350000"/>
          </a:xfrm>
          <a:prstGeom prst="rect">
            <a:avLst/>
          </a:prstGeom>
          <a:noFill/>
        </p:spPr>
        <p:txBody>
          <a:bodyPr wrap="square">
            <a:spAutoFit/>
          </a:bodyPr>
          <a:lstStyle/>
          <a:p>
            <a:pPr algn="l"/>
            <a:r>
              <a:rPr sz="750" b="0">
                <a:solidFill>
                  <a:srgbClr val="F2EEE0"/>
                </a:solidFill>
                <a:latin typeface="メイリオ"/>
              </a:rPr>
              <a:t>マイキー&gt;稀咲&gt;他キャラの原作序列が
数値期待度に対応。直感UXの手本</a:t>
            </a:r>
          </a:p>
        </p:txBody>
      </p:sp>
      <p:sp>
        <p:nvSpPr>
          <p:cNvPr id="32" name="Rectangle 31"/>
          <p:cNvSpPr/>
          <p:nvPr/>
        </p:nvSpPr>
        <p:spPr>
          <a:xfrm>
            <a:off x="4572000" y="2428368"/>
            <a:ext cx="4297680" cy="705000"/>
          </a:xfrm>
          <a:prstGeom prst="rect">
            <a:avLst/>
          </a:prstGeom>
          <a:solidFill>
            <a:srgbClr val="120E04"/>
          </a:solidFill>
          <a:ln w="12700">
            <a:solidFill>
              <a:srgbClr val="CCA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2428368"/>
            <a:ext cx="30000" cy="705000"/>
          </a:xfrm>
          <a:prstGeom prst="rect">
            <a:avLst/>
          </a:prstGeom>
          <a:solidFill>
            <a:srgbClr val="CCA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27000" y="2476368"/>
            <a:ext cx="4222680" cy="228000"/>
          </a:xfrm>
          <a:prstGeom prst="rect">
            <a:avLst/>
          </a:prstGeom>
          <a:noFill/>
        </p:spPr>
        <p:txBody>
          <a:bodyPr wrap="square">
            <a:spAutoFit/>
          </a:bodyPr>
          <a:lstStyle/>
          <a:p>
            <a:pPr algn="l"/>
            <a:r>
              <a:rPr sz="850" b="1">
                <a:solidFill>
                  <a:srgbClr val="CCAA30"/>
                </a:solidFill>
                <a:latin typeface="メイリオ"/>
              </a:rPr>
              <a:t>通常とBURSTの格差を大きくせよ</a:t>
            </a:r>
          </a:p>
        </p:txBody>
      </p:sp>
      <p:sp>
        <p:nvSpPr>
          <p:cNvPr id="35" name="TextBox 34"/>
          <p:cNvSpPr txBox="1"/>
          <p:nvPr/>
        </p:nvSpPr>
        <p:spPr>
          <a:xfrm>
            <a:off x="4627000" y="2708368"/>
            <a:ext cx="4222680" cy="350000"/>
          </a:xfrm>
          <a:prstGeom prst="rect">
            <a:avLst/>
          </a:prstGeom>
          <a:noFill/>
        </p:spPr>
        <p:txBody>
          <a:bodyPr wrap="square">
            <a:spAutoFit/>
          </a:bodyPr>
          <a:lstStyle/>
          <a:p>
            <a:pPr algn="l"/>
            <a:r>
              <a:rPr sz="750" b="0">
                <a:solidFill>
                  <a:srgbClr val="F2EEE0"/>
                </a:solidFill>
                <a:latin typeface="メイリオ"/>
              </a:rPr>
              <a:t>3.2枚→8.0枚という段差設計が
BURST到達の「特別感」を最大化する</a:t>
            </a:r>
          </a:p>
        </p:txBody>
      </p:sp>
      <p:sp>
        <p:nvSpPr>
          <p:cNvPr id="36" name="Rectangle 35"/>
          <p:cNvSpPr/>
          <p:nvPr/>
        </p:nvSpPr>
        <p:spPr>
          <a:xfrm>
            <a:off x="4572000" y="3183368"/>
            <a:ext cx="4297680" cy="705000"/>
          </a:xfrm>
          <a:prstGeom prst="rect">
            <a:avLst/>
          </a:prstGeom>
          <a:solidFill>
            <a:srgbClr val="120E04"/>
          </a:solidFill>
          <a:ln w="12700">
            <a:solidFill>
              <a:srgbClr val="FF8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0" y="3183368"/>
            <a:ext cx="30000" cy="705000"/>
          </a:xfrm>
          <a:prstGeom prst="rect">
            <a:avLst/>
          </a:prstGeom>
          <a:solidFill>
            <a:srgbClr val="FF8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27000" y="3231368"/>
            <a:ext cx="4222680" cy="228000"/>
          </a:xfrm>
          <a:prstGeom prst="rect">
            <a:avLst/>
          </a:prstGeom>
          <a:noFill/>
        </p:spPr>
        <p:txBody>
          <a:bodyPr wrap="square">
            <a:spAutoFit/>
          </a:bodyPr>
          <a:lstStyle/>
          <a:p>
            <a:pPr algn="l"/>
            <a:r>
              <a:rPr sz="850" b="1">
                <a:solidFill>
                  <a:srgbClr val="FF8822"/>
                </a:solidFill>
                <a:latin typeface="メイリオ"/>
              </a:rPr>
              <a:t>周期システムは「小目標」を作るエンジン</a:t>
            </a:r>
          </a:p>
        </p:txBody>
      </p:sp>
      <p:sp>
        <p:nvSpPr>
          <p:cNvPr id="39" name="TextBox 38"/>
          <p:cNvSpPr txBox="1"/>
          <p:nvPr/>
        </p:nvSpPr>
        <p:spPr>
          <a:xfrm>
            <a:off x="4627000" y="3463368"/>
            <a:ext cx="4222680" cy="350000"/>
          </a:xfrm>
          <a:prstGeom prst="rect">
            <a:avLst/>
          </a:prstGeom>
          <a:noFill/>
        </p:spPr>
        <p:txBody>
          <a:bodyPr wrap="square">
            <a:spAutoFit/>
          </a:bodyPr>
          <a:lstStyle/>
          <a:p>
            <a:pPr algn="l"/>
            <a:r>
              <a:rPr sz="750" b="0">
                <a:solidFill>
                  <a:srgbClr val="F2EEE0"/>
                </a:solidFill>
                <a:latin typeface="メイリオ"/>
              </a:rPr>
              <a:t>毎周期に必ず結果が出る設計が
プレイヤーの打ち続ける理由を生み出す</a:t>
            </a:r>
          </a:p>
        </p:txBody>
      </p:sp>
      <p:sp>
        <p:nvSpPr>
          <p:cNvPr id="40" name="Rectangle 39"/>
          <p:cNvSpPr/>
          <p:nvPr/>
        </p:nvSpPr>
        <p:spPr>
          <a:xfrm>
            <a:off x="4572000" y="3943368"/>
            <a:ext cx="4297680" cy="1080000"/>
          </a:xfrm>
          <a:prstGeom prst="rect">
            <a:avLst/>
          </a:prstGeom>
          <a:solidFill>
            <a:srgbClr val="180C01"/>
          </a:solidFill>
          <a:ln w="2540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3943368"/>
            <a:ext cx="40000" cy="1080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37000" y="3993368"/>
            <a:ext cx="4212680" cy="250000"/>
          </a:xfrm>
          <a:prstGeom prst="rect">
            <a:avLst/>
          </a:prstGeom>
          <a:noFill/>
        </p:spPr>
        <p:txBody>
          <a:bodyPr wrap="square">
            <a:spAutoFit/>
          </a:bodyPr>
          <a:lstStyle/>
          <a:p>
            <a:pPr algn="l"/>
            <a:r>
              <a:rPr sz="900" b="1">
                <a:solidFill>
                  <a:srgbClr val="FF6600"/>
                </a:solidFill>
                <a:latin typeface="メイリオ"/>
              </a:rPr>
              <a:t>総括</a:t>
            </a:r>
          </a:p>
        </p:txBody>
      </p:sp>
      <p:sp>
        <p:nvSpPr>
          <p:cNvPr id="43" name="TextBox 42"/>
          <p:cNvSpPr txBox="1"/>
          <p:nvPr/>
        </p:nvSpPr>
        <p:spPr>
          <a:xfrm>
            <a:off x="4637000" y="4253368"/>
            <a:ext cx="4212680" cy="720000"/>
          </a:xfrm>
          <a:prstGeom prst="rect">
            <a:avLst/>
          </a:prstGeom>
          <a:noFill/>
        </p:spPr>
        <p:txBody>
          <a:bodyPr wrap="square">
            <a:spAutoFit/>
          </a:bodyPr>
          <a:lstStyle/>
          <a:p>
            <a:pPr algn="l"/>
            <a:r>
              <a:rPr sz="800" b="0">
                <a:solidFill>
                  <a:srgbClr val="F2EEE0"/>
                </a:solidFill>
                <a:latin typeface="メイリオ"/>
              </a:rPr>
              <a:t>周期システム×タイムリープ再挑戦演出×2段AT設計
という3要素の統合設計が本機の骨格。
ユーザー評価は低めだが、パチスロアワード2025
ノミネートは演出設計の完成度が評価された証。</a:t>
            </a:r>
          </a:p>
        </p:txBody>
      </p:sp>
      <p:sp>
        <p:nvSpPr>
          <p:cNvPr id="44" name="TextBox 43"/>
          <p:cNvSpPr txBox="1"/>
          <p:nvPr/>
        </p:nvSpPr>
        <p:spPr>
          <a:xfrm>
            <a:off x="6858000" y="4919472"/>
            <a:ext cx="2194560" cy="180000"/>
          </a:xfrm>
          <a:prstGeom prst="rect">
            <a:avLst/>
          </a:prstGeom>
          <a:noFill/>
        </p:spPr>
        <p:txBody>
          <a:bodyPr wrap="square">
            <a:spAutoFit/>
          </a:bodyPr>
          <a:lstStyle/>
          <a:p>
            <a:pPr algn="r"/>
            <a:r>
              <a:rPr sz="650" b="0">
                <a:solidFill>
                  <a:srgbClr val="998870"/>
                </a:solidFill>
                <a:latin typeface="メイリオ"/>
              </a:rPr>
              <a:t>※ネット解析情報より（altema・ちょんぼりすた・一撃・なな徹）</a:t>
            </a:r>
          </a:p>
        </p:txBody>
      </p:sp>
      <p:sp>
        <p:nvSpPr>
          <p:cNvPr id="45" name="Rectangle 44"/>
          <p:cNvSpPr/>
          <p:nvPr/>
        </p:nvSpPr>
        <p:spPr>
          <a:xfrm>
            <a:off x="0" y="4645152"/>
            <a:ext cx="9144000" cy="498348"/>
          </a:xfrm>
          <a:prstGeom prst="rect">
            <a:avLst/>
          </a:prstGeom>
          <a:solidFill>
            <a:srgbClr val="0C09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645152"/>
            <a:ext cx="20000" cy="498348"/>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4592" y="4685152"/>
            <a:ext cx="5029200" cy="340000"/>
          </a:xfrm>
          <a:prstGeom prst="rect">
            <a:avLst/>
          </a:prstGeom>
          <a:noFill/>
        </p:spPr>
        <p:txBody>
          <a:bodyPr wrap="square">
            <a:spAutoFit/>
          </a:bodyPr>
          <a:lstStyle/>
          <a:p>
            <a:pPr algn="l"/>
            <a:r>
              <a:rPr sz="750" b="1">
                <a:solidFill>
                  <a:srgbClr val="FF6600"/>
                </a:solidFill>
                <a:latin typeface="メイリオ"/>
              </a:rPr>
              <a:t>本機の設計思想：「原作テーマ転用・キャラ期待度直感・2段AT格差・周期小目標」が次世代機設計への4原則</a:t>
            </a:r>
          </a:p>
        </p:txBody>
      </p:sp>
      <p:sp>
        <p:nvSpPr>
          <p:cNvPr id="48" name="TextBox 47"/>
          <p:cNvSpPr txBox="1"/>
          <p:nvPr/>
        </p:nvSpPr>
        <p:spPr>
          <a:xfrm>
            <a:off x="5303520" y="4685152"/>
            <a:ext cx="3657600" cy="340000"/>
          </a:xfrm>
          <a:prstGeom prst="rect">
            <a:avLst/>
          </a:prstGeom>
          <a:noFill/>
        </p:spPr>
        <p:txBody>
          <a:bodyPr wrap="square">
            <a:spAutoFit/>
          </a:bodyPr>
          <a:lstStyle/>
          <a:p>
            <a:pPr algn="r"/>
            <a:r>
              <a:rPr sz="700" b="0">
                <a:solidFill>
                  <a:srgbClr val="998870"/>
                </a:solidFill>
                <a:latin typeface="メイリオ"/>
              </a:rPr>
              <a:t>タイムリープという固有テーマをパチスロ設計に昇華した発明は類似コンテンツの設計参照モデルになり得る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