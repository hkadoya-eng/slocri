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737360"/>
            <a:ext cx="9144000" cy="5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9144000" cy="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8B4C8"/>
                </a:solidFill>
                <a:latin typeface="游明朝"/>
              </a:rPr>
              <a:t>AIゲーム性提案シリーズ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859536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游明朝"/>
              </a:rPr>
              <a:t>全体まとめ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8595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4C8"/>
                </a:solidFill>
                <a:latin typeface="游明朝"/>
              </a:rPr>
              <a:t>── 機種分析 × 新規提案 ──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3200400" cy="580000"/>
          </a:xfrm>
          <a:prstGeom prst="rect">
            <a:avLst/>
          </a:prstGeom>
          <a:solidFill>
            <a:srgbClr val="08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74519"/>
            <a:ext cx="55000" cy="58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38528"/>
            <a:ext cx="29260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9080"/>
                </a:solidFill>
                <a:latin typeface="游明朝"/>
              </a:rPr>
              <a:t>機種分析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29260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D8C8"/>
                </a:solidFill>
                <a:latin typeface="メイリオ"/>
              </a:rPr>
              <a:t>吉宗（真打）・ミリゴ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874519"/>
            <a:ext cx="3200400" cy="58000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874519"/>
            <a:ext cx="55000" cy="58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938528"/>
            <a:ext cx="29260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新規提案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12848"/>
            <a:ext cx="29260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D8C8"/>
                </a:solidFill>
                <a:latin typeface="メイリオ"/>
              </a:rPr>
              <a:t>祟り神の章・PHOENIX LEGACY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8229600" cy="820000"/>
          </a:xfrm>
          <a:prstGeom prst="rect">
            <a:avLst/>
          </a:prstGeom>
          <a:solidFill>
            <a:srgbClr val="0C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78638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BBBBB"/>
                </a:solidFill>
                <a:latin typeface="メイリオ"/>
              </a:rPr>
              <a:t>実稼働データ 453機種・173週（2022〜2026）の分析知見をベースに、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78638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BBBBB"/>
                </a:solidFill>
                <a:latin typeface="メイリオ"/>
              </a:rPr>
              <a:t>AIと共に機種を「読む」→「設計する」まで一気通貫で取り組んだシリーズです。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54880"/>
            <a:ext cx="182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2026.05  KEY企画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全体マップ  ──  機種分析と新規提案の2軸で積み上げた知見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66928"/>
            <a:ext cx="4160520" cy="4206240"/>
          </a:xfrm>
          <a:prstGeom prst="rect">
            <a:avLst/>
          </a:prstGeom>
          <a:solidFill>
            <a:srgbClr val="0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566928"/>
            <a:ext cx="4160520" cy="320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9080"/>
                </a:solidFill>
                <a:latin typeface="游明朝"/>
              </a:rPr>
              <a:t>機種分析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3749039" cy="1371600"/>
          </a:xfrm>
          <a:prstGeom prst="rect">
            <a:avLst/>
          </a:prstGeom>
          <a:solidFill>
            <a:srgbClr val="101A28"/>
          </a:solidFill>
          <a:ln w="19050">
            <a:solidFill>
              <a:srgbClr val="18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78992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9080"/>
                </a:solidFill>
                <a:latin typeface="游明朝"/>
              </a:rPr>
              <a:t>真打吉宗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17320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1G連・ストックAT設計の徹底解剖
説明資料 v11 まで進化（10スライド構成）
純増4.8枚 / 周期CZ設計 / 天昇ボーナス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42032"/>
            <a:ext cx="3749039" cy="1371600"/>
          </a:xfrm>
          <a:prstGeom prst="rect">
            <a:avLst/>
          </a:prstGeom>
          <a:solidFill>
            <a:srgbClr val="101A28"/>
          </a:solidFill>
          <a:ln w="19050">
            <a:solidFill>
              <a:srgbClr val="A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96896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B4C8"/>
                </a:solidFill>
                <a:latin typeface="游明朝"/>
              </a:rPr>
              <a:t>ミリオンゴッド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935224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PGG（1/16,384）・A〜Dストック設計の分析
説明資料 v2 完成
Z-ZONE仕様・純増約8枚/G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45920"/>
            <a:ext cx="380000" cy="3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468880"/>
            <a:ext cx="380000" cy="3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20240"/>
            <a:ext cx="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B4C8"/>
                </a:solidFill>
                <a:latin typeface="メイリオ"/>
              </a:rPr>
              <a:t>知見
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121408"/>
            <a:ext cx="7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A840"/>
                </a:solidFill>
                <a:latin typeface="メイリオ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566928"/>
            <a:ext cx="4160520" cy="420624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566928"/>
            <a:ext cx="4160520" cy="320000"/>
          </a:xfrm>
          <a:prstGeom prst="rect">
            <a:avLst/>
          </a:prstGeom>
          <a:solidFill>
            <a:srgbClr val="28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603504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840"/>
                </a:solidFill>
                <a:latin typeface="游明朝"/>
              </a:rPr>
              <a:t>新規提案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024128"/>
            <a:ext cx="3749039" cy="1371600"/>
          </a:xfrm>
          <a:prstGeom prst="rect">
            <a:avLst/>
          </a:prstGeom>
          <a:solidFill>
            <a:srgbClr val="200808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1078992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22"/>
                </a:solidFill>
                <a:latin typeface="游明朝"/>
              </a:rPr>
              <a:t>祟り神の章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1417320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感情逆転設計・DQ4型章システム・加護の積み上げ
v1→v2 に進化（游明朝・蛇行フロー追加）
3設計核を軸としたオリジナル企画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42032"/>
            <a:ext cx="3749039" cy="1371600"/>
          </a:xfrm>
          <a:prstGeom prst="rect">
            <a:avLst/>
          </a:prstGeom>
          <a:solidFill>
            <a:srgbClr val="2210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8" y="2596896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1A"/>
                </a:solidFill>
                <a:latin typeface="游明朝"/>
              </a:rPr>
              <a:t>PHOENIX LEGACY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8" y="2935224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炎の継承・IGNITION RITE・NEMESIS GAUGE
v1→v2 に進化（フロー修正・業界初表現削除）
吉宗×ミリゴ×祟り神 の知見を統合した集大成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4828032"/>
            <a:ext cx="8869680" cy="3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864608"/>
            <a:ext cx="85953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メイリオ"/>
              </a:rPr>
              <a:t>機種分析の知見 → オリジナル設計に昇華  /  AIが一貫してサポートした企画プロセス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機種分析①  ──  真打吉宗：1G連設計の完全解剖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60520" cy="3200400"/>
          </a:xfrm>
          <a:prstGeom prst="rect">
            <a:avLst/>
          </a:prstGeom>
          <a:solidFill>
            <a:srgbClr val="101428"/>
          </a:solidFill>
          <a:ln w="19050">
            <a:solidFill>
              <a:srgbClr val="18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9080"/>
                </a:solidFill>
                <a:latin typeface="游明朝"/>
              </a:rPr>
              <a:t>設計の核心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50000" cy="54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9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89080"/>
                </a:solidFill>
                <a:latin typeface="メイリオ"/>
              </a:rPr>
              <a:t>1G連（ストックAT）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5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ストックを1個消費して1GのATを繰り返す。
消費枚数3枚で純増4.8枚 → 1G消化で約1.8枚増。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51872"/>
            <a:ext cx="50000" cy="54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8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A8B4C8"/>
                </a:solidFill>
                <a:latin typeface="メイリオ"/>
              </a:rPr>
              <a:t>周期CZ設計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4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100G毎に規則的にCZが到来する「予測可能」設計。
ストレスなく「次はいつ来る」が分かる通常時。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441872"/>
            <a:ext cx="50000" cy="54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47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天昇ボーナス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73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通常時AT間のスペシャルボーナス。
告知演出の多彩さが「吉宗らしさ」の象徴。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777240"/>
            <a:ext cx="4343400" cy="3200400"/>
          </a:xfrm>
          <a:prstGeom prst="rect">
            <a:avLst/>
          </a:prstGeom>
          <a:solidFill>
            <a:srgbClr val="101428"/>
          </a:solidFill>
          <a:ln w="19050">
            <a:solidFill>
              <a:srgbClr val="A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B4C8"/>
                </a:solidFill>
                <a:latin typeface="游明朝"/>
              </a:rPr>
              <a:t>説明資料の進化（v1 → v11）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1261872"/>
            <a:ext cx="4187952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289872"/>
            <a:ext cx="7772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9080"/>
                </a:solidFill>
                <a:latin typeface="メイリオ"/>
              </a:rPr>
              <a:t>v1〜v3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289872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基本スペック・フロー図の整備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1591872"/>
            <a:ext cx="4187952" cy="320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9872"/>
            <a:ext cx="7772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9080"/>
                </a:solidFill>
                <a:latin typeface="メイリオ"/>
              </a:rPr>
              <a:t>v4〜v6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619872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演出パターン・ゾーン解説を追加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5152" y="1921872"/>
            <a:ext cx="4187952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1949872"/>
            <a:ext cx="7772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9080"/>
                </a:solidFill>
                <a:latin typeface="メイリオ"/>
              </a:rPr>
              <a:t>v7〜v9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949872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スライドデザイン統一（游明朝導入）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251872"/>
            <a:ext cx="4187952" cy="320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2279872"/>
            <a:ext cx="7772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9080"/>
                </a:solidFill>
                <a:latin typeface="メイリオ"/>
              </a:rPr>
              <a:t>v10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279872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net_note・ベンチマーク比較追加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2581872"/>
            <a:ext cx="4187952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609872"/>
            <a:ext cx="7772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9080"/>
                </a:solidFill>
                <a:latin typeface="メイリオ"/>
              </a:rPr>
              <a:t>v11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2609872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最終版・10スライド構成で完結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069080"/>
            <a:ext cx="8778240" cy="580000"/>
          </a:xfrm>
          <a:prstGeom prst="rect">
            <a:avLst/>
          </a:prstGeom>
          <a:solidFill>
            <a:srgbClr val="08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4069080"/>
            <a:ext cx="55000" cy="58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89080"/>
                </a:solidFill>
                <a:latin typeface="メイリオ"/>
              </a:rPr>
              <a:t>吉宗で学んだこと：「周期設計の読みやすさ」と「1G連の爽快感」がリピート来店の構造的理由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PHOENIX LEGACYの周期AWAKENINGとEMBER（残り火5G）に直接継承された設計知見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機種分析②  ──  ミリオンゴッド：夢の設計とストック管理の仕組み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60520" cy="3200400"/>
          </a:xfrm>
          <a:prstGeom prst="rect">
            <a:avLst/>
          </a:prstGeom>
          <a:solidFill>
            <a:srgbClr val="101428"/>
          </a:solidFill>
          <a:ln w="19050">
            <a:solidFill>
              <a:srgbClr val="A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B4C8"/>
                </a:solidFill>
                <a:latin typeface="游明朝"/>
              </a:rPr>
              <a:t>設計の核心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50000" cy="5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9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  <a:latin typeface="メイリオ"/>
              </a:rPr>
              <a:t>PGG（プレミアムゴッドゲーム）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5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確率1/16,384の超大当たり。
「夢を買う」体験として機能するゲーム性の頂点。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51872"/>
            <a:ext cx="50000" cy="54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8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A8B4C8"/>
                </a:solidFill>
                <a:latin typeface="メイリオ"/>
              </a:rPr>
              <a:t>A〜Dストック設計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4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複数のストック種別が蓄積・放出を繰り返す。
「今日の機械の調子」をストック状況で読む文化。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441872"/>
            <a:ext cx="50000" cy="54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471872"/>
            <a:ext cx="3749039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9900"/>
                </a:solidFill>
                <a:latin typeface="メイリオ"/>
              </a:rPr>
              <a:t>Z-ZONE（ゾーン管理）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731872"/>
            <a:ext cx="37490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特定G数でAT突入確率が上昇するゾーン設計。
立ち回り指標としてユーザーに深く浸透。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777240"/>
            <a:ext cx="4343400" cy="3200400"/>
          </a:xfrm>
          <a:prstGeom prst="rect">
            <a:avLst/>
          </a:prstGeom>
          <a:solidFill>
            <a:srgbClr val="1014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スペック概要と分析ポイント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1261872"/>
            <a:ext cx="4187952" cy="31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28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タイプ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8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スマスロ対応 / ユニバーサルエンターテインメント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1581872"/>
            <a:ext cx="4187952" cy="310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0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純増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60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約8.0枚/G（神々の系譜シリーズ最高水準）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5152" y="1901872"/>
            <a:ext cx="4187952" cy="31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192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PGG確率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192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1/16,384（約0.006%）の超プレミアム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221872"/>
            <a:ext cx="4187952" cy="310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224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ストック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24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A・B・C・D 4種類の蓄積と連動放出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2541872"/>
            <a:ext cx="4187952" cy="31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56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CV値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256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高分散設計（番長4に近い高CV水準）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45152" y="2861872"/>
            <a:ext cx="4187952" cy="310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886872"/>
            <a:ext cx="1051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来店動機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886872"/>
            <a:ext cx="29260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「今日PGGが出るかも」という期待値外の夢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069080"/>
            <a:ext cx="8778240" cy="580000"/>
          </a:xfrm>
          <a:prstGeom prst="rect">
            <a:avLst/>
          </a:prstGeom>
          <a:solidFill>
            <a:srgbClr val="16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069080"/>
            <a:ext cx="55000" cy="58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ミリゴで学んだこと：「夢の一枚」と「ストック管理」がリピートの2大動機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PHOENIX LEGACYのA〜DストックをFLAMEストック4種に昇華・Z-ZONEをIGNITION RITEに再解釈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新規提案①  ──  祟り神の章：感情逆転設計の原点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0C0818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I  感情逆転設計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普通ATで「倒す」
特別ATで「理解する」
敵 → 共感 への
感情の逆転が
来店継続の核心
「倒した相手を
後から理解する」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0C0818"/>
          </a:solidFill>
          <a:ln w="2540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22AA"/>
                </a:solidFill>
                <a:latin typeface="游明朝"/>
              </a:rPr>
              <a:t>II  DQ4型章システム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1〜4章をランダム順解放
視点ごとに同じ事件を語る
「俺は3章から入った、
 お前は？」
ホールで会話が生まれる
章クリアで加護を獲得
→ 来店継続設計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0C0818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55CC"/>
                </a:solidFill>
                <a:latin typeface="游明朝"/>
              </a:rPr>
              <a:t>III  第0章・成仏設計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全章クリア後に解放
成仏チャレンジ
成功 1500枚
失敗 100枚
「失敗も次の動機に」
物語がまだ終わらない
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640000"/>
          </a:xfrm>
          <a:prstGeom prst="rect">
            <a:avLst/>
          </a:prstGeom>
          <a:solidFill>
            <a:srgbClr val="14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v1（2025）→ v2（2026.05）：游明朝・蛇行フロー・純Pillow背景を導入。スタイルが格段に進化。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シリーズ最初のオリジナル提案。「感情設計」という軸がPHOENIX LEGACYにも受け継がれた。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新規提案②  ──  PHOENIX LEGACY：集大成の炎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18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I  PHOENIX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1AT = 1世代の「炎」
ATが終わるたびに
REBIRTH演出が流れ
次の炎が点火する
「また負けた」→
「炎を受け継いだ」
という感情設計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1808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II  IGNITION 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AT中に赤7揃いで発動
Skill / Bond / Power
3択の点火方法を選ぶ
選んだ内容で
次ATの性能が変わる
プレイヤーが
物語を作る台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180800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1C1C"/>
                </a:solidFill>
                <a:latin typeface="游明朝"/>
              </a:rPr>
              <a:t>III  NEMESIS 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ATを重ねるほど
宿敵が弱体化する
1セッション完結設計
ゲージMAX+
PHOENIX FLAME+
IGNITION完全制覇
でETERNAL FLAME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640000"/>
          </a:xfrm>
          <a:prstGeom prst="rect">
            <a:avLst/>
          </a:prstGeom>
          <a:solidFill>
            <a:srgbClr val="1C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1A"/>
                </a:solidFill>
                <a:latin typeface="メイリオ"/>
              </a:rPr>
              <a:t>吉宗の周期設計・ミリゴのストック設計・祟り神の感情設計 ── 3機種の知見を統合した集大成。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v1→v2でフロー表示・業界初表現・構成順の課題を修正。「育てれば届く」MY約3500枚の設計。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4作品を貫く設計哲学  ──  数字と感情の両立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291840"/>
          </a:xfrm>
          <a:prstGeom prst="rect">
            <a:avLst/>
          </a:prstGeom>
          <a:solidFill>
            <a:srgbClr val="101428"/>
          </a:solidFill>
          <a:ln w="22860">
            <a:solidFill>
              <a:srgbClr val="18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9080"/>
                </a:solidFill>
                <a:latin typeface="游明朝"/>
              </a:rPr>
              <a:t>CV 0.20〜0.25を目標とする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8016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東京喰種・モンキーターンV水準
「設定1でも体験の質が変わらない台」
CV高すぎ（番長4: 0.68）は荒すぎる
CV低すぎはリピートが生まれない
全提案でこの水準を一貫して設計目標に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291840"/>
          </a:xfrm>
          <a:prstGeom prst="rect">
            <a:avLst/>
          </a:prstGeom>
          <a:solidFill>
            <a:srgbClr val="101428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後半維持率 65%以上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8016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3ヶ月後も稼働している台を目指す
番長4は後半維持率29.6%で失速
東京喰種73.7% / モンキーV 68.2%
が来店継続の実績ベンチマーク
提案目標：65%超・3ヶ月以上稼働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291840"/>
          </a:xfrm>
          <a:prstGeom prst="rect">
            <a:avLst/>
          </a:prstGeom>
          <a:solidFill>
            <a:srgbClr val="101428"/>
          </a:solidFill>
          <a:ln w="22860">
            <a:solidFill>
              <a:srgbClr val="A8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B4C8"/>
                </a:solidFill>
                <a:latin typeface="游明朝"/>
              </a:rPr>
              <a:t>「また来たい」を設計に組み込む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8016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出玉だけでは来店理由にならない時代
祟り神：章の続きが気になる
PHOENIX：炎を育てたい
吉宗：次の周期CZが来る
ミリゴ：今日PGGが出るかも
感情的な「また来る理由」が設計の核心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160520"/>
            <a:ext cx="8778240" cy="540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206240"/>
            <a:ext cx="841248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BBBB"/>
                </a:solidFill>
                <a:latin typeface="メイリオ"/>
              </a:rPr>
              <a:t>453機種・173週の実稼働データを分析してたどり着いた3原則。
このフレームがあるから、提案に「なぜそのスペックなのか」の根拠が生まれる。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※分析データより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C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まとめ  ──  AIと積み上げたゲーム性設計の軌跡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8778240" cy="360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41248"/>
            <a:ext cx="84124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このシリーズで生まれたもの：2機種の分析資料  ＋  2本のオリジナル企画  ＋  設計哲学3原則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61872"/>
            <a:ext cx="8778240" cy="330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61872"/>
            <a:ext cx="55000" cy="33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9872"/>
            <a:ext cx="1417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89080"/>
                </a:solidFill>
                <a:latin typeface="メイリオ"/>
              </a:rPr>
              <a:t>吉宗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289872"/>
            <a:ext cx="109728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機種分析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289872"/>
            <a:ext cx="2560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周期CZ・1G連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289872"/>
            <a:ext cx="320040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PHOENIX AWAKENINGに継承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01872"/>
            <a:ext cx="8778240" cy="330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601872"/>
            <a:ext cx="55000" cy="33000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29872"/>
            <a:ext cx="1417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A8B4C8"/>
                </a:solidFill>
                <a:latin typeface="メイリオ"/>
              </a:rPr>
              <a:t>ミリゴ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629872"/>
            <a:ext cx="109728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機種分析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629872"/>
            <a:ext cx="2560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ストック・Z-ZONE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1629872"/>
            <a:ext cx="320040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FLAME4種・IGNITIONに継承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941872"/>
            <a:ext cx="8778240" cy="330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1941872"/>
            <a:ext cx="55000" cy="33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969872"/>
            <a:ext cx="1417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CC2222"/>
                </a:solidFill>
                <a:latin typeface="メイリオ"/>
              </a:rPr>
              <a:t>祟り神の章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1969872"/>
            <a:ext cx="109728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新規提案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1969872"/>
            <a:ext cx="2560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感情逆転・章設計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1969872"/>
            <a:ext cx="320040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感情積み上げの原点を確立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281872"/>
            <a:ext cx="8778240" cy="330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2281872"/>
            <a:ext cx="55000" cy="33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309872"/>
            <a:ext cx="1417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FF6B1A"/>
                </a:solidFill>
                <a:latin typeface="メイリオ"/>
              </a:rPr>
              <a:t>PHOENIX 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2309872"/>
            <a:ext cx="109728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新規提案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309872"/>
            <a:ext cx="256032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炎の継承・3軸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2309872"/>
            <a:ext cx="3200400" cy="2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→ 全知見を統合した集大成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041648"/>
            <a:ext cx="8778240" cy="66000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4041648"/>
            <a:ext cx="55000" cy="660000"/>
          </a:xfrm>
          <a:prstGeom prst="rect">
            <a:avLst/>
          </a:prstGeom>
          <a:solidFill>
            <a:srgbClr val="18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83210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9080"/>
                </a:solidFill>
                <a:latin typeface="游明朝"/>
              </a:rPr>
              <a:t>次の展開として考えられること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89120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祟り神×PHOENIX のクロスオーバー提案  /  新機種の追加分析  /  提案をさらに肉付けした実現性検討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