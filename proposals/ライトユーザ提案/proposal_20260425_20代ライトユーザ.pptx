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游ゴシック"/>
              </a:rPr>
              <a:t>新機種ゲーム性提案書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D85A30"/>
                </a:solidFill>
                <a:latin typeface="游ゴシック"/>
              </a:rPr>
              <a:t>「ループから抜け出せない、電脳の迷宮へようこそ」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游ゴシック"/>
              </a:rPr>
              <a:t>スロキー / ゲーム性提案書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游ゴシック"/>
              </a:rPr>
              <a:t>設計ポジショニングマップ（自力感 × やめにくさ）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7680960" cy="51206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62856" y="1188720"/>
            <a:ext cx="18288" cy="51206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739896"/>
            <a:ext cx="76809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BBBBB"/>
                </a:solidFill>
                <a:latin typeface="游ゴシック"/>
              </a:rPr>
              <a:t>← 自力感 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5989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BBBBB"/>
                </a:solidFill>
                <a:latin typeface="游ゴシック"/>
              </a:rPr>
              <a:t>自力感 高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234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BBBBB"/>
                </a:solidFill>
                <a:latin typeface="游ゴシック"/>
              </a:rPr>
              <a:t>やめにくい 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989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BBBBB"/>
                </a:solidFill>
                <a:latin typeface="游ゴシック"/>
              </a:rPr>
              <a:t>やめやすい ↓</a:t>
            </a:r>
          </a:p>
        </p:txBody>
      </p:sp>
      <p:sp>
        <p:nvSpPr>
          <p:cNvPr id="11" name="Oval 10"/>
          <p:cNvSpPr/>
          <p:nvPr/>
        </p:nvSpPr>
        <p:spPr>
          <a:xfrm>
            <a:off x="4512564" y="2665476"/>
            <a:ext cx="118872" cy="118872"/>
          </a:xfrm>
          <a:prstGeom prst="ellipse">
            <a:avLst/>
          </a:prstGeom>
          <a:solidFill>
            <a:srgbClr val="44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63347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4488BB"/>
                </a:solidFill>
                <a:latin typeface="游ゴシック"/>
              </a:rPr>
              <a:t>ミリオンゴッド-神</a:t>
            </a:r>
          </a:p>
        </p:txBody>
      </p:sp>
      <p:sp>
        <p:nvSpPr>
          <p:cNvPr id="13" name="Oval 12"/>
          <p:cNvSpPr/>
          <p:nvPr/>
        </p:nvSpPr>
        <p:spPr>
          <a:xfrm>
            <a:off x="5280659" y="4713731"/>
            <a:ext cx="118872" cy="118872"/>
          </a:xfrm>
          <a:prstGeom prst="ellipse">
            <a:avLst/>
          </a:prstGeom>
          <a:solidFill>
            <a:srgbClr val="44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13248" y="46817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4488BB"/>
                </a:solidFill>
                <a:latin typeface="游ゴシック"/>
              </a:rPr>
              <a:t>ヨルムンガンド</a:t>
            </a:r>
          </a:p>
        </p:txBody>
      </p:sp>
      <p:sp>
        <p:nvSpPr>
          <p:cNvPr id="15" name="Oval 14"/>
          <p:cNvSpPr/>
          <p:nvPr/>
        </p:nvSpPr>
        <p:spPr>
          <a:xfrm>
            <a:off x="2208276" y="1641348"/>
            <a:ext cx="118872" cy="118872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40864" y="160934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D85A30"/>
                </a:solidFill>
                <a:latin typeface="游ゴシック"/>
              </a:rPr>
              <a:t>L虚構推理</a:t>
            </a:r>
          </a:p>
        </p:txBody>
      </p:sp>
      <p:sp>
        <p:nvSpPr>
          <p:cNvPr id="17" name="Oval 16"/>
          <p:cNvSpPr/>
          <p:nvPr/>
        </p:nvSpPr>
        <p:spPr>
          <a:xfrm>
            <a:off x="4512564" y="4713731"/>
            <a:ext cx="118872" cy="118872"/>
          </a:xfrm>
          <a:prstGeom prst="ellipse">
            <a:avLst/>
          </a:prstGeom>
          <a:solidFill>
            <a:srgbClr val="44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46817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4488BB"/>
                </a:solidFill>
                <a:latin typeface="游ゴシック"/>
              </a:rPr>
              <a:t>アクダマドライブ</a:t>
            </a:r>
          </a:p>
        </p:txBody>
      </p:sp>
      <p:sp>
        <p:nvSpPr>
          <p:cNvPr id="19" name="Oval 18"/>
          <p:cNvSpPr/>
          <p:nvPr/>
        </p:nvSpPr>
        <p:spPr>
          <a:xfrm>
            <a:off x="6048755" y="2153412"/>
            <a:ext cx="118872" cy="118872"/>
          </a:xfrm>
          <a:prstGeom prst="ellipse">
            <a:avLst/>
          </a:prstGeom>
          <a:solidFill>
            <a:srgbClr val="44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1344" y="212140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4488BB"/>
                </a:solidFill>
                <a:latin typeface="游ゴシック"/>
              </a:rPr>
              <a:t>L真打吉宗</a:t>
            </a:r>
          </a:p>
        </p:txBody>
      </p:sp>
      <p:sp>
        <p:nvSpPr>
          <p:cNvPr id="21" name="Oval 20"/>
          <p:cNvSpPr/>
          <p:nvPr/>
        </p:nvSpPr>
        <p:spPr>
          <a:xfrm>
            <a:off x="6816852" y="4201668"/>
            <a:ext cx="118872" cy="118872"/>
          </a:xfrm>
          <a:prstGeom prst="ellipse">
            <a:avLst/>
          </a:prstGeom>
          <a:solidFill>
            <a:srgbClr val="44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41696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4488BB"/>
                </a:solidFill>
                <a:latin typeface="游ゴシック"/>
              </a:rPr>
              <a:t>甲鉄城のカバネリ </a:t>
            </a:r>
          </a:p>
        </p:txBody>
      </p:sp>
      <p:sp>
        <p:nvSpPr>
          <p:cNvPr id="23" name="Oval 22"/>
          <p:cNvSpPr/>
          <p:nvPr/>
        </p:nvSpPr>
        <p:spPr>
          <a:xfrm>
            <a:off x="2976372" y="4201668"/>
            <a:ext cx="118872" cy="118872"/>
          </a:xfrm>
          <a:prstGeom prst="ellipse">
            <a:avLst/>
          </a:prstGeom>
          <a:solidFill>
            <a:srgbClr val="44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41696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4488BB"/>
                </a:solidFill>
                <a:latin typeface="游ゴシック"/>
              </a:rPr>
              <a:t>異世界かるてっと </a:t>
            </a:r>
          </a:p>
        </p:txBody>
      </p:sp>
      <p:sp>
        <p:nvSpPr>
          <p:cNvPr id="25" name="Oval 24"/>
          <p:cNvSpPr/>
          <p:nvPr/>
        </p:nvSpPr>
        <p:spPr>
          <a:xfrm>
            <a:off x="3744468" y="3689603"/>
            <a:ext cx="118872" cy="118872"/>
          </a:xfrm>
          <a:prstGeom prst="ellipse">
            <a:avLst/>
          </a:prstGeom>
          <a:solidFill>
            <a:srgbClr val="44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77056" y="365759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4488BB"/>
                </a:solidFill>
                <a:latin typeface="游ゴシック"/>
              </a:rPr>
              <a:t>ガンダムUC</a:t>
            </a:r>
          </a:p>
        </p:txBody>
      </p:sp>
      <p:sp>
        <p:nvSpPr>
          <p:cNvPr id="27" name="Oval 26"/>
          <p:cNvSpPr/>
          <p:nvPr/>
        </p:nvSpPr>
        <p:spPr>
          <a:xfrm>
            <a:off x="2976372" y="4201668"/>
            <a:ext cx="118872" cy="118872"/>
          </a:xfrm>
          <a:prstGeom prst="ellipse">
            <a:avLst/>
          </a:prstGeom>
          <a:solidFill>
            <a:srgbClr val="44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41696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4488BB"/>
                </a:solidFill>
                <a:latin typeface="游ゴシック"/>
              </a:rPr>
              <a:t>リコリコ</a:t>
            </a:r>
          </a:p>
        </p:txBody>
      </p:sp>
      <p:sp>
        <p:nvSpPr>
          <p:cNvPr id="29" name="Oval 28"/>
          <p:cNvSpPr/>
          <p:nvPr/>
        </p:nvSpPr>
        <p:spPr>
          <a:xfrm>
            <a:off x="3744468" y="4713731"/>
            <a:ext cx="118872" cy="118872"/>
          </a:xfrm>
          <a:prstGeom prst="ellipse">
            <a:avLst/>
          </a:prstGeom>
          <a:solidFill>
            <a:srgbClr val="44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77056" y="46817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4488BB"/>
                </a:solidFill>
                <a:latin typeface="游ゴシック"/>
              </a:rPr>
              <a:t>北斗の拳 転生の章</a:t>
            </a:r>
          </a:p>
        </p:txBody>
      </p:sp>
      <p:sp>
        <p:nvSpPr>
          <p:cNvPr id="31" name="Oval 30"/>
          <p:cNvSpPr/>
          <p:nvPr/>
        </p:nvSpPr>
        <p:spPr>
          <a:xfrm>
            <a:off x="3744468" y="4201668"/>
            <a:ext cx="118872" cy="118872"/>
          </a:xfrm>
          <a:prstGeom prst="ellipse">
            <a:avLst/>
          </a:prstGeom>
          <a:solidFill>
            <a:srgbClr val="44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77056" y="41696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4488BB"/>
                </a:solidFill>
                <a:latin typeface="游ゴシック"/>
              </a:rPr>
              <a:t>L戦国乙女5</a:t>
            </a:r>
          </a:p>
        </p:txBody>
      </p:sp>
      <p:sp>
        <p:nvSpPr>
          <p:cNvPr id="33" name="Oval 32"/>
          <p:cNvSpPr/>
          <p:nvPr/>
        </p:nvSpPr>
        <p:spPr>
          <a:xfrm>
            <a:off x="3744468" y="4713731"/>
            <a:ext cx="118872" cy="118872"/>
          </a:xfrm>
          <a:prstGeom prst="ellipse">
            <a:avLst/>
          </a:prstGeom>
          <a:solidFill>
            <a:srgbClr val="44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77056" y="46817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4488BB"/>
                </a:solidFill>
                <a:latin typeface="游ゴシック"/>
              </a:rPr>
              <a:t>新鬼武者3</a:t>
            </a:r>
          </a:p>
        </p:txBody>
      </p:sp>
      <p:sp>
        <p:nvSpPr>
          <p:cNvPr id="35" name="Oval 34"/>
          <p:cNvSpPr/>
          <p:nvPr/>
        </p:nvSpPr>
        <p:spPr>
          <a:xfrm>
            <a:off x="5280659" y="3689603"/>
            <a:ext cx="118872" cy="118872"/>
          </a:xfrm>
          <a:prstGeom prst="ellipse">
            <a:avLst/>
          </a:prstGeom>
          <a:solidFill>
            <a:srgbClr val="44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13248" y="365759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4488BB"/>
                </a:solidFill>
                <a:latin typeface="游ゴシック"/>
              </a:rPr>
              <a:t>Lからくりサーカス</a:t>
            </a:r>
          </a:p>
        </p:txBody>
      </p:sp>
      <p:sp>
        <p:nvSpPr>
          <p:cNvPr id="37" name="Oval 36"/>
          <p:cNvSpPr/>
          <p:nvPr/>
        </p:nvSpPr>
        <p:spPr>
          <a:xfrm>
            <a:off x="2976372" y="4201668"/>
            <a:ext cx="118872" cy="118872"/>
          </a:xfrm>
          <a:prstGeom prst="ellipse">
            <a:avLst/>
          </a:prstGeom>
          <a:solidFill>
            <a:srgbClr val="44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41696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4488BB"/>
                </a:solidFill>
                <a:latin typeface="游ゴシック"/>
              </a:rPr>
              <a:t>転スラ2</a:t>
            </a:r>
          </a:p>
        </p:txBody>
      </p:sp>
      <p:sp>
        <p:nvSpPr>
          <p:cNvPr id="39" name="Oval 38"/>
          <p:cNvSpPr/>
          <p:nvPr/>
        </p:nvSpPr>
        <p:spPr>
          <a:xfrm>
            <a:off x="3753612" y="2674620"/>
            <a:ext cx="100584" cy="100584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67912" y="263347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999999"/>
                </a:solidFill>
                <a:latin typeface="游ゴシック"/>
              </a:rPr>
              <a:t>バジ絆2</a:t>
            </a:r>
          </a:p>
        </p:txBody>
      </p:sp>
      <p:sp>
        <p:nvSpPr>
          <p:cNvPr id="41" name="Oval 40"/>
          <p:cNvSpPr/>
          <p:nvPr/>
        </p:nvSpPr>
        <p:spPr>
          <a:xfrm>
            <a:off x="5289804" y="3186684"/>
            <a:ext cx="100584" cy="100584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4104" y="314553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999999"/>
                </a:solidFill>
                <a:latin typeface="游ゴシック"/>
              </a:rPr>
              <a:t>番長3</a:t>
            </a:r>
          </a:p>
        </p:txBody>
      </p:sp>
      <p:sp>
        <p:nvSpPr>
          <p:cNvPr id="43" name="Oval 42"/>
          <p:cNvSpPr/>
          <p:nvPr/>
        </p:nvSpPr>
        <p:spPr>
          <a:xfrm>
            <a:off x="2985516" y="2162556"/>
            <a:ext cx="100584" cy="100584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99816" y="212140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999999"/>
                </a:solidFill>
                <a:latin typeface="游ゴシック"/>
              </a:rPr>
              <a:t>Re:ゼロ</a:t>
            </a:r>
          </a:p>
        </p:txBody>
      </p:sp>
      <p:sp>
        <p:nvSpPr>
          <p:cNvPr id="45" name="Oval 44"/>
          <p:cNvSpPr/>
          <p:nvPr/>
        </p:nvSpPr>
        <p:spPr>
          <a:xfrm>
            <a:off x="2985516" y="3698748"/>
            <a:ext cx="100584" cy="100584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99816" y="3657599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999999"/>
                </a:solidFill>
                <a:latin typeface="游ゴシック"/>
              </a:rPr>
              <a:t>ハーデス</a:t>
            </a:r>
          </a:p>
        </p:txBody>
      </p:sp>
      <p:sp>
        <p:nvSpPr>
          <p:cNvPr id="47" name="Oval 46"/>
          <p:cNvSpPr/>
          <p:nvPr/>
        </p:nvSpPr>
        <p:spPr>
          <a:xfrm>
            <a:off x="2217420" y="3186684"/>
            <a:ext cx="100584" cy="100584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31720" y="314553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999999"/>
                </a:solidFill>
                <a:latin typeface="游ゴシック"/>
              </a:rPr>
              <a:t>沖ドキ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38251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666666"/>
                </a:solidFill>
                <a:latin typeface="游ゴシック"/>
              </a:rPr>
              <a:t>配置根拠 ｜ 自力感：自力上乗せ特化ゾーン・レア役直結上乗せ・CZ段階演出の有無　やめにくさ：強制フェーズ突入・1G連ループ・AT後優遇状態継続の有無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游ゴシック"/>
              </a:rPr>
              <a:t>既存機種 設計パターン比較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2267712" cy="3474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游ゴシック"/>
              </a:rPr>
              <a:t>機種名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097280"/>
            <a:ext cx="1810512" cy="3474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6039" y="1143000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游ゴシック"/>
              </a:rPr>
              <a:t>設計パターン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097280"/>
            <a:ext cx="2267712" cy="3474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143000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游ゴシック"/>
              </a:rPr>
              <a:t>プレイヤー感情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097280"/>
            <a:ext cx="2267712" cy="3474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143000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游ゴシック"/>
              </a:rPr>
              <a:t>強み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44752"/>
            <a:ext cx="22677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48132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D85A30"/>
                </a:solidFill>
                <a:latin typeface="游ゴシック"/>
              </a:rPr>
              <a:t>L虚構推理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444752"/>
            <a:ext cx="18105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39" y="1481328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強制ループ型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444752"/>
            <a:ext cx="22677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48132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「まだ続く、あとちょっとだけ」という引力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444752"/>
            <a:ext cx="22677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48132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やめ時を設計で消せる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792224"/>
            <a:ext cx="22677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828800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D85A30"/>
                </a:solidFill>
                <a:latin typeface="游ゴシック"/>
              </a:rPr>
              <a:t>Lガンダムユニコーン覚醒DRIVE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1792224"/>
            <a:ext cx="18105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39" y="1828800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段階育成型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1792224"/>
            <a:ext cx="22677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1828800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「もう少し育てたい、離席できない」という育成欲求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1792224"/>
            <a:ext cx="22677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1828800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「台が育っていく」独自体験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139696"/>
            <a:ext cx="22677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176272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D85A30"/>
                </a:solidFill>
                <a:latin typeface="游ゴシック"/>
              </a:rPr>
              <a:t>L戦国乙女5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2139696"/>
            <a:ext cx="18105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06039" y="2176272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段階育成型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2139696"/>
            <a:ext cx="22677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2176272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「もう少し育てたい、離席できない」という育成欲求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2139696"/>
            <a:ext cx="22677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2176272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「台が育っていく」独自体験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487168"/>
            <a:ext cx="22677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2523744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D85A30"/>
                </a:solidFill>
                <a:latin typeface="游ゴシック"/>
              </a:rPr>
              <a:t>L真打吉宗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0" y="2487168"/>
            <a:ext cx="18105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06039" y="2523744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爆裂一撃型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2487168"/>
            <a:ext cx="22677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2523744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「今日は神回だった」という語り草になる体験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2487168"/>
            <a:ext cx="22677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2523744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引いた瞬間のインパクトが最大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2834639"/>
            <a:ext cx="22677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2871215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D85A30"/>
                </a:solidFill>
                <a:latin typeface="游ゴシック"/>
              </a:rPr>
              <a:t>スマスロ ミリオンゴッド-神々の軌跡-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2834639"/>
            <a:ext cx="18105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06039" y="2871215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爆裂一撃型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20" y="2834639"/>
            <a:ext cx="22677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34840" y="2871215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「今日は神回だった」という語り草になる体験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2834639"/>
            <a:ext cx="22677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20840" y="2871215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引いた瞬間のインパクトが最大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3182112"/>
            <a:ext cx="22677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040" y="321868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D85A30"/>
                </a:solidFill>
                <a:latin typeface="游ゴシック"/>
              </a:rPr>
              <a:t>L真打吉宗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60320" y="3182112"/>
            <a:ext cx="18105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06039" y="3218688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周期保証型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0" y="3182112"/>
            <a:ext cx="22677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34840" y="321868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「あと○周期で絶対来る」という見通し感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3182112"/>
            <a:ext cx="22677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20840" y="321868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投資額の上限が見えて安心感がある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3529584"/>
            <a:ext cx="22677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3566160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D85A30"/>
                </a:solidFill>
                <a:latin typeface="游ゴシック"/>
              </a:rPr>
              <a:t>L戦国乙女5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60320" y="3529584"/>
            <a:ext cx="18105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06039" y="3566160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周期保証型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89120" y="3529584"/>
            <a:ext cx="22677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34840" y="3566160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「あと○周期で絶対来る」という見通し感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75120" y="3529584"/>
            <a:ext cx="22677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20840" y="3566160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投資額の上限が見えて安心感がある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3877056"/>
            <a:ext cx="22677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3913632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D85A30"/>
                </a:solidFill>
                <a:latin typeface="游ゴシック"/>
              </a:rPr>
              <a:t>異世界かるてっと BT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60320" y="3877056"/>
            <a:ext cx="18105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606039" y="3913632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BT転落型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89120" y="3877056"/>
            <a:ext cx="22677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34840" y="3913632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「ビクビクしながら打つ」ハラハラ感（成功時）or「また抜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75120" y="3877056"/>
            <a:ext cx="22677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20840" y="3913632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BT中の緊張感は演出として機能する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4224528"/>
            <a:ext cx="22677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0040" y="4261104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D85A30"/>
                </a:solidFill>
                <a:latin typeface="游ゴシック"/>
              </a:rPr>
              <a:t>バジリスク〜甲賀忍法帖〜絆2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60320" y="4224528"/>
            <a:ext cx="18105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06039" y="4261104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二重継続率型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389120" y="4224528"/>
            <a:ext cx="22677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34840" y="4261104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双蛇の瞳が出た瞬間の安堵と興奮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75120" y="4224528"/>
            <a:ext cx="22677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720840" y="4261104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設定判別を共通ベル1点に絞ったシンプル設計が幅広い層を獲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4572000"/>
            <a:ext cx="22677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20040" y="4608576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D85A30"/>
                </a:solidFill>
                <a:latin typeface="游ゴシック"/>
              </a:rPr>
              <a:t>パチスロ ハーデス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560320" y="4572000"/>
            <a:ext cx="18105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606039" y="4608576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前兆期待型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389120" y="4572000"/>
            <a:ext cx="22677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434840" y="4608576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長い前兆の末に冥王召喚が来た瞬間の爆発感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675120" y="4572000"/>
            <a:ext cx="22677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720840" y="4608576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通常時の前兆演出が長くても世界観と演出品質が高ければ苦に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4320" y="4919472"/>
            <a:ext cx="22677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20040" y="495604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D85A30"/>
                </a:solidFill>
                <a:latin typeface="游ゴシック"/>
              </a:rPr>
              <a:t>押忍!番長3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560320" y="4919472"/>
            <a:ext cx="18105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606039" y="4956048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爆裂一撃型＋設定6特化型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389120" y="4919472"/>
            <a:ext cx="22677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434840" y="495604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超番長ボーナス突入確定時の『来た！』という絶頂感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675120" y="4919472"/>
            <a:ext cx="22677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720840" y="495604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通常ATと爆裂フィーチャーを明確に分離することで『あの瞬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4320" y="5266944"/>
            <a:ext cx="22677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0040" y="5303520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D85A30"/>
                </a:solidFill>
                <a:latin typeface="游ゴシック"/>
              </a:rPr>
              <a:t>Re:ゼロから始める異世界生活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560320" y="5266944"/>
            <a:ext cx="18105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606039" y="5303520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強制ループ型＋IP融合型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389120" y="5266944"/>
            <a:ext cx="22677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434840" y="5303520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コンビニで『また戻ってきた』というループの中毒感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675120" y="5266944"/>
            <a:ext cx="22677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720840" y="5303520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IPのコアテーマ（死に戻り）をゲームメカニクスに直接落と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4320" y="5614416"/>
            <a:ext cx="22677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20040" y="5650992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D85A30"/>
                </a:solidFill>
                <a:latin typeface="游ゴシック"/>
              </a:rPr>
              <a:t>パチスロ 沖ドキ！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560320" y="5614416"/>
            <a:ext cx="18105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606039" y="5650992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原始的連荘型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389120" y="5614416"/>
            <a:ext cx="22677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434840" y="5650992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リプレイが外れた瞬間の『続いた！』という純粋な喜び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675120" y="5614416"/>
            <a:ext cx="2267712" cy="347472"/>
          </a:xfrm>
          <a:prstGeom prst="rect">
            <a:avLst/>
          </a:prstGeom>
          <a:solidFill>
            <a:srgbClr val="F8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720840" y="5650992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22222"/>
                </a:solidFill>
                <a:latin typeface="游ゴシック"/>
              </a:rPr>
              <a:t>ルールが単純なほど間口が広い。複雑なボーナス体系より『ド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游ゴシック"/>
              </a:rPr>
              <a:t>1. 市場の現状と課題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現行スマスロ市場を分析すると、20代ライトユーザーを疎外する設計が目立つ。</a:t>
            </a:r>
            <a:r>
              <a:rPr sz="1300" b="1">
                <a:solidFill>
                  <a:srgbClr val="D85A30"/>
                </a:solidFill>
                <a:latin typeface="游ゴシック"/>
              </a:rPr>
              <a:t>自力感・択あて過多問題</a:t>
            </a:r>
            <a:r>
              <a:rPr sz="1300" b="0">
                <a:solidFill>
                  <a:srgbClr val="222222"/>
                </a:solidFill>
                <a:latin typeface="游ゴシック"/>
              </a:rPr>
              <a:t>：カバネリの自力上乗せ4GやヨルムンガンドのCZ2部構成は、「外した絶望感」がライトユーザーの離脱を加速させている。</a:t>
            </a:r>
            <a:r>
              <a:rPr sz="1300" b="1">
                <a:solidFill>
                  <a:srgbClr val="D85A30"/>
                </a:solidFill>
                <a:latin typeface="游ゴシック"/>
              </a:rPr>
              <a:t>コイン単価の高騰</a:t>
            </a:r>
            <a:r>
              <a:rPr sz="1300" b="0">
                <a:solidFill>
                  <a:srgbClr val="222222"/>
                </a:solidFill>
                <a:latin typeface="游ゴシック"/>
              </a:rPr>
              <a:t>：吉宗・アクダマドライブはコイン単価4.5円超えで20代の投資許容範囲を超えつつある。</a:t>
            </a:r>
            <a:r>
              <a:rPr sz="1300" b="1">
                <a:solidFill>
                  <a:srgbClr val="D85A30"/>
                </a:solidFill>
                <a:latin typeface="游ゴシック"/>
              </a:rPr>
              <a:t>やめ時設計の欠如</a:t>
            </a:r>
            <a:r>
              <a:rPr sz="1300" b="0">
                <a:solidFill>
                  <a:srgbClr val="222222"/>
                </a:solidFill>
                <a:latin typeface="游ゴシック"/>
              </a:rPr>
              <a:t>：虚構推理のみが「ボーナス後に強制フェーズ突入」設計でやめにくくしているが、演出テンポ問題がある。市場には「プレイヤーが判断を求められず、システムが自動的に次の展開へ誘導し続ける台」が存在しない。</a:t>
            </a:r>
          </a:p>
          <a:p>
            <a:pPr>
              <a:spcAft>
                <a:spcPts val="300"/>
              </a:spcAft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游ゴシック"/>
              </a:rPr>
              <a:t>2. コンセプト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/>
            </a:r>
            <a:r>
              <a:rPr sz="1300" b="1">
                <a:solidFill>
                  <a:srgbClr val="D85A30"/>
                </a:solidFill>
                <a:latin typeface="游ゴシック"/>
              </a:rPr>
              <a:t>キャッチ：「ループから抜け出せない、電脳の迷宮へようこそ」</a:t>
            </a:r>
            <a:r>
              <a:rPr sz="1300" b="0">
                <a:solidFill>
                  <a:srgbClr val="222222"/>
                </a:solidFill>
                <a:latin typeface="游ゴシック"/>
              </a:rPr>
              <a:t/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タイムリープ × 電脳ダイブをゲーム設計のコアに据えた近未来アクションATスロット。プレイヤーは「タチコマと共に電脳空間を探索するSection9エージェント」として、ループするたびに情報が積み重なり強くなる感覚を体験する。東京リベンジャーズ的な「タイムリープ→再挑戦→積み重ね」の感情体験を攻殻機動隊の世界観で実現。択あて・自力感を完全排除し、気づいたらやめられない状態を作る。</a:t>
            </a:r>
          </a:p>
          <a:p>
            <a:pPr>
              <a:spcAft>
                <a:spcPts val="300"/>
              </a:spcAft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游ゴシック"/>
              </a:rPr>
              <a:t>3. ゲームフロー概要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游ゴシック"/>
              </a:rPr>
              <a:t>3. ゲームフロー概要（フロー図）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8503920" cy="5577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5440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2222"/>
                </a:solidFill>
                <a:latin typeface="Consolas"/>
              </a:rPr>
              <a:t>通常時（電脳哨戒モード）
│  ゾーン：150G・300G・500G（設定差大）
│  レア役 / 特定演出 → CZ「電脳ダイブ」（20G）
│
├─ CZ失敗 → 電脳ポイント(EP)として蓄積（持ち越し可能）
│           EP 500pt到達で次CZへ優遇抽選
│
└─ CZ成功 → AT「Section9 Operation」
             純増：3.5枚 / 1セット30G
             │
             ├─ ミッション継続（継続率60〜80%・設定差）
             │   └─ 300枚確定×継続 → 1000〜3000枚レンジ
             │
             └─ タイムリープ発動（AT中 約1/2500・設定差大）
                  「ループ」演出 → 純増5.5枚に強化
                  第2ループ・第3ループと積み重ねる設計
AT終了後
└─ 「次の作戦命令受信中」演出100G継続
   ※CZ優遇状態でやめにくい仕組み
天井：通常700G（EP蓄積量で600Gに短縮）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游ゴシック"/>
              </a:rPr>
              <a:t>4. 推奨スペック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• </a:t>
            </a:r>
            <a:r>
              <a:rPr sz="1300" b="1">
                <a:solidFill>
                  <a:srgbClr val="D85A30"/>
                </a:solidFill>
                <a:latin typeface="游ゴシック"/>
              </a:rPr>
              <a:t>機械割</a:t>
            </a:r>
            <a:r>
              <a:rPr sz="1300" b="0">
                <a:solidFill>
                  <a:srgbClr val="222222"/>
                </a:solidFill>
                <a:latin typeface="游ゴシック"/>
              </a:rPr>
              <a:t>：設定1 / 97.5%、設定4 / 103.5%、設定6 / 113.5%</a:t>
            </a: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• </a:t>
            </a:r>
            <a:r>
              <a:rPr sz="1300" b="1">
                <a:solidFill>
                  <a:srgbClr val="D85A30"/>
                </a:solidFill>
                <a:latin typeface="游ゴシック"/>
              </a:rPr>
              <a:t>AT純増</a:t>
            </a:r>
            <a:r>
              <a:rPr sz="1300" b="0">
                <a:solidFill>
                  <a:srgbClr val="222222"/>
                </a:solidFill>
                <a:latin typeface="游ゴシック"/>
              </a:rPr>
              <a:t>：通常3.5枚、タイムリープ時5.5枚（スマスロ）</a:t>
            </a: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• </a:t>
            </a:r>
            <a:r>
              <a:rPr sz="1300" b="1">
                <a:solidFill>
                  <a:srgbClr val="D85A30"/>
                </a:solidFill>
                <a:latin typeface="游ゴシック"/>
              </a:rPr>
              <a:t>コイン単価</a:t>
            </a:r>
            <a:r>
              <a:rPr sz="1300" b="0">
                <a:solidFill>
                  <a:srgbClr val="222222"/>
                </a:solidFill>
                <a:latin typeface="游ゴシック"/>
              </a:rPr>
              <a:t>：3.2〜3.5円（20代でも続けやすいレンジ）</a:t>
            </a: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• </a:t>
            </a:r>
            <a:r>
              <a:rPr sz="1300" b="1">
                <a:solidFill>
                  <a:srgbClr val="D85A30"/>
                </a:solidFill>
                <a:latin typeface="游ゴシック"/>
              </a:rPr>
              <a:t>天井</a:t>
            </a:r>
            <a:r>
              <a:rPr sz="1300" b="0">
                <a:solidFill>
                  <a:srgbClr val="222222"/>
                </a:solidFill>
                <a:latin typeface="游ゴシック"/>
              </a:rPr>
              <a:t>：通常700G（EP蓄積で600G短縮）</a:t>
            </a: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• </a:t>
            </a:r>
            <a:r>
              <a:rPr sz="1300" b="1">
                <a:solidFill>
                  <a:srgbClr val="D85A30"/>
                </a:solidFill>
                <a:latin typeface="游ゴシック"/>
              </a:rPr>
              <a:t>初当り</a:t>
            </a:r>
            <a:r>
              <a:rPr sz="1300" b="0">
                <a:solidFill>
                  <a:srgbClr val="222222"/>
                </a:solidFill>
                <a:latin typeface="游ゴシック"/>
              </a:rPr>
              <a:t>：設定1 / 1/280、設定6 / 1/210（ライト向けに軽め）</a:t>
            </a: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• </a:t>
            </a:r>
            <a:r>
              <a:rPr sz="1300" b="1">
                <a:solidFill>
                  <a:srgbClr val="D85A30"/>
                </a:solidFill>
                <a:latin typeface="游ゴシック"/>
              </a:rPr>
              <a:t>ATセット</a:t>
            </a:r>
            <a:r>
              <a:rPr sz="1300" b="0">
                <a:solidFill>
                  <a:srgbClr val="222222"/>
                </a:solidFill>
                <a:latin typeface="游ゴシック"/>
              </a:rPr>
              <a:t>：1セット30G・約300枚確定（短めで快感頻度を上げる）</a:t>
            </a: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• </a:t>
            </a:r>
            <a:r>
              <a:rPr sz="1300" b="1">
                <a:solidFill>
                  <a:srgbClr val="D85A30"/>
                </a:solidFill>
                <a:latin typeface="游ゴシック"/>
              </a:rPr>
              <a:t>継続率</a:t>
            </a:r>
            <a:r>
              <a:rPr sz="1300" b="0">
                <a:solidFill>
                  <a:srgbClr val="222222"/>
                </a:solidFill>
                <a:latin typeface="游ゴシック"/>
              </a:rPr>
              <a:t>：60〜80%（設定差・セット移行で変動）</a:t>
            </a: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• </a:t>
            </a:r>
            <a:r>
              <a:rPr sz="1300" b="1">
                <a:solidFill>
                  <a:srgbClr val="D85A30"/>
                </a:solidFill>
                <a:latin typeface="游ゴシック"/>
              </a:rPr>
              <a:t>タイムリープ</a:t>
            </a:r>
            <a:r>
              <a:rPr sz="1300" b="0">
                <a:solidFill>
                  <a:srgbClr val="222222"/>
                </a:solidFill>
                <a:latin typeface="游ゴシック"/>
              </a:rPr>
              <a:t>：AT中 約1/2500（設定6は約1/1200）</a:t>
            </a:r>
          </a:p>
          <a:p>
            <a:pPr>
              <a:spcAft>
                <a:spcPts val="300"/>
              </a:spcAft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游ゴシック"/>
              </a:rPr>
              <a:t>5. 差別化ポイント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1. </a:t>
            </a:r>
            <a:r>
              <a:rPr sz="1300" b="1">
                <a:solidFill>
                  <a:srgbClr val="D85A30"/>
                </a:solidFill>
                <a:latin typeface="游ゴシック"/>
              </a:rPr>
              <a:t>「CZ失敗」がロスにならないEP蓄積設計</a:t>
            </a:r>
            <a:r>
              <a:rPr sz="1300" b="0">
                <a:solidFill>
                  <a:srgbClr val="222222"/>
                </a:solidFill>
                <a:latin typeface="游ゴシック"/>
              </a:rPr>
              <a:t/>
            </a: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ヨルムンガンドで頻発した「1500G回してCZ0回」への絶望感を解消。失敗するたびにEPが積み上がり「次は必ず近づいている」視覚化でライトユーザーの離脱を防ぐ。目安：CZ失敗1回で100EP、EP500ptで天井短縮効果。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2. </a:t>
            </a:r>
            <a:r>
              <a:rPr sz="1300" b="1">
                <a:solidFill>
                  <a:srgbClr val="D85A30"/>
                </a:solidFill>
                <a:latin typeface="游ゴシック"/>
              </a:rPr>
              <a:t>択あて・自力感を完全排除した「自動連鎖AT」</a:t>
            </a:r>
            <a:r>
              <a:rPr sz="1300" b="0">
                <a:solidFill>
                  <a:srgbClr val="222222"/>
                </a:solidFill>
                <a:latin typeface="游ゴシック"/>
              </a:rPr>
              <a:t/>
            </a: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タイムリープ演出でプレイヤーは判断を一切求められない。カバネリの「自分で引く感」ではなく「システムが次に連れていく感」を徹底。東京リベンジャーズの「また戻れる」感覚をシステムに落とし込む。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3. </a:t>
            </a:r>
            <a:r>
              <a:rPr sz="1300" b="1">
                <a:solidFill>
                  <a:srgbClr val="D85A30"/>
                </a:solidFill>
                <a:latin typeface="游ゴシック"/>
              </a:rPr>
              <a:t>「次のミッション告知」によるやめ時の消去</a:t>
            </a:r>
            <a:r>
              <a:rPr sz="1300" b="0">
                <a:solidFill>
                  <a:srgbClr val="222222"/>
                </a:solidFill>
                <a:latin typeface="游ゴシック"/>
              </a:rPr>
              <a:t/>
            </a: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AT終了後100Gは「次の作戦命令受信中」演出が流れ続け、タチコマのセリフで「次のミッションまであと○G」と常に前を向かせる。虚構推理の強制フェーズ突入設計を参考に、通常時に戻った感覚を与えない。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4. </a:t>
            </a:r>
            <a:r>
              <a:rPr sz="1300" b="1">
                <a:solidFill>
                  <a:srgbClr val="D85A30"/>
                </a:solidFill>
                <a:latin typeface="游ゴシック"/>
              </a:rPr>
              <a:t>設定判別を「タイムリープ頻度」一本に集約</a:t>
            </a:r>
            <a:r>
              <a:rPr sz="1300" b="0">
                <a:solidFill>
                  <a:srgbClr val="222222"/>
                </a:solidFill>
                <a:latin typeface="游ゴシック"/>
              </a:rPr>
              <a:t/>
            </a: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ミリオンゴッドの偶数設定優遇・ガンダムユニコーンの複雑な段階設計に対し、「タイムリープ演出が多ければ高設定」という一本化した判断基準。初心者でも直感的に分かる。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5. </a:t>
            </a:r>
            <a:r>
              <a:rPr sz="1300" b="1">
                <a:solidFill>
                  <a:srgbClr val="D85A30"/>
                </a:solidFill>
                <a:latin typeface="游ゴシック"/>
              </a:rPr>
              <a:t>タチコマ主役設計によるIP入口の拡大</a:t>
            </a:r>
            <a:r>
              <a:rPr sz="1300" b="0">
                <a:solidFill>
                  <a:srgbClr val="222222"/>
                </a:solidFill>
                <a:latin typeface="游ゴシック"/>
              </a:rPr>
              <a:t/>
            </a: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素子・バトーはサブに回し、タチコマの愛嬌ある演出でNetflix世代の20代（SAC_2045認知層）を取り込む。タチコマの哲学的セリフが演出の深みを生み、知らない層でも「何かキャラが面白い」と引き込む。</a:t>
            </a:r>
          </a:p>
          <a:p>
            <a:pPr>
              <a:spcAft>
                <a:spcPts val="300"/>
              </a:spcAft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游ゴシック"/>
              </a:rPr>
              <a:t>6. 想定プレイヤー体験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着席すると「電脳哨戒開始」のアニメ風カットインが走り、タチコマの声で「今日の任務を始めよう」とアナウンスされる。300G付近でゾーン演出が始まりスムーズにCZへ。CZを失敗しても「電脳ポイント積み上げ中」のゲージが画面端で溜まっていく様子が見えるため、「無駄じゃなかった、続けよう」という感情が生まれる。ATに入れば30Gのセットが淡々と積み重なり、「ミッション継続」演出のたびに続きが気になってしまう。AT終了後も「次の作戦命令が届いています」と言われ席が立ちにくい。そして突如「タイムリープ発動」の演出が画面全体に走り、純増が5.5枚へ強化される瞬間に打ち手がざわめく。友人と来た20代が「これ気づいたらずっと打ってた」と口コミで広がるような、押しつけ感のない中毒設計。</a:t>
            </a:r>
          </a:p>
          <a:p>
            <a:pPr>
              <a:spcAft>
                <a:spcPts val="300"/>
              </a:spcAft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游ゴシック"/>
              </a:rPr>
              <a:t>7. リスクと対策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1. </a:t>
            </a:r>
            <a:r>
              <a:rPr sz="1300" b="1">
                <a:solidFill>
                  <a:srgbClr val="D85A30"/>
                </a:solidFill>
                <a:latin typeface="游ゴシック"/>
              </a:rPr>
              <a:t>「やめ時がない」設計がヘビーユーザーに嫌われる可能性</a:t>
            </a:r>
            <a:r>
              <a:rPr sz="1300" b="0">
                <a:solidFill>
                  <a:srgbClr val="222222"/>
                </a:solidFill>
                <a:latin typeface="游ゴシック"/>
              </a:rPr>
              <a:t/>
            </a: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対策：AT終了後の「次のミッション演出」はOFF設定を用意。ライト層はON・玄人はOFFで共存。演出OFFでも期待値は変わらない設計にする。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2. </a:t>
            </a:r>
            <a:r>
              <a:rPr sz="1300" b="1">
                <a:solidFill>
                  <a:srgbClr val="D85A30"/>
                </a:solidFill>
                <a:latin typeface="游ゴシック"/>
              </a:rPr>
              <a:t>低設定での体験が薄くなるリスク</a:t>
            </a:r>
            <a:r>
              <a:rPr sz="1300" b="0">
                <a:solidFill>
                  <a:srgbClr val="222222"/>
                </a:solidFill>
                <a:latin typeface="游ゴシック"/>
              </a:rPr>
              <a:t/>
            </a: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タイムリープ確率に設定差を集中させるため、低設定では「ループが来ない」体験が続く懸念がある。対策：EP蓄積・AT継続率の設定差は最小限（設定1〜6で20%以内の差）にとどめ、AT自体の楽しさは設定不問で確保。「タイムリープだけが設定差」という設計原則を守ることで、低設定でも打感を維持する。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3. </a:t>
            </a:r>
            <a:r>
              <a:rPr sz="1300" b="1">
                <a:solidFill>
                  <a:srgbClr val="D85A30"/>
                </a:solidFill>
                <a:latin typeface="游ゴシック"/>
              </a:rPr>
              <a:t>攻殻機動隊IP版権のコストと世代ギャップ</a:t>
            </a:r>
            <a:r>
              <a:rPr sz="1300" b="0">
                <a:solidFill>
                  <a:srgbClr val="222222"/>
                </a:solidFill>
                <a:latin typeface="游ゴシック"/>
              </a:rPr>
              <a:t/>
            </a:r>
          </a:p>
          <a:p>
            <a:pPr>
              <a:spcBef>
                <a:spcPts val="100"/>
              </a:spcBef>
            </a:pPr>
            <a:r>
              <a:rPr sz="1300" b="0">
                <a:solidFill>
                  <a:srgbClr val="222222"/>
                </a:solidFill>
                <a:latin typeface="游ゴシック"/>
              </a:rPr>
              <a:t>40代以上のオリジナル層と20代のSAC_2045層で温度差がある。対策：タチコマをメインに据え、全世代の入口を「かわいいタンク型ロボット」に統一。深みが欲しい層向けに素子のセリフ・哲学的演出をプレミア枠として残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