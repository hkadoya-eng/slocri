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664208"/>
            <a:ext cx="9144000" cy="8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310128"/>
            <a:ext cx="9144000" cy="8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2296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A050"/>
                </a:solidFill>
                <a:latin typeface="游明朝"/>
              </a:rPr>
              <a:t>新機種企画提案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85800"/>
            <a:ext cx="859536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D700"/>
                </a:solidFill>
                <a:latin typeface="游明朝"/>
              </a:rPr>
              <a:t>世代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26464"/>
            <a:ext cx="8595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1A"/>
                </a:solidFill>
                <a:latin typeface="游明朝"/>
              </a:rPr>
              <a:t>―  継 承 の 炎  ―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810512"/>
            <a:ext cx="6400800" cy="560000"/>
          </a:xfrm>
          <a:prstGeom prst="rect">
            <a:avLst/>
          </a:prstGeom>
          <a:solidFill>
            <a:srgbClr val="14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856231"/>
            <a:ext cx="62179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E6C8"/>
                </a:solidFill>
                <a:latin typeface="游明朝"/>
              </a:rPr>
              <a:t>「 一人では届かない。でも、意志は続く。 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56432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メイリオ"/>
              </a:rPr>
              <a:t>タイプ：スマスロ（L型）
純増：4.0枚/G（AT）/ 8.0枚/G（決戦AT）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456432"/>
            <a:ext cx="41148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メイリオ"/>
              </a:rPr>
              <a:t>ターゲット：30〜50代 RPG・ロールプレイング世代
MY目標：約3,500枚（ミドル）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754880"/>
            <a:ext cx="18288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88"/>
                </a:solidFill>
                <a:latin typeface="メイリオ"/>
              </a:rPr>
              <a:t>v1.0 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2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コアコンセプト  ──  なぜ「世代」なのか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154680"/>
          </a:xfrm>
          <a:prstGeom prst="rect">
            <a:avLst/>
          </a:prstGeom>
          <a:solidFill>
            <a:srgbClr val="180A00"/>
          </a:solidFill>
          <a:ln w="254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2880" y="841248"/>
            <a:ext cx="256032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游明朝"/>
              </a:rPr>
              <a:t>感情設計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2880" y="1261872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「1回のATが1世代」
世代を重ねるほど
物語が深まる
RPGの「プレイするほど
世界が豊かになる」
感覚をパチスロへ
負けても
「次の世代へ繋いだ」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777240"/>
            <a:ext cx="2743200" cy="3154680"/>
          </a:xfrm>
          <a:prstGeom prst="rect">
            <a:avLst/>
          </a:prstGeom>
          <a:solidFill>
            <a:srgbClr val="040A1C"/>
          </a:solidFill>
          <a:ln w="25400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120" y="841248"/>
            <a:ext cx="256032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7AA8"/>
                </a:solidFill>
                <a:latin typeface="游明朝"/>
              </a:rPr>
              <a:t>継承の儀（業界初）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120" y="1261872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AT消化中に次の世代へ
何を引き継ぐかを選ぶ
技の継承 / 絆の継承
力の継承
プレイヤーが
物語を選ぶ台
2人と同じ体験がない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777240"/>
            <a:ext cx="2743200" cy="3154680"/>
          </a:xfrm>
          <a:prstGeom prst="rect">
            <a:avLst/>
          </a:prstGeom>
          <a:solidFill>
            <a:srgbClr val="1C0404"/>
          </a:solidFill>
          <a:ln w="2540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360" y="841248"/>
            <a:ext cx="256032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1C1C"/>
                </a:solidFill>
                <a:latin typeface="游明朝"/>
              </a:rPr>
              <a:t>宿敵討伐（1セッション完結）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360" y="1261872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強大な宿敵に
1セッション内で挑む
ATを重ねるほど
宿敵が弱体化する
「今日が決戦だ」
という感動
カード不要・完全完結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4023360"/>
            <a:ext cx="8778240" cy="40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4096512"/>
            <a:ext cx="8778240" cy="580000"/>
          </a:xfrm>
          <a:prstGeom prst="rect">
            <a:avLst/>
          </a:prstGeom>
          <a:solidFill>
            <a:srgbClr val="0E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142232"/>
            <a:ext cx="8412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9A1E"/>
                </a:solidFill>
                <a:latin typeface="メイリオ"/>
              </a:rPr>
              <a:t>祟り神の章（感情逆転）→ ミリゴ・吉宗（実機メカニクス学習）→ 世代（継承×積み上げ×選択）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389120"/>
            <a:ext cx="8412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タイムリープ（Re:ゼロ・まどマギ）は既存。継承型は業界初。負けも「次世代への蓄積」に変換する唯一の感情設計。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2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業界初ポイント  ──  既存機種にない3つの設計軸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49808"/>
            <a:ext cx="2743200" cy="3291840"/>
          </a:xfrm>
          <a:prstGeom prst="rect">
            <a:avLst/>
          </a:prstGeom>
          <a:solidFill>
            <a:srgbClr val="1C0C00"/>
          </a:solidFill>
          <a:ln w="254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2880" y="804672"/>
            <a:ext cx="500000" cy="50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804672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游明朝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880" y="841248"/>
            <a:ext cx="20116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游明朝"/>
              </a:rPr>
              <a:t>世代交代ループ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880" y="1298448"/>
            <a:ext cx="2560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ATループ = 世代交代の演出
ATが終わるたびに
「継承演出」が流れ
次の世代が立ち上がる
「また負けた」ではなく
「次の世代へ繋いだ」
になる感情設計
✓ 負けをポジティブに転換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749808"/>
            <a:ext cx="2743200" cy="3291840"/>
          </a:xfrm>
          <a:prstGeom prst="rect">
            <a:avLst/>
          </a:prstGeom>
          <a:solidFill>
            <a:srgbClr val="040C1E"/>
          </a:solidFill>
          <a:ln w="25400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6120" y="804672"/>
            <a:ext cx="500000" cy="500000"/>
          </a:xfrm>
          <a:prstGeom prst="rect">
            <a:avLst/>
          </a:prstGeom>
          <a:solidFill>
            <a:srgbClr val="4A7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6120" y="804672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游明朝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26120" y="841248"/>
            <a:ext cx="20116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7AA8"/>
                </a:solidFill>
                <a:latin typeface="游明朝"/>
              </a:rPr>
              <a:t>継承の儀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120" y="1298448"/>
            <a:ext cx="2560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AT消化中に選択する
アクティブシステム
「技の継承」
「絆の継承」
「力の継承」の3択
選んだ内容で
次世代ATの性能が変わる
✓ プレイヤーが物語を作る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749808"/>
            <a:ext cx="2743200" cy="3291840"/>
          </a:xfrm>
          <a:prstGeom prst="rect">
            <a:avLst/>
          </a:prstGeom>
          <a:solidFill>
            <a:srgbClr val="1C0404"/>
          </a:solidFill>
          <a:ln w="2540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9360" y="804672"/>
            <a:ext cx="500000" cy="500000"/>
          </a:xfrm>
          <a:prstGeom prst="rect">
            <a:avLst/>
          </a:prstGeom>
          <a:solidFill>
            <a:srgbClr val="A8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9360" y="804672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游明朝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9360" y="841248"/>
            <a:ext cx="20116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1C1C"/>
                </a:solidFill>
                <a:latin typeface="游明朝"/>
              </a:rPr>
              <a:t>宿敵弱体化ゲージ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360" y="1298448"/>
            <a:ext cx="2560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1セッション内で
ATを重ねるほど
宿敵が弱体化する
ゲージMAX
＋皇帝の力
＋継承コンプリート
で「決戦AT」解放
✓ 長期遊技の目標が明確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133087"/>
            <a:ext cx="8778240" cy="600000"/>
          </a:xfrm>
          <a:prstGeom prst="rect">
            <a:avLst/>
          </a:prstGeom>
          <a:solidFill>
            <a:srgbClr val="0C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4133087"/>
            <a:ext cx="60000" cy="600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178808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9A1E"/>
                </a:solidFill>
                <a:latin typeface="游明朝"/>
              </a:rPr>
              <a:t>ミリゴZ-ZONE → 「継承の儀」へ昇華  /  吉宗1G連 → 「英雄の残照」へ昇華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443984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既存機種のメカニクスを感情設計に統合。「選ぶ楽しさ」「積み上げる喜び」「決着の感動」を1セッションで体験させる。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2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ゲームフロー全体図  ──  1セッションで世代が積み重なる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02920"/>
            <a:ext cx="2743200" cy="1097280"/>
          </a:xfrm>
          <a:prstGeom prst="rect">
            <a:avLst/>
          </a:prstGeom>
          <a:solidFill>
            <a:srgbClr val="0A061C"/>
          </a:solidFill>
          <a:ln w="22860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56292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通常時 / 前兆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92292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4ステージ（荒野→城下町→王都→黄金）
周期100GでCZ到来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502920"/>
            <a:ext cx="2743200" cy="1097280"/>
          </a:xfrm>
          <a:prstGeom prst="rect">
            <a:avLst/>
          </a:prstGeom>
          <a:solidFill>
            <a:srgbClr val="180606"/>
          </a:solidFill>
          <a:ln w="2286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8960" y="56292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CZ「英雄の試練」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8960" y="92292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3Gバトル / CZ成功でAT突入
失敗でも継承ポイント蓄積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502920"/>
            <a:ext cx="2743200" cy="1097280"/>
          </a:xfrm>
          <a:prstGeom prst="rect">
            <a:avLst/>
          </a:prstGeom>
          <a:solidFill>
            <a:srgbClr val="180C00"/>
          </a:solidFill>
          <a:ln w="2286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5040" y="56292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世代AT（1世代50G）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5040" y="92292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純増4.0枚/G / ストック種別4種
赤7揃い → 「継承の儀」発動！</a:t>
            </a:r>
          </a:p>
        </p:txBody>
      </p:sp>
      <p:sp>
        <p:nvSpPr>
          <p:cNvPr id="15" name="Can 14"/>
          <p:cNvSpPr/>
          <p:nvPr/>
        </p:nvSpPr>
        <p:spPr>
          <a:xfrm>
            <a:off x="2966080" y="976560"/>
            <a:ext cx="102880" cy="150000"/>
          </a:xfrm>
          <a:prstGeom prst="can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n 15"/>
          <p:cNvSpPr/>
          <p:nvPr/>
        </p:nvSpPr>
        <p:spPr>
          <a:xfrm>
            <a:off x="5892160" y="976560"/>
            <a:ext cx="102880" cy="150000"/>
          </a:xfrm>
          <a:prstGeom prst="can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 16"/>
          <p:cNvSpPr/>
          <p:nvPr/>
        </p:nvSpPr>
        <p:spPr>
          <a:xfrm rot="5400000">
            <a:off x="7341640" y="1660200"/>
            <a:ext cx="130000" cy="380000"/>
          </a:xfrm>
          <a:prstGeom prst="can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743200" cy="1097280"/>
          </a:xfrm>
          <a:prstGeom prst="rect">
            <a:avLst/>
          </a:prstGeom>
          <a:solidFill>
            <a:srgbClr val="180C00"/>
          </a:solidFill>
          <a:ln w="2286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5040" y="220884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世代ループ（継承の儀）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5040" y="256884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世代が重なるほど台が強化
ストック残 → 次世代へ継続！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2148840"/>
            <a:ext cx="2743200" cy="1097280"/>
          </a:xfrm>
          <a:prstGeom prst="rect">
            <a:avLst/>
          </a:prstGeom>
          <a:solidFill>
            <a:srgbClr val="041404"/>
          </a:solidFill>
          <a:ln w="22860">
            <a:solidFill>
              <a:srgbClr val="40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88960" y="220884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英雄連合（3世代以上）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8960" y="256884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複数世代の英雄が集結
継続率75% / 純増6.5枚/G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48840"/>
            <a:ext cx="2743200" cy="1097280"/>
          </a:xfrm>
          <a:prstGeom prst="rect">
            <a:avLst/>
          </a:prstGeom>
          <a:solidFill>
            <a:srgbClr val="060A1C"/>
          </a:solidFill>
          <a:ln w="22860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2880" y="220884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英雄の残照（引き戻し）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880" y="256884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AT終了後5Gのラストチャンス
奇数揃いで世代AT再突入！</a:t>
            </a:r>
          </a:p>
        </p:txBody>
      </p:sp>
      <p:sp>
        <p:nvSpPr>
          <p:cNvPr id="27" name="Can 26"/>
          <p:cNvSpPr/>
          <p:nvPr/>
        </p:nvSpPr>
        <p:spPr>
          <a:xfrm rot="10800000">
            <a:off x="5892160" y="2622480"/>
            <a:ext cx="102880" cy="150000"/>
          </a:xfrm>
          <a:prstGeom prst="can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n 27"/>
          <p:cNvSpPr/>
          <p:nvPr/>
        </p:nvSpPr>
        <p:spPr>
          <a:xfrm rot="10800000">
            <a:off x="2966080" y="2622480"/>
            <a:ext cx="102880" cy="150000"/>
          </a:xfrm>
          <a:prstGeom prst="can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07540" y="1798840"/>
            <a:ext cx="55000" cy="350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7540" y="1771340"/>
            <a:ext cx="475000" cy="55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27540" y="1798840"/>
            <a:ext cx="55000" cy="350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5040" y="1838840"/>
            <a:ext cx="36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D700"/>
                </a:solidFill>
                <a:latin typeface="メイリオ"/>
              </a:rPr>
              <a:t>↺ ループ！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429000"/>
            <a:ext cx="2651760" cy="900000"/>
          </a:xfrm>
          <a:prstGeom prst="rect">
            <a:avLst/>
          </a:prstGeom>
          <a:solidFill>
            <a:srgbClr val="200404"/>
          </a:solidFill>
          <a:ln w="2540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2880" y="3489000"/>
            <a:ext cx="2377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1C1C"/>
                </a:solidFill>
                <a:latin typeface="游明朝"/>
              </a:rPr>
              <a:t>決戦AT ―世代の決着―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2880" y="3899000"/>
            <a:ext cx="237744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宿敵弱体化MAX
＋皇帝の力＋継承コンプリート
純増8.0枚/G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3429000"/>
            <a:ext cx="6126480" cy="900000"/>
          </a:xfrm>
          <a:prstGeom prst="rect">
            <a:avLst/>
          </a:prstGeom>
          <a:solidFill>
            <a:srgbClr val="10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71800" y="3509000"/>
            <a:ext cx="5760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A050"/>
                </a:solidFill>
                <a:latin typeface="メイリオ"/>
              </a:rPr>
              <a:t>★ 歴代全世代の英雄が集結する演出。前後のAT積み上げ込みでMY約3,500枚。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3909000"/>
            <a:ext cx="5760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「自分が今日育てた世代が、ここで結実する」——1セッションの物語が完結する瞬間。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2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通常時の仕組み  ──  ステージ × 周期CZ × 継承ポイント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834640" cy="2240280"/>
          </a:xfrm>
          <a:prstGeom prst="rect">
            <a:avLst/>
          </a:prstGeom>
          <a:solidFill>
            <a:srgbClr val="100A22"/>
          </a:solidFill>
          <a:ln w="19050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7AA8"/>
                </a:solidFill>
                <a:latin typeface="游明朝"/>
              </a:rPr>
              <a:t>① ステージ4種（遊技数連動）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16152"/>
            <a:ext cx="11887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BBBBB"/>
                </a:solidFill>
                <a:latin typeface="メイリオ"/>
              </a:rPr>
              <a:t>荒野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216152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通常ステージ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86152"/>
            <a:ext cx="11887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E060"/>
                </a:solidFill>
                <a:latin typeface="メイリオ"/>
              </a:rPr>
              <a:t>城下町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486152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高確示唆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756152"/>
            <a:ext cx="11887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A030"/>
                </a:solidFill>
                <a:latin typeface="メイリオ"/>
              </a:rPr>
              <a:t>王都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756152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前兆・CZ高確率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026152"/>
            <a:ext cx="11887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黄金都市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26152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AT超高確率状態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777240"/>
            <a:ext cx="2834640" cy="2240280"/>
          </a:xfrm>
          <a:prstGeom prst="rect">
            <a:avLst/>
          </a:prstGeom>
          <a:solidFill>
            <a:srgbClr val="100A22"/>
          </a:solidFill>
          <a:ln w="1905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822960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1C1C"/>
                </a:solidFill>
                <a:latin typeface="游明朝"/>
              </a:rPr>
              <a:t>② 周期CZ「英雄の試練」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216152"/>
            <a:ext cx="10058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5E6C8"/>
                </a:solidFill>
                <a:latin typeface="メイリオ"/>
              </a:rPr>
              <a:t>周期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216152"/>
            <a:ext cx="16002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100G毎に規則的に到来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1486152"/>
            <a:ext cx="10058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BBBBB"/>
                </a:solidFill>
                <a:latin typeface="メイリオ"/>
              </a:rPr>
              <a:t>バトル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486152"/>
            <a:ext cx="16002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3G間の試練演出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1756152"/>
            <a:ext cx="10058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成功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1756152"/>
            <a:ext cx="16002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世代AT突入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2026152"/>
            <a:ext cx="10058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A050"/>
                </a:solidFill>
                <a:latin typeface="メイリオ"/>
              </a:rPr>
              <a:t>失敗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026152"/>
            <a:ext cx="16002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継承ポイント＋10獲得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777240"/>
            <a:ext cx="2834640" cy="2240280"/>
          </a:xfrm>
          <a:prstGeom prst="rect">
            <a:avLst/>
          </a:prstGeom>
          <a:solidFill>
            <a:srgbClr val="100A22"/>
          </a:solidFill>
          <a:ln w="1905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822960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9A1E"/>
                </a:solidFill>
                <a:latin typeface="游明朝"/>
              </a:rPr>
              <a:t>③ 継承ポイント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216152"/>
            <a:ext cx="109728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5E6C8"/>
                </a:solidFill>
                <a:latin typeface="メイリオ"/>
              </a:rPr>
              <a:t>獲得方法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1216152"/>
            <a:ext cx="150876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CZ失敗・リプレイ等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486152"/>
            <a:ext cx="109728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E060"/>
                </a:solidFill>
                <a:latin typeface="メイリオ"/>
              </a:rPr>
              <a:t>50pt到達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1486152"/>
            <a:ext cx="150876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天井100G短縮（600→500G）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756152"/>
            <a:ext cx="109728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A030"/>
                </a:solidFill>
                <a:latin typeface="メイリオ"/>
              </a:rPr>
              <a:t>100pt到達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1756152"/>
            <a:ext cx="150876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天井200G短縮（400G）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026152"/>
            <a:ext cx="109728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200pt到達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2026152"/>
            <a:ext cx="150876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CZ突破率大幅UP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108960"/>
            <a:ext cx="8778240" cy="4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2880" y="3182112"/>
            <a:ext cx="8778240" cy="620000"/>
          </a:xfrm>
          <a:prstGeom prst="rect">
            <a:avLst/>
          </a:prstGeom>
          <a:solidFill>
            <a:srgbClr val="0C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227832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1A"/>
                </a:solidFill>
                <a:latin typeface="游明朝"/>
              </a:rPr>
              <a:t>通常時の読み方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3529584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ステージが「王都」以上になったら好機。継承ポイントを積みながらCZを迎える。失敗しても「育てている」感覚が大事。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3822191"/>
            <a:ext cx="8778240" cy="380000"/>
          </a:xfrm>
          <a:prstGeom prst="rect">
            <a:avLst/>
          </a:prstGeom>
          <a:solidFill>
            <a:srgbClr val="0C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858768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9A1E"/>
                </a:solidFill>
                <a:latin typeface="メイリオ"/>
              </a:rPr>
              <a:t>★ 周期設計は吉宗の規則的CZ設計を参考。「いつCZが来るか分かる」ストレスの少ない通常時設計。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2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世代AT・継承の儀  ──  選ぶことで物語が変わる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154680"/>
          </a:xfrm>
          <a:prstGeom prst="rect">
            <a:avLst/>
          </a:prstGeom>
          <a:solidFill>
            <a:srgbClr val="180C00"/>
          </a:solidFill>
          <a:ln w="2540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25603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游明朝"/>
              </a:rPr>
              <a:t>世代AT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1セット50G / 純増4.0枚/G
ストックを1個消費して消化
【ストック4種】
  一代の力：ループ率20%
  二代の力：ループ率40%
  三代の力：ループ率60%
  皇帝の力：ループ率80%（レア）
ミリゴA〜Dストックと
同じ設計思想を昇華</a:t>
            </a:r>
          </a:p>
        </p:txBody>
      </p:sp>
      <p:sp>
        <p:nvSpPr>
          <p:cNvPr id="9" name="Can 8"/>
          <p:cNvSpPr/>
          <p:nvPr/>
        </p:nvSpPr>
        <p:spPr>
          <a:xfrm>
            <a:off x="3017520" y="2229288"/>
            <a:ext cx="270000" cy="150000"/>
          </a:xfrm>
          <a:prstGeom prst="can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777240"/>
            <a:ext cx="2834640" cy="3154680"/>
          </a:xfrm>
          <a:prstGeom prst="rect">
            <a:avLst/>
          </a:prstGeom>
          <a:solidFill>
            <a:srgbClr val="180800"/>
          </a:solidFill>
          <a:ln w="3175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822960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1A"/>
                </a:solidFill>
                <a:latin typeface="游明朝"/>
              </a:rPr>
              <a:t>継承の儀（業界初）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170432"/>
            <a:ext cx="2651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赤7揃いで発動
（ミリゴZ-ZONEを応用）
【3択の選択】
  技の継承
  → 次世代の特殊演出解放
  絆の継承
  → 次世代AT継続率+10%
  力の継承
  → 宿敵弱体化ゲージ大幅UP</a:t>
            </a:r>
          </a:p>
        </p:txBody>
      </p:sp>
      <p:sp>
        <p:nvSpPr>
          <p:cNvPr id="13" name="Can 12"/>
          <p:cNvSpPr/>
          <p:nvPr/>
        </p:nvSpPr>
        <p:spPr>
          <a:xfrm>
            <a:off x="6355080" y="2229288"/>
            <a:ext cx="270000" cy="150000"/>
          </a:xfrm>
          <a:prstGeom prst="can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777240"/>
            <a:ext cx="2194560" cy="3154680"/>
          </a:xfrm>
          <a:prstGeom prst="rect">
            <a:avLst/>
          </a:prstGeom>
          <a:solidFill>
            <a:srgbClr val="161000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822960"/>
            <a:ext cx="20116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游明朝"/>
              </a:rPr>
              <a:t>世代の重なり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170432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第1世代
  ↓ 継承
第2世代
  ↓ 継承
第3世代
  ↓
英雄連合へ！
★ 世代が重なるほど
   演出が豊かになる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4023360"/>
            <a:ext cx="8778240" cy="700000"/>
          </a:xfrm>
          <a:prstGeom prst="rect">
            <a:avLst/>
          </a:prstGeom>
          <a:solidFill>
            <a:srgbClr val="10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4023360"/>
            <a:ext cx="60000" cy="70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069080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1A"/>
                </a:solidFill>
                <a:latin typeface="游明朝"/>
              </a:rPr>
              <a:t>「継承の儀」は能動的な選択が生まれる唯一の瞬間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370832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「どれを選ぶか」の悩みが没入感を生む。選んだ内容が次世代ATに影響するため、打ち手ごとに異なる物語が展開する。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2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英雄連合・決戦AT  ──  積み上げた世代が爆発する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114800" cy="3154680"/>
          </a:xfrm>
          <a:prstGeom prst="rect">
            <a:avLst/>
          </a:prstGeom>
          <a:solidFill>
            <a:srgbClr val="041404"/>
          </a:solidFill>
          <a:ln w="25400">
            <a:solidFill>
              <a:srgbClr val="40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39319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D060"/>
                </a:solidFill>
                <a:latin typeface="游明朝"/>
              </a:rPr>
              <a:t>英雄連合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発動条件：世代AT 3回以上ループ
　　　　　＋ 特定継承組み合わせ
複数世代の英雄が「連合」して戦う演出
継続率：75%
純増：6.5枚/G
期待枚数：1,000〜1,500枚
AT終了時「英雄の残照」（引き戻し5G）
  → 吉宗1G連の感動をここで再現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463040"/>
            <a:ext cx="220000" cy="1828800"/>
          </a:xfrm>
          <a:prstGeom prst="rect">
            <a:avLst/>
          </a:prstGeom>
          <a:solidFill>
            <a:srgbClr val="20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48840"/>
            <a:ext cx="2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81C1C"/>
                </a:solidFill>
                <a:latin typeface="メイリオ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777240"/>
            <a:ext cx="4160520" cy="3154680"/>
          </a:xfrm>
          <a:prstGeom prst="rect">
            <a:avLst/>
          </a:prstGeom>
          <a:solidFill>
            <a:srgbClr val="220404"/>
          </a:solidFill>
          <a:ln w="3175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822960"/>
            <a:ext cx="3977639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1C1C"/>
                </a:solidFill>
                <a:latin typeface="游明朝"/>
              </a:rPr>
              <a:t>決戦AT  ―世代の決着―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170432"/>
            <a:ext cx="397763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発動条件：
  宿敵弱体化ゲージ MAX
  ＋ 皇帝の力ストック
  ＋ 継承3種コンプリート
純増：8.0枚/G
歴代全世代の英雄が集結する演出
★ 前後のAT積み上げ込みで
   MY 約3,500枚（ミドル）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4023360"/>
            <a:ext cx="8778240" cy="700000"/>
          </a:xfrm>
          <a:prstGeom prst="rect">
            <a:avLst/>
          </a:prstGeom>
          <a:solidFill>
            <a:srgbClr val="1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4023360"/>
            <a:ext cx="60000" cy="700000"/>
          </a:xfrm>
          <a:prstGeom prst="rect">
            <a:avLst/>
          </a:prstGeom>
          <a:solidFill>
            <a:srgbClr val="A8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069080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050"/>
                </a:solidFill>
                <a:latin typeface="游明朝"/>
              </a:rPr>
              <a:t>MY設計：世代AT(800枚) ＋ 英雄連合(1,200枚) ＋ 決戦AT(1,500枚) ＝ 約3,500枚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370832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通常遊技でも英雄連合まで楽しめる設計。決戦ATは「夢」ではなく「積み上げれば届く」距離感に設定。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2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基本スペック  ──  ミドルMY・ストレスフリー設計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297680" cy="3246120"/>
          </a:xfrm>
          <a:prstGeom prst="rect">
            <a:avLst/>
          </a:prstGeom>
          <a:solidFill>
            <a:srgbClr val="100A22"/>
          </a:solidFill>
          <a:ln w="1905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41148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9A1E"/>
                </a:solidFill>
                <a:latin typeface="游明朝"/>
              </a:rPr>
              <a:t>基本スペック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43584"/>
            <a:ext cx="1463040" cy="255000"/>
          </a:xfrm>
          <a:prstGeom prst="rect">
            <a:avLst/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71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タイプ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271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スマスロ（L型）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08584"/>
            <a:ext cx="1463040" cy="255000"/>
          </a:xfrm>
          <a:prstGeom prst="rect">
            <a:avLst/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36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天井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536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600G（継承ポイントで最短400G）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73584"/>
            <a:ext cx="1463040" cy="255000"/>
          </a:xfrm>
          <a:prstGeom prst="rect">
            <a:avLst/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801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純増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1801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4.0枚/G / 6.5枚/G / 8.0枚/G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38584"/>
            <a:ext cx="1463040" cy="255000"/>
          </a:xfrm>
          <a:prstGeom prst="rect">
            <a:avLst/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066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機械割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2066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設定1：97.5%  /  設定6：109%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03584"/>
            <a:ext cx="1463040" cy="255000"/>
          </a:xfrm>
          <a:prstGeom prst="rect">
            <a:avLst/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331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MY目標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2331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約3,500枚（ミドル）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68584"/>
            <a:ext cx="1463040" cy="255000"/>
          </a:xfrm>
          <a:prstGeom prst="rect">
            <a:avLst/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596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コイン単価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2596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20円（3枚ベット / 1G＝60円）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833584"/>
            <a:ext cx="1463040" cy="255000"/>
          </a:xfrm>
          <a:prstGeom prst="rect">
            <a:avLst/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61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CV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2861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0.22〜0.27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777240"/>
            <a:ext cx="4297680" cy="3246120"/>
          </a:xfrm>
          <a:prstGeom prst="rect">
            <a:avLst/>
          </a:prstGeom>
          <a:solidFill>
            <a:srgbClr val="100A22"/>
          </a:solidFill>
          <a:ln w="1905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822960"/>
            <a:ext cx="41148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游明朝"/>
              </a:rPr>
              <a:t>出玉期待値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1243584"/>
            <a:ext cx="1417320" cy="280000"/>
          </a:xfrm>
          <a:prstGeom prst="rect">
            <a:avLst/>
          </a:prstGeom>
          <a:solidFill>
            <a:srgbClr val="22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1281584"/>
            <a:ext cx="132588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A050"/>
                </a:solidFill>
                <a:latin typeface="メイリオ"/>
              </a:rPr>
              <a:t>通常AT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1281584"/>
            <a:ext cx="132588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300〜400枚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1281584"/>
            <a:ext cx="128016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1〜2世代の日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1538584"/>
            <a:ext cx="1417320" cy="280000"/>
          </a:xfrm>
          <a:prstGeom prst="rect">
            <a:avLst/>
          </a:prstGeom>
          <a:solidFill>
            <a:srgbClr val="22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1576584"/>
            <a:ext cx="132588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A050"/>
                </a:solidFill>
                <a:latin typeface="メイリオ"/>
              </a:rPr>
              <a:t>英雄連合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1576584"/>
            <a:ext cx="132588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1,000〜1,500枚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1576584"/>
            <a:ext cx="128016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3世代ループの日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1833584"/>
            <a:ext cx="1417320" cy="280000"/>
          </a:xfrm>
          <a:prstGeom prst="rect">
            <a:avLst/>
          </a:prstGeom>
          <a:solidFill>
            <a:srgbClr val="22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00600" y="1871584"/>
            <a:ext cx="132588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A050"/>
                </a:solidFill>
                <a:latin typeface="メイリオ"/>
              </a:rPr>
              <a:t>決戦AT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1871584"/>
            <a:ext cx="132588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1,500枚以上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1871584"/>
            <a:ext cx="128016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全条件成立の日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2128584"/>
            <a:ext cx="1417320" cy="280000"/>
          </a:xfrm>
          <a:prstGeom prst="rect">
            <a:avLst/>
          </a:prstGeom>
          <a:solidFill>
            <a:srgbClr val="22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0600" y="2166584"/>
            <a:ext cx="132588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A050"/>
                </a:solidFill>
                <a:latin typeface="メイリオ"/>
              </a:rPr>
              <a:t>MY（目安）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2166584"/>
            <a:ext cx="132588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約3,500枚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2166584"/>
            <a:ext cx="128016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決戦+前後込みの1日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4114800"/>
            <a:ext cx="8778240" cy="560000"/>
          </a:xfrm>
          <a:prstGeom prst="rect">
            <a:avLst/>
          </a:prstGeom>
          <a:solidFill>
            <a:srgbClr val="0C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2880" y="4114800"/>
            <a:ext cx="60000" cy="560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160520"/>
            <a:ext cx="8412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99A1E"/>
                </a:solidFill>
                <a:latin typeface="メイリオ"/>
              </a:rPr>
              <a:t>時間コスト目安：1G=60円 × 設定1(97.5%) → 期待損失1.5円/G。400G/時で約600円/時。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416552"/>
            <a:ext cx="8412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英雄連合狙いなら3世代（約150G）が一区切り。ミドル層が3,000〜5,000円で十分楽しめる時間設計。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2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ターゲット・市場考察  ──  RPG世代×継承テーマの必然性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251960" cy="3154680"/>
          </a:xfrm>
          <a:prstGeom prst="rect">
            <a:avLst/>
          </a:prstGeom>
          <a:solidFill>
            <a:srgbClr val="100A22"/>
          </a:solidFill>
          <a:ln w="1905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40690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9A1E"/>
                </a:solidFill>
                <a:latin typeface="游明朝"/>
              </a:rPr>
              <a:t>メインターゲット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年齢層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234440"/>
            <a:ext cx="26060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D700"/>
                </a:solidFill>
                <a:latin typeface="メイリオ"/>
              </a:rPr>
              <a:t>30〜50代男性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04440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世代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4440"/>
            <a:ext cx="26060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ロマサガ2・DQ・FF体験世代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774440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プレイスタイル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774440"/>
            <a:ext cx="26060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週1〜2来店のリピーター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044440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感情ニーズ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044440"/>
            <a:ext cx="26060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A050"/>
                </a:solidFill>
                <a:latin typeface="メイリオ"/>
              </a:rPr>
              <a:t>「物語に没入」「積み上げを感じたい」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314440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許容投資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314440"/>
            <a:ext cx="26060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E060"/>
                </a:solidFill>
                <a:latin typeface="メイリオ"/>
              </a:rPr>
              <a:t>3,000〜8,000円/日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777240"/>
            <a:ext cx="4343400" cy="3154680"/>
          </a:xfrm>
          <a:prstGeom prst="rect">
            <a:avLst/>
          </a:prstGeom>
          <a:solidFill>
            <a:srgbClr val="100A22"/>
          </a:solidFill>
          <a:ln w="19050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822960"/>
            <a:ext cx="41605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7AA8"/>
                </a:solidFill>
                <a:latin typeface="游明朝"/>
              </a:rPr>
              <a:t>競合との差別化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1234440"/>
            <a:ext cx="11430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BBBBBB"/>
                </a:solidFill>
                <a:latin typeface="メイリオ"/>
              </a:rPr>
              <a:t>Re:ゼロ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1234440"/>
            <a:ext cx="14173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タイムリープ・失敗前提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1234440"/>
            <a:ext cx="15087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FFA050"/>
                </a:solidFill>
                <a:latin typeface="メイリオ"/>
              </a:rPr>
              <a:t>→ 継承＝積み上げ（前向き）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1502440"/>
            <a:ext cx="11430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BBBBBB"/>
                </a:solidFill>
                <a:latin typeface="メイリオ"/>
              </a:rPr>
              <a:t>ミリゴ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1502440"/>
            <a:ext cx="14173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PGG 1/16,384の夢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1502440"/>
            <a:ext cx="15087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FFA050"/>
                </a:solidFill>
                <a:latin typeface="メイリオ"/>
              </a:rPr>
              <a:t>→ 決戦AT＝積み上げれば届く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1770440"/>
            <a:ext cx="11430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BBBBBB"/>
                </a:solidFill>
                <a:latin typeface="メイリオ"/>
              </a:rPr>
              <a:t>吉宗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1770440"/>
            <a:ext cx="14173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1G連の瞬間爆発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1770440"/>
            <a:ext cx="15087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FFA050"/>
                </a:solidFill>
                <a:latin typeface="メイリオ"/>
              </a:rPr>
              <a:t>→ 世代ループで連続興奮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2038440"/>
            <a:ext cx="11430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BBBBBB"/>
                </a:solidFill>
                <a:latin typeface="メイリオ"/>
              </a:rPr>
              <a:t>祟り神の章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038440"/>
            <a:ext cx="14173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感情逆転・他者理解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038440"/>
            <a:ext cx="15087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FFA050"/>
                </a:solidFill>
                <a:latin typeface="メイリオ"/>
              </a:rPr>
              <a:t>→ 感情積み上げ・自己の物語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023360"/>
            <a:ext cx="8778240" cy="700000"/>
          </a:xfrm>
          <a:prstGeom prst="rect">
            <a:avLst/>
          </a:prstGeom>
          <a:solidFill>
            <a:srgbClr val="0A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" y="4023360"/>
            <a:ext cx="60000" cy="70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069080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1A"/>
                </a:solidFill>
                <a:latin typeface="游明朝"/>
              </a:rPr>
              <a:t>「なぜ今この台か」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370832"/>
            <a:ext cx="84124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RPG世代がパチスロ主力層として定着。「物語への没入」「積み上げる達成感」を求める需要が増加。継承テーマは業界初で先行者優位を取れる。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2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まとめ  ──  「世代 ―継承の炎―」が生み出す体験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017520"/>
          </a:xfrm>
          <a:prstGeom prst="rect">
            <a:avLst/>
          </a:prstGeom>
          <a:solidFill>
            <a:srgbClr val="040C1E"/>
          </a:solidFill>
          <a:ln w="25400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841248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7AA8"/>
                </a:solidFill>
                <a:latin typeface="游明朝"/>
              </a:rPr>
              <a:t>1セッションで感じる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1261872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「今日の遊技が1つの物語」
世代が重なるたびに
演出が豊かになり
AT終了時も
「次の世代へ繋いだ」
というポジティブな
余韻が残る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777240"/>
            <a:ext cx="2743200" cy="3017520"/>
          </a:xfrm>
          <a:prstGeom prst="rect">
            <a:avLst/>
          </a:prstGeom>
          <a:solidFill>
            <a:srgbClr val="1A0800"/>
          </a:solidFill>
          <a:ln w="254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6120" y="841248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1A"/>
                </a:solidFill>
                <a:latin typeface="游明朝"/>
              </a:rPr>
              <a:t>選ぶことで感じる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6120" y="1261872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「この台は自分の台」
継承の儀で選んだ内容が
物語を変える
同じ台でも
2人と同じ体験をしない
設計
能動的没入感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777240"/>
            <a:ext cx="2743200" cy="3017520"/>
          </a:xfrm>
          <a:prstGeom prst="rect">
            <a:avLst/>
          </a:prstGeom>
          <a:solidFill>
            <a:srgbClr val="1A1000"/>
          </a:solidFill>
          <a:ln w="2540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9360" y="841248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9A1E"/>
                </a:solidFill>
                <a:latin typeface="游明朝"/>
              </a:rPr>
              <a:t>決着で感じる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9360" y="1261872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「積み上げが報われた」
決戦ATは
「たまたま当たった」
ではなく
「自分が育てた」感覚
MY3,500枚の爆発が
来たとき最高の物語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886200"/>
            <a:ext cx="8778240" cy="40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3959352"/>
            <a:ext cx="8778240" cy="760000"/>
          </a:xfrm>
          <a:prstGeom prst="rect">
            <a:avLst/>
          </a:prstGeom>
          <a:solidFill>
            <a:srgbClr val="12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005072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業界初3点：① 世代交代ループ演出  ② 継承の儀（AT中の3択選択）  ③ 宿敵弱体化ゲージ（1セッション完結）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297680"/>
            <a:ext cx="84124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ミリゴのZ-ZONE × 吉宗の1G連 × 祟り神の感情設計を統合。
「負けても意志は続く」——この感情設計が他の全ての台にない「世代」の核心です。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