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50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40000" cy="292608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50292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メイリオ"/>
              </a:rPr>
              <a:t>スマスロ 大都技研  2026年4月6日導入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53035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035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C8"/>
                </a:solidFill>
                <a:latin typeface="メイリオ"/>
              </a:rPr>
              <a:t>完全解説ガイド  ──  ゲーム性・フロー・設定差をすべて理解する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5029200" cy="70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60000" cy="70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66344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8"/>
                </a:solidFill>
                <a:latin typeface="メイリオ"/>
              </a:rPr>
              <a:t>初代2003年から続く伝説のシリーズ最新作
「真BB 2000枚 × 1G連」で爆発する
一撃性能と周期システムを徹底解剖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2926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4A520"/>
                </a:solidFill>
                <a:latin typeface="メイリオ"/>
              </a:rPr>
              <a:t>機械割  設定1: 97.8%  /  設定6: 114.0%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HISTORY  ──  吉宗シリーズの歴史と「真打」の意味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1618488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618488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初代 吉宗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業界初・シャッター付き液晶
全国26万台設置（歴代2位）
爆裂1G連AT・「おじゃる！」の衝撃
パチスロ文化を変えた伝説機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1368" y="777240"/>
            <a:ext cx="1618488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51368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51368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1368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メイリオ"/>
              </a:rPr>
              <a:t>吉宗（AT機）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1368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時代の変化でAT機に転換
ゲーム性を現代仕様に再構成
シリーズファンへの橋渡し役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19856" y="777240"/>
            <a:ext cx="1618488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9856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9856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9856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メイリオ"/>
              </a:rPr>
              <a:t>吉宗 ～極～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9856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BB払出320枚に強化
演出・システムをさらに進化
「極」の名の通りパワーアップ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8344" y="777240"/>
            <a:ext cx="1618488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8344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8344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344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スマスロ 吉宗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344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スマスロ初代として復活
天井999G、16:9液晶
往年のファンを熱狂させた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6832" y="777240"/>
            <a:ext cx="1618488" cy="3291840"/>
          </a:xfrm>
          <a:prstGeom prst="rect">
            <a:avLst/>
          </a:prstGeom>
          <a:solidFill>
            <a:srgbClr val="201000"/>
          </a:solidFill>
          <a:ln w="2540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6832" y="777240"/>
            <a:ext cx="1618488" cy="38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6832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</a:rPr>
              <a:t>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6832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6832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スマスロシリーズの集大成
真BB2000枚 × 1G連を搭載
「真打」＝歌舞伎で最高位の称号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160520"/>
            <a:ext cx="8778240" cy="43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224528"/>
            <a:ext cx="84124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「真打（しんうち）」とは歌舞伎・落語の世界で最高位の称号。シリーズの集大成として、初代の魂を受け継ぎながら進化した最終形態を意味する。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SPEC  ──  基本スペック一覧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04672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基本スペック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4297680" cy="34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37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880" y="1237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大都技研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52008"/>
            <a:ext cx="4297680" cy="340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582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880" y="1582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スマスロ（L型）AT機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97008"/>
            <a:ext cx="4297680" cy="34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1927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導入日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880" y="1927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2026年4月6日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242008"/>
            <a:ext cx="4297680" cy="340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2272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880" y="2272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約2.7枚/G（通常）/ 約9.0枚/G（真BB）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587008"/>
            <a:ext cx="4297680" cy="34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880" y="2617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ベース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2880" y="2617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約31G／50枚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932008"/>
            <a:ext cx="4297680" cy="340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880" y="2962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2880" y="2962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1/313.0  〜  設定6: 1/250.6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277008"/>
            <a:ext cx="4297680" cy="34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880" y="3307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AT初当り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2880" y="3307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1/488.9  〜  設定6: 1/354.9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2008"/>
            <a:ext cx="4297680" cy="340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880" y="3652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CZ天井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2880" y="3652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1,000G（真BB後は700Gに短縮）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967008"/>
            <a:ext cx="4297680" cy="34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880" y="3997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2880" y="3997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1,500G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4880" y="804672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設定別 機械割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54880" y="1234440"/>
            <a:ext cx="256032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54880" y="1234440"/>
            <a:ext cx="377310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4880" y="1264440"/>
            <a:ext cx="4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5200" y="1264440"/>
            <a:ext cx="4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54880" y="1579440"/>
            <a:ext cx="256032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54880" y="1579440"/>
            <a:ext cx="741145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4880" y="1609440"/>
            <a:ext cx="4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5200" y="1609440"/>
            <a:ext cx="4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54880" y="1924440"/>
            <a:ext cx="256032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54880" y="1924440"/>
            <a:ext cx="956751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4880" y="1954440"/>
            <a:ext cx="4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95200" y="1954440"/>
            <a:ext cx="4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54880" y="2269440"/>
            <a:ext cx="256032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54880" y="2269440"/>
            <a:ext cx="1280160" cy="240000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4880" y="2299440"/>
            <a:ext cx="4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5200" y="2299440"/>
            <a:ext cx="4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54880" y="2614440"/>
            <a:ext cx="256032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54880" y="2614440"/>
            <a:ext cx="1724847" cy="2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34880" y="2644440"/>
            <a:ext cx="4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95200" y="2644440"/>
            <a:ext cx="4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54880" y="2959440"/>
            <a:ext cx="256032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54880" y="2959440"/>
            <a:ext cx="2560320" cy="24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34880" y="2989440"/>
            <a:ext cx="4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95200" y="2989440"/>
            <a:ext cx="4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設定6の114.0%は現行スマスロの中でも高水準。設定1の97.8%は微マイナスだが天井（CZ間1000G / AT間1500G）がカバー。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通常時の仕組み  ──  夜回りカウンター × 周期システム × CZモード4種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① 夜回りカウンター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画面左下に常時表示するポイントゲージ。
毎ゲーム役に応じてPTが加算される。
  ハズレ     ▶  1PT
  リプレイ   ▶  5PT以上
  弱スイカ   ▶  10PT以上
  強チェリー ▶  さらに大量PT
規定PT（100〜600PT）到達で周期進行！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② 周期システム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規定PT到達 = 1周期クリア。
規定周期数に到達するとCZ「悪人成敗チャンス」へ。
周期カウンターの色が示唆する：
  白…通常  /  青…やや期待
  赤…大チャンス  /  金…CZ濃厚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③ CZモード4種（内部管理）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6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16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最大6周期でCZ当選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4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4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通常Aより少ない周期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EE44"/>
                </a:solidFill>
                <a:latin typeface="メイリオ"/>
              </a:rPr>
              <a:t>通常C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73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最速ルート（少周期）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60"/>
                </a:solidFill>
                <a:latin typeface="メイリオ"/>
              </a:rPr>
              <a:t>天国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01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1周期のみ・CZ最速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834640"/>
            <a:ext cx="4297680" cy="1371600"/>
          </a:xfrm>
          <a:prstGeom prst="rect">
            <a:avLst/>
          </a:prstGeom>
          <a:solidFill>
            <a:srgbClr val="140500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④ 抜刀チャンス（ベル10PT到達で発生）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刀エフェクトが走る演出バトル。
成功 → ポイント特化ゾーン or CZ直当選
スイカ契機なら「人馬一体チャンス以上」濃厚！
刀エフェクトが豪華なほど期待度UP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834640"/>
            <a:ext cx="4297680" cy="1371600"/>
          </a:xfrm>
          <a:prstGeom prst="rect">
            <a:avLst/>
          </a:prstGeom>
          <a:solidFill>
            <a:srgbClr val="080818"/>
          </a:solidFill>
          <a:ln w="1905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66DD"/>
                </a:solidFill>
                <a:latin typeface="メイリオ"/>
              </a:rPr>
              <a:t>通常時フロー（ざっくり）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FF"/>
                </a:solidFill>
                <a:latin typeface="メイリオ"/>
              </a:rPr>
              <a:t>毎ゲーム夜回りPT加算
  ↓ 規定PT到達
周期クリア（最大6周期）
  ↓ 規定周期到達
CZ「悪人成敗チャンス」へ！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297680"/>
            <a:ext cx="8778240" cy="3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352544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天国モード時は1周期のみでCZ到達。AT後は天国移行率約43%なので「連チャンしやすい状態」が頻繁に発生する。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CZ → AT  ──  悪人成敗チャンス → 勧善懲悪RUSH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023360" cy="2743200"/>
          </a:xfrm>
          <a:prstGeom prst="rect">
            <a:avLst/>
          </a:prstGeom>
          <a:solidFill>
            <a:srgbClr val="140600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3749039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00"/>
                </a:solidFill>
                <a:latin typeface="メイリオ"/>
              </a:rPr>
              <a:t>CZ「悪人成敗チャンス」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成功期待度：約55%
【ルール】
「BARを狙え！」演出が最大3回発生。
対戦相手は5種類（強さで期待度変化）。
対応役（強チェリー/強スイカ等）成立で
大チャンス演出に格上げ。
成功 → AT「勧善懲悪RUSH」へ直行
失敗 → 天国移行抽選（継続のチャンス）</a:t>
            </a:r>
          </a:p>
        </p:txBody>
      </p:sp>
      <p:sp>
        <p:nvSpPr>
          <p:cNvPr id="8" name="Can 7"/>
          <p:cNvSpPr/>
          <p:nvPr/>
        </p:nvSpPr>
        <p:spPr>
          <a:xfrm>
            <a:off x="4251960" y="2078840"/>
            <a:ext cx="280000" cy="14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4297680" cy="2743200"/>
          </a:xfrm>
          <a:prstGeom prst="rect">
            <a:avLst/>
          </a:prstGeom>
          <a:solidFill>
            <a:srgbClr val="06061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AAFF"/>
                </a:solidFill>
                <a:latin typeface="メイリオ"/>
              </a:rPr>
              <a:t>AT「勧善懲悪RUSH」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70432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差枚数管理型AT  /  純増：約2.7枚/G
初期差枚数：150枚
【消化中の仕組み】
  ・毎G：弱スイカ等でPT直乗せ抽選
  ・強レア役：上乗せ100%確定
  ・弱スイカ：約15%で上乗せ
  ・40G周期：「勧善懲悪チャンス」
    　→ 上乗せ ＋ 真高確率ジャッジ
  ・周期10・20G目：柳生一族対決濃厚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611880"/>
            <a:ext cx="8778240" cy="4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AT内の上乗せ分岐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00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BBBB"/>
                </a:solidFill>
                <a:latin typeface="メイリオ"/>
              </a:rPr>
              <a:t>差枚数直乗せ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600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毎G小役成立時に
枚数を直接加算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E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1448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44"/>
                </a:solidFill>
                <a:latin typeface="メイリオ"/>
              </a:rPr>
              <a:t>ビジョンチャンス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1448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演出発展で
大量上乗せ抽選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4296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4296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勧善懲悪チャンス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4296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40G周期で必ず発生
勝利で大量上乗せ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7144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7144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真高確率突入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7144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最大の分岐点
真BBへの入口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クライマックス  ──  真高確率 → 真BB（2000枚）→ 1G連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00500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00"/>
                </a:solidFill>
                <a:latin typeface="メイリオ"/>
              </a:rPr>
              <a:t>真高確率ゾーン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AT内「勧善懲悪チャンス」勝利後に
突入する上乗せ特化状態。
消化中は「青7を狙え」
カットインが頻発！
  青7揃い（約1/168）
  　↓ 真BIG BONUS確定！
真BB1枚ごとに上乗せ抽選も走る。
平均上乗せ：約150枚</a:t>
            </a:r>
          </a:p>
        </p:txBody>
      </p:sp>
      <p:sp>
        <p:nvSpPr>
          <p:cNvPr id="8" name="Can 7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180800"/>
          </a:solidFill>
          <a:ln w="317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60"/>
                </a:solidFill>
                <a:latin typeface="メイリオ"/>
              </a:rPr>
              <a:t>真 BIG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獲得枚数：約 2,000枚
純増：約 9.0枚/G
【1G連抽選（核心！）】
消化中に「成敗役」成立で
次ゲームに連チャン抽選！
  非成敗役  ▶  約 5.5%で1G連
  成敗役   ▶  約30〜100%で1G連
「月下ノ花道」演出が発生すると
次の真BB確定！</a:t>
            </a:r>
          </a:p>
        </p:txBody>
      </p:sp>
      <p:sp>
        <p:nvSpPr>
          <p:cNvPr id="12" name="Can 11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1C1400"/>
          </a:solidFill>
          <a:ln w="317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60"/>
                </a:solidFill>
                <a:latin typeface="メイリオ"/>
              </a:rPr>
              <a:t>1G連 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真BB終了後、
次の1ゲームで
再び真BBが発動！
ループするたびに
2000枚×N回が
積み上がる。
★ 4〜5連で
   1万枚超えも夢ではない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4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この台の爆発力の仕組み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AT（勧善懲悪RUSH）→ 真高確率 → 真BB（2000枚）→ 1G連ループ
1G連が連続すれば「2000枚 × 複数回」の大爆発。これが真打吉宗の醍醐味。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ゲームフロー全体図  ──  通常時から爆発まで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22960"/>
            <a:ext cx="210312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2296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通常時
夜回りカウンター
PT加算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210312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周期到達
（100〜600PT×最大6周期）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331720"/>
            <a:ext cx="2103120" cy="500000"/>
          </a:xfrm>
          <a:prstGeom prst="rect">
            <a:avLst/>
          </a:prstGeom>
          <a:solidFill>
            <a:srgbClr val="1806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CZ
悪人成敗チャンス
成功率約55%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331720"/>
            <a:ext cx="2103120" cy="500000"/>
          </a:xfrm>
          <a:prstGeom prst="rect">
            <a:avLst/>
          </a:prstGeom>
          <a:solidFill>
            <a:srgbClr val="060618"/>
          </a:solidFill>
          <a:ln w="2286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AT
勧善懲悪RUSH
純増2.7枚/G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2103120" cy="500000"/>
          </a:xfrm>
          <a:prstGeom prst="rect">
            <a:avLst/>
          </a:prstGeom>
          <a:solidFill>
            <a:srgbClr val="180A00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真高確率
青7狙え！
約1/168で真BB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331720"/>
            <a:ext cx="2103120" cy="500000"/>
          </a:xfrm>
          <a:prstGeom prst="rect">
            <a:avLst/>
          </a:prstGeom>
          <a:solidFill>
            <a:srgbClr val="2008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真BB
約2000枚
純増9.0枚/G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554480"/>
            <a:ext cx="2103120" cy="500000"/>
          </a:xfrm>
          <a:prstGeom prst="rect">
            <a:avLst/>
          </a:prstGeom>
          <a:solidFill>
            <a:srgbClr val="221600"/>
          </a:solidFill>
          <a:ln w="2286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55448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1G連
ループ
2000枚×N回！</a:t>
            </a:r>
          </a:p>
        </p:txBody>
      </p:sp>
      <p:sp>
        <p:nvSpPr>
          <p:cNvPr id="19" name="Can 18"/>
          <p:cNvSpPr/>
          <p:nvPr/>
        </p:nvSpPr>
        <p:spPr>
          <a:xfrm rot="5400000">
            <a:off x="1184440" y="129844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 rot="5400000">
            <a:off x="1184440" y="20299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233172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470916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708660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 23"/>
          <p:cNvSpPr/>
          <p:nvPr/>
        </p:nvSpPr>
        <p:spPr>
          <a:xfrm rot="5400000">
            <a:off x="7859560" y="15727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1188720"/>
            <a:ext cx="100000" cy="46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1188720"/>
            <a:ext cx="2000000" cy="10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1572768"/>
            <a:ext cx="100000" cy="10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914400"/>
            <a:ext cx="256032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↺ 1G連ループ（2000枚×N）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474720"/>
            <a:ext cx="2103120" cy="430000"/>
          </a:xfrm>
          <a:prstGeom prst="rect">
            <a:avLst/>
          </a:prstGeom>
          <a:solidFill>
            <a:srgbClr val="080828"/>
          </a:solidFill>
          <a:ln w="1524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520440"/>
            <a:ext cx="192024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FF"/>
                </a:solidFill>
                <a:latin typeface="メイリオ"/>
              </a:rPr>
              <a:t>天井ルート
CZ間1000G
AT間1500G
→ 天井到達でAT保証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474720"/>
            <a:ext cx="6217920" cy="75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520440"/>
            <a:ext cx="5943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鍵は「真BB + 1G連」。AT自体の純増は2.7枚とおとなしいが、真高確率→真BBに到達すれば
　2000枚×複数ループが現実的になる。「当たりをいくつ引けるか」よりも「真BBを連鎖できるか」が勝負。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設定示唆 &amp; 設定差  ──  高設定を見抜く判別ポイント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24612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520"/>
                </a:solidFill>
                <a:latin typeface="メイリオ"/>
              </a:rPr>
              <a:t>設定示唆演出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880" y="1188720"/>
            <a:ext cx="4023360" cy="5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コパンダトロフィー色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08720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銅  → 設定2以上
銀  → 設定3以上
金  → 設定4以上
虹  → 設定6濃厚！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80" y="1908720"/>
            <a:ext cx="4023360" cy="5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96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真BB中ボイス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2228720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特定キャラのセリフで示唆
「江戸を守る！」→ 設定6濃厚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880" y="2628720"/>
            <a:ext cx="4023360" cy="50000"/>
          </a:xfrm>
          <a:prstGeom prst="rect">
            <a:avLst/>
          </a:prstGeom>
          <a:solidFill>
            <a:srgbClr val="88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268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AFF"/>
                </a:solidFill>
                <a:latin typeface="メイリオ"/>
              </a:rPr>
              <a:t>御白洲ビジョン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80" y="2948720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吉宗＜大岡越前＜天英院
天英院出現で高設定期待大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880" y="3348720"/>
            <a:ext cx="4023360" cy="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340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AT終了画面（差枚表示）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80" y="3668720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456枚 → 設定4以上
555枚 → 設定5以上
666枚 → 設定6濃厚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4880" y="822960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設定差まとめ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4880" y="118872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CZ初当り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880" y="118872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AT初当り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機械割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50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4880" y="1538760"/>
            <a:ext cx="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4880" y="1538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1/313.0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4880" y="153876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1/488.9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880" y="1538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84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4880" y="1873760"/>
            <a:ext cx="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880" y="1873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1/300.3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4880" y="187376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1/465.2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4880" y="1873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17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4880" y="2208760"/>
            <a:ext cx="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4880" y="2208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1/288.1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4880" y="220876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1/441.8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4880" y="2208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251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4880" y="2543760"/>
            <a:ext cx="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4880" y="2543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1/274.6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4880" y="254376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1/415.3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4880" y="2543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84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4880" y="2878760"/>
            <a:ext cx="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4880" y="2878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1/261.9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4880" y="287876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1/388.4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4880" y="2878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18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4880" y="3213760"/>
            <a:ext cx="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4880" y="3213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1/250.6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4880" y="321376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1/354.9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4880" y="3213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設定差はCZ・AT当選率に集中。設定6の114%は高水準だが「荒い」機種なので、設定4でも厳しい局面あり。判別は累積示唆演出で総合判断が重要。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市場評価 &amp; 総評  ──  この台を一言で言うと？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8778240" cy="50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84124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一言まとめ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8412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E6C8"/>
                </a:solidFill>
                <a:latin typeface="メイリオ"/>
              </a:rPr>
              <a:t>「初代吉宗の魂をスマスロで再現した爆裂機。AT自体は地味だが、真BBに辿り着けば2000枚×1G連ループで一撃性能は業界トップクラス。荒波は強めで設定1は厳しめだが、設定6の114%は高水準。」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83080"/>
            <a:ext cx="4206240" cy="1645920"/>
          </a:xfrm>
          <a:prstGeom prst="rect">
            <a:avLst/>
          </a:prstGeom>
          <a:solidFill>
            <a:srgbClr val="061406"/>
          </a:solidFill>
          <a:ln w="19050">
            <a:solidFill>
              <a:srgbClr val="22B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28800"/>
            <a:ext cx="3931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BB55"/>
                </a:solidFill>
                <a:latin typeface="メイリオ"/>
              </a:rPr>
              <a:t>ユーザー好評点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76272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✔ 「爆発力が凄い。2000枚を複数回取れた」
✔ 「真BBの1G連が来た時の興奮は段違い」
✔ 「吉宗ファンなら絶対打つべき台」
✔ 「周期システムが分かると楽しい」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783080"/>
            <a:ext cx="4297680" cy="1645920"/>
          </a:xfrm>
          <a:prstGeom prst="rect">
            <a:avLst/>
          </a:prstGeom>
          <a:solidFill>
            <a:srgbClr val="140606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0"/>
            <a:ext cx="3931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ユーザー批評点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76272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✗ 「低設定はATに入っても出ない」
✗ 「CZを連続スルーすると萎える」
✗ 「真高確率に入れても真BB引けないことも」
✗ 「初当りが重く感じる局面がある」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520440"/>
            <a:ext cx="8778240" cy="640080"/>
          </a:xfrm>
          <a:prstGeom prst="rect">
            <a:avLst/>
          </a:prstGeom>
          <a:solidFill>
            <a:srgbClr val="100800"/>
          </a:solidFill>
          <a:ln w="1524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566160"/>
            <a:ext cx="841248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導入台数 約15,000台（2026年4月導入）  /  評価 ★1.79（まだ集計途中）  /  吉宗シリーズ累計ファン多数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251960"/>
            <a:ext cx="8778240" cy="3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297680"/>
            <a:ext cx="841248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向いているユーザー：「爆発力重視」「吉宗シリーズファン」「高設定確保できる環境」の3条件が揃うと楽しい台。低設定・ホール全般設定での稼働では荒波に注意。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