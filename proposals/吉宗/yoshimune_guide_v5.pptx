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70E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5943600" cy="5143500"/>
          </a:xfrm>
          <a:prstGeom prst="rect">
            <a:avLst/>
          </a:prstGeom>
          <a:solidFill>
            <a:srgbClr val="0503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20040" y="365760"/>
            <a:ext cx="40000" cy="2926080"/>
          </a:xfrm>
          <a:prstGeom prst="rect">
            <a:avLst/>
          </a:prstGeom>
          <a:solidFill>
            <a:srgbClr val="D4A5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411480"/>
            <a:ext cx="5029200" cy="3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88888"/>
                </a:solidFill>
                <a:latin typeface="メイリオ"/>
              </a:rPr>
              <a:t>スマスロ 大都技研  2026年4月6日導入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822960"/>
            <a:ext cx="530352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1" i="0">
                <a:solidFill>
                  <a:srgbClr val="FFD760"/>
                </a:solidFill>
                <a:latin typeface="メイリオ"/>
              </a:rPr>
              <a:t>真打 吉宗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2103120"/>
            <a:ext cx="5303520" cy="3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F5E6C8"/>
                </a:solidFill>
                <a:latin typeface="メイリオ"/>
              </a:rPr>
              <a:t>完全解説ガイド  ──  ゲーム性・フロー・設定差をすべて理解する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2834640"/>
            <a:ext cx="5029200" cy="700000"/>
          </a:xfrm>
          <a:prstGeom prst="rect">
            <a:avLst/>
          </a:prstGeom>
          <a:solidFill>
            <a:srgbClr val="180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2834640"/>
            <a:ext cx="60000" cy="700000"/>
          </a:xfrm>
          <a:prstGeom prst="rect">
            <a:avLst/>
          </a:prstGeom>
          <a:solidFill>
            <a:srgbClr val="CC2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2907792"/>
            <a:ext cx="4663440" cy="6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5E6C8"/>
                </a:solidFill>
                <a:latin typeface="メイリオ"/>
              </a:rPr>
              <a:t>初代2003年から続く伝説のシリーズ最新作
「真BB 2000枚 × 1G連」で爆発する
一撃性能と周期システムを徹底解剖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35040" y="4389120"/>
            <a:ext cx="2926080" cy="3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D4A520"/>
                </a:solidFill>
                <a:latin typeface="メイリオ"/>
              </a:rPr>
              <a:t>機械割  設定1: 97.8%  /  設定6: 114.0%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7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430000"/>
          </a:xfrm>
          <a:prstGeom prst="rect">
            <a:avLst/>
          </a:prstGeom>
          <a:solidFill>
            <a:srgbClr val="1208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80000" cy="430000"/>
          </a:xfrm>
          <a:prstGeom prst="rect">
            <a:avLst/>
          </a:prstGeom>
          <a:solidFill>
            <a:srgbClr val="D4A5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50000" y="60000"/>
            <a:ext cx="8686800" cy="3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D4A520"/>
                </a:solidFill>
                <a:latin typeface="メイリオ"/>
              </a:rPr>
              <a:t>HISTORY  ──  吉宗シリーズの歴史と「真打」の意味</a:t>
            </a:r>
          </a:p>
        </p:txBody>
      </p:sp>
      <p:sp>
        <p:nvSpPr>
          <p:cNvPr id="5" name="Rectangle 4"/>
          <p:cNvSpPr/>
          <p:nvPr/>
        </p:nvSpPr>
        <p:spPr>
          <a:xfrm>
            <a:off x="182880" y="777240"/>
            <a:ext cx="1618488" cy="3291840"/>
          </a:xfrm>
          <a:prstGeom prst="rect">
            <a:avLst/>
          </a:prstGeom>
          <a:solidFill>
            <a:srgbClr val="990000"/>
          </a:solidFill>
          <a:ln w="12700">
            <a:solidFill>
              <a:srgbClr val="CC22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82880" y="777240"/>
            <a:ext cx="1618488" cy="380000"/>
          </a:xfrm>
          <a:prstGeom prst="rect">
            <a:avLst/>
          </a:prstGeom>
          <a:solidFill>
            <a:srgbClr val="CC2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82880" y="827240"/>
            <a:ext cx="1618488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7070E"/>
                </a:solidFill>
                <a:latin typeface="メイリオ"/>
              </a:rPr>
              <a:t>2003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62880" y="1197240"/>
            <a:ext cx="1458488" cy="3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CC2200"/>
                </a:solidFill>
                <a:latin typeface="メイリオ"/>
              </a:rPr>
              <a:t>初代 吉宗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2880" y="1567240"/>
            <a:ext cx="1458488" cy="244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BBBBBB"/>
                </a:solidFill>
                <a:latin typeface="メイリオ"/>
              </a:rPr>
              <a:t>業界初・シャッター付き液晶
全国26万台設置（歴代2位）
爆裂1G連AT・「おじゃる！」の衝撃
パチスロ文化を変えた伝説機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51368" y="777240"/>
            <a:ext cx="1618488" cy="3291840"/>
          </a:xfrm>
          <a:prstGeom prst="rect">
            <a:avLst/>
          </a:prstGeom>
          <a:solidFill>
            <a:srgbClr val="444444"/>
          </a:solidFill>
          <a:ln w="1270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851368" y="777240"/>
            <a:ext cx="1618488" cy="380000"/>
          </a:xfrm>
          <a:prstGeom prst="rect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851368" y="827240"/>
            <a:ext cx="1618488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7070E"/>
                </a:solidFill>
                <a:latin typeface="メイリオ"/>
              </a:rPr>
              <a:t>2013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31368" y="1197240"/>
            <a:ext cx="1458488" cy="3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888888"/>
                </a:solidFill>
                <a:latin typeface="メイリオ"/>
              </a:rPr>
              <a:t>吉宗（AT機）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931368" y="1567240"/>
            <a:ext cx="1458488" cy="244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BBBBBB"/>
                </a:solidFill>
                <a:latin typeface="メイリオ"/>
              </a:rPr>
              <a:t>時代の変化でAT機に転換
ゲーム性を現代仕様に再構成
シリーズファンへの橋渡し役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519856" y="777240"/>
            <a:ext cx="1618488" cy="3291840"/>
          </a:xfrm>
          <a:prstGeom prst="rect">
            <a:avLst/>
          </a:prstGeom>
          <a:solidFill>
            <a:srgbClr val="444444"/>
          </a:solidFill>
          <a:ln w="1270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519856" y="777240"/>
            <a:ext cx="1618488" cy="380000"/>
          </a:xfrm>
          <a:prstGeom prst="rect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519856" y="827240"/>
            <a:ext cx="1618488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7070E"/>
                </a:solidFill>
                <a:latin typeface="メイリオ"/>
              </a:rPr>
              <a:t>2015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99856" y="1197240"/>
            <a:ext cx="1458488" cy="3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888888"/>
                </a:solidFill>
                <a:latin typeface="メイリオ"/>
              </a:rPr>
              <a:t>吉宗 ～極～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99856" y="1567240"/>
            <a:ext cx="1458488" cy="244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BBBBBB"/>
                </a:solidFill>
                <a:latin typeface="メイリオ"/>
              </a:rPr>
              <a:t>BB払出320枚に強化
演出・システムをさらに進化
「極」の名の通りパワーアップ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188344" y="777240"/>
            <a:ext cx="1618488" cy="3291840"/>
          </a:xfrm>
          <a:prstGeom prst="rect">
            <a:avLst/>
          </a:prstGeom>
          <a:solidFill>
            <a:srgbClr val="120C04"/>
          </a:solidFill>
          <a:ln w="1270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188344" y="777240"/>
            <a:ext cx="1618488" cy="380000"/>
          </a:xfrm>
          <a:prstGeom prst="rect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188344" y="827240"/>
            <a:ext cx="1618488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7070E"/>
                </a:solidFill>
                <a:latin typeface="メイリオ"/>
              </a:rPr>
              <a:t>2025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68344" y="1197240"/>
            <a:ext cx="1458488" cy="3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D4A520"/>
                </a:solidFill>
                <a:latin typeface="メイリオ"/>
              </a:rPr>
              <a:t>スマスロ 吉宗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268344" y="1567240"/>
            <a:ext cx="1458488" cy="244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BBBBBB"/>
                </a:solidFill>
                <a:latin typeface="メイリオ"/>
              </a:rPr>
              <a:t>スマスロ初代として復活
天井999G、16:9液晶
往年のファンを熱狂させた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856832" y="777240"/>
            <a:ext cx="1618488" cy="3291840"/>
          </a:xfrm>
          <a:prstGeom prst="rect">
            <a:avLst/>
          </a:prstGeom>
          <a:solidFill>
            <a:srgbClr val="201000"/>
          </a:solidFill>
          <a:ln w="25400">
            <a:solidFill>
              <a:srgbClr val="FFD7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856832" y="777240"/>
            <a:ext cx="1618488" cy="380000"/>
          </a:xfrm>
          <a:prstGeom prst="rect">
            <a:avLst/>
          </a:prstGeom>
          <a:solidFill>
            <a:srgbClr val="FFD7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856832" y="827240"/>
            <a:ext cx="1618488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メイリオ"/>
              </a:rPr>
              <a:t>2026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36832" y="1197240"/>
            <a:ext cx="1458488" cy="3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D760"/>
                </a:solidFill>
                <a:latin typeface="メイリオ"/>
              </a:rPr>
              <a:t>真打 吉宗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936832" y="1567240"/>
            <a:ext cx="1458488" cy="244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5E6C8"/>
                </a:solidFill>
                <a:latin typeface="メイリオ"/>
              </a:rPr>
              <a:t>スマスロシリーズの集大成
真BB2000枚 × 1G連を搭載
「真打」＝歌舞伎で最高位の称号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82880" y="4160520"/>
            <a:ext cx="8778240" cy="430000"/>
          </a:xfrm>
          <a:prstGeom prst="rect">
            <a:avLst/>
          </a:prstGeom>
          <a:solidFill>
            <a:srgbClr val="181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20040" y="4224528"/>
            <a:ext cx="8412480" cy="3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D4A520"/>
                </a:solidFill>
                <a:latin typeface="メイリオ"/>
              </a:rPr>
              <a:t>「真打（しんうち）」とは歌舞伎・落語の世界で最高位の称号。シリーズの集大成として、初代の魂を受け継ぎながら進化した最終形態を意味する。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7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430000"/>
          </a:xfrm>
          <a:prstGeom prst="rect">
            <a:avLst/>
          </a:prstGeom>
          <a:solidFill>
            <a:srgbClr val="1208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80000" cy="430000"/>
          </a:xfrm>
          <a:prstGeom prst="rect">
            <a:avLst/>
          </a:prstGeom>
          <a:solidFill>
            <a:srgbClr val="D4A5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50000" y="60000"/>
            <a:ext cx="8686800" cy="3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D4A520"/>
                </a:solidFill>
                <a:latin typeface="メイリオ"/>
              </a:rPr>
              <a:t>SPEC  ──  基本スペック一覧</a:t>
            </a:r>
          </a:p>
        </p:txBody>
      </p:sp>
      <p:sp>
        <p:nvSpPr>
          <p:cNvPr id="5" name="Rectangle 4"/>
          <p:cNvSpPr/>
          <p:nvPr/>
        </p:nvSpPr>
        <p:spPr>
          <a:xfrm>
            <a:off x="182880" y="777240"/>
            <a:ext cx="4297680" cy="380000"/>
          </a:xfrm>
          <a:prstGeom prst="rect">
            <a:avLst/>
          </a:prstGeom>
          <a:solidFill>
            <a:srgbClr val="CC2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62880" y="804672"/>
            <a:ext cx="4114800" cy="3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メイリオ"/>
              </a:rPr>
              <a:t>基本スペック</a:t>
            </a:r>
          </a:p>
        </p:txBody>
      </p:sp>
      <p:sp>
        <p:nvSpPr>
          <p:cNvPr id="7" name="Rectangle 6"/>
          <p:cNvSpPr/>
          <p:nvPr/>
        </p:nvSpPr>
        <p:spPr>
          <a:xfrm>
            <a:off x="182880" y="1207008"/>
            <a:ext cx="4297680" cy="325000"/>
          </a:xfrm>
          <a:prstGeom prst="rect">
            <a:avLst/>
          </a:prstGeom>
          <a:solidFill>
            <a:srgbClr val="1208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62880" y="1232008"/>
            <a:ext cx="1280160" cy="2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50" b="0" i="0">
                <a:solidFill>
                  <a:srgbClr val="888888"/>
                </a:solidFill>
                <a:latin typeface="メイリオ"/>
              </a:rPr>
              <a:t>メーカー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762880" y="1232008"/>
            <a:ext cx="265176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5E6C8"/>
                </a:solidFill>
                <a:latin typeface="メイリオ"/>
              </a:rPr>
              <a:t>大都技研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2880" y="1537008"/>
            <a:ext cx="4297680" cy="325000"/>
          </a:xfrm>
          <a:prstGeom prst="rect">
            <a:avLst/>
          </a:prstGeom>
          <a:solidFill>
            <a:srgbClr val="1810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62880" y="1562008"/>
            <a:ext cx="1280160" cy="2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50" b="0" i="0">
                <a:solidFill>
                  <a:srgbClr val="888888"/>
                </a:solidFill>
                <a:latin typeface="メイリオ"/>
              </a:rPr>
              <a:t>タイプ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62880" y="1562008"/>
            <a:ext cx="265176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5E6C8"/>
                </a:solidFill>
                <a:latin typeface="メイリオ"/>
              </a:rPr>
              <a:t>スマスロ（L型）AT機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82880" y="1867008"/>
            <a:ext cx="4297680" cy="325000"/>
          </a:xfrm>
          <a:prstGeom prst="rect">
            <a:avLst/>
          </a:prstGeom>
          <a:solidFill>
            <a:srgbClr val="1208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62880" y="1892008"/>
            <a:ext cx="1280160" cy="2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50" b="0" i="0">
                <a:solidFill>
                  <a:srgbClr val="888888"/>
                </a:solidFill>
                <a:latin typeface="メイリオ"/>
              </a:rPr>
              <a:t>導入日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762880" y="1892008"/>
            <a:ext cx="265176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5E6C8"/>
                </a:solidFill>
                <a:latin typeface="メイリオ"/>
              </a:rPr>
              <a:t>2026年4月6日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82880" y="2197008"/>
            <a:ext cx="4297680" cy="325000"/>
          </a:xfrm>
          <a:prstGeom prst="rect">
            <a:avLst/>
          </a:prstGeom>
          <a:solidFill>
            <a:srgbClr val="1810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62880" y="2222008"/>
            <a:ext cx="1280160" cy="2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50" b="0" i="0">
                <a:solidFill>
                  <a:srgbClr val="888888"/>
                </a:solidFill>
                <a:latin typeface="メイリオ"/>
              </a:rPr>
              <a:t>AT純増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762880" y="2222008"/>
            <a:ext cx="265176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5E6C8"/>
                </a:solidFill>
                <a:latin typeface="メイリオ"/>
              </a:rPr>
              <a:t>約2.7枚/G（通常）/ 約9.0枚/G（真BB）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82880" y="2527008"/>
            <a:ext cx="4297680" cy="325000"/>
          </a:xfrm>
          <a:prstGeom prst="rect">
            <a:avLst/>
          </a:prstGeom>
          <a:solidFill>
            <a:srgbClr val="1208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62880" y="2552008"/>
            <a:ext cx="1280160" cy="2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50" b="0" i="0">
                <a:solidFill>
                  <a:srgbClr val="888888"/>
                </a:solidFill>
                <a:latin typeface="メイリオ"/>
              </a:rPr>
              <a:t>ベース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2880" y="2552008"/>
            <a:ext cx="265176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5E6C8"/>
                </a:solidFill>
                <a:latin typeface="メイリオ"/>
              </a:rPr>
              <a:t>約31G／50枚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82880" y="2857008"/>
            <a:ext cx="4297680" cy="325000"/>
          </a:xfrm>
          <a:prstGeom prst="rect">
            <a:avLst/>
          </a:prstGeom>
          <a:solidFill>
            <a:srgbClr val="1810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62880" y="2882008"/>
            <a:ext cx="1280160" cy="2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50" b="0" i="0">
                <a:solidFill>
                  <a:srgbClr val="888888"/>
                </a:solidFill>
                <a:latin typeface="メイリオ"/>
              </a:rPr>
              <a:t>CZ初当り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762880" y="2882008"/>
            <a:ext cx="265176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5E6C8"/>
                </a:solidFill>
                <a:latin typeface="メイリオ"/>
              </a:rPr>
              <a:t>設定1: 1/313.0  〜  設定6: 1/250.6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82880" y="3187008"/>
            <a:ext cx="4297680" cy="325000"/>
          </a:xfrm>
          <a:prstGeom prst="rect">
            <a:avLst/>
          </a:prstGeom>
          <a:solidFill>
            <a:srgbClr val="1208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62880" y="3212008"/>
            <a:ext cx="1280160" cy="2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50" b="0" i="0">
                <a:solidFill>
                  <a:srgbClr val="888888"/>
                </a:solidFill>
                <a:latin typeface="メイリオ"/>
              </a:rPr>
              <a:t>AT初当り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762880" y="3212008"/>
            <a:ext cx="265176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5E6C8"/>
                </a:solidFill>
                <a:latin typeface="メイリオ"/>
              </a:rPr>
              <a:t>設定1: 1/488.9  〜  設定6: 1/354.9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82880" y="3517008"/>
            <a:ext cx="4297680" cy="325000"/>
          </a:xfrm>
          <a:prstGeom prst="rect">
            <a:avLst/>
          </a:prstGeom>
          <a:solidFill>
            <a:srgbClr val="1810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62880" y="3542008"/>
            <a:ext cx="1280160" cy="2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50" b="0" i="0">
                <a:solidFill>
                  <a:srgbClr val="888888"/>
                </a:solidFill>
                <a:latin typeface="メイリオ"/>
              </a:rPr>
              <a:t>CZ天井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762880" y="3542008"/>
            <a:ext cx="265176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5E6C8"/>
                </a:solidFill>
                <a:latin typeface="メイリオ"/>
              </a:rPr>
              <a:t>1,000G（真BB後は700Gに短縮）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82880" y="3847008"/>
            <a:ext cx="4297680" cy="325000"/>
          </a:xfrm>
          <a:prstGeom prst="rect">
            <a:avLst/>
          </a:prstGeom>
          <a:solidFill>
            <a:srgbClr val="1208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62880" y="3872008"/>
            <a:ext cx="1280160" cy="2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50" b="0" i="0">
                <a:solidFill>
                  <a:srgbClr val="888888"/>
                </a:solidFill>
                <a:latin typeface="メイリオ"/>
              </a:rPr>
              <a:t>AT天井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762880" y="3872008"/>
            <a:ext cx="265176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5E6C8"/>
                </a:solidFill>
                <a:latin typeface="メイリオ"/>
              </a:rPr>
              <a:t>1,500G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754880" y="777240"/>
            <a:ext cx="4206240" cy="380000"/>
          </a:xfrm>
          <a:prstGeom prst="rect">
            <a:avLst/>
          </a:prstGeom>
          <a:solidFill>
            <a:srgbClr val="CC2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834880" y="804672"/>
            <a:ext cx="4023360" cy="3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メイリオ"/>
              </a:rPr>
              <a:t>設定別 機械割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454880" y="1234440"/>
            <a:ext cx="1828800" cy="240000"/>
          </a:xfrm>
          <a:prstGeom prst="rect">
            <a:avLst/>
          </a:prstGeom>
          <a:solidFill>
            <a:srgbClr val="2015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5454880" y="1234440"/>
            <a:ext cx="269507" cy="240000"/>
          </a:xfrm>
          <a:prstGeom prst="rect">
            <a:avLst/>
          </a:prstGeom>
          <a:solidFill>
            <a:srgbClr val="BBBB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834880" y="1264440"/>
            <a:ext cx="580000" cy="24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 i="0">
                <a:solidFill>
                  <a:srgbClr val="F5E6C8"/>
                </a:solidFill>
                <a:latin typeface="メイリオ"/>
              </a:rPr>
              <a:t>設定1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383680" y="1254440"/>
            <a:ext cx="900000" cy="2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 i="0">
                <a:solidFill>
                  <a:srgbClr val="BBBBBB"/>
                </a:solidFill>
                <a:latin typeface="メイリオ"/>
              </a:rPr>
              <a:t>97.8%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454880" y="1579440"/>
            <a:ext cx="1828800" cy="240000"/>
          </a:xfrm>
          <a:prstGeom prst="rect">
            <a:avLst/>
          </a:prstGeom>
          <a:solidFill>
            <a:srgbClr val="2015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5454880" y="1579440"/>
            <a:ext cx="529389" cy="240000"/>
          </a:xfrm>
          <a:prstGeom prst="rect">
            <a:avLst/>
          </a:prstGeom>
          <a:solidFill>
            <a:srgbClr val="BBBB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834880" y="1609440"/>
            <a:ext cx="580000" cy="24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 i="0">
                <a:solidFill>
                  <a:srgbClr val="F5E6C8"/>
                </a:solidFill>
                <a:latin typeface="メイリオ"/>
              </a:rPr>
              <a:t>設定2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383680" y="1599440"/>
            <a:ext cx="900000" cy="2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 i="0">
                <a:solidFill>
                  <a:srgbClr val="BBBBBB"/>
                </a:solidFill>
                <a:latin typeface="メイリオ"/>
              </a:rPr>
              <a:t>100.5%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454880" y="1924440"/>
            <a:ext cx="1828800" cy="240000"/>
          </a:xfrm>
          <a:prstGeom prst="rect">
            <a:avLst/>
          </a:prstGeom>
          <a:solidFill>
            <a:srgbClr val="2015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5454880" y="1924440"/>
            <a:ext cx="683393" cy="240000"/>
          </a:xfrm>
          <a:prstGeom prst="rect">
            <a:avLst/>
          </a:prstGeom>
          <a:solidFill>
            <a:srgbClr val="BBBB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834880" y="1954440"/>
            <a:ext cx="580000" cy="24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 i="0">
                <a:solidFill>
                  <a:srgbClr val="F5E6C8"/>
                </a:solidFill>
                <a:latin typeface="メイリオ"/>
              </a:rPr>
              <a:t>設定3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383680" y="1944440"/>
            <a:ext cx="900000" cy="2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 i="0">
                <a:solidFill>
                  <a:srgbClr val="BBBBBB"/>
                </a:solidFill>
                <a:latin typeface="メイリオ"/>
              </a:rPr>
              <a:t>102.1%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454880" y="2269440"/>
            <a:ext cx="1828800" cy="240000"/>
          </a:xfrm>
          <a:prstGeom prst="rect">
            <a:avLst/>
          </a:prstGeom>
          <a:solidFill>
            <a:srgbClr val="2015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5454880" y="2269440"/>
            <a:ext cx="914400" cy="240000"/>
          </a:xfrm>
          <a:prstGeom prst="rect">
            <a:avLst/>
          </a:prstGeom>
          <a:solidFill>
            <a:srgbClr val="FFE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834880" y="2299440"/>
            <a:ext cx="580000" cy="24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 i="0">
                <a:solidFill>
                  <a:srgbClr val="F5E6C8"/>
                </a:solidFill>
                <a:latin typeface="メイリオ"/>
              </a:rPr>
              <a:t>設定4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383680" y="2289440"/>
            <a:ext cx="900000" cy="2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 i="0">
                <a:solidFill>
                  <a:srgbClr val="FFEE44"/>
                </a:solidFill>
                <a:latin typeface="メイリオ"/>
              </a:rPr>
              <a:t>104.5%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454880" y="2614440"/>
            <a:ext cx="1828800" cy="240000"/>
          </a:xfrm>
          <a:prstGeom prst="rect">
            <a:avLst/>
          </a:prstGeom>
          <a:solidFill>
            <a:srgbClr val="2015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5454880" y="2614440"/>
            <a:ext cx="1232033" cy="240000"/>
          </a:xfrm>
          <a:prstGeom prst="rect">
            <a:avLst/>
          </a:prstGeom>
          <a:solidFill>
            <a:srgbClr val="FF8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4834880" y="2644440"/>
            <a:ext cx="580000" cy="24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 i="0">
                <a:solidFill>
                  <a:srgbClr val="F5E6C8"/>
                </a:solidFill>
                <a:latin typeface="メイリオ"/>
              </a:rPr>
              <a:t>設定5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383680" y="2634440"/>
            <a:ext cx="900000" cy="2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 i="0">
                <a:solidFill>
                  <a:srgbClr val="FF8800"/>
                </a:solidFill>
                <a:latin typeface="メイリオ"/>
              </a:rPr>
              <a:t>107.8%</a:t>
            </a:r>
          </a:p>
        </p:txBody>
      </p:sp>
      <p:sp>
        <p:nvSpPr>
          <p:cNvPr id="56" name="Rectangle 55"/>
          <p:cNvSpPr/>
          <p:nvPr/>
        </p:nvSpPr>
        <p:spPr>
          <a:xfrm>
            <a:off x="5454880" y="2959440"/>
            <a:ext cx="1828800" cy="240000"/>
          </a:xfrm>
          <a:prstGeom prst="rect">
            <a:avLst/>
          </a:prstGeom>
          <a:solidFill>
            <a:srgbClr val="2015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5454880" y="2959440"/>
            <a:ext cx="1828800" cy="240000"/>
          </a:xfrm>
          <a:prstGeom prst="rect">
            <a:avLst/>
          </a:prstGeom>
          <a:solidFill>
            <a:srgbClr val="FFD7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4834880" y="2989440"/>
            <a:ext cx="580000" cy="24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 i="0">
                <a:solidFill>
                  <a:srgbClr val="F5E6C8"/>
                </a:solidFill>
                <a:latin typeface="メイリオ"/>
              </a:rPr>
              <a:t>設定6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383680" y="2979440"/>
            <a:ext cx="900000" cy="2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 i="0">
                <a:solidFill>
                  <a:srgbClr val="FFD760"/>
                </a:solidFill>
                <a:latin typeface="メイリオ"/>
              </a:rPr>
              <a:t>114.0%</a:t>
            </a:r>
          </a:p>
        </p:txBody>
      </p:sp>
      <p:sp>
        <p:nvSpPr>
          <p:cNvPr id="60" name="Rectangle 59"/>
          <p:cNvSpPr/>
          <p:nvPr/>
        </p:nvSpPr>
        <p:spPr>
          <a:xfrm>
            <a:off x="182880" y="4160520"/>
            <a:ext cx="8778240" cy="450000"/>
          </a:xfrm>
          <a:prstGeom prst="rect">
            <a:avLst/>
          </a:prstGeom>
          <a:solidFill>
            <a:srgbClr val="080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320040" y="4224528"/>
            <a:ext cx="8412480" cy="3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D4A520"/>
                </a:solidFill>
                <a:latin typeface="メイリオ"/>
              </a:rPr>
              <a:t>設定6の114.0%は現行スマスロの中でも高水準。設定1の97.8%は微マイナスだが天井（CZ間1000G / AT間1500G）がカバー。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7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430000"/>
          </a:xfrm>
          <a:prstGeom prst="rect">
            <a:avLst/>
          </a:prstGeom>
          <a:solidFill>
            <a:srgbClr val="1208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80000" cy="430000"/>
          </a:xfrm>
          <a:prstGeom prst="rect">
            <a:avLst/>
          </a:prstGeom>
          <a:solidFill>
            <a:srgbClr val="D4A5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50000" y="60000"/>
            <a:ext cx="8686800" cy="3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D4A520"/>
                </a:solidFill>
                <a:latin typeface="メイリオ"/>
              </a:rPr>
              <a:t>通常時の仕組み  ──  夜回りカウンター × 周期システム × CZモード4種</a:t>
            </a:r>
          </a:p>
        </p:txBody>
      </p:sp>
      <p:sp>
        <p:nvSpPr>
          <p:cNvPr id="5" name="Rectangle 4"/>
          <p:cNvSpPr/>
          <p:nvPr/>
        </p:nvSpPr>
        <p:spPr>
          <a:xfrm>
            <a:off x="182880" y="777240"/>
            <a:ext cx="2834640" cy="1920240"/>
          </a:xfrm>
          <a:prstGeom prst="rect">
            <a:avLst/>
          </a:prstGeom>
          <a:solidFill>
            <a:srgbClr val="120C04"/>
          </a:solidFill>
          <a:ln w="19050">
            <a:solidFill>
              <a:srgbClr val="D4A5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822960"/>
            <a:ext cx="2560320" cy="3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D4A520"/>
                </a:solidFill>
                <a:latin typeface="メイリオ"/>
              </a:rPr>
              <a:t>① 夜回りカウンター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1143000"/>
            <a:ext cx="26517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5E6C8"/>
                </a:solidFill>
                <a:latin typeface="メイリオ"/>
              </a:rPr>
              <a:t>画面左下に常時表示するポイントゲージ。
毎ゲーム役に応じてPTが加算される。
  ハズレ     ▶  1PT
  リプレイ   ▶  5PT以上
  弱スイカ   ▶  10PT以上
  強チェリー ▶  さらに大量PT
規定PT（100〜600PT）到達で周期進行！</a:t>
            </a:r>
          </a:p>
        </p:txBody>
      </p:sp>
      <p:sp>
        <p:nvSpPr>
          <p:cNvPr id="8" name="Rectangle 7"/>
          <p:cNvSpPr/>
          <p:nvPr/>
        </p:nvSpPr>
        <p:spPr>
          <a:xfrm>
            <a:off x="3154680" y="777240"/>
            <a:ext cx="2834640" cy="1920240"/>
          </a:xfrm>
          <a:prstGeom prst="rect">
            <a:avLst/>
          </a:prstGeom>
          <a:solidFill>
            <a:srgbClr val="120C04"/>
          </a:solidFill>
          <a:ln w="19050">
            <a:solidFill>
              <a:srgbClr val="CC22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46120" y="822960"/>
            <a:ext cx="2651760" cy="3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CC2200"/>
                </a:solidFill>
                <a:latin typeface="メイリオ"/>
              </a:rPr>
              <a:t>② 周期システム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46120" y="1143000"/>
            <a:ext cx="26517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5E6C8"/>
                </a:solidFill>
                <a:latin typeface="メイリオ"/>
              </a:rPr>
              <a:t>規定PT到達 = 1周期クリア。
規定周期数に到達するとCZ「悪人成敗チャンス」へ。
周期カウンターの色が示唆する：
  白…通常  /  青…やや期待
  赤…大チャンス  /  金…CZ濃厚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26480" y="777240"/>
            <a:ext cx="2834640" cy="1920240"/>
          </a:xfrm>
          <a:prstGeom prst="rect">
            <a:avLst/>
          </a:prstGeom>
          <a:solidFill>
            <a:srgbClr val="120C04"/>
          </a:solidFill>
          <a:ln w="19050">
            <a:solidFill>
              <a:srgbClr val="FFD7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17920" y="822960"/>
            <a:ext cx="2651760" cy="3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D760"/>
                </a:solidFill>
                <a:latin typeface="メイリオ"/>
              </a:rPr>
              <a:t>③ CZモード4種（内部管理）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0" y="1161288"/>
            <a:ext cx="77724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BBBBBB"/>
                </a:solidFill>
                <a:latin typeface="メイリオ"/>
              </a:rPr>
              <a:t>通常A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161288"/>
            <a:ext cx="182880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5E6C8"/>
                </a:solidFill>
                <a:latin typeface="メイリオ"/>
              </a:rPr>
              <a:t>最大6周期でCZ当選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7920" y="1446288"/>
            <a:ext cx="77724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BBBBBB"/>
                </a:solidFill>
                <a:latin typeface="メイリオ"/>
              </a:rPr>
              <a:t>通常B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95160" y="1446288"/>
            <a:ext cx="182880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5E6C8"/>
                </a:solidFill>
                <a:latin typeface="メイリオ"/>
              </a:rPr>
              <a:t>通常Aより少ない周期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7920" y="1731288"/>
            <a:ext cx="77724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FEE44"/>
                </a:solidFill>
                <a:latin typeface="メイリオ"/>
              </a:rPr>
              <a:t>通常C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95160" y="1731288"/>
            <a:ext cx="182880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5E6C8"/>
                </a:solidFill>
                <a:latin typeface="メイリオ"/>
              </a:rPr>
              <a:t>最速ルート（少周期）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17920" y="2016288"/>
            <a:ext cx="77724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FD760"/>
                </a:solidFill>
                <a:latin typeface="メイリオ"/>
              </a:rPr>
              <a:t>天国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95160" y="2016288"/>
            <a:ext cx="182880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5E6C8"/>
                </a:solidFill>
                <a:latin typeface="メイリオ"/>
              </a:rPr>
              <a:t>1周期のみ・CZ最速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82880" y="2834640"/>
            <a:ext cx="4297680" cy="1371600"/>
          </a:xfrm>
          <a:prstGeom prst="rect">
            <a:avLst/>
          </a:prstGeom>
          <a:solidFill>
            <a:srgbClr val="140500"/>
          </a:solidFill>
          <a:ln w="19050">
            <a:solidFill>
              <a:srgbClr val="CC22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74320" y="2880360"/>
            <a:ext cx="4023360" cy="3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CC2200"/>
                </a:solidFill>
                <a:latin typeface="メイリオ"/>
              </a:rPr>
              <a:t>④ 抜刀チャンス（ベル10PT到達で発生）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74320" y="3246120"/>
            <a:ext cx="4023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5E6C8"/>
                </a:solidFill>
                <a:latin typeface="メイリオ"/>
              </a:rPr>
              <a:t>刀エフェクトが走る演出バトル。
成功 → ポイント特化ゾーン or CZ直当選
スイカ契機なら「人馬一体チャンス以上」濃厚！
刀エフェクトが豪華なほど期待度UP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663440" y="2834640"/>
            <a:ext cx="4297680" cy="1371600"/>
          </a:xfrm>
          <a:prstGeom prst="rect">
            <a:avLst/>
          </a:prstGeom>
          <a:solidFill>
            <a:srgbClr val="080818"/>
          </a:solidFill>
          <a:ln w="19050">
            <a:solidFill>
              <a:srgbClr val="3366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754880" y="2880360"/>
            <a:ext cx="4023360" cy="3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3366DD"/>
                </a:solidFill>
                <a:latin typeface="メイリオ"/>
              </a:rPr>
              <a:t>通常時フロー（ざっくり）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754880" y="3246120"/>
            <a:ext cx="4023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88AAFF"/>
                </a:solidFill>
                <a:latin typeface="メイリオ"/>
              </a:rPr>
              <a:t>毎ゲーム夜回りPT加算
  ↓ 規定PT到達
周期クリア（最大6周期）
  ↓ 規定周期到達
CZ「悪人成敗チャンス」へ！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82880" y="4297680"/>
            <a:ext cx="8778240" cy="380000"/>
          </a:xfrm>
          <a:prstGeom prst="rect">
            <a:avLst/>
          </a:prstGeom>
          <a:solidFill>
            <a:srgbClr val="080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20040" y="4352544"/>
            <a:ext cx="8412480" cy="3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D4A520"/>
                </a:solidFill>
                <a:latin typeface="メイリオ"/>
              </a:rPr>
              <a:t>★ 天国モード時は1周期のみでCZ到達。AT後は天国移行率約43%なので「連チャンしやすい状態」が頻繁に発生する。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7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430000"/>
          </a:xfrm>
          <a:prstGeom prst="rect">
            <a:avLst/>
          </a:prstGeom>
          <a:solidFill>
            <a:srgbClr val="1208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80000" cy="430000"/>
          </a:xfrm>
          <a:prstGeom prst="rect">
            <a:avLst/>
          </a:prstGeom>
          <a:solidFill>
            <a:srgbClr val="D4A5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50000" y="60000"/>
            <a:ext cx="8686800" cy="3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D4A520"/>
                </a:solidFill>
                <a:latin typeface="メイリオ"/>
              </a:rPr>
              <a:t>CZ → AT  ──  悪人成敗チャンス → 勧善懲悪RUSH</a:t>
            </a:r>
          </a:p>
        </p:txBody>
      </p:sp>
      <p:sp>
        <p:nvSpPr>
          <p:cNvPr id="5" name="Rectangle 4"/>
          <p:cNvSpPr/>
          <p:nvPr/>
        </p:nvSpPr>
        <p:spPr>
          <a:xfrm>
            <a:off x="182880" y="777240"/>
            <a:ext cx="4023360" cy="2743200"/>
          </a:xfrm>
          <a:prstGeom prst="rect">
            <a:avLst/>
          </a:prstGeom>
          <a:solidFill>
            <a:srgbClr val="140600"/>
          </a:solidFill>
          <a:ln w="25400">
            <a:solidFill>
              <a:srgbClr val="CC22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822960"/>
            <a:ext cx="3749039" cy="3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CC2200"/>
                </a:solidFill>
                <a:latin typeface="メイリオ"/>
              </a:rPr>
              <a:t>CZ「悪人成敗チャンス」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1170432"/>
            <a:ext cx="3749039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5E6C8"/>
                </a:solidFill>
                <a:latin typeface="メイリオ"/>
              </a:rPr>
              <a:t>成功期待度：約55%
【ルール】
「BARを狙え！」演出が最大3回発生。
対戦相手は5種類（強さで期待度変化）。
対応役（強チェリー/強スイカ等）成立で
大チャンス演出に格上げ。
成功 → AT「勧善懲悪RUSH」へ直行
失敗 → 天国移行抽選（継続のチャンス）</a:t>
            </a:r>
          </a:p>
        </p:txBody>
      </p:sp>
      <p:sp>
        <p:nvSpPr>
          <p:cNvPr id="8" name="Can 7"/>
          <p:cNvSpPr/>
          <p:nvPr/>
        </p:nvSpPr>
        <p:spPr>
          <a:xfrm>
            <a:off x="4251960" y="2078840"/>
            <a:ext cx="280000" cy="140000"/>
          </a:xfrm>
          <a:prstGeom prst="can">
            <a:avLst/>
          </a:prstGeom>
          <a:solidFill>
            <a:srgbClr val="CC2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663440" y="777240"/>
            <a:ext cx="4297680" cy="2743200"/>
          </a:xfrm>
          <a:prstGeom prst="rect">
            <a:avLst/>
          </a:prstGeom>
          <a:solidFill>
            <a:srgbClr val="060618"/>
          </a:solidFill>
          <a:ln w="25400">
            <a:solidFill>
              <a:srgbClr val="3366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754880" y="822960"/>
            <a:ext cx="4023360" cy="3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88AAFF"/>
                </a:solidFill>
                <a:latin typeface="メイリオ"/>
              </a:rPr>
              <a:t>AT「勧善懲悪RUSH」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54880" y="1170432"/>
            <a:ext cx="402336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5E6C8"/>
                </a:solidFill>
                <a:latin typeface="メイリオ"/>
              </a:rPr>
              <a:t>差枚数管理型AT  /  純増：約2.7枚/G
初期差枚数：150枚
【消化中の仕組み】
  ・毎G：弱スイカ等でPT直乗せ抽選
  ・強レア役：上乗せ100%確定
  ・弱スイカ：約15%で上乗せ
  ・40G周期：「勧善懲悪チャンス」
    　→ 上乗せ ＋ 真高確率ジャッジ
  ・周期10・20G目：柳生一族対決濃厚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82880" y="3611880"/>
            <a:ext cx="8778240" cy="40000"/>
          </a:xfrm>
          <a:prstGeom prst="rect">
            <a:avLst/>
          </a:prstGeom>
          <a:solidFill>
            <a:srgbClr val="D4A5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20040" y="3703320"/>
            <a:ext cx="8412480" cy="3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D4A520"/>
                </a:solidFill>
                <a:latin typeface="メイリオ"/>
              </a:rPr>
              <a:t>AT内の上乗せ分岐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28600" y="4041648"/>
            <a:ext cx="2084831" cy="650000"/>
          </a:xfrm>
          <a:prstGeom prst="rect">
            <a:avLst/>
          </a:prstGeom>
          <a:solidFill>
            <a:srgbClr val="10101C"/>
          </a:solidFill>
          <a:ln w="1524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08600" y="4087368"/>
            <a:ext cx="1920240" cy="2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BBBBBB"/>
                </a:solidFill>
                <a:latin typeface="メイリオ"/>
              </a:rPr>
              <a:t>差枚数直乗せ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8600" y="4343400"/>
            <a:ext cx="1920240" cy="3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F5E6C8"/>
                </a:solidFill>
                <a:latin typeface="メイリオ"/>
              </a:rPr>
              <a:t>毎G小役成立時に
枚数を直接加算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441448" y="4041648"/>
            <a:ext cx="2084831" cy="650000"/>
          </a:xfrm>
          <a:prstGeom prst="rect">
            <a:avLst/>
          </a:prstGeom>
          <a:solidFill>
            <a:srgbClr val="10101C"/>
          </a:solidFill>
          <a:ln w="15240">
            <a:solidFill>
              <a:srgbClr val="FFEE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521448" y="4087368"/>
            <a:ext cx="1920240" cy="2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EE44"/>
                </a:solidFill>
                <a:latin typeface="メイリオ"/>
              </a:rPr>
              <a:t>ビジョンチャンス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521448" y="4343400"/>
            <a:ext cx="1920240" cy="3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F5E6C8"/>
                </a:solidFill>
                <a:latin typeface="メイリオ"/>
              </a:rPr>
              <a:t>演出発展で
大量上乗せ抽選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654296" y="4041648"/>
            <a:ext cx="2084831" cy="650000"/>
          </a:xfrm>
          <a:prstGeom prst="rect">
            <a:avLst/>
          </a:prstGeom>
          <a:solidFill>
            <a:srgbClr val="10101C"/>
          </a:solidFill>
          <a:ln w="15240">
            <a:solidFill>
              <a:srgbClr val="FF8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734296" y="4087368"/>
            <a:ext cx="1920240" cy="2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8800"/>
                </a:solidFill>
                <a:latin typeface="メイリオ"/>
              </a:rPr>
              <a:t>勧善懲悪チャンス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734296" y="4343400"/>
            <a:ext cx="1920240" cy="3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F5E6C8"/>
                </a:solidFill>
                <a:latin typeface="メイリオ"/>
              </a:rPr>
              <a:t>40G周期で必ず発生
勝利で大量上乗せ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867144" y="4041648"/>
            <a:ext cx="2084831" cy="650000"/>
          </a:xfrm>
          <a:prstGeom prst="rect">
            <a:avLst/>
          </a:prstGeom>
          <a:solidFill>
            <a:srgbClr val="10101C"/>
          </a:solidFill>
          <a:ln w="15240">
            <a:solidFill>
              <a:srgbClr val="CC22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947144" y="4087368"/>
            <a:ext cx="1920240" cy="2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CC2200"/>
                </a:solidFill>
                <a:latin typeface="メイリオ"/>
              </a:rPr>
              <a:t>真高確率突入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947144" y="4343400"/>
            <a:ext cx="1920240" cy="3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F5E6C8"/>
                </a:solidFill>
                <a:latin typeface="メイリオ"/>
              </a:rPr>
              <a:t>最大の分岐点
真BBへの入口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7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430000"/>
          </a:xfrm>
          <a:prstGeom prst="rect">
            <a:avLst/>
          </a:prstGeom>
          <a:solidFill>
            <a:srgbClr val="1208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80000" cy="430000"/>
          </a:xfrm>
          <a:prstGeom prst="rect">
            <a:avLst/>
          </a:prstGeom>
          <a:solidFill>
            <a:srgbClr val="D4A5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50000" y="60000"/>
            <a:ext cx="8686800" cy="3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D4A520"/>
                </a:solidFill>
                <a:latin typeface="メイリオ"/>
              </a:rPr>
              <a:t>クライマックス  ──  真高確率 → 真BB（2000枚）→ 1G連</a:t>
            </a:r>
          </a:p>
        </p:txBody>
      </p:sp>
      <p:sp>
        <p:nvSpPr>
          <p:cNvPr id="5" name="Rectangle 4"/>
          <p:cNvSpPr/>
          <p:nvPr/>
        </p:nvSpPr>
        <p:spPr>
          <a:xfrm>
            <a:off x="182880" y="777240"/>
            <a:ext cx="2651760" cy="3017520"/>
          </a:xfrm>
          <a:prstGeom prst="rect">
            <a:avLst/>
          </a:prstGeom>
          <a:solidFill>
            <a:srgbClr val="100500"/>
          </a:solidFill>
          <a:ln w="25400">
            <a:solidFill>
              <a:srgbClr val="FF8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822960"/>
            <a:ext cx="2377440" cy="3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8800"/>
                </a:solidFill>
                <a:latin typeface="メイリオ"/>
              </a:rPr>
              <a:t>真高確率ゾーン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1170432"/>
            <a:ext cx="23774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5E6C8"/>
                </a:solidFill>
                <a:latin typeface="メイリオ"/>
              </a:rPr>
              <a:t>AT内「勧善懲悪チャンス」勝利後に
突入する上乗せ特化状態。
消化中は「青7を狙え」
カットインが頻発！
  青7揃い（約1/168）
  　↓ 真BIG BONUS確定！
真BB1枚ごとに上乗せ抽選も走る。
平均上乗せ：約150枚</a:t>
            </a:r>
          </a:p>
        </p:txBody>
      </p:sp>
      <p:sp>
        <p:nvSpPr>
          <p:cNvPr id="8" name="Can 7"/>
          <p:cNvSpPr/>
          <p:nvPr/>
        </p:nvSpPr>
        <p:spPr>
          <a:xfrm>
            <a:off x="2926080" y="2218500"/>
            <a:ext cx="270000" cy="135000"/>
          </a:xfrm>
          <a:prstGeom prst="can">
            <a:avLst/>
          </a:prstGeom>
          <a:solidFill>
            <a:srgbClr val="CC2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337560" y="777240"/>
            <a:ext cx="2834640" cy="3017520"/>
          </a:xfrm>
          <a:prstGeom prst="rect">
            <a:avLst/>
          </a:prstGeom>
          <a:solidFill>
            <a:srgbClr val="180800"/>
          </a:solidFill>
          <a:ln w="31750">
            <a:solidFill>
              <a:srgbClr val="CC22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429000" y="822960"/>
            <a:ext cx="2651760" cy="3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D760"/>
                </a:solidFill>
                <a:latin typeface="メイリオ"/>
              </a:rPr>
              <a:t>真 BIG BONUS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29000" y="1170432"/>
            <a:ext cx="26517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5E6C8"/>
                </a:solidFill>
                <a:latin typeface="メイリオ"/>
              </a:rPr>
              <a:t>獲得枚数：約 2,000枚
純増：約 9.0枚/G
【1G連抽選（核心！）】
消化中に「成敗役」成立で
次ゲームに連チャン抽選！
  非成敗役  ▶  約 5.5%で1G連
  成敗役   ▶  約30〜100%で1G連
「月下ノ花道」演出が発生すると
次の真BB確定！</a:t>
            </a:r>
          </a:p>
        </p:txBody>
      </p:sp>
      <p:sp>
        <p:nvSpPr>
          <p:cNvPr id="12" name="Can 11"/>
          <p:cNvSpPr/>
          <p:nvPr/>
        </p:nvSpPr>
        <p:spPr>
          <a:xfrm>
            <a:off x="6263640" y="2218500"/>
            <a:ext cx="270000" cy="135000"/>
          </a:xfrm>
          <a:prstGeom prst="can">
            <a:avLst/>
          </a:prstGeom>
          <a:solidFill>
            <a:srgbClr val="D4A5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675120" y="777240"/>
            <a:ext cx="2286000" cy="3017520"/>
          </a:xfrm>
          <a:prstGeom prst="rect">
            <a:avLst/>
          </a:prstGeom>
          <a:solidFill>
            <a:srgbClr val="1C1400"/>
          </a:solidFill>
          <a:ln w="31750">
            <a:solidFill>
              <a:srgbClr val="FFD7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766560" y="822960"/>
            <a:ext cx="2103120" cy="3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D760"/>
                </a:solidFill>
                <a:latin typeface="メイリオ"/>
              </a:rPr>
              <a:t>1G連 ループ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66560" y="1170432"/>
            <a:ext cx="21031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5E6C8"/>
                </a:solidFill>
                <a:latin typeface="メイリオ"/>
              </a:rPr>
              <a:t>真BB終了後、
次の1ゲームで
再び真BBが発動！
ループするたびに
2000枚×N回が
積み上がる。
★ 4〜5連で
   1万枚超えも夢ではない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82880" y="3886200"/>
            <a:ext cx="8778240" cy="750000"/>
          </a:xfrm>
          <a:prstGeom prst="rect">
            <a:avLst/>
          </a:prstGeom>
          <a:solidFill>
            <a:srgbClr val="140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82880" y="3886200"/>
            <a:ext cx="60000" cy="750000"/>
          </a:xfrm>
          <a:prstGeom prst="rect">
            <a:avLst/>
          </a:prstGeom>
          <a:solidFill>
            <a:srgbClr val="D4A5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11480" y="3931920"/>
            <a:ext cx="8412480" cy="3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D4A520"/>
                </a:solidFill>
                <a:latin typeface="メイリオ"/>
              </a:rPr>
              <a:t>この台の爆発力の仕組み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1480" y="4251960"/>
            <a:ext cx="8412480" cy="3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5E6C8"/>
                </a:solidFill>
                <a:latin typeface="メイリオ"/>
              </a:rPr>
              <a:t>AT（勧善懲悪RUSH）→ 真高確率 → 真BB（2000枚）→ 1G連ループ
1G連が連続すれば「2000枚 × 複数回」の大爆発。これが真打吉宗の醍醐味。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7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430000"/>
          </a:xfrm>
          <a:prstGeom prst="rect">
            <a:avLst/>
          </a:prstGeom>
          <a:solidFill>
            <a:srgbClr val="1208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80000" cy="430000"/>
          </a:xfrm>
          <a:prstGeom prst="rect">
            <a:avLst/>
          </a:prstGeom>
          <a:solidFill>
            <a:srgbClr val="D4A5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50000" y="60000"/>
            <a:ext cx="8686800" cy="3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D4A520"/>
                </a:solidFill>
                <a:latin typeface="メイリオ"/>
              </a:rPr>
              <a:t>ゲームフロー全体図  ──  通常時から爆発まで</a:t>
            </a:r>
          </a:p>
        </p:txBody>
      </p:sp>
      <p:sp>
        <p:nvSpPr>
          <p:cNvPr id="5" name="Rectangle 4"/>
          <p:cNvSpPr/>
          <p:nvPr/>
        </p:nvSpPr>
        <p:spPr>
          <a:xfrm>
            <a:off x="182880" y="822960"/>
            <a:ext cx="2103120" cy="500000"/>
          </a:xfrm>
          <a:prstGeom prst="rect">
            <a:avLst/>
          </a:prstGeom>
          <a:solidFill>
            <a:srgbClr val="120C04"/>
          </a:solidFill>
          <a:ln w="22860">
            <a:solidFill>
              <a:srgbClr val="8888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2880" y="822960"/>
            <a:ext cx="210312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メイリオ"/>
              </a:rPr>
              <a:t>通常時
夜回りカウンター
PT加算</a:t>
            </a:r>
          </a:p>
        </p:txBody>
      </p:sp>
      <p:sp>
        <p:nvSpPr>
          <p:cNvPr id="7" name="Rectangle 6"/>
          <p:cNvSpPr/>
          <p:nvPr/>
        </p:nvSpPr>
        <p:spPr>
          <a:xfrm>
            <a:off x="182880" y="1554480"/>
            <a:ext cx="2103120" cy="500000"/>
          </a:xfrm>
          <a:prstGeom prst="rect">
            <a:avLst/>
          </a:prstGeom>
          <a:solidFill>
            <a:srgbClr val="120C04"/>
          </a:solidFill>
          <a:ln w="22860">
            <a:solidFill>
              <a:srgbClr val="8888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2880" y="1554480"/>
            <a:ext cx="210312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メイリオ"/>
              </a:rPr>
              <a:t>周期到達
（100〜600PT×最大6周期）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182880" y="2331720"/>
            <a:ext cx="2103120" cy="500000"/>
          </a:xfrm>
          <a:prstGeom prst="rect">
            <a:avLst/>
          </a:prstGeom>
          <a:solidFill>
            <a:srgbClr val="180600"/>
          </a:solidFill>
          <a:ln w="22860">
            <a:solidFill>
              <a:srgbClr val="CC22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82880" y="2331720"/>
            <a:ext cx="210312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メイリオ"/>
              </a:rPr>
              <a:t>CZ
悪人成敗チャンス
成功率約55%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560320" y="2331720"/>
            <a:ext cx="2103120" cy="500000"/>
          </a:xfrm>
          <a:prstGeom prst="rect">
            <a:avLst/>
          </a:prstGeom>
          <a:solidFill>
            <a:srgbClr val="060618"/>
          </a:solidFill>
          <a:ln w="22860">
            <a:solidFill>
              <a:srgbClr val="3366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2331720"/>
            <a:ext cx="210312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メイリオ"/>
              </a:rPr>
              <a:t>AT
勧善懲悪RUSH
純増2.7枚/G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937760" y="2331720"/>
            <a:ext cx="2103120" cy="500000"/>
          </a:xfrm>
          <a:prstGeom prst="rect">
            <a:avLst/>
          </a:prstGeom>
          <a:solidFill>
            <a:srgbClr val="180A00"/>
          </a:solidFill>
          <a:ln w="22860">
            <a:solidFill>
              <a:srgbClr val="FF8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937760" y="2331720"/>
            <a:ext cx="210312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メイリオ"/>
              </a:rPr>
              <a:t>真高確率
青7狙え！
約1/168で真BB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858000" y="2331720"/>
            <a:ext cx="2103120" cy="500000"/>
          </a:xfrm>
          <a:prstGeom prst="rect">
            <a:avLst/>
          </a:prstGeom>
          <a:solidFill>
            <a:srgbClr val="200800"/>
          </a:solidFill>
          <a:ln w="22860">
            <a:solidFill>
              <a:srgbClr val="CC22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0" y="2331720"/>
            <a:ext cx="210312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メイリオ"/>
              </a:rPr>
              <a:t>真BB
約2000枚
純増9.0枚/G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858000" y="1554480"/>
            <a:ext cx="2103120" cy="500000"/>
          </a:xfrm>
          <a:prstGeom prst="rect">
            <a:avLst/>
          </a:prstGeom>
          <a:solidFill>
            <a:srgbClr val="221600"/>
          </a:solidFill>
          <a:ln w="22860">
            <a:solidFill>
              <a:srgbClr val="FFD7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58000" y="1554480"/>
            <a:ext cx="210312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メイリオ"/>
              </a:rPr>
              <a:t>1G連
ループ
2000枚×N回！</a:t>
            </a:r>
          </a:p>
        </p:txBody>
      </p:sp>
      <p:sp>
        <p:nvSpPr>
          <p:cNvPr id="19" name="Can 18"/>
          <p:cNvSpPr/>
          <p:nvPr/>
        </p:nvSpPr>
        <p:spPr>
          <a:xfrm rot="5400000">
            <a:off x="1184440" y="1298448"/>
            <a:ext cx="100000" cy="180000"/>
          </a:xfrm>
          <a:prstGeom prst="can">
            <a:avLst/>
          </a:prstGeom>
          <a:solidFill>
            <a:srgbClr val="8888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Can 19"/>
          <p:cNvSpPr/>
          <p:nvPr/>
        </p:nvSpPr>
        <p:spPr>
          <a:xfrm rot="5400000">
            <a:off x="1184440" y="2029968"/>
            <a:ext cx="100000" cy="180000"/>
          </a:xfrm>
          <a:prstGeom prst="can">
            <a:avLst/>
          </a:prstGeom>
          <a:solidFill>
            <a:srgbClr val="8888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Can 20"/>
          <p:cNvSpPr/>
          <p:nvPr/>
        </p:nvSpPr>
        <p:spPr>
          <a:xfrm>
            <a:off x="2331720" y="2500320"/>
            <a:ext cx="240000" cy="120000"/>
          </a:xfrm>
          <a:prstGeom prst="can">
            <a:avLst/>
          </a:prstGeom>
          <a:solidFill>
            <a:srgbClr val="CC2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Can 21"/>
          <p:cNvSpPr/>
          <p:nvPr/>
        </p:nvSpPr>
        <p:spPr>
          <a:xfrm>
            <a:off x="4709160" y="2500320"/>
            <a:ext cx="240000" cy="120000"/>
          </a:xfrm>
          <a:prstGeom prst="can">
            <a:avLst/>
          </a:prstGeom>
          <a:solidFill>
            <a:srgbClr val="CC2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Can 22"/>
          <p:cNvSpPr/>
          <p:nvPr/>
        </p:nvSpPr>
        <p:spPr>
          <a:xfrm>
            <a:off x="7086600" y="2500320"/>
            <a:ext cx="240000" cy="120000"/>
          </a:xfrm>
          <a:prstGeom prst="can">
            <a:avLst/>
          </a:prstGeom>
          <a:solidFill>
            <a:srgbClr val="CC2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Can 23"/>
          <p:cNvSpPr/>
          <p:nvPr/>
        </p:nvSpPr>
        <p:spPr>
          <a:xfrm rot="5400000">
            <a:off x="7859560" y="1572768"/>
            <a:ext cx="100000" cy="180000"/>
          </a:xfrm>
          <a:prstGeom prst="can">
            <a:avLst/>
          </a:prstGeom>
          <a:solidFill>
            <a:srgbClr val="8888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675120" y="1170432"/>
            <a:ext cx="80000" cy="530000"/>
          </a:xfrm>
          <a:prstGeom prst="rect">
            <a:avLst/>
          </a:prstGeom>
          <a:solidFill>
            <a:srgbClr val="D4A5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675120" y="1170432"/>
            <a:ext cx="2350000" cy="80000"/>
          </a:xfrm>
          <a:prstGeom prst="rect">
            <a:avLst/>
          </a:prstGeom>
          <a:solidFill>
            <a:srgbClr val="D4A5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750808" y="1170432"/>
            <a:ext cx="80000" cy="180000"/>
          </a:xfrm>
          <a:prstGeom prst="rect">
            <a:avLst/>
          </a:prstGeom>
          <a:solidFill>
            <a:srgbClr val="D4A5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474720" y="841248"/>
            <a:ext cx="3200400" cy="3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D760"/>
                </a:solidFill>
                <a:latin typeface="メイリオ"/>
              </a:rPr>
              <a:t>↺ 1G連ループ（2000枚×N）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82880" y="3429000"/>
            <a:ext cx="2286000" cy="700000"/>
          </a:xfrm>
          <a:prstGeom prst="rect">
            <a:avLst/>
          </a:prstGeom>
          <a:solidFill>
            <a:srgbClr val="060828"/>
          </a:solidFill>
          <a:ln w="25400">
            <a:solidFill>
              <a:srgbClr val="3366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92608" y="3493008"/>
            <a:ext cx="2103120" cy="6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88AAFF"/>
                </a:solidFill>
                <a:latin typeface="メイリオ"/>
              </a:rPr>
              <a:t>天井ルート
CZ間 1,000G
AT間 1,500G
→ 天井到達でAT保証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743200" y="3474720"/>
            <a:ext cx="6217920" cy="750000"/>
          </a:xfrm>
          <a:prstGeom prst="rect">
            <a:avLst/>
          </a:prstGeom>
          <a:solidFill>
            <a:srgbClr val="080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880360" y="3520440"/>
            <a:ext cx="59436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D4A520"/>
                </a:solidFill>
                <a:latin typeface="メイリオ"/>
              </a:rPr>
              <a:t>★ 鍵は「真BB + 1G連」。AT自体の純増は2.7枚とおとなしいが、真高確率→真BBに到達すれば
　2000枚×複数ループが現実的になる。「当たりをいくつ引けるか」よりも「真BBを連鎖できるか」が勝負。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7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430000"/>
          </a:xfrm>
          <a:prstGeom prst="rect">
            <a:avLst/>
          </a:prstGeom>
          <a:solidFill>
            <a:srgbClr val="1208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80000" cy="430000"/>
          </a:xfrm>
          <a:prstGeom prst="rect">
            <a:avLst/>
          </a:prstGeom>
          <a:solidFill>
            <a:srgbClr val="D4A5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50000" y="60000"/>
            <a:ext cx="8686800" cy="3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D4A520"/>
                </a:solidFill>
                <a:latin typeface="メイリオ"/>
              </a:rPr>
              <a:t>設定示唆 &amp; 設定差  ──  高設定を見抜く判別ポイント</a:t>
            </a:r>
          </a:p>
        </p:txBody>
      </p:sp>
      <p:sp>
        <p:nvSpPr>
          <p:cNvPr id="5" name="Rectangle 4"/>
          <p:cNvSpPr/>
          <p:nvPr/>
        </p:nvSpPr>
        <p:spPr>
          <a:xfrm>
            <a:off x="182880" y="777240"/>
            <a:ext cx="4297680" cy="3337560"/>
          </a:xfrm>
          <a:prstGeom prst="rect">
            <a:avLst/>
          </a:prstGeom>
          <a:solidFill>
            <a:srgbClr val="120C04"/>
          </a:solidFill>
          <a:ln w="19050">
            <a:solidFill>
              <a:srgbClr val="D4A5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62880" y="822960"/>
            <a:ext cx="4023360" cy="3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D4A520"/>
                </a:solidFill>
                <a:latin typeface="メイリオ"/>
              </a:rPr>
              <a:t>設定示唆演出</a:t>
            </a:r>
          </a:p>
        </p:txBody>
      </p:sp>
      <p:sp>
        <p:nvSpPr>
          <p:cNvPr id="7" name="Rectangle 6"/>
          <p:cNvSpPr/>
          <p:nvPr/>
        </p:nvSpPr>
        <p:spPr>
          <a:xfrm>
            <a:off x="262880" y="1188720"/>
            <a:ext cx="4023360" cy="50000"/>
          </a:xfrm>
          <a:prstGeom prst="rect">
            <a:avLst/>
          </a:prstGeom>
          <a:solidFill>
            <a:srgbClr val="FFD7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62880" y="1248720"/>
            <a:ext cx="402336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D760"/>
                </a:solidFill>
                <a:latin typeface="メイリオ"/>
              </a:rPr>
              <a:t>コパンダトロフィー色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2880" y="1508720"/>
            <a:ext cx="402336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5E6C8"/>
                </a:solidFill>
                <a:latin typeface="メイリオ"/>
              </a:rPr>
              <a:t>銅→設定2以上 / 銀→設定3以上
金→設定4以上 / 虹→設定6濃厚！</a:t>
            </a:r>
          </a:p>
        </p:txBody>
      </p:sp>
      <p:sp>
        <p:nvSpPr>
          <p:cNvPr id="10" name="Rectangle 9"/>
          <p:cNvSpPr/>
          <p:nvPr/>
        </p:nvSpPr>
        <p:spPr>
          <a:xfrm>
            <a:off x="262880" y="1938720"/>
            <a:ext cx="4023360" cy="50000"/>
          </a:xfrm>
          <a:prstGeom prst="rect">
            <a:avLst/>
          </a:prstGeom>
          <a:solidFill>
            <a:srgbClr val="CC2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62880" y="1998720"/>
            <a:ext cx="402336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CC2200"/>
                </a:solidFill>
                <a:latin typeface="メイリオ"/>
              </a:rPr>
              <a:t>真BB中ボイス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2880" y="2258720"/>
            <a:ext cx="402336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5E6C8"/>
                </a:solidFill>
                <a:latin typeface="メイリオ"/>
              </a:rPr>
              <a:t>特定キャラのセリフで示唆
「江戸を守る！」→ 設定6濃厚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62880" y="2688720"/>
            <a:ext cx="4023360" cy="50000"/>
          </a:xfrm>
          <a:prstGeom prst="rect">
            <a:avLst/>
          </a:prstGeom>
          <a:solidFill>
            <a:srgbClr val="88A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62880" y="2748720"/>
            <a:ext cx="402336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88AAFF"/>
                </a:solidFill>
                <a:latin typeface="メイリオ"/>
              </a:rPr>
              <a:t>御白洲ビジョン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62880" y="3008720"/>
            <a:ext cx="402336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5E6C8"/>
                </a:solidFill>
                <a:latin typeface="メイリオ"/>
              </a:rPr>
              <a:t>吉宗＜大岡越前＜天英院
天英院出現で高設定期待大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62880" y="3438720"/>
            <a:ext cx="4023360" cy="50000"/>
          </a:xfrm>
          <a:prstGeom prst="rect">
            <a:avLst/>
          </a:prstGeom>
          <a:solidFill>
            <a:srgbClr val="FF8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62880" y="3498720"/>
            <a:ext cx="402336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8800"/>
                </a:solidFill>
                <a:latin typeface="メイリオ"/>
              </a:rPr>
              <a:t>AT終了画面（差枚表示）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62880" y="3758720"/>
            <a:ext cx="402336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5E6C8"/>
                </a:solidFill>
                <a:latin typeface="メイリオ"/>
              </a:rPr>
              <a:t>456枚→設4以上 / 555枚→設5以上
666枚→設定6濃厚！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754880" y="777240"/>
            <a:ext cx="4206240" cy="380000"/>
          </a:xfrm>
          <a:prstGeom prst="rect">
            <a:avLst/>
          </a:prstGeom>
          <a:solidFill>
            <a:srgbClr val="CC2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834880" y="822960"/>
            <a:ext cx="4023360" cy="3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メイリオ"/>
              </a:rPr>
              <a:t>設定差まとめ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804880" y="1188720"/>
            <a:ext cx="700000" cy="3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D4A520"/>
                </a:solidFill>
                <a:latin typeface="メイリオ"/>
              </a:rPr>
              <a:t>設定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554880" y="1188720"/>
            <a:ext cx="850000" cy="3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D4A520"/>
                </a:solidFill>
                <a:latin typeface="メイリオ"/>
              </a:rPr>
              <a:t>CZ初当り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54880" y="1188720"/>
            <a:ext cx="900000" cy="3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D4A520"/>
                </a:solidFill>
                <a:latin typeface="メイリオ"/>
              </a:rPr>
              <a:t>AT初当り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54880" y="1188720"/>
            <a:ext cx="850000" cy="3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D4A520"/>
                </a:solidFill>
                <a:latin typeface="メイリオ"/>
              </a:rPr>
              <a:t>機械割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754880" y="1508760"/>
            <a:ext cx="4206240" cy="330000"/>
          </a:xfrm>
          <a:prstGeom prst="rect">
            <a:avLst/>
          </a:prstGeom>
          <a:solidFill>
            <a:srgbClr val="1008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804880" y="1538760"/>
            <a:ext cx="700000" cy="2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0" i="0">
                <a:solidFill>
                  <a:srgbClr val="FFD760"/>
                </a:solidFill>
                <a:latin typeface="メイリオ"/>
              </a:rPr>
              <a:t>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554880" y="1538760"/>
            <a:ext cx="850000" cy="2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0" i="0">
                <a:solidFill>
                  <a:srgbClr val="F5E6C8"/>
                </a:solidFill>
                <a:latin typeface="メイリオ"/>
              </a:rPr>
              <a:t>1/313.0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54880" y="1538760"/>
            <a:ext cx="900000" cy="2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0" i="0">
                <a:solidFill>
                  <a:srgbClr val="F5E6C8"/>
                </a:solidFill>
                <a:latin typeface="メイリオ"/>
              </a:rPr>
              <a:t>1/488.9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54880" y="1538760"/>
            <a:ext cx="850000" cy="2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 i="0">
                <a:solidFill>
                  <a:srgbClr val="BBBBBB"/>
                </a:solidFill>
                <a:latin typeface="メイリオ"/>
              </a:rPr>
              <a:t>97.8%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754880" y="1843760"/>
            <a:ext cx="4206240" cy="330000"/>
          </a:xfrm>
          <a:prstGeom prst="rect">
            <a:avLst/>
          </a:prstGeom>
          <a:solidFill>
            <a:srgbClr val="160E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804880" y="1873760"/>
            <a:ext cx="700000" cy="2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0" i="0">
                <a:solidFill>
                  <a:srgbClr val="FFD760"/>
                </a:solidFill>
                <a:latin typeface="メイリオ"/>
              </a:rPr>
              <a:t>2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554880" y="1873760"/>
            <a:ext cx="850000" cy="2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0" i="0">
                <a:solidFill>
                  <a:srgbClr val="F5E6C8"/>
                </a:solidFill>
                <a:latin typeface="メイリオ"/>
              </a:rPr>
              <a:t>1/300.3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54880" y="1873760"/>
            <a:ext cx="900000" cy="2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0" i="0">
                <a:solidFill>
                  <a:srgbClr val="F5E6C8"/>
                </a:solidFill>
                <a:latin typeface="メイリオ"/>
              </a:rPr>
              <a:t>1/465.2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454880" y="1873760"/>
            <a:ext cx="850000" cy="2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 i="0">
                <a:solidFill>
                  <a:srgbClr val="BBBBBB"/>
                </a:solidFill>
                <a:latin typeface="メイリオ"/>
              </a:rPr>
              <a:t>100.5%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754880" y="2178760"/>
            <a:ext cx="4206240" cy="330000"/>
          </a:xfrm>
          <a:prstGeom prst="rect">
            <a:avLst/>
          </a:prstGeom>
          <a:solidFill>
            <a:srgbClr val="1008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804880" y="2208760"/>
            <a:ext cx="700000" cy="2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0" i="0">
                <a:solidFill>
                  <a:srgbClr val="FFD760"/>
                </a:solidFill>
                <a:latin typeface="メイリオ"/>
              </a:rPr>
              <a:t>3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554880" y="2208760"/>
            <a:ext cx="850000" cy="2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0" i="0">
                <a:solidFill>
                  <a:srgbClr val="F5E6C8"/>
                </a:solidFill>
                <a:latin typeface="メイリオ"/>
              </a:rPr>
              <a:t>1/288.1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54880" y="2208760"/>
            <a:ext cx="900000" cy="2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0" i="0">
                <a:solidFill>
                  <a:srgbClr val="F5E6C8"/>
                </a:solidFill>
                <a:latin typeface="メイリオ"/>
              </a:rPr>
              <a:t>1/441.8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454880" y="2208760"/>
            <a:ext cx="850000" cy="2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 i="0">
                <a:solidFill>
                  <a:srgbClr val="BBBBBB"/>
                </a:solidFill>
                <a:latin typeface="メイリオ"/>
              </a:rPr>
              <a:t>102.1%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754880" y="2513760"/>
            <a:ext cx="4206240" cy="330000"/>
          </a:xfrm>
          <a:prstGeom prst="rect">
            <a:avLst/>
          </a:prstGeom>
          <a:solidFill>
            <a:srgbClr val="160E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804880" y="2543760"/>
            <a:ext cx="700000" cy="2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0" i="0">
                <a:solidFill>
                  <a:srgbClr val="FFD760"/>
                </a:solidFill>
                <a:latin typeface="メイリオ"/>
              </a:rPr>
              <a:t>4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554880" y="2543760"/>
            <a:ext cx="850000" cy="2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0" i="0">
                <a:solidFill>
                  <a:srgbClr val="F5E6C8"/>
                </a:solidFill>
                <a:latin typeface="メイリオ"/>
              </a:rPr>
              <a:t>1/274.6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454880" y="2543760"/>
            <a:ext cx="900000" cy="2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0" i="0">
                <a:solidFill>
                  <a:srgbClr val="F5E6C8"/>
                </a:solidFill>
                <a:latin typeface="メイリオ"/>
              </a:rPr>
              <a:t>1/415.3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454880" y="2543760"/>
            <a:ext cx="850000" cy="2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 i="0">
                <a:solidFill>
                  <a:srgbClr val="FFEE44"/>
                </a:solidFill>
                <a:latin typeface="メイリオ"/>
              </a:rPr>
              <a:t>104.5%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754880" y="2848760"/>
            <a:ext cx="4206240" cy="330000"/>
          </a:xfrm>
          <a:prstGeom prst="rect">
            <a:avLst/>
          </a:prstGeom>
          <a:solidFill>
            <a:srgbClr val="1008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804880" y="2878760"/>
            <a:ext cx="700000" cy="2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0" i="0">
                <a:solidFill>
                  <a:srgbClr val="FFD760"/>
                </a:solidFill>
                <a:latin typeface="メイリオ"/>
              </a:rPr>
              <a:t>5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554880" y="2878760"/>
            <a:ext cx="850000" cy="2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0" i="0">
                <a:solidFill>
                  <a:srgbClr val="F5E6C8"/>
                </a:solidFill>
                <a:latin typeface="メイリオ"/>
              </a:rPr>
              <a:t>1/261.9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454880" y="2878760"/>
            <a:ext cx="900000" cy="2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0" i="0">
                <a:solidFill>
                  <a:srgbClr val="F5E6C8"/>
                </a:solidFill>
                <a:latin typeface="メイリオ"/>
              </a:rPr>
              <a:t>1/388.4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454880" y="2878760"/>
            <a:ext cx="850000" cy="2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 i="0">
                <a:solidFill>
                  <a:srgbClr val="FF8800"/>
                </a:solidFill>
                <a:latin typeface="メイリオ"/>
              </a:rPr>
              <a:t>107.8%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754880" y="3183760"/>
            <a:ext cx="4206240" cy="330000"/>
          </a:xfrm>
          <a:prstGeom prst="rect">
            <a:avLst/>
          </a:prstGeom>
          <a:solidFill>
            <a:srgbClr val="160E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804880" y="3213760"/>
            <a:ext cx="700000" cy="2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0" i="0">
                <a:solidFill>
                  <a:srgbClr val="FFD760"/>
                </a:solidFill>
                <a:latin typeface="メイリオ"/>
              </a:rPr>
              <a:t>6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554880" y="3213760"/>
            <a:ext cx="850000" cy="2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0" i="0">
                <a:solidFill>
                  <a:srgbClr val="F5E6C8"/>
                </a:solidFill>
                <a:latin typeface="メイリオ"/>
              </a:rPr>
              <a:t>1/250.6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454880" y="3213760"/>
            <a:ext cx="900000" cy="2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0" i="0">
                <a:solidFill>
                  <a:srgbClr val="F5E6C8"/>
                </a:solidFill>
                <a:latin typeface="メイリオ"/>
              </a:rPr>
              <a:t>1/354.9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454880" y="3213760"/>
            <a:ext cx="850000" cy="2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 i="0">
                <a:solidFill>
                  <a:srgbClr val="FFD760"/>
                </a:solidFill>
                <a:latin typeface="メイリオ"/>
              </a:rPr>
              <a:t>114.0%</a:t>
            </a:r>
          </a:p>
        </p:txBody>
      </p:sp>
      <p:sp>
        <p:nvSpPr>
          <p:cNvPr id="55" name="Rectangle 54"/>
          <p:cNvSpPr/>
          <p:nvPr/>
        </p:nvSpPr>
        <p:spPr>
          <a:xfrm>
            <a:off x="182880" y="4160520"/>
            <a:ext cx="8778240" cy="450000"/>
          </a:xfrm>
          <a:prstGeom prst="rect">
            <a:avLst/>
          </a:prstGeom>
          <a:solidFill>
            <a:srgbClr val="080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320040" y="4224528"/>
            <a:ext cx="8412480" cy="3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D4A520"/>
                </a:solidFill>
                <a:latin typeface="メイリオ"/>
              </a:rPr>
              <a:t>設定差はCZ・AT当選率に集中。設定6の114%は高水準だが「荒い」機種なので、設定4でも厳しい局面あり。判別は累積示唆演出で総合判断が重要。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7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430000"/>
          </a:xfrm>
          <a:prstGeom prst="rect">
            <a:avLst/>
          </a:prstGeom>
          <a:solidFill>
            <a:srgbClr val="1208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80000" cy="430000"/>
          </a:xfrm>
          <a:prstGeom prst="rect">
            <a:avLst/>
          </a:prstGeom>
          <a:solidFill>
            <a:srgbClr val="D4A5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50000" y="60000"/>
            <a:ext cx="8686800" cy="3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D4A520"/>
                </a:solidFill>
                <a:latin typeface="メイリオ"/>
              </a:rPr>
              <a:t>市場評価 &amp; 総評  ──  この台を一言で言うと？</a:t>
            </a:r>
          </a:p>
        </p:txBody>
      </p:sp>
      <p:sp>
        <p:nvSpPr>
          <p:cNvPr id="5" name="Rectangle 4"/>
          <p:cNvSpPr/>
          <p:nvPr/>
        </p:nvSpPr>
        <p:spPr>
          <a:xfrm>
            <a:off x="182880" y="749808"/>
            <a:ext cx="8778240" cy="900000"/>
          </a:xfrm>
          <a:prstGeom prst="rect">
            <a:avLst/>
          </a:prstGeom>
          <a:solidFill>
            <a:srgbClr val="140800"/>
          </a:solidFill>
          <a:ln w="25400">
            <a:solidFill>
              <a:srgbClr val="D4A5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804672"/>
            <a:ext cx="8412480" cy="3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D4A520"/>
                </a:solidFill>
                <a:latin typeface="メイリオ"/>
              </a:rPr>
              <a:t>一言まとめ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1097280"/>
            <a:ext cx="8412480" cy="4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5E6C8"/>
                </a:solidFill>
                <a:latin typeface="メイリオ"/>
              </a:rPr>
              <a:t>「初代吉宗の魂をスマスロで再現した爆裂機。AT自体は地味だが、真BBに辿り着けば2000枚×1G連ループで一撃性能は業界トップクラス。
　荒波は強めで設定1は厳しめだが、設定6の114%は高水準。」</a:t>
            </a:r>
          </a:p>
        </p:txBody>
      </p:sp>
      <p:sp>
        <p:nvSpPr>
          <p:cNvPr id="8" name="Rectangle 7"/>
          <p:cNvSpPr/>
          <p:nvPr/>
        </p:nvSpPr>
        <p:spPr>
          <a:xfrm>
            <a:off x="182880" y="1755648"/>
            <a:ext cx="4206240" cy="1417320"/>
          </a:xfrm>
          <a:prstGeom prst="rect">
            <a:avLst/>
          </a:prstGeom>
          <a:solidFill>
            <a:srgbClr val="061406"/>
          </a:solidFill>
          <a:ln w="19050">
            <a:solidFill>
              <a:srgbClr val="22BB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320" y="1801368"/>
            <a:ext cx="3931920" cy="3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2BB55"/>
                </a:solidFill>
                <a:latin typeface="メイリオ"/>
              </a:rPr>
              <a:t>ユーザー好評点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2103120"/>
            <a:ext cx="3931920" cy="10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5E6C8"/>
                </a:solidFill>
                <a:latin typeface="メイリオ"/>
              </a:rPr>
              <a:t>✔ 「爆発力が凄い。2000枚を複数回取れた」
✔ 「真BBの1G連が来た時の興奮は段違い」
✔ 「吉宗ファンなら絶対打つべき台」
✔ 「周期システムが分かると楽しい」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663440" y="1755648"/>
            <a:ext cx="4297680" cy="1417320"/>
          </a:xfrm>
          <a:prstGeom prst="rect">
            <a:avLst/>
          </a:prstGeom>
          <a:solidFill>
            <a:srgbClr val="140606"/>
          </a:solidFill>
          <a:ln w="19050">
            <a:solidFill>
              <a:srgbClr val="CC22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54880" y="1801368"/>
            <a:ext cx="4023360" cy="3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CC2200"/>
                </a:solidFill>
                <a:latin typeface="メイリオ"/>
              </a:rPr>
              <a:t>ユーザー批評点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54880" y="2103120"/>
            <a:ext cx="4023360" cy="10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5E6C8"/>
                </a:solidFill>
                <a:latin typeface="メイリオ"/>
              </a:rPr>
              <a:t>✗ 「低設定はATに入っても出ない」
✗ 「CZを連続スルーすると萎える」
✗ 「真高確率に入れても真BB引けないことも」
✗ 「初当りが重く感じる局面がある」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82880" y="3264408"/>
            <a:ext cx="8778240" cy="480000"/>
          </a:xfrm>
          <a:prstGeom prst="rect">
            <a:avLst/>
          </a:prstGeom>
          <a:solidFill>
            <a:srgbClr val="100800"/>
          </a:solidFill>
          <a:ln w="15240">
            <a:solidFill>
              <a:srgbClr val="D4A5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20040" y="3319272"/>
            <a:ext cx="8412480" cy="3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D4A520"/>
                </a:solidFill>
                <a:latin typeface="メイリオ"/>
              </a:rPr>
              <a:t>導入台数 約15,000台（2026年4月導入）  /  評価 ★1.79（まだ集計途中）  /  吉宗シリーズ累計ファン多数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82880" y="3794760"/>
            <a:ext cx="8778240" cy="700000"/>
          </a:xfrm>
          <a:prstGeom prst="rect">
            <a:avLst/>
          </a:prstGeom>
          <a:solidFill>
            <a:srgbClr val="080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20040" y="3858768"/>
            <a:ext cx="841248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5E6C8"/>
                </a:solidFill>
                <a:latin typeface="メイリオ"/>
              </a:rPr>
              <a:t>向いているユーザー：「爆発力重視」「吉宗シリーズファン」「高設定を確保できる環境」
この3条件が揃う場面で最大限に輝く台。低設定・全台低設定のホールでは荒波に注意。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