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04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457200"/>
            <a:ext cx="30000" cy="18288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45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A840"/>
                </a:solidFill>
                <a:latin typeface="游明朝"/>
              </a:rPr>
              <a:t>新機種ゲーム性提案書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475488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游明朝"/>
              </a:rPr>
              <a:t>祟り神の章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45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BBBB"/>
                </a:solidFill>
                <a:latin typeface="游明朝"/>
              </a:rPr>
              <a:t>── 物語と出玉が交差するスロット ──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4389120" cy="600000"/>
          </a:xfrm>
          <a:prstGeom prst="rect">
            <a:avLst/>
          </a:prstGeom>
          <a:solidFill>
            <a:srgbClr val="3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697480"/>
            <a:ext cx="55000" cy="60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70632"/>
            <a:ext cx="41148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メイリオ"/>
              </a:rPr>
              <a:t>「 倒した相手を、後から理解する。 」
普通ATで祟り神を戦って倒す。
特別ATで「なぜそうなったか」が分かる。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731520"/>
            <a:ext cx="3474720" cy="2377440"/>
          </a:xfrm>
          <a:prstGeom prst="rect">
            <a:avLst/>
          </a:prstGeom>
          <a:solidFill>
            <a:srgbClr val="14142C"/>
          </a:solidFill>
          <a:ln w="19050">
            <a:solidFill>
              <a:srgbClr val="88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804672"/>
            <a:ext cx="32004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822AA"/>
                </a:solidFill>
                <a:latin typeface="游明朝"/>
              </a:rPr>
              <a:t>基本スペック（概要）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1234440"/>
            <a:ext cx="1280160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タイプ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234440"/>
            <a:ext cx="1874519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スマスロ（L型）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1499440"/>
            <a:ext cx="1280160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純増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499440"/>
            <a:ext cx="1874519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3.8枚/G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1764440"/>
            <a:ext cx="1280160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天井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764440"/>
            <a:ext cx="1874519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600G（SP MAX時 300G）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029440"/>
            <a:ext cx="1280160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特別AT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029440"/>
            <a:ext cx="1874519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100〜1500枚（加護数で変動）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2294440"/>
            <a:ext cx="1280160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機械割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294440"/>
            <a:ext cx="1874519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設定1: 97.5% / 設定6: 109%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3246120"/>
            <a:ext cx="3474720" cy="1417320"/>
          </a:xfrm>
          <a:prstGeom prst="rect">
            <a:avLst/>
          </a:prstGeom>
          <a:solidFill>
            <a:srgbClr val="100820"/>
          </a:solidFill>
          <a:ln w="127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80" y="3310128"/>
            <a:ext cx="32004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游明朝"/>
              </a:rPr>
              <a:t>3つの設計核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3621024"/>
            <a:ext cx="3200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I    感情逆転設計
II   DQ4型章システム
III  加護の積み上げ来店設計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754880"/>
            <a:ext cx="21031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88"/>
                </a:solidFill>
                <a:latin typeface="メイリオ"/>
              </a:rPr>
              <a:t>v2.0  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コアコンセプト  ──  倒した相手を、後から理解する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3566160" cy="2286000"/>
          </a:xfrm>
          <a:prstGeom prst="rect">
            <a:avLst/>
          </a:prstGeom>
          <a:solidFill>
            <a:srgbClr val="300000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41248"/>
            <a:ext cx="32918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2222"/>
                </a:solidFill>
                <a:latin typeface="游明朝"/>
              </a:rPr>
              <a:t>普通AT（バトル型）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8016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0D8C8"/>
                </a:solidFill>
                <a:latin typeface="メイリオ"/>
              </a:rPr>
              <a:t>祟り神を「敵」として戦い、倒す
  ザコ戦 → 中ボス → ボス
  勝利でセット継続・SP蓄積
  敗北で悔しさ → リベンジ欲求</a:t>
            </a:r>
          </a:p>
        </p:txBody>
      </p:sp>
      <p:sp>
        <p:nvSpPr>
          <p:cNvPr id="9" name="Rectangle 8"/>
          <p:cNvSpPr/>
          <p:nvPr/>
        </p:nvSpPr>
        <p:spPr>
          <a:xfrm>
            <a:off x="3858768" y="1554480"/>
            <a:ext cx="1426464" cy="380000"/>
          </a:xfrm>
          <a:prstGeom prst="rect">
            <a:avLst/>
          </a:prstGeom>
          <a:solidFill>
            <a:srgbClr val="10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627632"/>
            <a:ext cx="164592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8A840"/>
                </a:solidFill>
                <a:latin typeface="メイリオ"/>
              </a:rPr>
              <a:t>感情が逆転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920240"/>
            <a:ext cx="173736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EE44"/>
                </a:solidFill>
                <a:latin typeface="メイリオ"/>
              </a:rPr>
              <a:t>敵  →  共感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777240"/>
            <a:ext cx="3566160" cy="2286000"/>
          </a:xfrm>
          <a:prstGeom prst="rect">
            <a:avLst/>
          </a:prstGeom>
          <a:solidFill>
            <a:srgbClr val="000035"/>
          </a:solidFill>
          <a:ln w="25400">
            <a:solidFill>
              <a:srgbClr val="33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4688" y="841248"/>
            <a:ext cx="32918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55CC"/>
                </a:solidFill>
                <a:latin typeface="游明朝"/>
              </a:rPr>
              <a:t>特別AT（章型）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4688" y="128016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0D8C8"/>
                </a:solidFill>
                <a:latin typeface="メイリオ"/>
              </a:rPr>
              <a:t>祟り神の「なぜそうなったか」を知る
  村人の視点・僧侶の視点・家族の視点
  断片が集まって真実が見える
  100〜1500枚獲得チャンス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3127248"/>
            <a:ext cx="8778240" cy="5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3200400"/>
            <a:ext cx="1664208" cy="32000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2880" y="3236976"/>
            <a:ext cx="1584208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BBBB"/>
                </a:solidFill>
                <a:latin typeface="メイリオ"/>
              </a:rPr>
              <a:t>比較軸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3200400"/>
            <a:ext cx="3337560" cy="320000"/>
          </a:xfrm>
          <a:prstGeom prst="rect">
            <a:avLst/>
          </a:prstGeom>
          <a:solidFill>
            <a:srgbClr val="1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70240" y="3236976"/>
            <a:ext cx="32575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BBBB"/>
                </a:solidFill>
                <a:latin typeface="メイリオ"/>
              </a:rPr>
              <a:t>従来機（一般的な戦闘系）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9240" y="3200400"/>
            <a:ext cx="3703320" cy="320000"/>
          </a:xfrm>
          <a:prstGeom prst="rect">
            <a:avLst/>
          </a:prstGeom>
          <a:solidFill>
            <a:srgbClr val="28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9240" y="3236976"/>
            <a:ext cx="36233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祟り神の章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3547872"/>
            <a:ext cx="1664208" cy="3050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20240" y="3547872"/>
            <a:ext cx="3337560" cy="3050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9240" y="3547872"/>
            <a:ext cx="3703320" cy="3050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2880" y="3575872"/>
            <a:ext cx="1584208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BBBBB"/>
                </a:solidFill>
                <a:latin typeface="メイリオ"/>
              </a:rPr>
              <a:t>来店動機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70240" y="3575872"/>
            <a:ext cx="32575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メイリオ"/>
              </a:rPr>
              <a:t>設定・期待値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9240" y="3575872"/>
            <a:ext cx="36233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物語の続きが見たい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859872"/>
            <a:ext cx="1664208" cy="305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920240" y="3859872"/>
            <a:ext cx="3337560" cy="305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49240" y="3859872"/>
            <a:ext cx="3703320" cy="305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2880" y="3887872"/>
            <a:ext cx="1584208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BBBBB"/>
                </a:solidFill>
                <a:latin typeface="メイリオ"/>
              </a:rPr>
              <a:t>リピート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70240" y="3887872"/>
            <a:ext cx="32575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メイリオ"/>
              </a:rPr>
              <a:t>1回来店で完結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9240" y="3887872"/>
            <a:ext cx="36233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複数来店で章が完成する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4171872"/>
            <a:ext cx="1664208" cy="3050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20240" y="4171872"/>
            <a:ext cx="3337560" cy="3050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349240" y="4171872"/>
            <a:ext cx="3703320" cy="3050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2880" y="4199872"/>
            <a:ext cx="1584208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BBBBB"/>
                </a:solidFill>
                <a:latin typeface="メイリオ"/>
              </a:rPr>
              <a:t>体験差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70240" y="4199872"/>
            <a:ext cx="32575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メイリオ"/>
              </a:rPr>
              <a:t>全員が同じ演出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9240" y="4199872"/>
            <a:ext cx="36233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章のランダム順で変わる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4483872"/>
            <a:ext cx="1664208" cy="305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920240" y="4483872"/>
            <a:ext cx="3337560" cy="305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49240" y="4483872"/>
            <a:ext cx="3703320" cy="305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2880" y="4511872"/>
            <a:ext cx="1584208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BBBBB"/>
                </a:solidFill>
                <a:latin typeface="メイリオ"/>
              </a:rPr>
              <a:t>感情変化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70240" y="4511872"/>
            <a:ext cx="32575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メイリオ"/>
              </a:rPr>
              <a:t>プレイ中のみ完結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9240" y="4511872"/>
            <a:ext cx="36233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プレイ後も「あの神は…」と残る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ゲームフロー全体図  ──  普通ATと特別ATが交差する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566928"/>
            <a:ext cx="2514600" cy="960120"/>
          </a:xfrm>
          <a:prstGeom prst="rect">
            <a:avLst/>
          </a:prstGeom>
          <a:solidFill>
            <a:srgbClr val="141028"/>
          </a:solidFill>
          <a:ln w="22860">
            <a:solidFill>
              <a:srgbClr val="88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4592" y="616928"/>
            <a:ext cx="2354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游明朝"/>
              </a:rPr>
              <a:t>通常時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592" y="936928"/>
            <a:ext cx="2354600" cy="54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D8C8"/>
                </a:solidFill>
                <a:latin typeface="メイリオ"/>
              </a:rPr>
              <a:t>コイン投入・周期でCZ到来
SPを積み上げ / ステージ4種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566928"/>
            <a:ext cx="2514600" cy="960120"/>
          </a:xfrm>
          <a:prstGeom prst="rect">
            <a:avLst/>
          </a:prstGeom>
          <a:solidFill>
            <a:srgbClr val="300000"/>
          </a:solidFill>
          <a:ln w="2286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60360" y="616928"/>
            <a:ext cx="2354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游明朝"/>
              </a:rPr>
              <a:t>普通AT（バトル型）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0360" y="936928"/>
            <a:ext cx="2354600" cy="54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D8C8"/>
                </a:solidFill>
                <a:latin typeface="メイリオ"/>
              </a:rPr>
              <a:t>祟り神を敵として戦い倒す
ザコ→中ボス→ボス / 勝利でセット継続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96128" y="566928"/>
            <a:ext cx="2514600" cy="960120"/>
          </a:xfrm>
          <a:prstGeom prst="rect">
            <a:avLst/>
          </a:prstGeom>
          <a:solidFill>
            <a:srgbClr val="100820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76128" y="616928"/>
            <a:ext cx="2354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游明朝"/>
              </a:rPr>
              <a:t>特別AT抽選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6128" y="936928"/>
            <a:ext cx="2354600" cy="54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D8C8"/>
                </a:solidFill>
                <a:latin typeface="メイリオ"/>
              </a:rPr>
              <a:t>普通AT終了時・SP量に応じて抽選
当選でどの章が来るか決定！</a:t>
            </a:r>
          </a:p>
        </p:txBody>
      </p:sp>
      <p:sp>
        <p:nvSpPr>
          <p:cNvPr id="15" name="Can 14"/>
          <p:cNvSpPr/>
          <p:nvPr/>
        </p:nvSpPr>
        <p:spPr>
          <a:xfrm>
            <a:off x="2719192" y="971988"/>
            <a:ext cx="121168" cy="150000"/>
          </a:xfrm>
          <a:prstGeom prst="can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n 15"/>
          <p:cNvSpPr/>
          <p:nvPr/>
        </p:nvSpPr>
        <p:spPr>
          <a:xfrm>
            <a:off x="5434960" y="971988"/>
            <a:ext cx="121168" cy="150000"/>
          </a:xfrm>
          <a:prstGeom prst="can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0728" y="1046988"/>
            <a:ext cx="55000" cy="727516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0728" y="1746504"/>
            <a:ext cx="605000" cy="55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40728" y="1965960"/>
            <a:ext cx="55000" cy="-164456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0728" y="1396504"/>
            <a:ext cx="8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D700"/>
                </a:solidFill>
                <a:latin typeface="メイリオ"/>
              </a:rPr>
              <a:t>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96128" y="1965960"/>
            <a:ext cx="2514600" cy="960120"/>
          </a:xfrm>
          <a:prstGeom prst="rect">
            <a:avLst/>
          </a:prstGeom>
          <a:solidFill>
            <a:srgbClr val="000035"/>
          </a:solidFill>
          <a:ln w="22860">
            <a:solidFill>
              <a:srgbClr val="33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76128" y="2015960"/>
            <a:ext cx="2354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游明朝"/>
              </a:rPr>
              <a:t>特別AT（章解放）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76128" y="2335960"/>
            <a:ext cx="2354600" cy="54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D8C8"/>
                </a:solidFill>
                <a:latin typeface="メイリオ"/>
              </a:rPr>
              <a:t>1〜4章をランダム順で体験
章クリアで加護を獲得！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1965960"/>
            <a:ext cx="2514600" cy="960120"/>
          </a:xfrm>
          <a:prstGeom prst="rect">
            <a:avLst/>
          </a:prstGeom>
          <a:solidFill>
            <a:srgbClr val="201030"/>
          </a:solidFill>
          <a:ln w="22860">
            <a:solidFill>
              <a:srgbClr val="88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60360" y="2015960"/>
            <a:ext cx="2354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游明朝"/>
              </a:rPr>
              <a:t>加護蓄積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60360" y="2335960"/>
            <a:ext cx="2354600" cy="54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D8C8"/>
                </a:solidFill>
                <a:latin typeface="メイリオ"/>
              </a:rPr>
              <a:t>章クリアごとに加護が増える
4個集まると第5章が解放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1965960"/>
            <a:ext cx="2514600" cy="960120"/>
          </a:xfrm>
          <a:prstGeom prst="rect">
            <a:avLst/>
          </a:prstGeom>
          <a:solidFill>
            <a:srgbClr val="282000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4592" y="2015960"/>
            <a:ext cx="23546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游明朝"/>
              </a:rPr>
              <a:t>第5章AT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4592" y="2335960"/>
            <a:ext cx="2354600" cy="54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D8C8"/>
                </a:solidFill>
                <a:latin typeface="メイリオ"/>
              </a:rPr>
              <a:t>加護全発動で「超楽しい」
来るたびに体験が濃くなる</a:t>
            </a:r>
          </a:p>
        </p:txBody>
      </p:sp>
      <p:sp>
        <p:nvSpPr>
          <p:cNvPr id="30" name="Can 29"/>
          <p:cNvSpPr/>
          <p:nvPr/>
        </p:nvSpPr>
        <p:spPr>
          <a:xfrm rot="10800000">
            <a:off x="5434960" y="2371020"/>
            <a:ext cx="121168" cy="150000"/>
          </a:xfrm>
          <a:prstGeom prst="can">
            <a:avLst/>
          </a:prstGeom>
          <a:solidFill>
            <a:srgbClr val="88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an 30"/>
          <p:cNvSpPr/>
          <p:nvPr/>
        </p:nvSpPr>
        <p:spPr>
          <a:xfrm rot="10800000">
            <a:off x="2719192" y="2371020"/>
            <a:ext cx="121168" cy="150000"/>
          </a:xfrm>
          <a:prstGeom prst="can">
            <a:avLst/>
          </a:prstGeom>
          <a:solidFill>
            <a:srgbClr val="88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64592" y="3090672"/>
            <a:ext cx="2514600" cy="880000"/>
          </a:xfrm>
          <a:prstGeom prst="rect">
            <a:avLst/>
          </a:prstGeom>
          <a:solidFill>
            <a:srgbClr val="000035"/>
          </a:solidFill>
          <a:ln w="25400">
            <a:solidFill>
              <a:srgbClr val="33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4592" y="3145672"/>
            <a:ext cx="2286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355CC"/>
                </a:solidFill>
                <a:latin typeface="游明朝"/>
              </a:rPr>
              <a:t>第0章（真実と成仏）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4592" y="3490672"/>
            <a:ext cx="2286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D8C8"/>
                </a:solidFill>
                <a:latin typeface="メイリオ"/>
              </a:rPr>
              <a:t>全章クリア後に解放
成仏チャレンジ：成功1500枚 / 失敗100枚
「また来て救おう」という来店動機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0" y="3090672"/>
            <a:ext cx="6144768" cy="880000"/>
          </a:xfrm>
          <a:prstGeom prst="rect">
            <a:avLst/>
          </a:prstGeom>
          <a:solidFill>
            <a:srgbClr val="14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71800" y="3170672"/>
            <a:ext cx="57607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游明朝"/>
              </a:rPr>
              <a:t>フロー設計の核心：「倒す」と「理解する」の往復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71800" y="3530672"/>
            <a:ext cx="57607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普通ATで倒した祟り神が、特別ATで「共感できる存在」になる。
この感情の往復が、来店するたびに深まる体験を作る。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章システム  ──  DQ4型オムニバス・ランダム章解放設計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804672"/>
            <a:ext cx="1371600" cy="2743200"/>
          </a:xfrm>
          <a:prstGeom prst="rect">
            <a:avLst/>
          </a:prstGeom>
          <a:solidFill>
            <a:srgbClr val="14142C"/>
          </a:solidFill>
          <a:ln w="19050">
            <a:solidFill>
              <a:srgbClr val="88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2880" y="864672"/>
            <a:ext cx="1271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BBBBB"/>
                </a:solidFill>
                <a:latin typeface="游明朝"/>
              </a:rPr>
              <a:t>第1章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2880" y="1184672"/>
            <a:ext cx="1271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村人の視点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2880" y="1504672"/>
            <a:ext cx="12716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0D8C8"/>
                </a:solidFill>
                <a:latin typeface="メイリオ"/>
              </a:rPr>
              <a:t>なぜ祟られたのか
分からない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2880" y="3047872"/>
            <a:ext cx="1271600" cy="420000"/>
          </a:xfrm>
          <a:prstGeom prst="rect">
            <a:avLst/>
          </a:prstGeom>
          <a:solidFill>
            <a:srgbClr val="20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880" y="3087872"/>
            <a:ext cx="12116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22AA"/>
                </a:solidFill>
                <a:latin typeface="メイリオ"/>
              </a:rPr>
              <a:t>加護：
リプレイの力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54480" y="804672"/>
            <a:ext cx="1371600" cy="2743200"/>
          </a:xfrm>
          <a:prstGeom prst="rect">
            <a:avLst/>
          </a:prstGeom>
          <a:solidFill>
            <a:srgbClr val="14142C"/>
          </a:solidFill>
          <a:ln w="19050">
            <a:solidFill>
              <a:srgbClr val="88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04480" y="864672"/>
            <a:ext cx="1271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BBBBB"/>
                </a:solidFill>
                <a:latin typeface="游明朝"/>
              </a:rPr>
              <a:t>第2章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4480" y="1184672"/>
            <a:ext cx="1271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僧侶の視点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4480" y="1504672"/>
            <a:ext cx="12716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0D8C8"/>
                </a:solidFill>
                <a:latin typeface="メイリオ"/>
              </a:rPr>
              <a:t>封じるしかなかった
あの日の決断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04480" y="3047872"/>
            <a:ext cx="1271600" cy="420000"/>
          </a:xfrm>
          <a:prstGeom prst="rect">
            <a:avLst/>
          </a:prstGeom>
          <a:solidFill>
            <a:srgbClr val="20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4480" y="3087872"/>
            <a:ext cx="12116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22AA"/>
                </a:solidFill>
                <a:latin typeface="メイリオ"/>
              </a:rPr>
              <a:t>加護：
ベルの力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26080" y="804672"/>
            <a:ext cx="1371600" cy="2743200"/>
          </a:xfrm>
          <a:prstGeom prst="rect">
            <a:avLst/>
          </a:prstGeom>
          <a:solidFill>
            <a:srgbClr val="14142C"/>
          </a:solidFill>
          <a:ln w="19050">
            <a:solidFill>
              <a:srgbClr val="88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76080" y="864672"/>
            <a:ext cx="1271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BBBBB"/>
                </a:solidFill>
                <a:latin typeface="游明朝"/>
              </a:rPr>
              <a:t>第3章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6080" y="1184672"/>
            <a:ext cx="1271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家族の視点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76080" y="1504672"/>
            <a:ext cx="12716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0D8C8"/>
                </a:solidFill>
                <a:latin typeface="メイリオ"/>
              </a:rPr>
              <a:t>あの人がなぜ
祟り神に…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76080" y="3047872"/>
            <a:ext cx="1271600" cy="420000"/>
          </a:xfrm>
          <a:prstGeom prst="rect">
            <a:avLst/>
          </a:prstGeom>
          <a:solidFill>
            <a:srgbClr val="20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6080" y="3087872"/>
            <a:ext cx="12116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22AA"/>
                </a:solidFill>
                <a:latin typeface="メイリオ"/>
              </a:rPr>
              <a:t>加護：
選択の力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7680" y="804672"/>
            <a:ext cx="1371600" cy="2743200"/>
          </a:xfrm>
          <a:prstGeom prst="rect">
            <a:avLst/>
          </a:prstGeom>
          <a:solidFill>
            <a:srgbClr val="14142C"/>
          </a:solidFill>
          <a:ln w="19050">
            <a:solidFill>
              <a:srgbClr val="88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7680" y="864672"/>
            <a:ext cx="1271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C2222"/>
                </a:solidFill>
                <a:latin typeface="游明朝"/>
              </a:rPr>
              <a:t>第4章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7680" y="1184672"/>
            <a:ext cx="1271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祟り神の記憶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7680" y="1504672"/>
            <a:ext cx="12716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0D8C8"/>
                </a:solidFill>
                <a:latin typeface="メイリオ"/>
              </a:rPr>
              <a:t>守りたかった
だけなのに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47680" y="3047872"/>
            <a:ext cx="1271600" cy="420000"/>
          </a:xfrm>
          <a:prstGeom prst="rect">
            <a:avLst/>
          </a:prstGeom>
          <a:solidFill>
            <a:srgbClr val="20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77680" y="3087872"/>
            <a:ext cx="12116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22AA"/>
                </a:solidFill>
                <a:latin typeface="メイリオ"/>
              </a:rPr>
              <a:t>加護：
魂の力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69280" y="804672"/>
            <a:ext cx="1371600" cy="2743200"/>
          </a:xfrm>
          <a:prstGeom prst="rect">
            <a:avLst/>
          </a:prstGeom>
          <a:solidFill>
            <a:srgbClr val="282000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19280" y="864672"/>
            <a:ext cx="1271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8A840"/>
                </a:solidFill>
                <a:latin typeface="游明朝"/>
              </a:rPr>
              <a:t>第5章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19280" y="1184672"/>
            <a:ext cx="1271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全視点収束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19280" y="1504672"/>
            <a:ext cx="12716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0D8C8"/>
                </a:solidFill>
                <a:latin typeface="メイリオ"/>
              </a:rPr>
              <a:t>加護4個で
超楽しいAT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19280" y="3047872"/>
            <a:ext cx="1271600" cy="420000"/>
          </a:xfrm>
          <a:prstGeom prst="rect">
            <a:avLst/>
          </a:prstGeom>
          <a:solidFill>
            <a:srgbClr val="28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49280" y="3087872"/>
            <a:ext cx="12116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C8A840"/>
                </a:solidFill>
                <a:latin typeface="メイリオ"/>
              </a:rPr>
              <a:t>加護4個
全部発動！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0880" y="804672"/>
            <a:ext cx="1371600" cy="2743200"/>
          </a:xfrm>
          <a:prstGeom prst="rect">
            <a:avLst/>
          </a:prstGeom>
          <a:solidFill>
            <a:srgbClr val="000035"/>
          </a:solidFill>
          <a:ln w="19050">
            <a:solidFill>
              <a:srgbClr val="33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90880" y="864672"/>
            <a:ext cx="1271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55CC"/>
                </a:solidFill>
                <a:latin typeface="游明朝"/>
              </a:rPr>
              <a:t>第0章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90880" y="1184672"/>
            <a:ext cx="12716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</a:rPr>
              <a:t>真実と成仏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90880" y="1504672"/>
            <a:ext cx="12716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0D8C8"/>
                </a:solidFill>
                <a:latin typeface="メイリオ"/>
              </a:rPr>
              <a:t>1500枚一か八か
感動のラスト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90880" y="3047872"/>
            <a:ext cx="1271600" cy="420000"/>
          </a:xfrm>
          <a:prstGeom prst="rect">
            <a:avLst/>
          </a:prstGeom>
          <a:solidFill>
            <a:srgbClr val="000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20880" y="3087872"/>
            <a:ext cx="12116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3355CC"/>
                </a:solidFill>
                <a:latin typeface="メイリオ"/>
              </a:rPr>
              <a:t>成仏
チャレンジ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" y="3675887"/>
            <a:ext cx="4206240" cy="540000"/>
          </a:xfrm>
          <a:prstGeom prst="rect">
            <a:avLst/>
          </a:prstGeom>
          <a:solidFill>
            <a:srgbClr val="10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3730752"/>
            <a:ext cx="393192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2CC66"/>
                </a:solidFill>
                <a:latin typeface="メイリオ"/>
              </a:rPr>
              <a:t>章はランダム順で解放。「俺は3章から入った、お前は？」
→ ホールで会話が生まれる、体験がプレイヤーごとに変わる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3675887"/>
            <a:ext cx="4389120" cy="540000"/>
          </a:xfrm>
          <a:prstGeom prst="rect">
            <a:avLst/>
          </a:prstGeom>
          <a:solidFill>
            <a:srgbClr val="18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09160" y="3730752"/>
            <a:ext cx="4114800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8A840"/>
                </a:solidFill>
                <a:latin typeface="メイリオ"/>
              </a:rPr>
              <a:t>章クリアで加護を獲得 → 第5章のATが強化される
→ 来るたびに体験が豊かになる「来店価値の積み上げ」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加護システム  ──  積み上げた力が第5章で一斉発動する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1737360" cy="1508760"/>
          </a:xfrm>
          <a:prstGeom prst="rect">
            <a:avLst/>
          </a:prstGeom>
          <a:solidFill>
            <a:srgbClr val="200830"/>
          </a:solidFill>
          <a:ln w="19050">
            <a:solidFill>
              <a:srgbClr val="88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837240"/>
            <a:ext cx="17373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22AA"/>
                </a:solidFill>
                <a:latin typeface="メイリオ"/>
              </a:rPr>
              <a:t>第1章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117240"/>
            <a:ext cx="17373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BBBBB"/>
                </a:solidFill>
                <a:latin typeface="メイリオ"/>
              </a:rPr>
              <a:t>リプレイの力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427240"/>
            <a:ext cx="17373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0D8C8"/>
                </a:solidFill>
                <a:latin typeface="メイリオ"/>
              </a:rPr>
              <a:t>リプレイ成立で
AT抽選が走る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0240" y="777240"/>
            <a:ext cx="1737360" cy="1508760"/>
          </a:xfrm>
          <a:prstGeom prst="rect">
            <a:avLst/>
          </a:prstGeom>
          <a:solidFill>
            <a:srgbClr val="200830"/>
          </a:solidFill>
          <a:ln w="19050">
            <a:solidFill>
              <a:srgbClr val="88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0240" y="837240"/>
            <a:ext cx="17373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22AA"/>
                </a:solidFill>
                <a:latin typeface="メイリオ"/>
              </a:rPr>
              <a:t>第2章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0240" y="1117240"/>
            <a:ext cx="17373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BBBBB"/>
                </a:solidFill>
                <a:latin typeface="メイリオ"/>
              </a:rPr>
              <a:t>ベルの力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0240" y="1427240"/>
            <a:ext cx="17373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0D8C8"/>
                </a:solidFill>
                <a:latin typeface="メイリオ"/>
              </a:rPr>
              <a:t>打順ベル成立で
上乗せ抽選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17600" y="777240"/>
            <a:ext cx="1737360" cy="1508760"/>
          </a:xfrm>
          <a:prstGeom prst="rect">
            <a:avLst/>
          </a:prstGeom>
          <a:solidFill>
            <a:srgbClr val="200830"/>
          </a:solidFill>
          <a:ln w="19050">
            <a:solidFill>
              <a:srgbClr val="88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7600" y="837240"/>
            <a:ext cx="17373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22AA"/>
                </a:solidFill>
                <a:latin typeface="メイリオ"/>
              </a:rPr>
              <a:t>第3章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7600" y="1117240"/>
            <a:ext cx="17373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BBBBB"/>
                </a:solidFill>
                <a:latin typeface="メイリオ"/>
              </a:rPr>
              <a:t>選択の力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7600" y="1427240"/>
            <a:ext cx="17373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0D8C8"/>
                </a:solidFill>
                <a:latin typeface="メイリオ"/>
              </a:rPr>
              <a:t>毎セット
2択チャレンジ発生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84960" y="777240"/>
            <a:ext cx="1737360" cy="1508760"/>
          </a:xfrm>
          <a:prstGeom prst="rect">
            <a:avLst/>
          </a:prstGeom>
          <a:solidFill>
            <a:srgbClr val="200830"/>
          </a:solidFill>
          <a:ln w="19050">
            <a:solidFill>
              <a:srgbClr val="88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84960" y="837240"/>
            <a:ext cx="173736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22AA"/>
                </a:solidFill>
                <a:latin typeface="メイリオ"/>
              </a:rPr>
              <a:t>第4章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84960" y="1117240"/>
            <a:ext cx="17373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C2222"/>
                </a:solidFill>
                <a:latin typeface="メイリオ"/>
              </a:rPr>
              <a:t>魂の力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84960" y="1427240"/>
            <a:ext cx="17373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0D8C8"/>
                </a:solidFill>
                <a:latin typeface="メイリオ"/>
              </a:rPr>
              <a:t>セット継続率が
底上げされる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2377440"/>
            <a:ext cx="11887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8A840"/>
                </a:solidFill>
                <a:latin typeface="メイリオ"/>
              </a:rPr>
              <a:t>4個全部
集まると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816352"/>
            <a:ext cx="8778240" cy="1261872"/>
          </a:xfrm>
          <a:prstGeom prst="rect">
            <a:avLst/>
          </a:prstGeom>
          <a:solidFill>
            <a:srgbClr val="282000"/>
          </a:solidFill>
          <a:ln w="317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871216"/>
            <a:ext cx="8503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8A840"/>
                </a:solidFill>
                <a:latin typeface="游明朝"/>
              </a:rPr>
              <a:t>第5章AT ── 同時多発で何かが起き続ける「超楽しい」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273552"/>
            <a:ext cx="201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メイリオ"/>
              </a:rPr>
              <a:t>リプレイの力
→ リプレイ → AT抽選発動！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273552"/>
            <a:ext cx="201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メイリオ"/>
              </a:rPr>
              <a:t>ベルの力
→ ベル → 上乗せ抽選！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273552"/>
            <a:ext cx="201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メイリオ"/>
              </a:rPr>
              <a:t>選択の力
→ 毎セット → 2択チャレンジ！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273552"/>
            <a:ext cx="201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メイリオ"/>
              </a:rPr>
              <a:t>魂の力
→ 継続率底上げ → なかなか終わらない！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4169663"/>
            <a:ext cx="8778240" cy="48000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224528"/>
            <a:ext cx="841248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9900"/>
                </a:solidFill>
                <a:latin typeface="メイリオ"/>
              </a:rPr>
              <a:t>加護が少ないまま第5章に来ると体験が薄い → 「また章を集めに来る」動機が生まれる。加護4個が揃うと同時多発で何かが起き続ける状態に。これが来店継続の仕掛け。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第0章  ──  全章コンプリート者だけが辿り着く「真実と成仏」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206240" cy="3108960"/>
          </a:xfrm>
          <a:prstGeom prst="rect">
            <a:avLst/>
          </a:prstGeom>
          <a:solidFill>
            <a:srgbClr val="000035"/>
          </a:solidFill>
          <a:ln w="25400">
            <a:solidFill>
              <a:srgbClr val="33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41248"/>
            <a:ext cx="3931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55CC"/>
                </a:solidFill>
                <a:latin typeface="游明朝"/>
              </a:rPr>
              <a:t>「真の章が解禁されました」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2588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0D8C8"/>
                </a:solidFill>
                <a:latin typeface="メイリオ"/>
              </a:rPr>
              <a:t>全視点が交差して、真実が一枚の絵として完成する
  なぜ村人は祟られたのか
  なぜ僧侶は封じるしかなかったのか
  なぜ家族は気づけなかったのか
  なぜ祟り神はそうなったのか
── 全部が繋がる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777240"/>
            <a:ext cx="4297680" cy="3108960"/>
          </a:xfrm>
          <a:prstGeom prst="rect">
            <a:avLst/>
          </a:prstGeom>
          <a:solidFill>
            <a:srgbClr val="300000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841248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2222"/>
                </a:solidFill>
                <a:latin typeface="游明朝"/>
              </a:rPr>
              <a:t>成仏チャレンジ  ──  一か八か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73168" y="1417320"/>
            <a:ext cx="1965960" cy="1005840"/>
          </a:xfrm>
          <a:prstGeom prst="rect">
            <a:avLst/>
          </a:prstGeom>
          <a:solidFill>
            <a:srgbClr val="00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1463040"/>
            <a:ext cx="196596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2CC66"/>
                </a:solidFill>
                <a:latin typeface="メイリオ"/>
              </a:rPr>
              <a:t>成功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901952"/>
            <a:ext cx="19659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2CC66"/>
                </a:solidFill>
                <a:latin typeface="メイリオ"/>
              </a:rPr>
              <a:t>1500枚
+「救えた」感動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1417320"/>
            <a:ext cx="1965960" cy="1005840"/>
          </a:xfrm>
          <a:prstGeom prst="rect">
            <a:avLst/>
          </a:prstGeom>
          <a:solidFill>
            <a:srgbClr val="3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1463040"/>
            <a:ext cx="196596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C2222"/>
                </a:solidFill>
                <a:latin typeface="メイリオ"/>
              </a:rPr>
              <a:t>失敗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1901952"/>
            <a:ext cx="196596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CC2222"/>
                </a:solidFill>
                <a:latin typeface="メイリオ"/>
              </a:rPr>
              <a:t>100枚
+「また来て救おう」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2606040"/>
            <a:ext cx="402336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BB"/>
                </a:solidFill>
                <a:latin typeface="メイリオ"/>
              </a:rPr>
              <a:t>失敗しても「終わり」ではなく
「また来たい理由」に変わる。
物語はまだ終わっていないから。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977639"/>
            <a:ext cx="8778240" cy="560000"/>
          </a:xfrm>
          <a:prstGeom prst="rect">
            <a:avLst/>
          </a:prstGeom>
          <a:solidFill>
            <a:srgbClr val="000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" y="3977639"/>
            <a:ext cx="55000" cy="560000"/>
          </a:xfrm>
          <a:prstGeom prst="rect">
            <a:avLst/>
          </a:prstGeom>
          <a:solidFill>
            <a:srgbClr val="33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023360"/>
            <a:ext cx="832104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55CC"/>
                </a:solidFill>
                <a:latin typeface="游明朝"/>
              </a:rPr>
              <a:t>第0章は「ゴール」ではなく「また来たい気持ち」の設計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315968"/>
            <a:ext cx="832104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次の祟り神ストーリーへ続く可能性も。「この台の世界観をもっと知りたい」が来店継続の最終動機。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スペック・ベンチマーク  ──  CV0.20〜0.25・後半維持率65%以上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3749039" cy="3017520"/>
          </a:xfrm>
          <a:prstGeom prst="rect">
            <a:avLst/>
          </a:prstGeom>
          <a:solidFill>
            <a:srgbClr val="14142C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41248"/>
            <a:ext cx="34747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推奨スペック（目安）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243584"/>
            <a:ext cx="3611880" cy="320000"/>
          </a:xfrm>
          <a:prstGeom prst="rect">
            <a:avLst/>
          </a:prstGeom>
          <a:solidFill>
            <a:srgbClr val="12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271584"/>
            <a:ext cx="11887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メイリオ"/>
              </a:rPr>
              <a:t>タイプ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1271584"/>
            <a:ext cx="21945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メイリオ"/>
              </a:rPr>
              <a:t>スマスロ（L型）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573584"/>
            <a:ext cx="3611880" cy="320000"/>
          </a:xfrm>
          <a:prstGeom prst="rect">
            <a:avLst/>
          </a:prstGeom>
          <a:solidFill>
            <a:srgbClr val="16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1601584"/>
            <a:ext cx="11887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メイリオ"/>
              </a:rPr>
              <a:t>天井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1601584"/>
            <a:ext cx="21945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メイリオ"/>
              </a:rPr>
              <a:t>600G（SP MAX時 300G）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903584"/>
            <a:ext cx="3611880" cy="320000"/>
          </a:xfrm>
          <a:prstGeom prst="rect">
            <a:avLst/>
          </a:prstGeom>
          <a:solidFill>
            <a:srgbClr val="12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1931584"/>
            <a:ext cx="11887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メイリオ"/>
              </a:rPr>
              <a:t>純増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1931584"/>
            <a:ext cx="21945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メイリオ"/>
              </a:rPr>
              <a:t>3.8枚/G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233584"/>
            <a:ext cx="3611880" cy="320000"/>
          </a:xfrm>
          <a:prstGeom prst="rect">
            <a:avLst/>
          </a:prstGeom>
          <a:solidFill>
            <a:srgbClr val="16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2261584"/>
            <a:ext cx="11887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メイリオ"/>
              </a:rPr>
              <a:t>機械割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2261584"/>
            <a:ext cx="21945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メイリオ"/>
              </a:rPr>
              <a:t>設定1: 97.5%  /  設定6: 109%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563584"/>
            <a:ext cx="3611880" cy="320000"/>
          </a:xfrm>
          <a:prstGeom prst="rect">
            <a:avLst/>
          </a:prstGeom>
          <a:solidFill>
            <a:srgbClr val="12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" y="2591584"/>
            <a:ext cx="11887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メイリオ"/>
              </a:rPr>
              <a:t>特別AT出玉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2591584"/>
            <a:ext cx="21945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メイリオ"/>
              </a:rPr>
              <a:t>100〜1500枚（加護数・章で変動）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893584"/>
            <a:ext cx="3611880" cy="320000"/>
          </a:xfrm>
          <a:prstGeom prst="rect">
            <a:avLst/>
          </a:prstGeom>
          <a:solidFill>
            <a:srgbClr val="16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" y="2921584"/>
            <a:ext cx="118872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  <a:latin typeface="メイリオ"/>
              </a:rPr>
              <a:t>CV目標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7048" y="2921584"/>
            <a:ext cx="21945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メイリオ"/>
              </a:rPr>
              <a:t>0.20〜0.25（設定非依存）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777240"/>
            <a:ext cx="4828032" cy="360000"/>
          </a:xfrm>
          <a:prstGeom prst="rect">
            <a:avLst/>
          </a:prstGeom>
          <a:solidFill>
            <a:srgbClr val="22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44800" y="822960"/>
            <a:ext cx="9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比較軸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4800" y="822960"/>
            <a:ext cx="81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東京喰種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34800" y="822960"/>
            <a:ext cx="81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モンキーV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4800" y="822960"/>
            <a:ext cx="77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番長4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4800" y="822960"/>
            <a:ext cx="9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本提案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1170432"/>
            <a:ext cx="4828032" cy="3300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44800" y="1198432"/>
            <a:ext cx="920000" cy="2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CV値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94800" y="1198432"/>
            <a:ext cx="810000" cy="2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0.18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34800" y="1198432"/>
            <a:ext cx="810000" cy="2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0.23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74800" y="1198432"/>
            <a:ext cx="770000" cy="2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2222"/>
                </a:solidFill>
                <a:latin typeface="メイリオ"/>
              </a:rPr>
              <a:t>0.68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74800" y="1198432"/>
            <a:ext cx="950000" cy="2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8A840"/>
                </a:solidFill>
                <a:latin typeface="メイリオ"/>
              </a:rPr>
              <a:t>0.20〜0.25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1508432"/>
            <a:ext cx="4828032" cy="330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44800" y="1536432"/>
            <a:ext cx="920000" cy="2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来店動機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94800" y="1536432"/>
            <a:ext cx="810000" cy="2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世界観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34800" y="1536432"/>
            <a:ext cx="810000" cy="2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SP引継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74800" y="1536432"/>
            <a:ext cx="770000" cy="2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期待値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74800" y="1536432"/>
            <a:ext cx="950000" cy="2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8A840"/>
                </a:solidFill>
                <a:latin typeface="メイリオ"/>
              </a:rPr>
              <a:t>物語続き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0" y="1846432"/>
            <a:ext cx="4828032" cy="3300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44800" y="1874432"/>
            <a:ext cx="920000" cy="2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一か八か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94800" y="1874432"/>
            <a:ext cx="810000" cy="2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34800" y="1874432"/>
            <a:ext cx="810000" cy="2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74800" y="1874432"/>
            <a:ext cx="770000" cy="2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◎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74800" y="1874432"/>
            <a:ext cx="950000" cy="2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8A840"/>
                </a:solidFill>
                <a:latin typeface="メイリオ"/>
              </a:rPr>
              <a:t>◎（最大1500枚）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2184432"/>
            <a:ext cx="4828032" cy="330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44800" y="2212432"/>
            <a:ext cx="920000" cy="2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20代訴求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94800" y="2212432"/>
            <a:ext cx="810000" cy="2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34800" y="2212432"/>
            <a:ext cx="810000" cy="2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74800" y="2212432"/>
            <a:ext cx="770000" cy="2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74800" y="2212432"/>
            <a:ext cx="950000" cy="2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8A840"/>
                </a:solidFill>
                <a:latin typeface="メイリオ"/>
              </a:rPr>
              <a:t>◎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0" y="2522432"/>
            <a:ext cx="4828032" cy="33000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44800" y="2550432"/>
            <a:ext cx="920000" cy="2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後半維持率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94800" y="2550432"/>
            <a:ext cx="810000" cy="2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73.7%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34800" y="2550432"/>
            <a:ext cx="810000" cy="2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68.2%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74800" y="2550432"/>
            <a:ext cx="770000" cy="2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2222"/>
                </a:solidFill>
                <a:latin typeface="メイリオ"/>
              </a:rPr>
              <a:t>29.6%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74800" y="2550432"/>
            <a:ext cx="950000" cy="2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8A840"/>
                </a:solidFill>
                <a:latin typeface="メイリオ"/>
              </a:rPr>
              <a:t>目標65%超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886200"/>
            <a:ext cx="8778240" cy="640000"/>
          </a:xfrm>
          <a:prstGeom prst="rect">
            <a:avLst/>
          </a:prstGeom>
          <a:solidFill>
            <a:srgbClr val="10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82880" y="3886200"/>
            <a:ext cx="55000" cy="64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3931920"/>
            <a:ext cx="83210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66"/>
                </a:solidFill>
                <a:latin typeface="メイリオ"/>
              </a:rPr>
              <a:t>CV0.20〜0.25（東京喰種・モンキーターンV水準）を目標とし、設定1でも「体験の質が変わらない」台を設計。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" y="4224528"/>
            <a:ext cx="83210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D8C8"/>
                </a:solidFill>
                <a:latin typeface="メイリオ"/>
              </a:rPr>
              <a:t>後半維持率65%以上、3ヶ月後も稼働している台を目指す。章システムが来店継続の構造的担保。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98079" y="4919472"/>
            <a:ext cx="1554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88"/>
                </a:solidFill>
                <a:latin typeface="メイリオ"/>
              </a:rPr>
              <a:t>※分析データより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ターゲット・市場考察  ──  ストーリー消費世代×来店継続設計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251960" cy="3154680"/>
          </a:xfrm>
          <a:prstGeom prst="rect">
            <a:avLst/>
          </a:prstGeom>
          <a:solidFill>
            <a:srgbClr val="14142C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41248"/>
            <a:ext cx="40233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メインターゲット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61872"/>
            <a:ext cx="14630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年齢層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1368" y="1261872"/>
            <a:ext cx="2514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D700"/>
                </a:solidFill>
                <a:latin typeface="メイリオ"/>
              </a:rPr>
              <a:t>25〜45代男性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1529872"/>
            <a:ext cx="14630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世代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1529872"/>
            <a:ext cx="2514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アニメ・マンガ・ゲーム消費世代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1797872"/>
            <a:ext cx="14630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プレイスタイル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1368" y="1797872"/>
            <a:ext cx="2514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D8C8"/>
                </a:solidFill>
                <a:latin typeface="メイリオ"/>
              </a:rPr>
              <a:t>週1〜2来店・「続きが気になる」リピーター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2065872"/>
            <a:ext cx="14630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感情ニーズ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1368" y="2065872"/>
            <a:ext cx="2514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EE44"/>
                </a:solidFill>
                <a:latin typeface="メイリオ"/>
              </a:rPr>
              <a:t>「物語に没入」「積み上げを感じたい」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2333872"/>
            <a:ext cx="14630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許容投資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1368" y="2333872"/>
            <a:ext cx="2514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9900"/>
                </a:solidFill>
                <a:latin typeface="メイリオ"/>
              </a:rPr>
              <a:t>3000〜8000円/日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777240"/>
            <a:ext cx="4343400" cy="3154680"/>
          </a:xfrm>
          <a:prstGeom prst="rect">
            <a:avLst/>
          </a:prstGeom>
          <a:solidFill>
            <a:srgbClr val="14142C"/>
          </a:solidFill>
          <a:ln w="190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27448" y="841248"/>
            <a:ext cx="41148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2222"/>
                </a:solidFill>
                <a:latin typeface="游明朝"/>
              </a:rPr>
              <a:t>競合との差別化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1261872"/>
            <a:ext cx="118872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BBBBBB"/>
                </a:solidFill>
                <a:latin typeface="メイリオ"/>
              </a:rPr>
              <a:t>Re:ゼロ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1261872"/>
            <a:ext cx="141732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メイリオ"/>
              </a:rPr>
              <a:t>タイムリープ・失敗前提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7" y="1261872"/>
            <a:ext cx="14630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0D8C8"/>
                </a:solidFill>
                <a:latin typeface="メイリオ"/>
              </a:rPr>
              <a:t>→ 感情逆転＝理解が生まれる設計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1529872"/>
            <a:ext cx="118872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BBBBBB"/>
                </a:solidFill>
                <a:latin typeface="メイリオ"/>
              </a:rPr>
              <a:t>番長4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1888" y="1529872"/>
            <a:ext cx="141732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メイリオ"/>
              </a:rPr>
              <a:t>期待値・設定6狙い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4927" y="1529872"/>
            <a:ext cx="14630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0D8C8"/>
                </a:solidFill>
                <a:latin typeface="メイリオ"/>
              </a:rPr>
              <a:t>→ 物語が来店動機の台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8" y="1797872"/>
            <a:ext cx="118872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BBBBBB"/>
                </a:solidFill>
                <a:latin typeface="メイリオ"/>
              </a:rPr>
              <a:t>吉宗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1888" y="1797872"/>
            <a:ext cx="141732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メイリオ"/>
              </a:rPr>
              <a:t>1G連の瞬間爆発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7" y="1797872"/>
            <a:ext cx="14630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0D8C8"/>
                </a:solidFill>
                <a:latin typeface="メイリオ"/>
              </a:rPr>
              <a:t>→ 章を集めることで深まる体験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7448" y="2065872"/>
            <a:ext cx="118872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BBBBBB"/>
                </a:solidFill>
                <a:latin typeface="メイリオ"/>
              </a:rPr>
              <a:t>PHOENIX 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61888" y="2065872"/>
            <a:ext cx="141732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メイリオ"/>
              </a:rPr>
              <a:t>炎の継承・積み上げ感情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4927" y="2065872"/>
            <a:ext cx="14630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0D8C8"/>
                </a:solidFill>
                <a:latin typeface="メイリオ"/>
              </a:rPr>
              <a:t>→ こちらは「他者理解」が核心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4023360"/>
            <a:ext cx="8778240" cy="700000"/>
          </a:xfrm>
          <a:prstGeom prst="rect">
            <a:avLst/>
          </a:prstGeom>
          <a:solidFill>
            <a:srgbClr val="14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2880" y="4023360"/>
            <a:ext cx="55000" cy="700000"/>
          </a:xfrm>
          <a:prstGeom prst="rect">
            <a:avLst/>
          </a:prstGeom>
          <a:solidFill>
            <a:srgbClr val="88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078224"/>
            <a:ext cx="83210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822AA"/>
                </a:solidFill>
                <a:latin typeface="游明朝"/>
              </a:rPr>
              <a:t>なぜ今「他者理解」型なのか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370832"/>
            <a:ext cx="83210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D8C8"/>
                </a:solidFill>
                <a:latin typeface="メイリオ"/>
              </a:rPr>
              <a:t>「強さを積み上げる」台が増える中、「感情を積み上げる」台が空席になっている。ストーリー消費に慣れた世代には、この設計が刺さると考える。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まとめ  ──  祟り神の章が生み出す体験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743200" cy="3017520"/>
          </a:xfrm>
          <a:prstGeom prst="rect">
            <a:avLst/>
          </a:prstGeom>
          <a:solidFill>
            <a:srgbClr val="300000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880" y="841248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2222"/>
                </a:solidFill>
                <a:latin typeface="游明朝"/>
              </a:rPr>
              <a:t>感情が逆転する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880" y="1261872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D8C8"/>
                </a:solidFill>
                <a:latin typeface="メイリオ"/>
              </a:rPr>
              <a:t>「倒した敵が
共感できる存在になる」
普通ATで倒し、
特別ATで理解する。
この往復が
来店動機の核心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777240"/>
            <a:ext cx="2743200" cy="3017520"/>
          </a:xfrm>
          <a:prstGeom prst="rect">
            <a:avLst/>
          </a:prstGeom>
          <a:solidFill>
            <a:srgbClr val="200830"/>
          </a:solidFill>
          <a:ln w="25400">
            <a:solidFill>
              <a:srgbClr val="88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6120" y="841248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822AA"/>
                </a:solidFill>
                <a:latin typeface="游明朝"/>
              </a:rPr>
              <a:t>来るたびに深まる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6120" y="1261872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D8C8"/>
                </a:solidFill>
                <a:latin typeface="メイリオ"/>
              </a:rPr>
              <a:t>「今日どの章が来た？」
章はランダム順
プレイヤーごとに
異なる体験
加護が積み上がり
第5章が豊かになる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777240"/>
            <a:ext cx="2743200" cy="3017520"/>
          </a:xfrm>
          <a:prstGeom prst="rect">
            <a:avLst/>
          </a:prstGeom>
          <a:solidFill>
            <a:srgbClr val="000035"/>
          </a:solidFill>
          <a:ln w="25400">
            <a:solidFill>
              <a:srgbClr val="33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9360" y="841248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55CC"/>
                </a:solidFill>
                <a:latin typeface="游明朝"/>
              </a:rPr>
              <a:t>物語が終わらない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9360" y="1261872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D8C8"/>
                </a:solidFill>
                <a:latin typeface="メイリオ"/>
              </a:rPr>
              <a:t>「第0章で救えた？」
失敗しても
「また来たい」
に変わる設計
次の祟り神へ
続く可能性も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3886200"/>
            <a:ext cx="8778240" cy="4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3959352"/>
            <a:ext cx="8778240" cy="760000"/>
          </a:xfrm>
          <a:prstGeom prst="rect">
            <a:avLst/>
          </a:prstGeom>
          <a:solidFill>
            <a:srgbClr val="12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005072"/>
            <a:ext cx="84124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3つの設計核：I 感情逆転設計  II DQ4型章システム  III 加護の積み上げ来店設計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297680"/>
            <a:ext cx="84124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D8C8"/>
                </a:solidFill>
                <a:latin typeface="メイリオ"/>
              </a:rPr>
              <a:t>祟り神の章（感情逆転・物語没入）→ PHOENIX LEGACY（炎の継承・選択と積み上げ） → 次の提案へ。
「倒した相手を、後から理解する。」——この一行が、すべての設計の出発点です。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